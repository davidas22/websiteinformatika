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94" r:id="rId3"/>
    <p:sldId id="296" r:id="rId4"/>
    <p:sldId id="297" r:id="rId5"/>
    <p:sldId id="307" r:id="rId6"/>
    <p:sldId id="308" r:id="rId7"/>
    <p:sldId id="309" r:id="rId8"/>
    <p:sldId id="312" r:id="rId9"/>
    <p:sldId id="318" r:id="rId10"/>
    <p:sldId id="319" r:id="rId11"/>
    <p:sldId id="317" r:id="rId12"/>
    <p:sldId id="321" r:id="rId13"/>
    <p:sldId id="320" r:id="rId14"/>
    <p:sldId id="322" r:id="rId15"/>
    <p:sldId id="323" r:id="rId16"/>
    <p:sldId id="324" r:id="rId17"/>
    <p:sldId id="325" r:id="rId18"/>
    <p:sldId id="326" r:id="rId19"/>
    <p:sldId id="327" r:id="rId20"/>
    <p:sldId id="328" r:id="rId21"/>
    <p:sldId id="32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306D07-5766-4BCD-8FDA-8CA78ACC3D9B}" type="datetimeFigureOut">
              <a:rPr lang="id-ID" smtClean="0"/>
              <a:t>28/03/2023</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C242AF-1A37-4556-ACA4-2D555F71B439}" type="slidenum">
              <a:rPr lang="id-ID" smtClean="0"/>
              <a:t>‹#›</a:t>
            </a:fld>
            <a:endParaRPr lang="id-ID"/>
          </a:p>
        </p:txBody>
      </p:sp>
    </p:spTree>
    <p:extLst>
      <p:ext uri="{BB962C8B-B14F-4D97-AF65-F5344CB8AC3E}">
        <p14:creationId xmlns:p14="http://schemas.microsoft.com/office/powerpoint/2010/main" val="2463822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613D0C-F68A-4886-99F5-626E46C5968C}" type="slidenum">
              <a:rPr lang="en-US" smtClean="0"/>
              <a:t>3</a:t>
            </a:fld>
            <a:endParaRPr lang="en-US"/>
          </a:p>
        </p:txBody>
      </p:sp>
    </p:spTree>
    <p:extLst>
      <p:ext uri="{BB962C8B-B14F-4D97-AF65-F5344CB8AC3E}">
        <p14:creationId xmlns:p14="http://schemas.microsoft.com/office/powerpoint/2010/main" val="2880358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C884BEC-4855-421D-AEC2-2574B8FC72FA}" type="datetimeFigureOut">
              <a:rPr lang="en-US" smtClean="0"/>
              <a:pPr/>
              <a:t>3/28/2023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4193251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1560" y="274638"/>
            <a:ext cx="7848872" cy="1143000"/>
          </a:xfrm>
          <a:solidFill>
            <a:schemeClr val="accent5">
              <a:lumMod val="20000"/>
              <a:lumOff val="80000"/>
            </a:schemeClr>
          </a:solidFill>
        </p:spPr>
        <p:txBody>
          <a:bodyPr/>
          <a:lstStyle/>
          <a:p>
            <a:r>
              <a:rPr lang="en-US"/>
              <a:t>Click to edit Master title style</a:t>
            </a:r>
          </a:p>
        </p:txBody>
      </p:sp>
      <p:sp>
        <p:nvSpPr>
          <p:cNvPr id="3" name="Content Placeholder 2"/>
          <p:cNvSpPr>
            <a:spLocks noGrp="1"/>
          </p:cNvSpPr>
          <p:nvPr>
            <p:ph idx="1"/>
          </p:nvPr>
        </p:nvSpPr>
        <p:spPr>
          <a:xfrm>
            <a:off x="611560" y="1600200"/>
            <a:ext cx="78488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9870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884BEC-4855-421D-AEC2-2574B8FC72FA}" type="datetimeFigureOut">
              <a:rPr lang="en-US" smtClean="0"/>
              <a:pPr/>
              <a:t>3/28/2023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1755921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884BEC-4855-421D-AEC2-2574B8FC72FA}" type="datetimeFigureOut">
              <a:rPr lang="en-US" smtClean="0"/>
              <a:pPr/>
              <a:t>3/28/2023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8697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884BEC-4855-421D-AEC2-2574B8FC72FA}" type="datetimeFigureOut">
              <a:rPr lang="en-US" smtClean="0"/>
              <a:pPr/>
              <a:t>3/28/2023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2384232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884BEC-4855-421D-AEC2-2574B8FC72FA}" type="datetimeFigureOut">
              <a:rPr lang="en-US" smtClean="0"/>
              <a:pPr/>
              <a:t>3/28/2023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549866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884BEC-4855-421D-AEC2-2574B8FC72FA}" type="datetimeFigureOut">
              <a:rPr lang="en-US" smtClean="0"/>
              <a:pPr/>
              <a:t>3/28/2023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777478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884BEC-4855-421D-AEC2-2574B8FC72FA}" type="datetimeFigureOut">
              <a:rPr lang="en-US" smtClean="0"/>
              <a:pPr/>
              <a:t>3/28/2023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362270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884BEC-4855-421D-AEC2-2574B8FC72FA}" type="datetimeFigureOut">
              <a:rPr lang="en-US" smtClean="0"/>
              <a:pPr/>
              <a:t>3/28/2023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379039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884BEC-4855-421D-AEC2-2574B8FC72FA}" type="datetimeFigureOut">
              <a:rPr lang="en-US" smtClean="0"/>
              <a:pPr/>
              <a:t>3/28/2023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250772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884BEC-4855-421D-AEC2-2574B8FC72FA}" type="datetimeFigureOut">
              <a:rPr lang="en-US" smtClean="0"/>
              <a:pPr/>
              <a:t>3/28/2023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7693F-FEC6-40F4-8925-9F23DA36F8A5}" type="slidenum">
              <a:rPr lang="en-US" smtClean="0"/>
              <a:pPr/>
              <a:t>‹#›</a:t>
            </a:fld>
            <a:endParaRPr lang="en-US"/>
          </a:p>
        </p:txBody>
      </p:sp>
    </p:spTree>
    <p:extLst>
      <p:ext uri="{BB962C8B-B14F-4D97-AF65-F5344CB8AC3E}">
        <p14:creationId xmlns:p14="http://schemas.microsoft.com/office/powerpoint/2010/main" val="12718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884BEC-4855-421D-AEC2-2574B8FC72FA}" type="datetimeFigureOut">
              <a:rPr lang="en-US" smtClean="0"/>
              <a:pPr/>
              <a:t>3/28/2023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37693F-FEC6-40F4-8925-9F23DA36F8A5}" type="slidenum">
              <a:rPr lang="en-US" smtClean="0"/>
              <a:pPr/>
              <a:t>‹#›</a:t>
            </a:fld>
            <a:endParaRPr lang="en-US"/>
          </a:p>
        </p:txBody>
      </p:sp>
    </p:spTree>
    <p:extLst>
      <p:ext uri="{BB962C8B-B14F-4D97-AF65-F5344CB8AC3E}">
        <p14:creationId xmlns:p14="http://schemas.microsoft.com/office/powerpoint/2010/main" val="680344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49027" y="3948543"/>
            <a:ext cx="930462" cy="830997"/>
          </a:xfrm>
          <a:prstGeom prst="rect">
            <a:avLst/>
          </a:prstGeom>
          <a:solidFill>
            <a:srgbClr val="00B0F0"/>
          </a:solidFill>
        </p:spPr>
        <p:txBody>
          <a:bodyPr wrap="square" rtlCol="0">
            <a:spAutoFit/>
          </a:bodyPr>
          <a:lstStyle/>
          <a:p>
            <a:pPr algn="ctr"/>
            <a:r>
              <a:rPr lang="en-US" sz="4800" dirty="0">
                <a:solidFill>
                  <a:schemeClr val="bg1"/>
                </a:solidFill>
              </a:rPr>
              <a:t>06</a:t>
            </a:r>
          </a:p>
        </p:txBody>
      </p:sp>
      <p:sp>
        <p:nvSpPr>
          <p:cNvPr id="9" name="TextBox 8"/>
          <p:cNvSpPr txBox="1"/>
          <p:nvPr/>
        </p:nvSpPr>
        <p:spPr>
          <a:xfrm>
            <a:off x="2060049" y="3923404"/>
            <a:ext cx="6458162" cy="892552"/>
          </a:xfrm>
          <a:prstGeom prst="rect">
            <a:avLst/>
          </a:prstGeom>
          <a:solidFill>
            <a:srgbClr val="00B0F0"/>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3200" dirty="0"/>
              <a:t>Game Theory</a:t>
            </a:r>
          </a:p>
          <a:p>
            <a:pPr algn="r"/>
            <a:r>
              <a:rPr lang="id-ID" sz="2000" b="1" dirty="0"/>
              <a:t>Samuel Lukas</a:t>
            </a:r>
            <a:endParaRPr lang="en-US" sz="2000" b="1" dirty="0"/>
          </a:p>
        </p:txBody>
      </p:sp>
      <p:pic>
        <p:nvPicPr>
          <p:cNvPr id="1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10" y="500042"/>
            <a:ext cx="7887124" cy="13066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48" y="1857364"/>
            <a:ext cx="3609975" cy="1123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060049" y="4840729"/>
            <a:ext cx="6469985" cy="369332"/>
          </a:xfrm>
          <a:prstGeom prst="rect">
            <a:avLst/>
          </a:prstGeom>
          <a:solidFill>
            <a:schemeClr val="accent2">
              <a:lumMod val="40000"/>
              <a:lumOff val="60000"/>
            </a:schemeClr>
          </a:solidFill>
        </p:spPr>
        <p:txBody>
          <a:bodyPr wrap="square">
            <a:spAutoFit/>
          </a:bodyPr>
          <a:lstStyle/>
          <a:p>
            <a:pPr algn="r"/>
            <a:r>
              <a:rPr lang="en-US" dirty="0"/>
              <a:t>A Guide to Game Theory by Fiona Carmichael,  Prentice Hall, 2005</a:t>
            </a:r>
          </a:p>
        </p:txBody>
      </p:sp>
      <p:sp>
        <p:nvSpPr>
          <p:cNvPr id="3" name="Rectangle 2"/>
          <p:cNvSpPr/>
          <p:nvPr/>
        </p:nvSpPr>
        <p:spPr>
          <a:xfrm>
            <a:off x="2060050" y="5210061"/>
            <a:ext cx="6458162" cy="646331"/>
          </a:xfrm>
          <a:prstGeom prst="rect">
            <a:avLst/>
          </a:prstGeom>
          <a:solidFill>
            <a:schemeClr val="accent2">
              <a:lumMod val="60000"/>
              <a:lumOff val="40000"/>
            </a:schemeClr>
          </a:solidFill>
        </p:spPr>
        <p:txBody>
          <a:bodyPr wrap="square">
            <a:spAutoFit/>
          </a:bodyPr>
          <a:lstStyle/>
          <a:p>
            <a:pPr algn="r"/>
            <a:r>
              <a:rPr lang="en-US" dirty="0"/>
              <a:t>Introduction Game Theory and Its Applications</a:t>
            </a:r>
          </a:p>
          <a:p>
            <a:pPr algn="r"/>
            <a:r>
              <a:rPr lang="en-US" dirty="0"/>
              <a:t> Elliott Mendelson, CRC Press Company, Washington DC.2004</a:t>
            </a:r>
          </a:p>
        </p:txBody>
      </p:sp>
    </p:spTree>
    <p:extLst>
      <p:ext uri="{BB962C8B-B14F-4D97-AF65-F5344CB8AC3E}">
        <p14:creationId xmlns:p14="http://schemas.microsoft.com/office/powerpoint/2010/main" val="1827818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5240" cy="1143000"/>
          </a:xfrm>
          <a:solidFill>
            <a:schemeClr val="accent5">
              <a:lumMod val="20000"/>
              <a:lumOff val="80000"/>
            </a:schemeClr>
          </a:solidFill>
        </p:spPr>
        <p:txBody>
          <a:bodyPr>
            <a:normAutofit/>
          </a:bodyPr>
          <a:lstStyle/>
          <a:p>
            <a:r>
              <a:rPr lang="en-US" dirty="0"/>
              <a:t>Introduction</a:t>
            </a:r>
          </a:p>
        </p:txBody>
      </p:sp>
      <p:sp>
        <p:nvSpPr>
          <p:cNvPr id="4" name="Content Placeholder 3"/>
          <p:cNvSpPr>
            <a:spLocks noGrp="1"/>
          </p:cNvSpPr>
          <p:nvPr>
            <p:ph idx="1"/>
          </p:nvPr>
        </p:nvSpPr>
        <p:spPr>
          <a:xfrm>
            <a:off x="457200" y="1600200"/>
            <a:ext cx="8075240" cy="4525963"/>
          </a:xfrm>
        </p:spPr>
        <p:txBody>
          <a:bodyPr>
            <a:normAutofit/>
          </a:bodyPr>
          <a:lstStyle/>
          <a:p>
            <a:pPr marL="0" indent="0" algn="ctr">
              <a:buNone/>
            </a:pPr>
            <a:r>
              <a:rPr lang="en-US" sz="2800" dirty="0"/>
              <a:t>Game theory is a technique used to analyze situations of two or more individuals about the outcome of an action by one of them. It depends not only on the particular action taken by that individual but also on the action taken by the other.</a:t>
            </a:r>
          </a:p>
        </p:txBody>
      </p:sp>
      <p:sp>
        <p:nvSpPr>
          <p:cNvPr id="3" name="Rectangle 2"/>
          <p:cNvSpPr/>
          <p:nvPr/>
        </p:nvSpPr>
        <p:spPr>
          <a:xfrm>
            <a:off x="459831" y="3856684"/>
            <a:ext cx="8075240" cy="2246769"/>
          </a:xfrm>
          <a:prstGeom prst="rect">
            <a:avLst/>
          </a:prstGeom>
        </p:spPr>
        <p:txBody>
          <a:bodyPr wrap="square">
            <a:spAutoFit/>
          </a:bodyPr>
          <a:lstStyle/>
          <a:p>
            <a:pPr marL="342900" indent="-342900">
              <a:buFont typeface="Arial" panose="020B0604020202020204" pitchFamily="34" charset="0"/>
              <a:buChar char="•"/>
            </a:pPr>
            <a:r>
              <a:rPr lang="en-US" sz="2000" dirty="0"/>
              <a:t>Two firms with large market shares in a particular industry making decisions with respect to price and output</a:t>
            </a:r>
          </a:p>
          <a:p>
            <a:pPr marL="342900" indent="-342900">
              <a:buFont typeface="Arial" panose="020B0604020202020204" pitchFamily="34" charset="0"/>
              <a:buChar char="•"/>
            </a:pPr>
            <a:r>
              <a:rPr lang="en-US" sz="2000" dirty="0"/>
              <a:t>Leaders of two countries contemplating a war with each other</a:t>
            </a:r>
          </a:p>
          <a:p>
            <a:pPr marL="342900" indent="-342900">
              <a:buFont typeface="Arial" panose="020B0604020202020204" pitchFamily="34" charset="0"/>
              <a:buChar char="•"/>
            </a:pPr>
            <a:r>
              <a:rPr lang="en-US" sz="2000" dirty="0"/>
              <a:t>Players taking a penalty in association football</a:t>
            </a:r>
          </a:p>
          <a:p>
            <a:pPr marL="342900" indent="-342900">
              <a:buFont typeface="Arial" panose="020B0604020202020204" pitchFamily="34" charset="0"/>
              <a:buChar char="•"/>
            </a:pPr>
            <a:r>
              <a:rPr lang="en-US" sz="2000" dirty="0"/>
              <a:t>A tennis player deciding where to place a serve</a:t>
            </a:r>
          </a:p>
          <a:p>
            <a:pPr marL="342900" indent="-342900">
              <a:buFont typeface="Arial" panose="020B0604020202020204" pitchFamily="34" charset="0"/>
              <a:buChar char="•"/>
            </a:pPr>
            <a:r>
              <a:rPr lang="en-US" sz="2000" dirty="0"/>
              <a:t>Playing Chess, Card, four in row </a:t>
            </a:r>
          </a:p>
          <a:p>
            <a:pPr marL="342900" indent="-342900">
              <a:buFont typeface="Arial" panose="020B0604020202020204" pitchFamily="34" charset="0"/>
              <a:buChar char="•"/>
            </a:pPr>
            <a:r>
              <a:rPr lang="en-US" sz="2000" dirty="0"/>
              <a:t>Etc.</a:t>
            </a:r>
          </a:p>
        </p:txBody>
      </p:sp>
    </p:spTree>
    <p:extLst>
      <p:ext uri="{BB962C8B-B14F-4D97-AF65-F5344CB8AC3E}">
        <p14:creationId xmlns:p14="http://schemas.microsoft.com/office/powerpoint/2010/main" val="2781596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3232" cy="1143000"/>
          </a:xfrm>
          <a:solidFill>
            <a:schemeClr val="accent5">
              <a:lumMod val="20000"/>
              <a:lumOff val="80000"/>
            </a:schemeClr>
          </a:solidFill>
        </p:spPr>
        <p:txBody>
          <a:bodyPr/>
          <a:lstStyle/>
          <a:p>
            <a:r>
              <a:rPr lang="en-US" dirty="0"/>
              <a:t>Some Terminologies</a:t>
            </a:r>
          </a:p>
        </p:txBody>
      </p:sp>
      <p:sp>
        <p:nvSpPr>
          <p:cNvPr id="3" name="Content Placeholder 2"/>
          <p:cNvSpPr>
            <a:spLocks noGrp="1"/>
          </p:cNvSpPr>
          <p:nvPr>
            <p:ph idx="1"/>
          </p:nvPr>
        </p:nvSpPr>
        <p:spPr>
          <a:xfrm>
            <a:off x="457200" y="1700808"/>
            <a:ext cx="8003232" cy="4525963"/>
          </a:xfrm>
        </p:spPr>
        <p:txBody>
          <a:bodyPr>
            <a:normAutofit fontScale="92500" lnSpcReduction="10000"/>
          </a:bodyPr>
          <a:lstStyle/>
          <a:p>
            <a:r>
              <a:rPr lang="en-US" sz="2600" b="1" dirty="0"/>
              <a:t>Strategic game </a:t>
            </a:r>
          </a:p>
          <a:p>
            <a:pPr marL="339725" indent="0" algn="just">
              <a:buNone/>
            </a:pPr>
            <a:r>
              <a:rPr lang="en-US" sz="2400" dirty="0"/>
              <a:t>A scenario or situation where for two or more individuals have to chose their choice of action that has an impact on the other. It consists of a set of rules and their pay-offs </a:t>
            </a:r>
          </a:p>
          <a:p>
            <a:r>
              <a:rPr lang="en-US" sz="2600" b="1" dirty="0"/>
              <a:t>Strategic interdependence</a:t>
            </a:r>
          </a:p>
          <a:p>
            <a:pPr marL="339725" indent="0" algn="just">
              <a:buNone/>
            </a:pPr>
            <a:r>
              <a:rPr lang="en-US" sz="2400" dirty="0"/>
              <a:t>Individual’s decisions, their choice about actions, impact or each other and therefore their decision making is interdependently related</a:t>
            </a:r>
          </a:p>
          <a:p>
            <a:r>
              <a:rPr lang="en-US" sz="2600" b="1" dirty="0"/>
              <a:t>Player</a:t>
            </a:r>
          </a:p>
          <a:p>
            <a:pPr marL="339725" indent="0">
              <a:buNone/>
            </a:pPr>
            <a:r>
              <a:rPr lang="en-US" sz="2400" dirty="0"/>
              <a:t>A participant in a strategic game</a:t>
            </a:r>
          </a:p>
          <a:p>
            <a:r>
              <a:rPr lang="en-US" sz="2600" b="1" dirty="0"/>
              <a:t>Strategy</a:t>
            </a:r>
          </a:p>
          <a:p>
            <a:pPr marL="339725" indent="0">
              <a:buNone/>
            </a:pPr>
            <a:r>
              <a:rPr lang="en-US" sz="2400" dirty="0"/>
              <a:t>A player’s plan of action for a game</a:t>
            </a:r>
          </a:p>
          <a:p>
            <a:pPr marL="0" indent="0">
              <a:buNone/>
            </a:pPr>
            <a:endParaRPr lang="en-US" sz="2400" dirty="0"/>
          </a:p>
        </p:txBody>
      </p:sp>
    </p:spTree>
    <p:extLst>
      <p:ext uri="{BB962C8B-B14F-4D97-AF65-F5344CB8AC3E}">
        <p14:creationId xmlns:p14="http://schemas.microsoft.com/office/powerpoint/2010/main" val="347506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chemeClr val="accent5">
              <a:lumMod val="20000"/>
              <a:lumOff val="80000"/>
            </a:schemeClr>
          </a:solidFill>
        </p:spPr>
        <p:txBody>
          <a:bodyPr/>
          <a:lstStyle/>
          <a:p>
            <a:r>
              <a:rPr lang="en-US" dirty="0"/>
              <a:t>Types of The Game</a:t>
            </a:r>
          </a:p>
        </p:txBody>
      </p:sp>
      <p:sp>
        <p:nvSpPr>
          <p:cNvPr id="5" name="Content Placeholder 4"/>
          <p:cNvSpPr>
            <a:spLocks noGrp="1"/>
          </p:cNvSpPr>
          <p:nvPr>
            <p:ph idx="1"/>
          </p:nvPr>
        </p:nvSpPr>
        <p:spPr/>
        <p:txBody>
          <a:bodyPr/>
          <a:lstStyle/>
          <a:p>
            <a:r>
              <a:rPr lang="en-US" dirty="0"/>
              <a:t>Simultaneous-move games</a:t>
            </a:r>
          </a:p>
          <a:p>
            <a:r>
              <a:rPr lang="en-US" dirty="0"/>
              <a:t>Sequential-move or dynamic games </a:t>
            </a:r>
          </a:p>
          <a:p>
            <a:r>
              <a:rPr lang="en-US" dirty="0"/>
              <a:t>Repetition games</a:t>
            </a:r>
          </a:p>
          <a:p>
            <a:r>
              <a:rPr lang="en-US" dirty="0"/>
              <a:t>Cooperative and non-cooperative games</a:t>
            </a:r>
          </a:p>
          <a:p>
            <a:r>
              <a:rPr lang="en-US" dirty="0"/>
              <a:t>N-Player games</a:t>
            </a:r>
          </a:p>
          <a:p>
            <a:pPr algn="just"/>
            <a:endParaRPr lang="en-US" dirty="0"/>
          </a:p>
        </p:txBody>
      </p:sp>
      <p:sp>
        <p:nvSpPr>
          <p:cNvPr id="2" name="Rectangle 1"/>
          <p:cNvSpPr/>
          <p:nvPr/>
        </p:nvSpPr>
        <p:spPr>
          <a:xfrm>
            <a:off x="1101241" y="5013176"/>
            <a:ext cx="6869509" cy="523220"/>
          </a:xfrm>
          <a:prstGeom prst="rect">
            <a:avLst/>
          </a:prstGeom>
        </p:spPr>
        <p:txBody>
          <a:bodyPr wrap="none">
            <a:spAutoFit/>
          </a:bodyPr>
          <a:lstStyle/>
          <a:p>
            <a:r>
              <a:rPr lang="en-US" sz="2800" dirty="0"/>
              <a:t>Give some examples of each type of the game</a:t>
            </a:r>
          </a:p>
        </p:txBody>
      </p:sp>
    </p:spTree>
    <p:extLst>
      <p:ext uri="{BB962C8B-B14F-4D97-AF65-F5344CB8AC3E}">
        <p14:creationId xmlns:p14="http://schemas.microsoft.com/office/powerpoint/2010/main" val="564660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Simultaneous-Move Games</a:t>
            </a:r>
          </a:p>
        </p:txBody>
      </p:sp>
      <p:sp>
        <p:nvSpPr>
          <p:cNvPr id="2" name="Content Placeholder 1"/>
          <p:cNvSpPr>
            <a:spLocks noGrp="1"/>
          </p:cNvSpPr>
          <p:nvPr>
            <p:ph idx="1"/>
          </p:nvPr>
        </p:nvSpPr>
        <p:spPr/>
        <p:txBody>
          <a:bodyPr>
            <a:normAutofit/>
          </a:bodyPr>
          <a:lstStyle/>
          <a:p>
            <a:r>
              <a:rPr lang="en-US" sz="2800" b="1" dirty="0"/>
              <a:t>Hide and Seek </a:t>
            </a:r>
          </a:p>
          <a:p>
            <a:pPr marL="0" indent="0" algn="just">
              <a:buNone/>
            </a:pPr>
            <a:r>
              <a:rPr lang="en-US" sz="2400" dirty="0"/>
              <a:t>Robin has only two available strategies, either hiding in the house or hiding in the garden. Tim has also two strategies, either looking in house or looking in garden. He has only 10 minutes to find robin.  The table is Pay-off matrix for hide and seek above is </a:t>
            </a:r>
          </a:p>
        </p:txBody>
      </p:sp>
      <p:graphicFrame>
        <p:nvGraphicFramePr>
          <p:cNvPr id="27" name="Table 26"/>
          <p:cNvGraphicFramePr>
            <a:graphicFrameLocks noGrp="1"/>
          </p:cNvGraphicFramePr>
          <p:nvPr>
            <p:extLst>
              <p:ext uri="{D42A27DB-BD31-4B8C-83A1-F6EECF244321}">
                <p14:modId xmlns:p14="http://schemas.microsoft.com/office/powerpoint/2010/main" val="3335957857"/>
              </p:ext>
            </p:extLst>
          </p:nvPr>
        </p:nvGraphicFramePr>
        <p:xfrm>
          <a:off x="1907704" y="4124583"/>
          <a:ext cx="5486400" cy="12293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97840">
                <a:tc>
                  <a:txBody>
                    <a:bodyPr/>
                    <a:lstStyle/>
                    <a:p>
                      <a:pPr algn="ctr"/>
                      <a:r>
                        <a:rPr lang="en-US" dirty="0"/>
                        <a:t>Robin</a:t>
                      </a:r>
                      <a:r>
                        <a:rPr lang="en-US" baseline="0" dirty="0"/>
                        <a:t> \ Tim</a:t>
                      </a:r>
                      <a:endParaRPr lang="en-US" dirty="0"/>
                    </a:p>
                  </a:txBody>
                  <a:tcPr/>
                </a:tc>
                <a:tc>
                  <a:txBody>
                    <a:bodyPr/>
                    <a:lstStyle/>
                    <a:p>
                      <a:pPr algn="ctr"/>
                      <a:r>
                        <a:rPr lang="en-US" dirty="0"/>
                        <a:t>Look in house</a:t>
                      </a:r>
                    </a:p>
                  </a:txBody>
                  <a:tcPr/>
                </a:tc>
                <a:tc>
                  <a:txBody>
                    <a:bodyPr/>
                    <a:lstStyle/>
                    <a:p>
                      <a:pPr algn="ctr"/>
                      <a:r>
                        <a:rPr lang="en-US" dirty="0"/>
                        <a:t>Look in garden</a:t>
                      </a:r>
                    </a:p>
                  </a:txBody>
                  <a:tcPr/>
                </a:tc>
                <a:extLst>
                  <a:ext uri="{0D108BD9-81ED-4DB2-BD59-A6C34878D82A}">
                    <a16:rowId xmlns:a16="http://schemas.microsoft.com/office/drawing/2014/main" val="10000"/>
                  </a:ext>
                </a:extLst>
              </a:tr>
              <a:tr h="284480">
                <a:tc>
                  <a:txBody>
                    <a:bodyPr/>
                    <a:lstStyle/>
                    <a:p>
                      <a:pPr algn="ctr"/>
                      <a:r>
                        <a:rPr lang="en-US" dirty="0"/>
                        <a:t>hide in house</a:t>
                      </a:r>
                    </a:p>
                  </a:txBody>
                  <a:tcPr/>
                </a:tc>
                <a:tc>
                  <a:txBody>
                    <a:bodyPr/>
                    <a:lstStyle/>
                    <a:p>
                      <a:pPr algn="ctr"/>
                      <a:r>
                        <a:rPr lang="en-US" dirty="0"/>
                        <a:t>0 , 50</a:t>
                      </a:r>
                    </a:p>
                  </a:txBody>
                  <a:tcPr/>
                </a:tc>
                <a:tc>
                  <a:txBody>
                    <a:bodyPr/>
                    <a:lstStyle/>
                    <a:p>
                      <a:pPr algn="ctr"/>
                      <a:r>
                        <a:rPr lang="en-US" dirty="0"/>
                        <a:t>50 , 0</a:t>
                      </a:r>
                    </a:p>
                  </a:txBody>
                  <a:tcPr/>
                </a:tc>
                <a:extLst>
                  <a:ext uri="{0D108BD9-81ED-4DB2-BD59-A6C34878D82A}">
                    <a16:rowId xmlns:a16="http://schemas.microsoft.com/office/drawing/2014/main" val="10001"/>
                  </a:ext>
                </a:extLst>
              </a:tr>
              <a:tr h="284480">
                <a:tc>
                  <a:txBody>
                    <a:bodyPr/>
                    <a:lstStyle/>
                    <a:p>
                      <a:pPr algn="ctr"/>
                      <a:r>
                        <a:rPr lang="en-US" dirty="0"/>
                        <a:t>hide in garden</a:t>
                      </a:r>
                    </a:p>
                  </a:txBody>
                  <a:tcPr/>
                </a:tc>
                <a:tc>
                  <a:txBody>
                    <a:bodyPr/>
                    <a:lstStyle/>
                    <a:p>
                      <a:pPr algn="ctr"/>
                      <a:r>
                        <a:rPr lang="en-US" dirty="0"/>
                        <a:t>50 , 0</a:t>
                      </a:r>
                    </a:p>
                  </a:txBody>
                  <a:tcPr/>
                </a:tc>
                <a:tc>
                  <a:txBody>
                    <a:bodyPr/>
                    <a:lstStyle/>
                    <a:p>
                      <a:pPr algn="ctr"/>
                      <a:r>
                        <a:rPr lang="en-US" dirty="0"/>
                        <a:t>0 , 50</a:t>
                      </a:r>
                    </a:p>
                  </a:txBody>
                  <a:tcPr/>
                </a:tc>
                <a:extLst>
                  <a:ext uri="{0D108BD9-81ED-4DB2-BD59-A6C34878D82A}">
                    <a16:rowId xmlns:a16="http://schemas.microsoft.com/office/drawing/2014/main" val="10002"/>
                  </a:ext>
                </a:extLst>
              </a:tr>
            </a:tbl>
          </a:graphicData>
        </a:graphic>
      </p:graphicFrame>
      <p:sp>
        <p:nvSpPr>
          <p:cNvPr id="4" name="Rectangle 3"/>
          <p:cNvSpPr/>
          <p:nvPr/>
        </p:nvSpPr>
        <p:spPr>
          <a:xfrm>
            <a:off x="630613" y="5445224"/>
            <a:ext cx="7829819" cy="830997"/>
          </a:xfrm>
          <a:prstGeom prst="rect">
            <a:avLst/>
          </a:prstGeom>
        </p:spPr>
        <p:txBody>
          <a:bodyPr wrap="square">
            <a:spAutoFit/>
          </a:bodyPr>
          <a:lstStyle/>
          <a:p>
            <a:pPr algn="just"/>
            <a:r>
              <a:rPr lang="en-US" sz="2400" dirty="0"/>
              <a:t>This game considers as Pure Conflict Game. Because if the one wins the other effectively loses</a:t>
            </a:r>
          </a:p>
        </p:txBody>
      </p:sp>
    </p:spTree>
    <p:extLst>
      <p:ext uri="{BB962C8B-B14F-4D97-AF65-F5344CB8AC3E}">
        <p14:creationId xmlns:p14="http://schemas.microsoft.com/office/powerpoint/2010/main" val="296549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99592" y="548680"/>
            <a:ext cx="7416824" cy="2369880"/>
          </a:xfrm>
          <a:prstGeom prst="rect">
            <a:avLst/>
          </a:prstGeom>
        </p:spPr>
        <p:txBody>
          <a:bodyPr wrap="square">
            <a:spAutoFit/>
          </a:bodyPr>
          <a:lstStyle/>
          <a:p>
            <a:r>
              <a:rPr lang="en-US" sz="2800" b="1" dirty="0"/>
              <a:t>Pub Managers </a:t>
            </a:r>
          </a:p>
          <a:p>
            <a:pPr algn="just"/>
            <a:r>
              <a:rPr lang="en-US" sz="2400" dirty="0"/>
              <a:t>The King Pub head and Queen Pub head is going to introducing a special offer of their customers by cutting the price of their premium beer. Each decision will attract customers to come to the pub. Pay-off matrix for the pub managers’ game</a:t>
            </a:r>
          </a:p>
        </p:txBody>
      </p:sp>
      <p:graphicFrame>
        <p:nvGraphicFramePr>
          <p:cNvPr id="8" name="Table 7"/>
          <p:cNvGraphicFramePr>
            <a:graphicFrameLocks noGrp="1"/>
          </p:cNvGraphicFramePr>
          <p:nvPr>
            <p:extLst>
              <p:ext uri="{D42A27DB-BD31-4B8C-83A1-F6EECF244321}">
                <p14:modId xmlns:p14="http://schemas.microsoft.com/office/powerpoint/2010/main" val="2785506327"/>
              </p:ext>
            </p:extLst>
          </p:nvPr>
        </p:nvGraphicFramePr>
        <p:xfrm>
          <a:off x="1187624" y="3140968"/>
          <a:ext cx="7124467" cy="1371600"/>
        </p:xfrm>
        <a:graphic>
          <a:graphicData uri="http://schemas.openxmlformats.org/drawingml/2006/table">
            <a:tbl>
              <a:tblPr firstRow="1" bandRow="1">
                <a:tableStyleId>{5C22544A-7EE6-4342-B048-85BDC9FD1C3A}</a:tableStyleId>
              </a:tblPr>
              <a:tblGrid>
                <a:gridCol w="2691465">
                  <a:extLst>
                    <a:ext uri="{9D8B030D-6E8A-4147-A177-3AD203B41FA5}">
                      <a16:colId xmlns:a16="http://schemas.microsoft.com/office/drawing/2014/main" val="20000"/>
                    </a:ext>
                  </a:extLst>
                </a:gridCol>
                <a:gridCol w="2137340">
                  <a:extLst>
                    <a:ext uri="{9D8B030D-6E8A-4147-A177-3AD203B41FA5}">
                      <a16:colId xmlns:a16="http://schemas.microsoft.com/office/drawing/2014/main" val="20001"/>
                    </a:ext>
                  </a:extLst>
                </a:gridCol>
                <a:gridCol w="2295662">
                  <a:extLst>
                    <a:ext uri="{9D8B030D-6E8A-4147-A177-3AD203B41FA5}">
                      <a16:colId xmlns:a16="http://schemas.microsoft.com/office/drawing/2014/main" val="20002"/>
                    </a:ext>
                  </a:extLst>
                </a:gridCol>
              </a:tblGrid>
              <a:tr h="370840">
                <a:tc>
                  <a:txBody>
                    <a:bodyPr/>
                    <a:lstStyle/>
                    <a:p>
                      <a:pPr algn="ctr"/>
                      <a:r>
                        <a:rPr lang="en-US" sz="2400" dirty="0">
                          <a:solidFill>
                            <a:schemeClr val="tx1"/>
                          </a:solidFill>
                        </a:rPr>
                        <a:t>Queen</a:t>
                      </a:r>
                      <a:r>
                        <a:rPr lang="en-US" sz="2400" baseline="0" dirty="0">
                          <a:solidFill>
                            <a:schemeClr val="tx1"/>
                          </a:solidFill>
                        </a:rPr>
                        <a:t> \ King head</a:t>
                      </a:r>
                      <a:endParaRPr lang="en-US" sz="2400" dirty="0">
                        <a:solidFill>
                          <a:schemeClr val="tx1"/>
                        </a:solidFill>
                      </a:endParaRPr>
                    </a:p>
                  </a:txBody>
                  <a:tcPr/>
                </a:tc>
                <a:tc>
                  <a:txBody>
                    <a:bodyPr/>
                    <a:lstStyle/>
                    <a:p>
                      <a:pPr algn="ctr"/>
                      <a:r>
                        <a:rPr lang="en-US" sz="2400" dirty="0">
                          <a:solidFill>
                            <a:schemeClr val="tx1"/>
                          </a:solidFill>
                        </a:rPr>
                        <a:t>Special</a:t>
                      </a:r>
                      <a:r>
                        <a:rPr lang="en-US" sz="2400" baseline="0" dirty="0">
                          <a:solidFill>
                            <a:schemeClr val="tx1"/>
                          </a:solidFill>
                        </a:rPr>
                        <a:t> offer</a:t>
                      </a:r>
                      <a:endParaRPr lang="en-US" sz="2400" dirty="0">
                        <a:solidFill>
                          <a:schemeClr val="tx1"/>
                        </a:solidFill>
                      </a:endParaRPr>
                    </a:p>
                  </a:txBody>
                  <a:tcPr/>
                </a:tc>
                <a:tc>
                  <a:txBody>
                    <a:bodyPr/>
                    <a:lstStyle/>
                    <a:p>
                      <a:pPr algn="ctr"/>
                      <a:r>
                        <a:rPr lang="en-US" sz="2400" dirty="0">
                          <a:solidFill>
                            <a:schemeClr val="tx1"/>
                          </a:solidFill>
                        </a:rPr>
                        <a:t>No offer</a:t>
                      </a:r>
                    </a:p>
                  </a:txBody>
                  <a:tcPr/>
                </a:tc>
                <a:extLst>
                  <a:ext uri="{0D108BD9-81ED-4DB2-BD59-A6C34878D82A}">
                    <a16:rowId xmlns:a16="http://schemas.microsoft.com/office/drawing/2014/main" val="10000"/>
                  </a:ext>
                </a:extLst>
              </a:tr>
              <a:tr h="370840">
                <a:tc>
                  <a:txBody>
                    <a:bodyPr/>
                    <a:lstStyle/>
                    <a:p>
                      <a:pPr algn="ctr"/>
                      <a:r>
                        <a:rPr lang="en-US" sz="2400" dirty="0"/>
                        <a:t>Special offer</a:t>
                      </a:r>
                    </a:p>
                  </a:txBody>
                  <a:tcPr/>
                </a:tc>
                <a:tc>
                  <a:txBody>
                    <a:bodyPr/>
                    <a:lstStyle/>
                    <a:p>
                      <a:pPr algn="ctr"/>
                      <a:r>
                        <a:rPr lang="en-US" sz="2400" dirty="0"/>
                        <a:t>10 , 14</a:t>
                      </a:r>
                    </a:p>
                  </a:txBody>
                  <a:tcPr/>
                </a:tc>
                <a:tc>
                  <a:txBody>
                    <a:bodyPr/>
                    <a:lstStyle/>
                    <a:p>
                      <a:pPr algn="ctr"/>
                      <a:r>
                        <a:rPr lang="en-US" sz="2400" dirty="0"/>
                        <a:t>18 , 6</a:t>
                      </a:r>
                    </a:p>
                  </a:txBody>
                  <a:tcPr/>
                </a:tc>
                <a:extLst>
                  <a:ext uri="{0D108BD9-81ED-4DB2-BD59-A6C34878D82A}">
                    <a16:rowId xmlns:a16="http://schemas.microsoft.com/office/drawing/2014/main" val="10001"/>
                  </a:ext>
                </a:extLst>
              </a:tr>
              <a:tr h="370840">
                <a:tc>
                  <a:txBody>
                    <a:bodyPr/>
                    <a:lstStyle/>
                    <a:p>
                      <a:pPr algn="ctr"/>
                      <a:r>
                        <a:rPr lang="en-US" sz="2400" dirty="0"/>
                        <a:t>No offer</a:t>
                      </a:r>
                    </a:p>
                  </a:txBody>
                  <a:tcPr/>
                </a:tc>
                <a:tc>
                  <a:txBody>
                    <a:bodyPr/>
                    <a:lstStyle/>
                    <a:p>
                      <a:pPr algn="ctr"/>
                      <a:r>
                        <a:rPr lang="en-US" sz="2400" dirty="0"/>
                        <a:t>4 , 20</a:t>
                      </a:r>
                    </a:p>
                  </a:txBody>
                  <a:tcPr/>
                </a:tc>
                <a:tc>
                  <a:txBody>
                    <a:bodyPr/>
                    <a:lstStyle/>
                    <a:p>
                      <a:pPr algn="ctr"/>
                      <a:r>
                        <a:rPr lang="en-US" sz="2400" dirty="0"/>
                        <a:t>7 , 8</a:t>
                      </a:r>
                    </a:p>
                  </a:txBody>
                  <a:tcPr/>
                </a:tc>
                <a:extLst>
                  <a:ext uri="{0D108BD9-81ED-4DB2-BD59-A6C34878D82A}">
                    <a16:rowId xmlns:a16="http://schemas.microsoft.com/office/drawing/2014/main" val="10002"/>
                  </a:ext>
                </a:extLst>
              </a:tr>
            </a:tbl>
          </a:graphicData>
        </a:graphic>
      </p:graphicFrame>
      <p:sp>
        <p:nvSpPr>
          <p:cNvPr id="9" name="TextBox 8"/>
          <p:cNvSpPr txBox="1"/>
          <p:nvPr/>
        </p:nvSpPr>
        <p:spPr>
          <a:xfrm>
            <a:off x="905631" y="4581128"/>
            <a:ext cx="6248400" cy="461665"/>
          </a:xfrm>
          <a:prstGeom prst="rect">
            <a:avLst/>
          </a:prstGeom>
          <a:noFill/>
        </p:spPr>
        <p:txBody>
          <a:bodyPr wrap="square" rtlCol="0">
            <a:spAutoFit/>
          </a:bodyPr>
          <a:lstStyle/>
          <a:p>
            <a:r>
              <a:rPr lang="en-US" sz="2400" dirty="0"/>
              <a:t>What do you think each manager will do ?</a:t>
            </a:r>
          </a:p>
        </p:txBody>
      </p:sp>
    </p:spTree>
    <p:extLst>
      <p:ext uri="{BB962C8B-B14F-4D97-AF65-F5344CB8AC3E}">
        <p14:creationId xmlns:p14="http://schemas.microsoft.com/office/powerpoint/2010/main" val="332002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55576" y="548680"/>
            <a:ext cx="7560840" cy="2000548"/>
          </a:xfrm>
          <a:prstGeom prst="rect">
            <a:avLst/>
          </a:prstGeom>
        </p:spPr>
        <p:txBody>
          <a:bodyPr wrap="square">
            <a:spAutoFit/>
          </a:bodyPr>
          <a:lstStyle/>
          <a:p>
            <a:r>
              <a:rPr lang="en-US" sz="2800" b="1" dirty="0"/>
              <a:t>Penalty taking  </a:t>
            </a:r>
          </a:p>
          <a:p>
            <a:pPr algn="just"/>
            <a:r>
              <a:rPr lang="en-US" sz="2400" dirty="0"/>
              <a:t>Assume at the last minutes, a football team has a penalty chance. If the striker make a goal than the his team will win the game and if the goal keeper saves the penalty then the score is draw. Pay-off matrix for the penalty taking game</a:t>
            </a:r>
          </a:p>
        </p:txBody>
      </p:sp>
      <p:graphicFrame>
        <p:nvGraphicFramePr>
          <p:cNvPr id="8" name="Table 7"/>
          <p:cNvGraphicFramePr>
            <a:graphicFrameLocks noGrp="1"/>
          </p:cNvGraphicFramePr>
          <p:nvPr>
            <p:extLst>
              <p:ext uri="{D42A27DB-BD31-4B8C-83A1-F6EECF244321}">
                <p14:modId xmlns:p14="http://schemas.microsoft.com/office/powerpoint/2010/main" val="686046503"/>
              </p:ext>
            </p:extLst>
          </p:nvPr>
        </p:nvGraphicFramePr>
        <p:xfrm>
          <a:off x="755576" y="2852936"/>
          <a:ext cx="7560840" cy="1798320"/>
        </p:xfrm>
        <a:graphic>
          <a:graphicData uri="http://schemas.openxmlformats.org/drawingml/2006/table">
            <a:tbl>
              <a:tblPr firstRow="1" bandRow="1">
                <a:tableStyleId>{5C22544A-7EE6-4342-B048-85BDC9FD1C3A}</a:tableStyleId>
              </a:tblPr>
              <a:tblGrid>
                <a:gridCol w="2689914">
                  <a:extLst>
                    <a:ext uri="{9D8B030D-6E8A-4147-A177-3AD203B41FA5}">
                      <a16:colId xmlns:a16="http://schemas.microsoft.com/office/drawing/2014/main" val="20000"/>
                    </a:ext>
                  </a:extLst>
                </a:gridCol>
                <a:gridCol w="1526708">
                  <a:extLst>
                    <a:ext uri="{9D8B030D-6E8A-4147-A177-3AD203B41FA5}">
                      <a16:colId xmlns:a16="http://schemas.microsoft.com/office/drawing/2014/main" val="20001"/>
                    </a:ext>
                  </a:extLst>
                </a:gridCol>
                <a:gridCol w="1672109">
                  <a:extLst>
                    <a:ext uri="{9D8B030D-6E8A-4147-A177-3AD203B41FA5}">
                      <a16:colId xmlns:a16="http://schemas.microsoft.com/office/drawing/2014/main" val="20002"/>
                    </a:ext>
                  </a:extLst>
                </a:gridCol>
                <a:gridCol w="1672109">
                  <a:extLst>
                    <a:ext uri="{9D8B030D-6E8A-4147-A177-3AD203B41FA5}">
                      <a16:colId xmlns:a16="http://schemas.microsoft.com/office/drawing/2014/main" val="20003"/>
                    </a:ext>
                  </a:extLst>
                </a:gridCol>
              </a:tblGrid>
              <a:tr h="324036">
                <a:tc>
                  <a:txBody>
                    <a:bodyPr/>
                    <a:lstStyle/>
                    <a:p>
                      <a:pPr algn="ctr"/>
                      <a:r>
                        <a:rPr lang="en-US" sz="2200" dirty="0"/>
                        <a:t>Striker \ </a:t>
                      </a:r>
                      <a:r>
                        <a:rPr lang="en-US" sz="2200" dirty="0" err="1"/>
                        <a:t>Gool</a:t>
                      </a:r>
                      <a:r>
                        <a:rPr lang="en-US" sz="2200" dirty="0"/>
                        <a:t> keeper</a:t>
                      </a:r>
                    </a:p>
                  </a:txBody>
                  <a:tcPr/>
                </a:tc>
                <a:tc>
                  <a:txBody>
                    <a:bodyPr/>
                    <a:lstStyle/>
                    <a:p>
                      <a:pPr algn="ctr"/>
                      <a:r>
                        <a:rPr lang="en-US" sz="2200" dirty="0"/>
                        <a:t>Left</a:t>
                      </a:r>
                    </a:p>
                  </a:txBody>
                  <a:tcPr/>
                </a:tc>
                <a:tc>
                  <a:txBody>
                    <a:bodyPr/>
                    <a:lstStyle/>
                    <a:p>
                      <a:pPr algn="ctr"/>
                      <a:r>
                        <a:rPr lang="en-US" sz="2200" dirty="0"/>
                        <a:t>Centre</a:t>
                      </a:r>
                    </a:p>
                  </a:txBody>
                  <a:tcPr/>
                </a:tc>
                <a:tc>
                  <a:txBody>
                    <a:bodyPr/>
                    <a:lstStyle/>
                    <a:p>
                      <a:pPr algn="ctr"/>
                      <a:r>
                        <a:rPr lang="en-US" sz="2200" dirty="0"/>
                        <a:t>Right</a:t>
                      </a:r>
                    </a:p>
                  </a:txBody>
                  <a:tcPr/>
                </a:tc>
                <a:extLst>
                  <a:ext uri="{0D108BD9-81ED-4DB2-BD59-A6C34878D82A}">
                    <a16:rowId xmlns:a16="http://schemas.microsoft.com/office/drawing/2014/main" val="10000"/>
                  </a:ext>
                </a:extLst>
              </a:tr>
              <a:tr h="324036">
                <a:tc>
                  <a:txBody>
                    <a:bodyPr/>
                    <a:lstStyle/>
                    <a:p>
                      <a:pPr algn="ctr"/>
                      <a:r>
                        <a:rPr lang="en-US" sz="2400" dirty="0"/>
                        <a:t>Left</a:t>
                      </a:r>
                    </a:p>
                  </a:txBody>
                  <a:tcPr/>
                </a:tc>
                <a:tc>
                  <a:txBody>
                    <a:bodyPr/>
                    <a:lstStyle/>
                    <a:p>
                      <a:pPr algn="ctr"/>
                      <a:r>
                        <a:rPr lang="en-US" sz="2400" dirty="0"/>
                        <a:t>0 , 10</a:t>
                      </a:r>
                    </a:p>
                  </a:txBody>
                  <a:tcPr/>
                </a:tc>
                <a:tc>
                  <a:txBody>
                    <a:bodyPr/>
                    <a:lstStyle/>
                    <a:p>
                      <a:pPr algn="ctr"/>
                      <a:r>
                        <a:rPr lang="en-US" sz="2400" dirty="0"/>
                        <a:t>10 , 0 </a:t>
                      </a:r>
                    </a:p>
                  </a:txBody>
                  <a:tcPr/>
                </a:tc>
                <a:tc>
                  <a:txBody>
                    <a:bodyPr/>
                    <a:lstStyle/>
                    <a:p>
                      <a:pPr algn="ctr"/>
                      <a:r>
                        <a:rPr lang="en-US" sz="2400" dirty="0"/>
                        <a:t>10 , 0</a:t>
                      </a:r>
                    </a:p>
                  </a:txBody>
                  <a:tcPr/>
                </a:tc>
                <a:extLst>
                  <a:ext uri="{0D108BD9-81ED-4DB2-BD59-A6C34878D82A}">
                    <a16:rowId xmlns:a16="http://schemas.microsoft.com/office/drawing/2014/main" val="10001"/>
                  </a:ext>
                </a:extLst>
              </a:tr>
              <a:tr h="324036">
                <a:tc>
                  <a:txBody>
                    <a:bodyPr/>
                    <a:lstStyle/>
                    <a:p>
                      <a:pPr algn="ctr"/>
                      <a:r>
                        <a:rPr lang="en-US" sz="2400" dirty="0"/>
                        <a:t>Centre</a:t>
                      </a:r>
                    </a:p>
                  </a:txBody>
                  <a:tcPr/>
                </a:tc>
                <a:tc>
                  <a:txBody>
                    <a:bodyPr/>
                    <a:lstStyle/>
                    <a:p>
                      <a:pPr algn="ctr"/>
                      <a:r>
                        <a:rPr lang="en-US" sz="2400" dirty="0"/>
                        <a:t>10 , 0</a:t>
                      </a:r>
                    </a:p>
                  </a:txBody>
                  <a:tcPr/>
                </a:tc>
                <a:tc>
                  <a:txBody>
                    <a:bodyPr/>
                    <a:lstStyle/>
                    <a:p>
                      <a:pPr algn="ctr"/>
                      <a:r>
                        <a:rPr lang="en-US" sz="2400" dirty="0"/>
                        <a:t>0 , 10</a:t>
                      </a:r>
                    </a:p>
                  </a:txBody>
                  <a:tcPr/>
                </a:tc>
                <a:tc>
                  <a:txBody>
                    <a:bodyPr/>
                    <a:lstStyle/>
                    <a:p>
                      <a:pPr algn="ctr"/>
                      <a:r>
                        <a:rPr lang="en-US" sz="2400" dirty="0"/>
                        <a:t>10 , 0</a:t>
                      </a:r>
                    </a:p>
                  </a:txBody>
                  <a:tcPr/>
                </a:tc>
                <a:extLst>
                  <a:ext uri="{0D108BD9-81ED-4DB2-BD59-A6C34878D82A}">
                    <a16:rowId xmlns:a16="http://schemas.microsoft.com/office/drawing/2014/main" val="10002"/>
                  </a:ext>
                </a:extLst>
              </a:tr>
              <a:tr h="324036">
                <a:tc>
                  <a:txBody>
                    <a:bodyPr/>
                    <a:lstStyle/>
                    <a:p>
                      <a:pPr algn="ctr"/>
                      <a:r>
                        <a:rPr lang="en-US" sz="2400" dirty="0"/>
                        <a:t>Right</a:t>
                      </a:r>
                    </a:p>
                  </a:txBody>
                  <a:tcPr/>
                </a:tc>
                <a:tc>
                  <a:txBody>
                    <a:bodyPr/>
                    <a:lstStyle/>
                    <a:p>
                      <a:pPr algn="ctr"/>
                      <a:r>
                        <a:rPr lang="en-US" sz="2400" dirty="0"/>
                        <a:t>10 , 0</a:t>
                      </a:r>
                    </a:p>
                  </a:txBody>
                  <a:tcPr/>
                </a:tc>
                <a:tc>
                  <a:txBody>
                    <a:bodyPr/>
                    <a:lstStyle/>
                    <a:p>
                      <a:pPr algn="ctr"/>
                      <a:r>
                        <a:rPr lang="en-US" sz="2400" dirty="0"/>
                        <a:t>10 ,0</a:t>
                      </a:r>
                    </a:p>
                  </a:txBody>
                  <a:tcPr/>
                </a:tc>
                <a:tc>
                  <a:txBody>
                    <a:bodyPr/>
                    <a:lstStyle/>
                    <a:p>
                      <a:pPr algn="ctr"/>
                      <a:r>
                        <a:rPr lang="en-US" sz="2400" dirty="0"/>
                        <a:t>0 , 10</a:t>
                      </a:r>
                    </a:p>
                  </a:txBody>
                  <a:tcPr/>
                </a:tc>
                <a:extLst>
                  <a:ext uri="{0D108BD9-81ED-4DB2-BD59-A6C34878D82A}">
                    <a16:rowId xmlns:a16="http://schemas.microsoft.com/office/drawing/2014/main" val="10003"/>
                  </a:ext>
                </a:extLst>
              </a:tr>
            </a:tbl>
          </a:graphicData>
        </a:graphic>
      </p:graphicFrame>
      <p:sp>
        <p:nvSpPr>
          <p:cNvPr id="9" name="TextBox 8"/>
          <p:cNvSpPr txBox="1"/>
          <p:nvPr/>
        </p:nvSpPr>
        <p:spPr>
          <a:xfrm>
            <a:off x="755576" y="4956968"/>
            <a:ext cx="2908015" cy="461665"/>
          </a:xfrm>
          <a:prstGeom prst="rect">
            <a:avLst/>
          </a:prstGeom>
          <a:noFill/>
        </p:spPr>
        <p:txBody>
          <a:bodyPr wrap="square" rtlCol="0">
            <a:spAutoFit/>
          </a:bodyPr>
          <a:lstStyle/>
          <a:p>
            <a:r>
              <a:rPr lang="en-US" sz="2400" dirty="0"/>
              <a:t>Pure conflict game</a:t>
            </a:r>
          </a:p>
        </p:txBody>
      </p:sp>
    </p:spTree>
    <p:extLst>
      <p:ext uri="{BB962C8B-B14F-4D97-AF65-F5344CB8AC3E}">
        <p14:creationId xmlns:p14="http://schemas.microsoft.com/office/powerpoint/2010/main" val="409693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Sequential-move games</a:t>
            </a:r>
          </a:p>
        </p:txBody>
      </p:sp>
      <p:sp>
        <p:nvSpPr>
          <p:cNvPr id="3" name="Content Placeholder 2"/>
          <p:cNvSpPr>
            <a:spLocks noGrp="1"/>
          </p:cNvSpPr>
          <p:nvPr>
            <p:ph idx="1"/>
          </p:nvPr>
        </p:nvSpPr>
        <p:spPr>
          <a:xfrm>
            <a:off x="611560" y="1453612"/>
            <a:ext cx="7848872" cy="4525963"/>
          </a:xfrm>
        </p:spPr>
        <p:txBody>
          <a:bodyPr>
            <a:normAutofit/>
          </a:bodyPr>
          <a:lstStyle/>
          <a:p>
            <a:pPr marL="0" indent="0" algn="just">
              <a:buNone/>
            </a:pPr>
            <a:r>
              <a:rPr lang="en-US" sz="2200" dirty="0"/>
              <a:t>Players make moves in some sort of orders. This means one player moves first and other player or players see the first player’s move and respond to it. The game tree is represented as</a:t>
            </a:r>
          </a:p>
          <a:p>
            <a:pPr marL="0" indent="0" algn="just">
              <a:buNone/>
            </a:pPr>
            <a:endParaRPr lang="en-US" sz="2000" dirty="0"/>
          </a:p>
        </p:txBody>
      </p:sp>
      <p:grpSp>
        <p:nvGrpSpPr>
          <p:cNvPr id="6" name="Group 5"/>
          <p:cNvGrpSpPr/>
          <p:nvPr/>
        </p:nvGrpSpPr>
        <p:grpSpPr>
          <a:xfrm>
            <a:off x="957377" y="2895600"/>
            <a:ext cx="3995623" cy="3124266"/>
            <a:chOff x="0" y="0"/>
            <a:chExt cx="4171950" cy="3362325"/>
          </a:xfrm>
        </p:grpSpPr>
        <p:sp>
          <p:nvSpPr>
            <p:cNvPr id="7" name="Text Box 8"/>
            <p:cNvSpPr txBox="1"/>
            <p:nvPr/>
          </p:nvSpPr>
          <p:spPr>
            <a:xfrm rot="1640784">
              <a:off x="485775" y="2181225"/>
              <a:ext cx="1054100" cy="35623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Not Promotion</a:t>
              </a:r>
            </a:p>
          </p:txBody>
        </p:sp>
        <p:sp>
          <p:nvSpPr>
            <p:cNvPr id="8" name="Text Box 7"/>
            <p:cNvSpPr txBox="1"/>
            <p:nvPr/>
          </p:nvSpPr>
          <p:spPr>
            <a:xfrm rot="20019899">
              <a:off x="495300" y="1066800"/>
              <a:ext cx="911860" cy="35623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Promotion</a:t>
              </a:r>
            </a:p>
          </p:txBody>
        </p:sp>
        <p:sp>
          <p:nvSpPr>
            <p:cNvPr id="9" name="Oval 8"/>
            <p:cNvSpPr/>
            <p:nvPr/>
          </p:nvSpPr>
          <p:spPr>
            <a:xfrm>
              <a:off x="0" y="1485900"/>
              <a:ext cx="466725" cy="4667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US" sz="1400">
                  <a:effectLst/>
                  <a:ea typeface="Calibri"/>
                  <a:cs typeface="Times New Roman"/>
                </a:rPr>
                <a:t>A</a:t>
              </a:r>
              <a:endParaRPr lang="en-US" sz="1100">
                <a:effectLst/>
                <a:ea typeface="Calibri"/>
                <a:cs typeface="Times New Roman"/>
              </a:endParaRPr>
            </a:p>
          </p:txBody>
        </p:sp>
        <p:sp>
          <p:nvSpPr>
            <p:cNvPr id="10" name="Oval 9"/>
            <p:cNvSpPr/>
            <p:nvPr/>
          </p:nvSpPr>
          <p:spPr>
            <a:xfrm>
              <a:off x="1685925" y="733425"/>
              <a:ext cx="466725" cy="4667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US" sz="1400" dirty="0">
                  <a:effectLst/>
                  <a:ea typeface="Calibri"/>
                  <a:cs typeface="Times New Roman"/>
                </a:rPr>
                <a:t>B</a:t>
              </a:r>
              <a:endParaRPr lang="en-US" sz="1100" dirty="0">
                <a:effectLst/>
                <a:ea typeface="Calibri"/>
                <a:cs typeface="Times New Roman"/>
              </a:endParaRPr>
            </a:p>
          </p:txBody>
        </p:sp>
        <p:sp>
          <p:nvSpPr>
            <p:cNvPr id="11" name="Oval 10"/>
            <p:cNvSpPr/>
            <p:nvPr/>
          </p:nvSpPr>
          <p:spPr>
            <a:xfrm>
              <a:off x="1685925" y="2343150"/>
              <a:ext cx="466725" cy="4667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US" sz="1400">
                  <a:effectLst/>
                  <a:ea typeface="Calibri"/>
                  <a:cs typeface="Times New Roman"/>
                </a:rPr>
                <a:t>B</a:t>
              </a:r>
              <a:endParaRPr lang="en-US" sz="1100">
                <a:effectLst/>
                <a:ea typeface="Calibri"/>
                <a:cs typeface="Times New Roman"/>
              </a:endParaRPr>
            </a:p>
          </p:txBody>
        </p:sp>
        <p:cxnSp>
          <p:nvCxnSpPr>
            <p:cNvPr id="12" name="Straight Arrow Connector 11"/>
            <p:cNvCxnSpPr/>
            <p:nvPr/>
          </p:nvCxnSpPr>
          <p:spPr>
            <a:xfrm flipV="1">
              <a:off x="466725" y="1019175"/>
              <a:ext cx="1219200" cy="58102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3" name="Straight Arrow Connector 12"/>
            <p:cNvCxnSpPr/>
            <p:nvPr/>
          </p:nvCxnSpPr>
          <p:spPr>
            <a:xfrm>
              <a:off x="466725" y="1838325"/>
              <a:ext cx="1219200" cy="6477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4" name="Text Box 9"/>
            <p:cNvSpPr txBox="1"/>
            <p:nvPr/>
          </p:nvSpPr>
          <p:spPr>
            <a:xfrm rot="20019899">
              <a:off x="2181225" y="295275"/>
              <a:ext cx="911860" cy="35623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Promotion</a:t>
              </a:r>
            </a:p>
          </p:txBody>
        </p:sp>
        <p:cxnSp>
          <p:nvCxnSpPr>
            <p:cNvPr id="15" name="Straight Arrow Connector 14"/>
            <p:cNvCxnSpPr/>
            <p:nvPr/>
          </p:nvCxnSpPr>
          <p:spPr>
            <a:xfrm flipV="1">
              <a:off x="2152650" y="247650"/>
              <a:ext cx="1219200" cy="58102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6" name="Text Box 11"/>
            <p:cNvSpPr txBox="1"/>
            <p:nvPr/>
          </p:nvSpPr>
          <p:spPr>
            <a:xfrm rot="20019899">
              <a:off x="2181225" y="1952625"/>
              <a:ext cx="911860" cy="35623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Promotion</a:t>
              </a:r>
            </a:p>
          </p:txBody>
        </p:sp>
        <p:cxnSp>
          <p:nvCxnSpPr>
            <p:cNvPr id="17" name="Straight Arrow Connector 16"/>
            <p:cNvCxnSpPr/>
            <p:nvPr/>
          </p:nvCxnSpPr>
          <p:spPr>
            <a:xfrm flipV="1">
              <a:off x="2152650" y="1905000"/>
              <a:ext cx="1219200" cy="58102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8" name="Text Box 13"/>
            <p:cNvSpPr txBox="1"/>
            <p:nvPr/>
          </p:nvSpPr>
          <p:spPr>
            <a:xfrm rot="1640784">
              <a:off x="2171700" y="1181100"/>
              <a:ext cx="1054100" cy="35623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dirty="0">
                  <a:effectLst/>
                  <a:ea typeface="Calibri"/>
                  <a:cs typeface="Times New Roman"/>
                </a:rPr>
                <a:t>Not Promotion</a:t>
              </a:r>
            </a:p>
          </p:txBody>
        </p:sp>
        <p:cxnSp>
          <p:nvCxnSpPr>
            <p:cNvPr id="19" name="Straight Arrow Connector 18"/>
            <p:cNvCxnSpPr/>
            <p:nvPr/>
          </p:nvCxnSpPr>
          <p:spPr>
            <a:xfrm>
              <a:off x="2152650" y="847725"/>
              <a:ext cx="1219200" cy="6477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0" name="Text Box 15"/>
            <p:cNvSpPr txBox="1"/>
            <p:nvPr/>
          </p:nvSpPr>
          <p:spPr>
            <a:xfrm rot="1640784">
              <a:off x="2171700" y="2828925"/>
              <a:ext cx="1054100" cy="35623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100">
                  <a:effectLst/>
                  <a:ea typeface="Calibri"/>
                  <a:cs typeface="Times New Roman"/>
                </a:rPr>
                <a:t>Not Promotion</a:t>
              </a:r>
            </a:p>
          </p:txBody>
        </p:sp>
        <p:cxnSp>
          <p:nvCxnSpPr>
            <p:cNvPr id="21" name="Straight Arrow Connector 20"/>
            <p:cNvCxnSpPr/>
            <p:nvPr/>
          </p:nvCxnSpPr>
          <p:spPr>
            <a:xfrm>
              <a:off x="2152650" y="2495550"/>
              <a:ext cx="1219200" cy="6477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2" name="Text Box 19"/>
            <p:cNvSpPr txBox="1"/>
            <p:nvPr/>
          </p:nvSpPr>
          <p:spPr>
            <a:xfrm>
              <a:off x="3486150" y="0"/>
              <a:ext cx="685800" cy="419100"/>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800">
                  <a:effectLst/>
                  <a:ea typeface="Calibri"/>
                  <a:cs typeface="Times New Roman"/>
                </a:rPr>
                <a:t>2 , 2</a:t>
              </a:r>
              <a:endParaRPr lang="en-US" sz="1100">
                <a:effectLst/>
                <a:ea typeface="Calibri"/>
                <a:cs typeface="Times New Roman"/>
              </a:endParaRPr>
            </a:p>
          </p:txBody>
        </p:sp>
        <p:sp>
          <p:nvSpPr>
            <p:cNvPr id="23" name="Text Box 20"/>
            <p:cNvSpPr txBox="1"/>
            <p:nvPr/>
          </p:nvSpPr>
          <p:spPr>
            <a:xfrm>
              <a:off x="3486150" y="1276350"/>
              <a:ext cx="685800" cy="419100"/>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800">
                  <a:effectLst/>
                  <a:ea typeface="Calibri"/>
                  <a:cs typeface="Times New Roman"/>
                </a:rPr>
                <a:t>6 , 3</a:t>
              </a:r>
              <a:endParaRPr lang="en-US" sz="1100">
                <a:effectLst/>
                <a:ea typeface="Calibri"/>
                <a:cs typeface="Times New Roman"/>
              </a:endParaRPr>
            </a:p>
          </p:txBody>
        </p:sp>
        <p:sp>
          <p:nvSpPr>
            <p:cNvPr id="24" name="Text Box 21"/>
            <p:cNvSpPr txBox="1"/>
            <p:nvPr/>
          </p:nvSpPr>
          <p:spPr>
            <a:xfrm>
              <a:off x="3486150" y="1685925"/>
              <a:ext cx="685800" cy="419100"/>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800">
                  <a:effectLst/>
                  <a:ea typeface="Calibri"/>
                  <a:cs typeface="Times New Roman"/>
                </a:rPr>
                <a:t>3 , 6</a:t>
              </a:r>
              <a:endParaRPr lang="en-US" sz="1100">
                <a:effectLst/>
                <a:ea typeface="Calibri"/>
                <a:cs typeface="Times New Roman"/>
              </a:endParaRPr>
            </a:p>
          </p:txBody>
        </p:sp>
        <p:sp>
          <p:nvSpPr>
            <p:cNvPr id="25" name="Text Box 22"/>
            <p:cNvSpPr txBox="1"/>
            <p:nvPr/>
          </p:nvSpPr>
          <p:spPr>
            <a:xfrm>
              <a:off x="3476625" y="2943225"/>
              <a:ext cx="685800" cy="419100"/>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15000"/>
                </a:lnSpc>
                <a:spcBef>
                  <a:spcPts val="0"/>
                </a:spcBef>
                <a:spcAft>
                  <a:spcPts val="1000"/>
                </a:spcAft>
              </a:pPr>
              <a:r>
                <a:rPr lang="en-US" sz="1800">
                  <a:effectLst/>
                  <a:ea typeface="Calibri"/>
                  <a:cs typeface="Times New Roman"/>
                </a:rPr>
                <a:t>4 , 4</a:t>
              </a:r>
              <a:endParaRPr lang="en-US" sz="1100">
                <a:effectLst/>
                <a:ea typeface="Calibri"/>
                <a:cs typeface="Times New Roman"/>
              </a:endParaRPr>
            </a:p>
          </p:txBody>
        </p:sp>
      </p:grpSp>
      <p:sp>
        <p:nvSpPr>
          <p:cNvPr id="26" name="TextBox 25"/>
          <p:cNvSpPr txBox="1"/>
          <p:nvPr/>
        </p:nvSpPr>
        <p:spPr>
          <a:xfrm>
            <a:off x="5334000" y="2994497"/>
            <a:ext cx="2819400" cy="1107996"/>
          </a:xfrm>
          <a:prstGeom prst="rect">
            <a:avLst/>
          </a:prstGeom>
          <a:noFill/>
        </p:spPr>
        <p:txBody>
          <a:bodyPr wrap="square" rtlCol="0">
            <a:spAutoFit/>
          </a:bodyPr>
          <a:lstStyle/>
          <a:p>
            <a:r>
              <a:rPr lang="en-US" sz="2200" dirty="0"/>
              <a:t>Do you think </a:t>
            </a:r>
          </a:p>
          <a:p>
            <a:r>
              <a:rPr lang="en-US" sz="2200" dirty="0"/>
              <a:t>A will do promotion ? WHY</a:t>
            </a:r>
          </a:p>
        </p:txBody>
      </p:sp>
    </p:spTree>
    <p:extLst>
      <p:ext uri="{BB962C8B-B14F-4D97-AF65-F5344CB8AC3E}">
        <p14:creationId xmlns:p14="http://schemas.microsoft.com/office/powerpoint/2010/main" val="2982575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Type Games</a:t>
            </a:r>
          </a:p>
        </p:txBody>
      </p:sp>
      <p:sp>
        <p:nvSpPr>
          <p:cNvPr id="3" name="Rectangle 2"/>
          <p:cNvSpPr/>
          <p:nvPr/>
        </p:nvSpPr>
        <p:spPr>
          <a:xfrm>
            <a:off x="611560" y="1582341"/>
            <a:ext cx="7848872" cy="4770537"/>
          </a:xfrm>
          <a:prstGeom prst="rect">
            <a:avLst/>
          </a:prstGeom>
        </p:spPr>
        <p:txBody>
          <a:bodyPr wrap="square">
            <a:spAutoFit/>
          </a:bodyPr>
          <a:lstStyle/>
          <a:p>
            <a:r>
              <a:rPr lang="en-US" sz="2800" b="1" dirty="0"/>
              <a:t>Repetition</a:t>
            </a:r>
          </a:p>
          <a:p>
            <a:pPr algn="just"/>
            <a:r>
              <a:rPr lang="en-US" sz="2400" dirty="0"/>
              <a:t>Games that are played by the same players more than once . It is also called as multi-stage or n-stage games </a:t>
            </a:r>
          </a:p>
          <a:p>
            <a:endParaRPr lang="en-US" sz="2400" dirty="0"/>
          </a:p>
          <a:p>
            <a:r>
              <a:rPr lang="en-US" sz="2800" b="1" dirty="0"/>
              <a:t>Cooperative and non-cooperative</a:t>
            </a:r>
          </a:p>
          <a:p>
            <a:pPr algn="just"/>
            <a:r>
              <a:rPr lang="en-US" sz="2400" dirty="0"/>
              <a:t>The players are allowed to communicate and any agreements they make about how to play the game. Games, we will study, are non-cooperative games  </a:t>
            </a:r>
          </a:p>
          <a:p>
            <a:endParaRPr lang="en-US" sz="2800" b="1" dirty="0"/>
          </a:p>
          <a:p>
            <a:r>
              <a:rPr lang="en-US" sz="2800" b="1" dirty="0"/>
              <a:t>N-Players</a:t>
            </a:r>
          </a:p>
          <a:p>
            <a:pPr algn="just"/>
            <a:r>
              <a:rPr lang="en-US" sz="2400" dirty="0"/>
              <a:t>Number of players in a game is more than 2. The more the player the more complex the game will be</a:t>
            </a:r>
          </a:p>
        </p:txBody>
      </p:sp>
    </p:spTree>
    <p:extLst>
      <p:ext uri="{BB962C8B-B14F-4D97-AF65-F5344CB8AC3E}">
        <p14:creationId xmlns:p14="http://schemas.microsoft.com/office/powerpoint/2010/main" val="397546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01</a:t>
            </a:r>
          </a:p>
        </p:txBody>
      </p:sp>
      <mc:AlternateContent xmlns:mc="http://schemas.openxmlformats.org/markup-compatibility/2006" xmlns:a14="http://schemas.microsoft.com/office/drawing/2010/main">
        <mc:Choice Requires="a14">
          <p:sp>
            <p:nvSpPr>
              <p:cNvPr id="5" name="Rectangle 4"/>
              <p:cNvSpPr/>
              <p:nvPr/>
            </p:nvSpPr>
            <p:spPr>
              <a:xfrm>
                <a:off x="592591" y="1556792"/>
                <a:ext cx="7831569" cy="1631216"/>
              </a:xfrm>
              <a:prstGeom prst="rect">
                <a:avLst/>
              </a:prstGeom>
            </p:spPr>
            <p:txBody>
              <a:bodyPr wrap="square">
                <a:spAutoFit/>
              </a:bodyPr>
              <a:lstStyle/>
              <a:p>
                <a:pPr marL="457200" indent="-457200" algn="just"/>
                <a:r>
                  <a:rPr lang="en-US" sz="2000" dirty="0">
                    <a:latin typeface="Times New Roman" panose="02020603050405020304" pitchFamily="18" charset="0"/>
                    <a:cs typeface="Times New Roman" panose="02020603050405020304" pitchFamily="18" charset="0"/>
                  </a:rPr>
                  <a:t>1. 	A pair of fair dice are thrown and each of player </a:t>
                </a:r>
                <a14:m>
                  <m:oMath xmlns:m="http://schemas.openxmlformats.org/officeDocument/2006/math">
                    <m:r>
                      <a:rPr lang="en-US" sz="2000" i="1" dirty="0" smtClean="0">
                        <a:latin typeface="Cambria Math" panose="02040503050406030204" pitchFamily="18" charset="0"/>
                      </a:rPr>
                      <m:t>𝐴</m:t>
                    </m:r>
                  </m:oMath>
                </a14:m>
                <a:r>
                  <a:rPr lang="en-US" sz="2000" dirty="0">
                    <a:latin typeface="Times New Roman" panose="02020603050405020304" pitchFamily="18" charset="0"/>
                    <a:cs typeface="Times New Roman" panose="02020603050405020304" pitchFamily="18" charset="0"/>
                  </a:rPr>
                  <a:t> and </a:t>
                </a:r>
                <a14:m>
                  <m:oMath xmlns:m="http://schemas.openxmlformats.org/officeDocument/2006/math">
                    <m:r>
                      <a:rPr lang="en-US" sz="2000" i="1" dirty="0" smtClean="0">
                        <a:latin typeface="Cambria Math" panose="02040503050406030204" pitchFamily="18" charset="0"/>
                      </a:rPr>
                      <m:t>𝐵</m:t>
                    </m:r>
                  </m:oMath>
                </a14:m>
                <a:r>
                  <a:rPr lang="en-US" sz="2000" dirty="0">
                    <a:latin typeface="Times New Roman" panose="02020603050405020304" pitchFamily="18" charset="0"/>
                    <a:cs typeface="Times New Roman" panose="02020603050405020304" pitchFamily="18" charset="0"/>
                  </a:rPr>
                  <a:t> can bet either $12 or $24 on the outcome. Player </a:t>
                </a:r>
                <a14:m>
                  <m:oMath xmlns:m="http://schemas.openxmlformats.org/officeDocument/2006/math">
                    <m:r>
                      <a:rPr lang="en-US" sz="2000" i="1" dirty="0" smtClean="0">
                        <a:latin typeface="Cambria Math" panose="02040503050406030204" pitchFamily="18" charset="0"/>
                      </a:rPr>
                      <m:t>𝐴</m:t>
                    </m:r>
                  </m:oMath>
                </a14:m>
                <a:r>
                  <a:rPr lang="en-US" sz="2000" dirty="0">
                    <a:latin typeface="Times New Roman" panose="02020603050405020304" pitchFamily="18" charset="0"/>
                    <a:cs typeface="Times New Roman" panose="02020603050405020304" pitchFamily="18" charset="0"/>
                  </a:rPr>
                  <a:t> wins if the sum of the dice is more than six otherwise </a:t>
                </a:r>
                <a14:m>
                  <m:oMath xmlns:m="http://schemas.openxmlformats.org/officeDocument/2006/math">
                    <m:r>
                      <a:rPr lang="en-US" sz="2000" i="1" dirty="0" smtClean="0">
                        <a:latin typeface="Cambria Math" panose="02040503050406030204" pitchFamily="18" charset="0"/>
                      </a:rPr>
                      <m:t>𝐵</m:t>
                    </m:r>
                  </m:oMath>
                </a14:m>
                <a:r>
                  <a:rPr lang="en-US" sz="2000" dirty="0">
                    <a:latin typeface="Times New Roman" panose="02020603050405020304" pitchFamily="18" charset="0"/>
                    <a:cs typeface="Times New Roman" panose="02020603050405020304" pitchFamily="18" charset="0"/>
                  </a:rPr>
                  <a:t> wins. The winner receives from the loser the sum of the two  bets. Describe the pay off matrix of the game and determine what will </a:t>
                </a:r>
                <a14:m>
                  <m:oMath xmlns:m="http://schemas.openxmlformats.org/officeDocument/2006/math">
                    <m:r>
                      <a:rPr lang="en-US" sz="2000" i="1" dirty="0">
                        <a:latin typeface="Cambria Math" panose="02040503050406030204" pitchFamily="18" charset="0"/>
                      </a:rPr>
                      <m:t>𝐴</m:t>
                    </m:r>
                  </m:oMath>
                </a14:m>
                <a:r>
                  <a:rPr lang="en-US" sz="2000" dirty="0">
                    <a:latin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rPr>
                      <m:t>𝐵</m:t>
                    </m:r>
                  </m:oMath>
                </a14:m>
                <a:r>
                  <a:rPr lang="en-US" sz="2000" dirty="0">
                    <a:latin typeface="Times New Roman" panose="02020603050405020304" pitchFamily="18" charset="0"/>
                    <a:cs typeface="Times New Roman" panose="02020603050405020304" pitchFamily="18" charset="0"/>
                  </a:rPr>
                  <a:t> bet ? Why  </a:t>
                </a:r>
              </a:p>
            </p:txBody>
          </p:sp>
        </mc:Choice>
        <mc:Fallback xmlns="">
          <p:sp>
            <p:nvSpPr>
              <p:cNvPr id="5" name="Rectangle 4"/>
              <p:cNvSpPr>
                <a:spLocks noRot="1" noChangeAspect="1" noMove="1" noResize="1" noEditPoints="1" noAdjustHandles="1" noChangeArrowheads="1" noChangeShapeType="1" noTextEdit="1"/>
              </p:cNvSpPr>
              <p:nvPr/>
            </p:nvSpPr>
            <p:spPr>
              <a:xfrm>
                <a:off x="592591" y="1556792"/>
                <a:ext cx="7831569" cy="1631216"/>
              </a:xfrm>
              <a:prstGeom prst="rect">
                <a:avLst/>
              </a:prstGeom>
              <a:blipFill>
                <a:blip r:embed="rId2"/>
                <a:stretch>
                  <a:fillRect l="-778" t="-1866" r="-856" b="-55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592591" y="3357097"/>
                <a:ext cx="7855748" cy="2554545"/>
              </a:xfrm>
              <a:prstGeom prst="rect">
                <a:avLst/>
              </a:prstGeom>
            </p:spPr>
            <p:txBody>
              <a:bodyPr wrap="square">
                <a:spAutoFit/>
              </a:bodyPr>
              <a:lstStyle/>
              <a:p>
                <a:pPr marL="457200" indent="-457200" algn="just"/>
                <a:r>
                  <a:rPr lang="en-US" sz="2000" dirty="0"/>
                  <a:t>2.	A coin being draw, then give it to </a:t>
                </a:r>
                <a14:m>
                  <m:oMath xmlns:m="http://schemas.openxmlformats.org/officeDocument/2006/math">
                    <m:r>
                      <a:rPr lang="en-US" sz="2000" i="1" dirty="0" smtClean="0">
                        <a:latin typeface="Cambria Math" panose="02040503050406030204" pitchFamily="18" charset="0"/>
                      </a:rPr>
                      <m:t>𝐴</m:t>
                    </m:r>
                  </m:oMath>
                </a14:m>
                <a:r>
                  <a:rPr lang="en-US" sz="2000" dirty="0"/>
                  <a:t>. Without knowing the result of coin being drawing, </a:t>
                </a:r>
                <a14:m>
                  <m:oMath xmlns:m="http://schemas.openxmlformats.org/officeDocument/2006/math">
                    <m:r>
                      <a:rPr lang="en-US" sz="2000" i="1" dirty="0" smtClean="0">
                        <a:latin typeface="Cambria Math" panose="02040503050406030204" pitchFamily="18" charset="0"/>
                      </a:rPr>
                      <m:t>𝐴</m:t>
                    </m:r>
                  </m:oMath>
                </a14:m>
                <a:r>
                  <a:rPr lang="en-US" sz="2000" dirty="0"/>
                  <a:t> has to decided to bet or not. If </a:t>
                </a:r>
                <a14:m>
                  <m:oMath xmlns:m="http://schemas.openxmlformats.org/officeDocument/2006/math">
                    <m:r>
                      <a:rPr lang="en-US" sz="2000" i="1" dirty="0" smtClean="0">
                        <a:latin typeface="Cambria Math" panose="02040503050406030204" pitchFamily="18" charset="0"/>
                      </a:rPr>
                      <m:t>𝐴</m:t>
                    </m:r>
                  </m:oMath>
                </a14:m>
                <a:r>
                  <a:rPr lang="en-US" sz="2000" dirty="0"/>
                  <a:t> decides not to bet then he has to pay $1 to </a:t>
                </a:r>
                <a14:m>
                  <m:oMath xmlns:m="http://schemas.openxmlformats.org/officeDocument/2006/math">
                    <m:r>
                      <a:rPr lang="en-US" sz="2000" i="1" dirty="0" smtClean="0">
                        <a:latin typeface="Cambria Math" panose="02040503050406030204" pitchFamily="18" charset="0"/>
                      </a:rPr>
                      <m:t>𝐵</m:t>
                    </m:r>
                  </m:oMath>
                </a14:m>
                <a:r>
                  <a:rPr lang="en-US" sz="2000" dirty="0"/>
                  <a:t>. If </a:t>
                </a:r>
                <a14:m>
                  <m:oMath xmlns:m="http://schemas.openxmlformats.org/officeDocument/2006/math">
                    <m:r>
                      <a:rPr lang="en-US" sz="2000" i="1" dirty="0" smtClean="0">
                        <a:latin typeface="Cambria Math" panose="02040503050406030204" pitchFamily="18" charset="0"/>
                      </a:rPr>
                      <m:t>𝐴</m:t>
                    </m:r>
                  </m:oMath>
                </a14:m>
                <a:r>
                  <a:rPr lang="en-US" sz="2000" dirty="0"/>
                  <a:t> want to bet then </a:t>
                </a:r>
                <a14:m>
                  <m:oMath xmlns:m="http://schemas.openxmlformats.org/officeDocument/2006/math">
                    <m:r>
                      <a:rPr lang="en-US" sz="2000" i="1" dirty="0" smtClean="0">
                        <a:latin typeface="Cambria Math" panose="02040503050406030204" pitchFamily="18" charset="0"/>
                      </a:rPr>
                      <m:t>𝐵</m:t>
                    </m:r>
                  </m:oMath>
                </a14:m>
                <a:r>
                  <a:rPr lang="en-US" sz="2000" dirty="0"/>
                  <a:t> has to decided to bet or not. If </a:t>
                </a:r>
                <a14:m>
                  <m:oMath xmlns:m="http://schemas.openxmlformats.org/officeDocument/2006/math">
                    <m:r>
                      <a:rPr lang="en-US" sz="2000" i="1" dirty="0" smtClean="0">
                        <a:latin typeface="Cambria Math" panose="02040503050406030204" pitchFamily="18" charset="0"/>
                      </a:rPr>
                      <m:t>𝐵</m:t>
                    </m:r>
                  </m:oMath>
                </a14:m>
                <a:r>
                  <a:rPr lang="en-US" sz="2000" dirty="0"/>
                  <a:t> decides not to bet then </a:t>
                </a:r>
                <a14:m>
                  <m:oMath xmlns:m="http://schemas.openxmlformats.org/officeDocument/2006/math">
                    <m:r>
                      <a:rPr lang="en-US" sz="2000" i="1" dirty="0" smtClean="0">
                        <a:latin typeface="Cambria Math" panose="02040503050406030204" pitchFamily="18" charset="0"/>
                      </a:rPr>
                      <m:t>𝐵</m:t>
                    </m:r>
                  </m:oMath>
                </a14:m>
                <a:r>
                  <a:rPr lang="en-US" sz="2000" dirty="0"/>
                  <a:t> has to pay $1 to </a:t>
                </a:r>
                <a14:m>
                  <m:oMath xmlns:m="http://schemas.openxmlformats.org/officeDocument/2006/math">
                    <m:r>
                      <a:rPr lang="en-US" sz="2000" i="1" dirty="0" smtClean="0">
                        <a:latin typeface="Cambria Math" panose="02040503050406030204" pitchFamily="18" charset="0"/>
                      </a:rPr>
                      <m:t>𝐴</m:t>
                    </m:r>
                  </m:oMath>
                </a14:m>
                <a:r>
                  <a:rPr lang="en-US" sz="2000" dirty="0"/>
                  <a:t>. If </a:t>
                </a:r>
                <a14:m>
                  <m:oMath xmlns:m="http://schemas.openxmlformats.org/officeDocument/2006/math">
                    <m:r>
                      <a:rPr lang="en-US" sz="2000" i="1" dirty="0" smtClean="0">
                        <a:latin typeface="Cambria Math" panose="02040503050406030204" pitchFamily="18" charset="0"/>
                      </a:rPr>
                      <m:t>𝐵</m:t>
                    </m:r>
                  </m:oMath>
                </a14:m>
                <a:r>
                  <a:rPr lang="en-US" sz="2000" dirty="0"/>
                  <a:t> want to bet then there are two possible conditions will happen. If the result of the coin is “Head” then </a:t>
                </a:r>
                <a14:m>
                  <m:oMath xmlns:m="http://schemas.openxmlformats.org/officeDocument/2006/math">
                    <m:r>
                      <a:rPr lang="en-US" sz="2000" i="1" dirty="0" smtClean="0">
                        <a:latin typeface="Cambria Math" panose="02040503050406030204" pitchFamily="18" charset="0"/>
                      </a:rPr>
                      <m:t>𝐵</m:t>
                    </m:r>
                  </m:oMath>
                </a14:m>
                <a:r>
                  <a:rPr lang="en-US" sz="2000" dirty="0"/>
                  <a:t> has to pay $2 to </a:t>
                </a:r>
                <a14:m>
                  <m:oMath xmlns:m="http://schemas.openxmlformats.org/officeDocument/2006/math">
                    <m:r>
                      <a:rPr lang="en-US" sz="2000" i="1" dirty="0" smtClean="0">
                        <a:latin typeface="Cambria Math" panose="02040503050406030204" pitchFamily="18" charset="0"/>
                      </a:rPr>
                      <m:t>𝐴</m:t>
                    </m:r>
                  </m:oMath>
                </a14:m>
                <a:r>
                  <a:rPr lang="en-US" sz="2000" dirty="0"/>
                  <a:t> , but if the result of the coin is “Tail” then B will receive $2 from </a:t>
                </a:r>
                <a14:m>
                  <m:oMath xmlns:m="http://schemas.openxmlformats.org/officeDocument/2006/math">
                    <m:r>
                      <a:rPr lang="en-US" sz="2000" i="1" dirty="0" smtClean="0">
                        <a:latin typeface="Cambria Math" panose="02040503050406030204" pitchFamily="18" charset="0"/>
                      </a:rPr>
                      <m:t>𝐴</m:t>
                    </m:r>
                  </m:oMath>
                </a14:m>
                <a:r>
                  <a:rPr lang="en-US" sz="2000" dirty="0"/>
                  <a:t>. Represent the pay-off matrix of this game.</a:t>
                </a:r>
              </a:p>
            </p:txBody>
          </p:sp>
        </mc:Choice>
        <mc:Fallback xmlns="">
          <p:sp>
            <p:nvSpPr>
              <p:cNvPr id="3" name="Rectangle 2"/>
              <p:cNvSpPr>
                <a:spLocks noRot="1" noChangeAspect="1" noMove="1" noResize="1" noEditPoints="1" noAdjustHandles="1" noChangeArrowheads="1" noChangeShapeType="1" noTextEdit="1"/>
              </p:cNvSpPr>
              <p:nvPr/>
            </p:nvSpPr>
            <p:spPr>
              <a:xfrm>
                <a:off x="592591" y="3357097"/>
                <a:ext cx="7855748" cy="2554545"/>
              </a:xfrm>
              <a:prstGeom prst="rect">
                <a:avLst/>
              </a:prstGeom>
              <a:blipFill>
                <a:blip r:embed="rId3"/>
                <a:stretch>
                  <a:fillRect l="-776" t="-1432" r="-853" b="-3341"/>
                </a:stretch>
              </a:blipFill>
            </p:spPr>
            <p:txBody>
              <a:bodyPr/>
              <a:lstStyle/>
              <a:p>
                <a:r>
                  <a:rPr lang="en-US">
                    <a:noFill/>
                  </a:rPr>
                  <a:t> </a:t>
                </a:r>
              </a:p>
            </p:txBody>
          </p:sp>
        </mc:Fallback>
      </mc:AlternateContent>
    </p:spTree>
    <p:extLst>
      <p:ext uri="{BB962C8B-B14F-4D97-AF65-F5344CB8AC3E}">
        <p14:creationId xmlns:p14="http://schemas.microsoft.com/office/powerpoint/2010/main" val="261355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755576" y="620688"/>
                <a:ext cx="7704856" cy="1631216"/>
              </a:xfrm>
              <a:prstGeom prst="rect">
                <a:avLst/>
              </a:prstGeom>
            </p:spPr>
            <p:txBody>
              <a:bodyPr wrap="square">
                <a:spAutoFit/>
              </a:bodyPr>
              <a:lstStyle/>
              <a:p>
                <a:pPr marL="457200" indent="-457200" algn="just"/>
                <a:r>
                  <a:rPr lang="en-US" sz="2000" dirty="0"/>
                  <a:t>3.	Each of the player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r>
                      <a:rPr lang="en-US" sz="2000" i="1" dirty="0" smtClean="0">
                        <a:latin typeface="Cambria Math" panose="02040503050406030204" pitchFamily="18" charset="0"/>
                      </a:rPr>
                      <m:t>𝐵</m:t>
                    </m:r>
                  </m:oMath>
                </a14:m>
                <a:r>
                  <a:rPr lang="en-US" sz="2000" dirty="0"/>
                  <a:t> chooses one of the numbers 1 and 2, without either player knowing in advance what the other player will choose. If the sum of the chosen numbers is even, </a:t>
                </a:r>
                <a14:m>
                  <m:oMath xmlns:m="http://schemas.openxmlformats.org/officeDocument/2006/math">
                    <m:r>
                      <a:rPr lang="en-US" sz="2000" i="1" dirty="0" smtClean="0">
                        <a:latin typeface="Cambria Math" panose="02040503050406030204" pitchFamily="18" charset="0"/>
                      </a:rPr>
                      <m:t>𝐴</m:t>
                    </m:r>
                  </m:oMath>
                </a14:m>
                <a:r>
                  <a:rPr lang="en-US" sz="2000" dirty="0"/>
                  <a:t> receives that sum in dollars from </a:t>
                </a:r>
                <a14:m>
                  <m:oMath xmlns:m="http://schemas.openxmlformats.org/officeDocument/2006/math">
                    <m:r>
                      <a:rPr lang="en-US" sz="2000" i="1" dirty="0" smtClean="0">
                        <a:latin typeface="Cambria Math" panose="02040503050406030204" pitchFamily="18" charset="0"/>
                      </a:rPr>
                      <m:t>𝐵</m:t>
                    </m:r>
                  </m:oMath>
                </a14:m>
                <a:r>
                  <a:rPr lang="en-US" sz="2000" dirty="0"/>
                  <a:t>. If the sum is odd, B receives from </a:t>
                </a:r>
                <a14:m>
                  <m:oMath xmlns:m="http://schemas.openxmlformats.org/officeDocument/2006/math">
                    <m:r>
                      <a:rPr lang="en-US" sz="2000" i="1" dirty="0" smtClean="0">
                        <a:latin typeface="Cambria Math" panose="02040503050406030204" pitchFamily="18" charset="0"/>
                      </a:rPr>
                      <m:t>𝐴</m:t>
                    </m:r>
                  </m:oMath>
                </a14:m>
                <a:r>
                  <a:rPr lang="en-US" sz="2000" dirty="0"/>
                  <a:t> as many dollars as the number </a:t>
                </a:r>
                <a14:m>
                  <m:oMath xmlns:m="http://schemas.openxmlformats.org/officeDocument/2006/math">
                    <m:r>
                      <a:rPr lang="en-US" sz="2000" i="1" dirty="0" smtClean="0">
                        <a:latin typeface="Cambria Math" panose="02040503050406030204" pitchFamily="18" charset="0"/>
                      </a:rPr>
                      <m:t>𝐵</m:t>
                    </m:r>
                  </m:oMath>
                </a14:m>
                <a:r>
                  <a:rPr lang="en-US" sz="2000" dirty="0"/>
                  <a:t> selected. Find the pay off matrix</a:t>
                </a:r>
              </a:p>
            </p:txBody>
          </p:sp>
        </mc:Choice>
        <mc:Fallback xmlns="">
          <p:sp>
            <p:nvSpPr>
              <p:cNvPr id="4" name="Rectangle 3"/>
              <p:cNvSpPr>
                <a:spLocks noRot="1" noChangeAspect="1" noMove="1" noResize="1" noEditPoints="1" noAdjustHandles="1" noChangeArrowheads="1" noChangeShapeType="1" noTextEdit="1"/>
              </p:cNvSpPr>
              <p:nvPr/>
            </p:nvSpPr>
            <p:spPr>
              <a:xfrm>
                <a:off x="755576" y="620688"/>
                <a:ext cx="7704856" cy="1631216"/>
              </a:xfrm>
              <a:prstGeom prst="rect">
                <a:avLst/>
              </a:prstGeom>
              <a:blipFill>
                <a:blip r:embed="rId2"/>
                <a:stretch>
                  <a:fillRect l="-870" t="-2247" r="-791" b="-59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55576" y="2420888"/>
                <a:ext cx="7704856" cy="1323439"/>
              </a:xfrm>
              <a:prstGeom prst="rect">
                <a:avLst/>
              </a:prstGeom>
            </p:spPr>
            <p:txBody>
              <a:bodyPr wrap="square">
                <a:spAutoFit/>
              </a:bodyPr>
              <a:lstStyle/>
              <a:p>
                <a:pPr marL="457200" indent="-457200" algn="just"/>
                <a:r>
                  <a:rPr lang="en-US" sz="2000" dirty="0"/>
                  <a:t>4.	Player </a:t>
                </a:r>
                <a14:m>
                  <m:oMath xmlns:m="http://schemas.openxmlformats.org/officeDocument/2006/math">
                    <m:r>
                      <a:rPr lang="en-US" sz="2000" i="1" dirty="0">
                        <a:latin typeface="Cambria Math" panose="02040503050406030204" pitchFamily="18" charset="0"/>
                      </a:rPr>
                      <m:t>𝐴</m:t>
                    </m:r>
                  </m:oMath>
                </a14:m>
                <a:r>
                  <a:rPr lang="en-US" sz="2000" dirty="0"/>
                  <a:t> chooses one of the numbers 1,2 and 3 and player B chooses either 1 or 2. If the sum of the chosen numbers is prime, A receives that sum in dollars from B. If the sum is not prime, B receives that sum from A. Find the pay off matrix</a:t>
                </a:r>
              </a:p>
            </p:txBody>
          </p:sp>
        </mc:Choice>
        <mc:Fallback xmlns="">
          <p:sp>
            <p:nvSpPr>
              <p:cNvPr id="5" name="Rectangle 4"/>
              <p:cNvSpPr>
                <a:spLocks noRot="1" noChangeAspect="1" noMove="1" noResize="1" noEditPoints="1" noAdjustHandles="1" noChangeArrowheads="1" noChangeShapeType="1" noTextEdit="1"/>
              </p:cNvSpPr>
              <p:nvPr/>
            </p:nvSpPr>
            <p:spPr>
              <a:xfrm>
                <a:off x="755576" y="2420888"/>
                <a:ext cx="7704856" cy="1323439"/>
              </a:xfrm>
              <a:prstGeom prst="rect">
                <a:avLst/>
              </a:prstGeom>
              <a:blipFill>
                <a:blip r:embed="rId3"/>
                <a:stretch>
                  <a:fillRect l="-870" t="-2304" r="-791" b="-73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727833" y="3913311"/>
                <a:ext cx="7704856" cy="1938992"/>
              </a:xfrm>
              <a:prstGeom prst="rect">
                <a:avLst/>
              </a:prstGeom>
            </p:spPr>
            <p:txBody>
              <a:bodyPr wrap="square">
                <a:spAutoFit/>
              </a:bodyPr>
              <a:lstStyle/>
              <a:p>
                <a:pPr marL="457200" indent="-457200" algn="just"/>
                <a:r>
                  <a:rPr lang="en-US" sz="2000" dirty="0"/>
                  <a:t>5.	 Each of the player </a:t>
                </a:r>
                <a14:m>
                  <m:oMath xmlns:m="http://schemas.openxmlformats.org/officeDocument/2006/math">
                    <m:r>
                      <a:rPr lang="en-US" sz="2000" i="1" dirty="0">
                        <a:latin typeface="Cambria Math" panose="02040503050406030204" pitchFamily="18" charset="0"/>
                      </a:rPr>
                      <m:t>𝐴</m:t>
                    </m:r>
                  </m:oMath>
                </a14:m>
                <a:r>
                  <a:rPr lang="en-US" sz="2000" dirty="0"/>
                  <a:t> and </a:t>
                </a:r>
                <a14:m>
                  <m:oMath xmlns:m="http://schemas.openxmlformats.org/officeDocument/2006/math">
                    <m:r>
                      <a:rPr lang="en-US" sz="2000" i="1" dirty="0">
                        <a:latin typeface="Cambria Math" panose="02040503050406030204" pitchFamily="18" charset="0"/>
                      </a:rPr>
                      <m:t>𝐵</m:t>
                    </m:r>
                  </m:oMath>
                </a14:m>
                <a:r>
                  <a:rPr lang="en-US" sz="2000" dirty="0"/>
                  <a:t> independently select “Head” or “Tail” and a fair con is tossed. If both players choose the side of the coin that appeared or both choose the side that did not appear, they each receive zero dollar. Otherwise, the player whose choice was correct, receives one dollar from the other player. Find the pay off matrix</a:t>
                </a:r>
              </a:p>
            </p:txBody>
          </p:sp>
        </mc:Choice>
        <mc:Fallback xmlns="">
          <p:sp>
            <p:nvSpPr>
              <p:cNvPr id="11" name="Rectangle 10"/>
              <p:cNvSpPr>
                <a:spLocks noRot="1" noChangeAspect="1" noMove="1" noResize="1" noEditPoints="1" noAdjustHandles="1" noChangeArrowheads="1" noChangeShapeType="1" noTextEdit="1"/>
              </p:cNvSpPr>
              <p:nvPr/>
            </p:nvSpPr>
            <p:spPr>
              <a:xfrm>
                <a:off x="727833" y="3913311"/>
                <a:ext cx="7704856" cy="1938992"/>
              </a:xfrm>
              <a:prstGeom prst="rect">
                <a:avLst/>
              </a:prstGeom>
              <a:blipFill>
                <a:blip r:embed="rId4"/>
                <a:stretch>
                  <a:fillRect l="-791" t="-1887" r="-870" b="-4717"/>
                </a:stretch>
              </a:blipFill>
            </p:spPr>
            <p:txBody>
              <a:bodyPr/>
              <a:lstStyle/>
              <a:p>
                <a:r>
                  <a:rPr lang="en-US">
                    <a:noFill/>
                  </a:rPr>
                  <a:t> </a:t>
                </a:r>
              </a:p>
            </p:txBody>
          </p:sp>
        </mc:Fallback>
      </mc:AlternateContent>
    </p:spTree>
    <p:extLst>
      <p:ext uri="{BB962C8B-B14F-4D97-AF65-F5344CB8AC3E}">
        <p14:creationId xmlns:p14="http://schemas.microsoft.com/office/powerpoint/2010/main" val="124675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5576" y="620688"/>
            <a:ext cx="7704856" cy="400110"/>
          </a:xfrm>
          <a:prstGeom prst="rect">
            <a:avLst/>
          </a:prstGeom>
        </p:spPr>
        <p:txBody>
          <a:bodyPr wrap="square">
            <a:spAutoFit/>
          </a:bodyPr>
          <a:lstStyle/>
          <a:p>
            <a:pPr marL="457200" indent="-457200" algn="just"/>
            <a:r>
              <a:rPr lang="en-US" sz="2000" dirty="0"/>
              <a:t>6.	Find the best move of each player with this pay -off matrix</a:t>
            </a:r>
          </a:p>
        </p:txBody>
      </p:sp>
      <p:sp>
        <p:nvSpPr>
          <p:cNvPr id="11" name="Rectangle 10"/>
          <p:cNvSpPr/>
          <p:nvPr/>
        </p:nvSpPr>
        <p:spPr>
          <a:xfrm>
            <a:off x="755536" y="3356992"/>
            <a:ext cx="7704856" cy="400110"/>
          </a:xfrm>
          <a:prstGeom prst="rect">
            <a:avLst/>
          </a:prstGeom>
        </p:spPr>
        <p:txBody>
          <a:bodyPr wrap="square">
            <a:spAutoFit/>
          </a:bodyPr>
          <a:lstStyle/>
          <a:p>
            <a:pPr marL="457200" indent="-457200" algn="just"/>
            <a:r>
              <a:rPr lang="en-US" sz="2000" dirty="0"/>
              <a:t>7.	 Find the best move of each player with this pay -off matrix</a:t>
            </a:r>
          </a:p>
        </p:txBody>
      </p:sp>
      <p:graphicFrame>
        <p:nvGraphicFramePr>
          <p:cNvPr id="6" name="Content Placeholder 3"/>
          <p:cNvGraphicFramePr>
            <a:graphicFrameLocks noGrp="1"/>
          </p:cNvGraphicFramePr>
          <p:nvPr>
            <p:ph sz="quarter" idx="1"/>
            <p:extLst>
              <p:ext uri="{D42A27DB-BD31-4B8C-83A1-F6EECF244321}">
                <p14:modId xmlns:p14="http://schemas.microsoft.com/office/powerpoint/2010/main" val="2336142827"/>
              </p:ext>
            </p:extLst>
          </p:nvPr>
        </p:nvGraphicFramePr>
        <p:xfrm>
          <a:off x="874164" y="1087974"/>
          <a:ext cx="7467600" cy="1854200"/>
        </p:xfrm>
        <a:graphic>
          <a:graphicData uri="http://schemas.openxmlformats.org/drawingml/2006/table">
            <a:tbl>
              <a:tblPr firstRow="1" bandRow="1">
                <a:tableStyleId>{5C22544A-7EE6-4342-B048-85BDC9FD1C3A}</a:tableStyleId>
              </a:tblPr>
              <a:tblGrid>
                <a:gridCol w="12446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gridCol w="1244600">
                  <a:extLst>
                    <a:ext uri="{9D8B030D-6E8A-4147-A177-3AD203B41FA5}">
                      <a16:colId xmlns:a16="http://schemas.microsoft.com/office/drawing/2014/main" val="20004"/>
                    </a:ext>
                  </a:extLst>
                </a:gridCol>
                <a:gridCol w="1244600">
                  <a:extLst>
                    <a:ext uri="{9D8B030D-6E8A-4147-A177-3AD203B41FA5}">
                      <a16:colId xmlns:a16="http://schemas.microsoft.com/office/drawing/2014/main" val="20005"/>
                    </a:ext>
                  </a:extLst>
                </a:gridCol>
              </a:tblGrid>
              <a:tr h="370840">
                <a:tc rowSpan="5">
                  <a:txBody>
                    <a:bodyPr/>
                    <a:lstStyle/>
                    <a:p>
                      <a:pPr algn="ctr"/>
                      <a:endParaRPr lang="en-US" dirty="0"/>
                    </a:p>
                    <a:p>
                      <a:pPr algn="ctr"/>
                      <a:endParaRPr lang="en-US" dirty="0"/>
                    </a:p>
                    <a:p>
                      <a:pPr algn="ctr"/>
                      <a:r>
                        <a:rPr lang="en-US" dirty="0"/>
                        <a:t>Player 1</a:t>
                      </a:r>
                    </a:p>
                  </a:txBody>
                  <a:tcPr/>
                </a:tc>
                <a:tc gridSpan="5">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Player</a:t>
                      </a:r>
                      <a:r>
                        <a:rPr lang="en-US" baseline="0" dirty="0">
                          <a:solidFill>
                            <a:schemeClr val="tx1"/>
                          </a:solidFill>
                        </a:rPr>
                        <a:t> 2</a:t>
                      </a:r>
                      <a:endParaRPr lang="en-US" dirty="0">
                        <a:solidFill>
                          <a:schemeClr val="tx1"/>
                        </a:solidFill>
                      </a:endParaRPr>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0"/>
                  </a:ext>
                </a:extLst>
              </a:tr>
              <a:tr h="370840">
                <a:tc vMerge="1">
                  <a:txBody>
                    <a:bodyPr/>
                    <a:lstStyle/>
                    <a:p>
                      <a:pPr algn="ctr"/>
                      <a:endParaRPr lang="en-US" dirty="0"/>
                    </a:p>
                  </a:txBody>
                  <a:tcPr/>
                </a:tc>
                <a:tc>
                  <a:txBody>
                    <a:bodyPr/>
                    <a:lstStyle/>
                    <a:p>
                      <a:pPr algn="ctr"/>
                      <a:r>
                        <a:rPr lang="en-US" dirty="0"/>
                        <a:t>Strategy</a:t>
                      </a:r>
                    </a:p>
                  </a:txBody>
                  <a:tcPr>
                    <a:solidFill>
                      <a:srgbClr val="FF0000"/>
                    </a:solidFill>
                  </a:tcPr>
                </a:tc>
                <a:tc>
                  <a:txBody>
                    <a:bodyPr/>
                    <a:lstStyle/>
                    <a:p>
                      <a:pPr algn="ctr"/>
                      <a:r>
                        <a:rPr lang="en-US" dirty="0"/>
                        <a:t>1</a:t>
                      </a:r>
                    </a:p>
                  </a:txBody>
                  <a:tcPr>
                    <a:solidFill>
                      <a:srgbClr val="FF0000"/>
                    </a:solidFill>
                  </a:tcPr>
                </a:tc>
                <a:tc>
                  <a:txBody>
                    <a:bodyPr/>
                    <a:lstStyle/>
                    <a:p>
                      <a:pPr algn="ctr"/>
                      <a:r>
                        <a:rPr lang="en-US" dirty="0"/>
                        <a:t>2</a:t>
                      </a:r>
                    </a:p>
                  </a:txBody>
                  <a:tcPr>
                    <a:solidFill>
                      <a:srgbClr val="FF0000"/>
                    </a:solidFill>
                  </a:tcPr>
                </a:tc>
                <a:tc>
                  <a:txBody>
                    <a:bodyPr/>
                    <a:lstStyle/>
                    <a:p>
                      <a:pPr algn="ctr"/>
                      <a:r>
                        <a:rPr lang="en-US" dirty="0"/>
                        <a:t>3</a:t>
                      </a:r>
                    </a:p>
                  </a:txBody>
                  <a:tcPr>
                    <a:solidFill>
                      <a:srgbClr val="FF0000"/>
                    </a:solidFill>
                  </a:tcPr>
                </a:tc>
                <a:tc>
                  <a:txBody>
                    <a:bodyPr/>
                    <a:lstStyle/>
                    <a:p>
                      <a:pPr algn="ctr"/>
                      <a:r>
                        <a:rPr lang="en-US" dirty="0"/>
                        <a:t>4</a:t>
                      </a:r>
                    </a:p>
                  </a:txBody>
                  <a:tcPr>
                    <a:solidFill>
                      <a:srgbClr val="FF0000"/>
                    </a:solidFill>
                  </a:tcPr>
                </a:tc>
                <a:extLst>
                  <a:ext uri="{0D108BD9-81ED-4DB2-BD59-A6C34878D82A}">
                    <a16:rowId xmlns:a16="http://schemas.microsoft.com/office/drawing/2014/main" val="10001"/>
                  </a:ext>
                </a:extLst>
              </a:tr>
              <a:tr h="370840">
                <a:tc vMerge="1">
                  <a:txBody>
                    <a:bodyPr/>
                    <a:lstStyle/>
                    <a:p>
                      <a:endParaRPr lang="en-US" dirty="0"/>
                    </a:p>
                  </a:txBody>
                  <a:tcPr/>
                </a:tc>
                <a:tc>
                  <a:txBody>
                    <a:bodyPr/>
                    <a:lstStyle/>
                    <a:p>
                      <a:pPr algn="ctr"/>
                      <a:r>
                        <a:rPr lang="en-US" dirty="0"/>
                        <a:t>1</a:t>
                      </a:r>
                    </a:p>
                  </a:txBody>
                  <a:tcPr>
                    <a:solidFill>
                      <a:srgbClr val="FF0000"/>
                    </a:solidFill>
                  </a:tcPr>
                </a:tc>
                <a:tc>
                  <a:txBody>
                    <a:bodyPr/>
                    <a:lstStyle/>
                    <a:p>
                      <a:pPr algn="ctr"/>
                      <a:r>
                        <a:rPr lang="en-US" dirty="0"/>
                        <a:t>7</a:t>
                      </a:r>
                    </a:p>
                  </a:txBody>
                  <a:tcPr>
                    <a:solidFill>
                      <a:srgbClr val="FFC000"/>
                    </a:solidFill>
                  </a:tcPr>
                </a:tc>
                <a:tc>
                  <a:txBody>
                    <a:bodyPr/>
                    <a:lstStyle/>
                    <a:p>
                      <a:pPr algn="ctr"/>
                      <a:r>
                        <a:rPr lang="en-US" dirty="0"/>
                        <a:t>2</a:t>
                      </a:r>
                    </a:p>
                  </a:txBody>
                  <a:tcPr>
                    <a:solidFill>
                      <a:srgbClr val="FFC000"/>
                    </a:solidFill>
                  </a:tcPr>
                </a:tc>
                <a:tc>
                  <a:txBody>
                    <a:bodyPr/>
                    <a:lstStyle/>
                    <a:p>
                      <a:pPr algn="ctr"/>
                      <a:r>
                        <a:rPr lang="en-US" dirty="0"/>
                        <a:t>9</a:t>
                      </a:r>
                    </a:p>
                  </a:txBody>
                  <a:tcPr>
                    <a:solidFill>
                      <a:srgbClr val="FFC000"/>
                    </a:solidFill>
                  </a:tcPr>
                </a:tc>
                <a:tc>
                  <a:txBody>
                    <a:bodyPr/>
                    <a:lstStyle/>
                    <a:p>
                      <a:pPr algn="ctr"/>
                      <a:r>
                        <a:rPr lang="en-US" dirty="0"/>
                        <a:t>4</a:t>
                      </a:r>
                    </a:p>
                  </a:txBody>
                  <a:tcPr>
                    <a:solidFill>
                      <a:srgbClr val="FFC000"/>
                    </a:solidFill>
                  </a:tcPr>
                </a:tc>
                <a:extLst>
                  <a:ext uri="{0D108BD9-81ED-4DB2-BD59-A6C34878D82A}">
                    <a16:rowId xmlns:a16="http://schemas.microsoft.com/office/drawing/2014/main" val="10002"/>
                  </a:ext>
                </a:extLst>
              </a:tr>
              <a:tr h="370840">
                <a:tc vMerge="1">
                  <a:txBody>
                    <a:bodyPr/>
                    <a:lstStyle/>
                    <a:p>
                      <a:endParaRPr lang="en-US" dirty="0"/>
                    </a:p>
                  </a:txBody>
                  <a:tcPr/>
                </a:tc>
                <a:tc>
                  <a:txBody>
                    <a:bodyPr/>
                    <a:lstStyle/>
                    <a:p>
                      <a:pPr algn="ctr"/>
                      <a:r>
                        <a:rPr lang="en-US" dirty="0"/>
                        <a:t>2</a:t>
                      </a:r>
                    </a:p>
                  </a:txBody>
                  <a:tcPr>
                    <a:solidFill>
                      <a:srgbClr val="FF0000"/>
                    </a:solidFill>
                  </a:tcPr>
                </a:tc>
                <a:tc>
                  <a:txBody>
                    <a:bodyPr/>
                    <a:lstStyle/>
                    <a:p>
                      <a:pPr algn="ctr"/>
                      <a:r>
                        <a:rPr lang="en-US" dirty="0"/>
                        <a:t>6</a:t>
                      </a:r>
                    </a:p>
                  </a:txBody>
                  <a:tcPr>
                    <a:solidFill>
                      <a:srgbClr val="FFC000"/>
                    </a:solidFill>
                  </a:tcPr>
                </a:tc>
                <a:tc>
                  <a:txBody>
                    <a:bodyPr/>
                    <a:lstStyle/>
                    <a:p>
                      <a:pPr algn="ctr"/>
                      <a:r>
                        <a:rPr lang="en-US" dirty="0"/>
                        <a:t>5</a:t>
                      </a:r>
                    </a:p>
                  </a:txBody>
                  <a:tcPr>
                    <a:solidFill>
                      <a:srgbClr val="FFC000"/>
                    </a:solidFill>
                  </a:tcPr>
                </a:tc>
                <a:tc>
                  <a:txBody>
                    <a:bodyPr/>
                    <a:lstStyle/>
                    <a:p>
                      <a:pPr algn="ctr"/>
                      <a:r>
                        <a:rPr lang="en-US" dirty="0"/>
                        <a:t>7</a:t>
                      </a:r>
                    </a:p>
                  </a:txBody>
                  <a:tcPr>
                    <a:solidFill>
                      <a:srgbClr val="FFC000"/>
                    </a:solidFill>
                  </a:tcPr>
                </a:tc>
                <a:tc>
                  <a:txBody>
                    <a:bodyPr/>
                    <a:lstStyle/>
                    <a:p>
                      <a:pPr algn="ctr"/>
                      <a:r>
                        <a:rPr lang="en-US" dirty="0"/>
                        <a:t>8</a:t>
                      </a:r>
                    </a:p>
                  </a:txBody>
                  <a:tcPr>
                    <a:solidFill>
                      <a:srgbClr val="FFC000"/>
                    </a:solidFill>
                  </a:tcPr>
                </a:tc>
                <a:extLst>
                  <a:ext uri="{0D108BD9-81ED-4DB2-BD59-A6C34878D82A}">
                    <a16:rowId xmlns:a16="http://schemas.microsoft.com/office/drawing/2014/main" val="10003"/>
                  </a:ext>
                </a:extLst>
              </a:tr>
              <a:tr h="370840">
                <a:tc vMerge="1">
                  <a:txBody>
                    <a:bodyPr/>
                    <a:lstStyle/>
                    <a:p>
                      <a:endParaRPr lang="en-US" dirty="0"/>
                    </a:p>
                  </a:txBody>
                  <a:tcPr/>
                </a:tc>
                <a:tc>
                  <a:txBody>
                    <a:bodyPr/>
                    <a:lstStyle/>
                    <a:p>
                      <a:pPr algn="ctr"/>
                      <a:r>
                        <a:rPr lang="en-US" dirty="0"/>
                        <a:t>3</a:t>
                      </a:r>
                    </a:p>
                  </a:txBody>
                  <a:tcPr>
                    <a:solidFill>
                      <a:srgbClr val="FF0000"/>
                    </a:solidFill>
                  </a:tcPr>
                </a:tc>
                <a:tc>
                  <a:txBody>
                    <a:bodyPr/>
                    <a:lstStyle/>
                    <a:p>
                      <a:pPr algn="ctr"/>
                      <a:r>
                        <a:rPr lang="en-US" dirty="0"/>
                        <a:t>8</a:t>
                      </a:r>
                    </a:p>
                  </a:txBody>
                  <a:tcPr>
                    <a:solidFill>
                      <a:srgbClr val="FFC000"/>
                    </a:solidFill>
                  </a:tcPr>
                </a:tc>
                <a:tc>
                  <a:txBody>
                    <a:bodyPr/>
                    <a:lstStyle/>
                    <a:p>
                      <a:pPr algn="ctr"/>
                      <a:r>
                        <a:rPr lang="en-US" dirty="0"/>
                        <a:t>3</a:t>
                      </a:r>
                    </a:p>
                  </a:txBody>
                  <a:tcPr>
                    <a:solidFill>
                      <a:srgbClr val="FFC000"/>
                    </a:solidFill>
                  </a:tcPr>
                </a:tc>
                <a:tc>
                  <a:txBody>
                    <a:bodyPr/>
                    <a:lstStyle/>
                    <a:p>
                      <a:pPr algn="ctr"/>
                      <a:r>
                        <a:rPr lang="en-US" dirty="0"/>
                        <a:t>-2</a:t>
                      </a:r>
                    </a:p>
                  </a:txBody>
                  <a:tcPr>
                    <a:solidFill>
                      <a:srgbClr val="FFC000"/>
                    </a:solidFill>
                  </a:tcPr>
                </a:tc>
                <a:tc>
                  <a:txBody>
                    <a:bodyPr/>
                    <a:lstStyle/>
                    <a:p>
                      <a:pPr algn="ctr"/>
                      <a:r>
                        <a:rPr lang="en-US" dirty="0"/>
                        <a:t>6</a:t>
                      </a:r>
                    </a:p>
                  </a:txBody>
                  <a:tcPr>
                    <a:solidFill>
                      <a:srgbClr val="FFC000"/>
                    </a:solidFill>
                  </a:tcPr>
                </a:tc>
                <a:extLst>
                  <a:ext uri="{0D108BD9-81ED-4DB2-BD59-A6C34878D82A}">
                    <a16:rowId xmlns:a16="http://schemas.microsoft.com/office/drawing/2014/main" val="10004"/>
                  </a:ext>
                </a:extLst>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4000918106"/>
              </p:ext>
            </p:extLst>
          </p:nvPr>
        </p:nvGraphicFramePr>
        <p:xfrm>
          <a:off x="874164" y="3861048"/>
          <a:ext cx="7467600" cy="1854200"/>
        </p:xfrm>
        <a:graphic>
          <a:graphicData uri="http://schemas.openxmlformats.org/drawingml/2006/table">
            <a:tbl>
              <a:tblPr firstRow="1" bandRow="1">
                <a:tableStyleId>{5C22544A-7EE6-4342-B048-85BDC9FD1C3A}</a:tableStyleId>
              </a:tblPr>
              <a:tblGrid>
                <a:gridCol w="12446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gridCol w="1244600">
                  <a:extLst>
                    <a:ext uri="{9D8B030D-6E8A-4147-A177-3AD203B41FA5}">
                      <a16:colId xmlns:a16="http://schemas.microsoft.com/office/drawing/2014/main" val="20004"/>
                    </a:ext>
                  </a:extLst>
                </a:gridCol>
                <a:gridCol w="1244600">
                  <a:extLst>
                    <a:ext uri="{9D8B030D-6E8A-4147-A177-3AD203B41FA5}">
                      <a16:colId xmlns:a16="http://schemas.microsoft.com/office/drawing/2014/main" val="20005"/>
                    </a:ext>
                  </a:extLst>
                </a:gridCol>
              </a:tblGrid>
              <a:tr h="370840">
                <a:tc rowSpan="5">
                  <a:txBody>
                    <a:bodyPr/>
                    <a:lstStyle/>
                    <a:p>
                      <a:pPr algn="ctr"/>
                      <a:endParaRPr lang="en-US" dirty="0"/>
                    </a:p>
                    <a:p>
                      <a:pPr algn="ctr"/>
                      <a:endParaRPr lang="en-US" dirty="0"/>
                    </a:p>
                    <a:p>
                      <a:pPr algn="ctr"/>
                      <a:r>
                        <a:rPr lang="en-US" dirty="0"/>
                        <a:t>Player 1</a:t>
                      </a:r>
                    </a:p>
                  </a:txBody>
                  <a:tcPr/>
                </a:tc>
                <a:tc gridSpan="5">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Player</a:t>
                      </a:r>
                      <a:r>
                        <a:rPr lang="en-US" baseline="0" dirty="0">
                          <a:solidFill>
                            <a:schemeClr val="tx1"/>
                          </a:solidFill>
                        </a:rPr>
                        <a:t> 2</a:t>
                      </a:r>
                      <a:endParaRPr lang="en-US" dirty="0">
                        <a:solidFill>
                          <a:schemeClr val="tx1"/>
                        </a:solidFill>
                      </a:endParaRPr>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10000"/>
                  </a:ext>
                </a:extLst>
              </a:tr>
              <a:tr h="370840">
                <a:tc vMerge="1">
                  <a:txBody>
                    <a:bodyPr/>
                    <a:lstStyle/>
                    <a:p>
                      <a:pPr algn="ctr"/>
                      <a:endParaRPr lang="en-US" dirty="0"/>
                    </a:p>
                  </a:txBody>
                  <a:tcPr/>
                </a:tc>
                <a:tc>
                  <a:txBody>
                    <a:bodyPr/>
                    <a:lstStyle/>
                    <a:p>
                      <a:pPr algn="ctr"/>
                      <a:r>
                        <a:rPr lang="en-US" dirty="0"/>
                        <a:t>Strategy</a:t>
                      </a:r>
                    </a:p>
                  </a:txBody>
                  <a:tcPr>
                    <a:solidFill>
                      <a:srgbClr val="FF0000"/>
                    </a:solidFill>
                  </a:tcPr>
                </a:tc>
                <a:tc>
                  <a:txBody>
                    <a:bodyPr/>
                    <a:lstStyle/>
                    <a:p>
                      <a:pPr algn="ctr"/>
                      <a:r>
                        <a:rPr lang="en-US" dirty="0"/>
                        <a:t>1</a:t>
                      </a:r>
                    </a:p>
                  </a:txBody>
                  <a:tcPr>
                    <a:solidFill>
                      <a:srgbClr val="FF0000"/>
                    </a:solidFill>
                  </a:tcPr>
                </a:tc>
                <a:tc>
                  <a:txBody>
                    <a:bodyPr/>
                    <a:lstStyle/>
                    <a:p>
                      <a:pPr algn="ctr"/>
                      <a:r>
                        <a:rPr lang="en-US" dirty="0"/>
                        <a:t>2</a:t>
                      </a:r>
                    </a:p>
                  </a:txBody>
                  <a:tcPr>
                    <a:solidFill>
                      <a:srgbClr val="FF0000"/>
                    </a:solidFill>
                  </a:tcPr>
                </a:tc>
                <a:tc>
                  <a:txBody>
                    <a:bodyPr/>
                    <a:lstStyle/>
                    <a:p>
                      <a:pPr algn="ctr"/>
                      <a:r>
                        <a:rPr lang="en-US" dirty="0"/>
                        <a:t>3</a:t>
                      </a:r>
                    </a:p>
                  </a:txBody>
                  <a:tcPr>
                    <a:solidFill>
                      <a:srgbClr val="FF0000"/>
                    </a:solidFill>
                  </a:tcPr>
                </a:tc>
                <a:tc>
                  <a:txBody>
                    <a:bodyPr/>
                    <a:lstStyle/>
                    <a:p>
                      <a:pPr algn="ctr"/>
                      <a:r>
                        <a:rPr lang="en-US" dirty="0"/>
                        <a:t>4</a:t>
                      </a:r>
                    </a:p>
                  </a:txBody>
                  <a:tcPr>
                    <a:solidFill>
                      <a:srgbClr val="FF0000"/>
                    </a:solidFill>
                  </a:tcPr>
                </a:tc>
                <a:extLst>
                  <a:ext uri="{0D108BD9-81ED-4DB2-BD59-A6C34878D82A}">
                    <a16:rowId xmlns:a16="http://schemas.microsoft.com/office/drawing/2014/main" val="10001"/>
                  </a:ext>
                </a:extLst>
              </a:tr>
              <a:tr h="370840">
                <a:tc vMerge="1">
                  <a:txBody>
                    <a:bodyPr/>
                    <a:lstStyle/>
                    <a:p>
                      <a:endParaRPr lang="en-US" dirty="0"/>
                    </a:p>
                  </a:txBody>
                  <a:tcPr/>
                </a:tc>
                <a:tc>
                  <a:txBody>
                    <a:bodyPr/>
                    <a:lstStyle/>
                    <a:p>
                      <a:pPr algn="ctr"/>
                      <a:r>
                        <a:rPr lang="en-US" dirty="0"/>
                        <a:t>1</a:t>
                      </a:r>
                    </a:p>
                  </a:txBody>
                  <a:tcPr>
                    <a:solidFill>
                      <a:srgbClr val="FF0000"/>
                    </a:solidFill>
                  </a:tcPr>
                </a:tc>
                <a:tc>
                  <a:txBody>
                    <a:bodyPr/>
                    <a:lstStyle/>
                    <a:p>
                      <a:pPr algn="ctr"/>
                      <a:r>
                        <a:rPr lang="en-US" dirty="0"/>
                        <a:t>4</a:t>
                      </a:r>
                    </a:p>
                  </a:txBody>
                  <a:tcPr>
                    <a:solidFill>
                      <a:srgbClr val="FFC000"/>
                    </a:solidFill>
                  </a:tcPr>
                </a:tc>
                <a:tc>
                  <a:txBody>
                    <a:bodyPr/>
                    <a:lstStyle/>
                    <a:p>
                      <a:pPr algn="ctr"/>
                      <a:r>
                        <a:rPr lang="en-US" dirty="0"/>
                        <a:t>3</a:t>
                      </a:r>
                    </a:p>
                  </a:txBody>
                  <a:tcPr>
                    <a:solidFill>
                      <a:srgbClr val="FFC000"/>
                    </a:solidFill>
                  </a:tcPr>
                </a:tc>
                <a:tc>
                  <a:txBody>
                    <a:bodyPr/>
                    <a:lstStyle/>
                    <a:p>
                      <a:pPr algn="ctr"/>
                      <a:r>
                        <a:rPr lang="en-US" dirty="0"/>
                        <a:t>5</a:t>
                      </a:r>
                    </a:p>
                  </a:txBody>
                  <a:tcPr>
                    <a:solidFill>
                      <a:srgbClr val="FFC000"/>
                    </a:solidFill>
                  </a:tcPr>
                </a:tc>
                <a:tc>
                  <a:txBody>
                    <a:bodyPr/>
                    <a:lstStyle/>
                    <a:p>
                      <a:pPr algn="ctr"/>
                      <a:r>
                        <a:rPr lang="en-US" dirty="0"/>
                        <a:t>-1</a:t>
                      </a:r>
                    </a:p>
                  </a:txBody>
                  <a:tcPr>
                    <a:solidFill>
                      <a:srgbClr val="FFC000"/>
                    </a:solidFill>
                  </a:tcPr>
                </a:tc>
                <a:extLst>
                  <a:ext uri="{0D108BD9-81ED-4DB2-BD59-A6C34878D82A}">
                    <a16:rowId xmlns:a16="http://schemas.microsoft.com/office/drawing/2014/main" val="10002"/>
                  </a:ext>
                </a:extLst>
              </a:tr>
              <a:tr h="370840">
                <a:tc vMerge="1">
                  <a:txBody>
                    <a:bodyPr/>
                    <a:lstStyle/>
                    <a:p>
                      <a:endParaRPr lang="en-US" dirty="0"/>
                    </a:p>
                  </a:txBody>
                  <a:tcPr/>
                </a:tc>
                <a:tc>
                  <a:txBody>
                    <a:bodyPr/>
                    <a:lstStyle/>
                    <a:p>
                      <a:pPr algn="ctr"/>
                      <a:r>
                        <a:rPr lang="en-US" dirty="0"/>
                        <a:t>2</a:t>
                      </a:r>
                    </a:p>
                  </a:txBody>
                  <a:tcPr>
                    <a:solidFill>
                      <a:srgbClr val="FF0000"/>
                    </a:solidFill>
                  </a:tcPr>
                </a:tc>
                <a:tc>
                  <a:txBody>
                    <a:bodyPr/>
                    <a:lstStyle/>
                    <a:p>
                      <a:pPr algn="ctr"/>
                      <a:r>
                        <a:rPr lang="en-US" dirty="0"/>
                        <a:t>1</a:t>
                      </a:r>
                    </a:p>
                  </a:txBody>
                  <a:tcPr>
                    <a:solidFill>
                      <a:srgbClr val="FFC000"/>
                    </a:solidFill>
                  </a:tcPr>
                </a:tc>
                <a:tc>
                  <a:txBody>
                    <a:bodyPr/>
                    <a:lstStyle/>
                    <a:p>
                      <a:pPr algn="ctr"/>
                      <a:r>
                        <a:rPr lang="en-US" dirty="0"/>
                        <a:t>6</a:t>
                      </a:r>
                    </a:p>
                  </a:txBody>
                  <a:tcPr>
                    <a:solidFill>
                      <a:srgbClr val="FFC000"/>
                    </a:solidFill>
                  </a:tcPr>
                </a:tc>
                <a:tc>
                  <a:txBody>
                    <a:bodyPr/>
                    <a:lstStyle/>
                    <a:p>
                      <a:pPr algn="ctr"/>
                      <a:r>
                        <a:rPr lang="en-US" dirty="0"/>
                        <a:t>4</a:t>
                      </a:r>
                    </a:p>
                  </a:txBody>
                  <a:tcPr>
                    <a:solidFill>
                      <a:srgbClr val="FFC000"/>
                    </a:solidFill>
                  </a:tcPr>
                </a:tc>
                <a:tc>
                  <a:txBody>
                    <a:bodyPr/>
                    <a:lstStyle/>
                    <a:p>
                      <a:pPr algn="ctr"/>
                      <a:r>
                        <a:rPr lang="en-US" dirty="0"/>
                        <a:t>7</a:t>
                      </a:r>
                    </a:p>
                  </a:txBody>
                  <a:tcPr>
                    <a:solidFill>
                      <a:srgbClr val="FFC000"/>
                    </a:solidFill>
                  </a:tcPr>
                </a:tc>
                <a:extLst>
                  <a:ext uri="{0D108BD9-81ED-4DB2-BD59-A6C34878D82A}">
                    <a16:rowId xmlns:a16="http://schemas.microsoft.com/office/drawing/2014/main" val="10003"/>
                  </a:ext>
                </a:extLst>
              </a:tr>
              <a:tr h="370840">
                <a:tc vMerge="1">
                  <a:txBody>
                    <a:bodyPr/>
                    <a:lstStyle/>
                    <a:p>
                      <a:endParaRPr lang="en-US" dirty="0"/>
                    </a:p>
                  </a:txBody>
                  <a:tcPr/>
                </a:tc>
                <a:tc>
                  <a:txBody>
                    <a:bodyPr/>
                    <a:lstStyle/>
                    <a:p>
                      <a:pPr algn="ctr"/>
                      <a:r>
                        <a:rPr lang="en-US" dirty="0"/>
                        <a:t>3</a:t>
                      </a:r>
                    </a:p>
                  </a:txBody>
                  <a:tcPr>
                    <a:solidFill>
                      <a:srgbClr val="FF0000"/>
                    </a:solidFill>
                  </a:tcPr>
                </a:tc>
                <a:tc>
                  <a:txBody>
                    <a:bodyPr/>
                    <a:lstStyle/>
                    <a:p>
                      <a:pPr algn="ctr"/>
                      <a:r>
                        <a:rPr lang="en-US" dirty="0"/>
                        <a:t>2</a:t>
                      </a:r>
                    </a:p>
                  </a:txBody>
                  <a:tcPr>
                    <a:solidFill>
                      <a:srgbClr val="FFC000"/>
                    </a:solidFill>
                  </a:tcPr>
                </a:tc>
                <a:tc>
                  <a:txBody>
                    <a:bodyPr/>
                    <a:lstStyle/>
                    <a:p>
                      <a:pPr algn="ctr"/>
                      <a:r>
                        <a:rPr lang="en-US" dirty="0"/>
                        <a:t>-3</a:t>
                      </a:r>
                    </a:p>
                  </a:txBody>
                  <a:tcPr>
                    <a:solidFill>
                      <a:srgbClr val="FFC000"/>
                    </a:solidFill>
                  </a:tcPr>
                </a:tc>
                <a:tc>
                  <a:txBody>
                    <a:bodyPr/>
                    <a:lstStyle/>
                    <a:p>
                      <a:pPr algn="ctr"/>
                      <a:r>
                        <a:rPr lang="en-US" dirty="0"/>
                        <a:t>8</a:t>
                      </a:r>
                    </a:p>
                  </a:txBody>
                  <a:tcPr>
                    <a:solidFill>
                      <a:srgbClr val="FFC000"/>
                    </a:solidFill>
                  </a:tcPr>
                </a:tc>
                <a:tc>
                  <a:txBody>
                    <a:bodyPr/>
                    <a:lstStyle/>
                    <a:p>
                      <a:pPr algn="ctr"/>
                      <a:r>
                        <a:rPr lang="en-US" dirty="0"/>
                        <a:t>9</a:t>
                      </a:r>
                    </a:p>
                  </a:txBody>
                  <a:tcPr>
                    <a:solidFill>
                      <a:srgbClr val="FFC000"/>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63486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Simultaneous Games Strategies</a:t>
            </a:r>
          </a:p>
        </p:txBody>
      </p:sp>
      <p:sp>
        <p:nvSpPr>
          <p:cNvPr id="3" name="Content Placeholder 2"/>
          <p:cNvSpPr>
            <a:spLocks noGrp="1"/>
          </p:cNvSpPr>
          <p:nvPr>
            <p:ph idx="1"/>
          </p:nvPr>
        </p:nvSpPr>
        <p:spPr/>
        <p:txBody>
          <a:bodyPr/>
          <a:lstStyle/>
          <a:p>
            <a:pPr marL="457200" indent="-457200">
              <a:buFont typeface="+mj-lt"/>
              <a:buAutoNum type="arabicPeriod"/>
            </a:pPr>
            <a:r>
              <a:rPr lang="en-US" dirty="0"/>
              <a:t>Strong Dominant – Strategy Equilibrium</a:t>
            </a:r>
          </a:p>
          <a:p>
            <a:pPr marL="457200" indent="-457200">
              <a:buFont typeface="+mj-lt"/>
              <a:buAutoNum type="arabicPeriod"/>
            </a:pPr>
            <a:r>
              <a:rPr lang="en-US" dirty="0"/>
              <a:t>Iterate-Dominance Equilibrium</a:t>
            </a:r>
          </a:p>
          <a:p>
            <a:pPr marL="457200" indent="-457200">
              <a:buFont typeface="+mj-lt"/>
              <a:buAutoNum type="arabicPeriod"/>
            </a:pPr>
            <a:r>
              <a:rPr lang="en-US" dirty="0"/>
              <a:t>Weak Iterated Dominance Equilibrium</a:t>
            </a:r>
          </a:p>
          <a:p>
            <a:pPr marL="457200" indent="-457200">
              <a:buFont typeface="+mj-lt"/>
              <a:buAutoNum type="arabicPeriod"/>
            </a:pPr>
            <a:r>
              <a:rPr lang="en-US" dirty="0"/>
              <a:t>Nash Equilibrium</a:t>
            </a:r>
          </a:p>
          <a:p>
            <a:pPr marL="457200" indent="-457200">
              <a:buFont typeface="+mj-lt"/>
              <a:buAutoNum type="arabicPeriod"/>
            </a:pPr>
            <a:r>
              <a:rPr lang="en-US" dirty="0"/>
              <a:t>Prisoner’s dilemma</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647717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Dominant – strategy equilibrium</a:t>
            </a:r>
            <a:endParaRPr lang="en-US" dirty="0"/>
          </a:p>
        </p:txBody>
      </p:sp>
      <p:sp>
        <p:nvSpPr>
          <p:cNvPr id="5" name="Content Placeholder 2"/>
          <p:cNvSpPr txBox="1">
            <a:spLocks/>
          </p:cNvSpPr>
          <p:nvPr/>
        </p:nvSpPr>
        <p:spPr>
          <a:xfrm>
            <a:off x="639382" y="1600200"/>
            <a:ext cx="7848872" cy="4525963"/>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a:t>A dominant strategy is a strategy that is the best response to all the possible strategy choices of all the other players. </a:t>
            </a:r>
          </a:p>
          <a:p>
            <a:r>
              <a:rPr lang="en-US" sz="2400"/>
              <a:t>A game will only have a dominant-strategy equilibrium if all players have dominant strategy.  </a:t>
            </a:r>
          </a:p>
          <a:p>
            <a:pPr marL="0" indent="0" algn="ctr">
              <a:buFont typeface="Arial" pitchFamily="34" charset="0"/>
              <a:buNone/>
            </a:pPr>
            <a:r>
              <a:rPr lang="en-US" sz="2400"/>
              <a:t>Pay-off matrix for the pub managers’ game</a:t>
            </a:r>
          </a:p>
          <a:p>
            <a:pPr marL="0" indent="0">
              <a:buFont typeface="Arial" pitchFamily="34" charset="0"/>
              <a:buNone/>
            </a:pPr>
            <a:endParaRPr lang="en-US"/>
          </a:p>
          <a:p>
            <a:pPr marL="0" indent="0">
              <a:buFont typeface="Arial" pitchFamily="34" charset="0"/>
              <a:buNone/>
            </a:pPr>
            <a:endParaRPr lang="en-US"/>
          </a:p>
          <a:p>
            <a:pPr marL="0" indent="0">
              <a:buFont typeface="Arial" pitchFamily="34" charset="0"/>
              <a:buNone/>
            </a:pPr>
            <a:endParaRPr lang="en-US"/>
          </a:p>
          <a:p>
            <a:pPr marL="0" indent="0" algn="just">
              <a:buFont typeface="Arial" pitchFamily="34" charset="0"/>
              <a:buNone/>
            </a:pPr>
            <a:r>
              <a:rPr lang="en-US" sz="2400"/>
              <a:t>A dominant strategy for Queen head is special offer  and   dominant strategy for King head is also special offer.    WHY ?</a:t>
            </a:r>
            <a:endParaRPr lang="en-US" sz="2400" dirty="0"/>
          </a:p>
        </p:txBody>
      </p:sp>
      <p:graphicFrame>
        <p:nvGraphicFramePr>
          <p:cNvPr id="6" name="Table 5"/>
          <p:cNvGraphicFramePr>
            <a:graphicFrameLocks noGrp="1"/>
          </p:cNvGraphicFramePr>
          <p:nvPr>
            <p:extLst>
              <p:ext uri="{D42A27DB-BD31-4B8C-83A1-F6EECF244321}">
                <p14:modId xmlns:p14="http://schemas.microsoft.com/office/powerpoint/2010/main" val="1428239130"/>
              </p:ext>
            </p:extLst>
          </p:nvPr>
        </p:nvGraphicFramePr>
        <p:xfrm>
          <a:off x="1106996" y="3573016"/>
          <a:ext cx="6858000" cy="111252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tblGrid>
              <a:tr h="370840">
                <a:tc>
                  <a:txBody>
                    <a:bodyPr/>
                    <a:lstStyle/>
                    <a:p>
                      <a:pPr algn="ctr"/>
                      <a:r>
                        <a:rPr lang="en-US" dirty="0">
                          <a:solidFill>
                            <a:schemeClr val="tx1"/>
                          </a:solidFill>
                        </a:rPr>
                        <a:t>Queen</a:t>
                      </a:r>
                      <a:r>
                        <a:rPr lang="en-US" baseline="0" dirty="0">
                          <a:solidFill>
                            <a:schemeClr val="tx1"/>
                          </a:solidFill>
                        </a:rPr>
                        <a:t> \ King head</a:t>
                      </a:r>
                      <a:endParaRPr lang="en-US" dirty="0">
                        <a:solidFill>
                          <a:schemeClr val="tx1"/>
                        </a:solidFill>
                      </a:endParaRPr>
                    </a:p>
                  </a:txBody>
                  <a:tcPr/>
                </a:tc>
                <a:tc>
                  <a:txBody>
                    <a:bodyPr/>
                    <a:lstStyle/>
                    <a:p>
                      <a:pPr algn="ctr"/>
                      <a:r>
                        <a:rPr lang="en-US" dirty="0">
                          <a:solidFill>
                            <a:schemeClr val="tx1"/>
                          </a:solidFill>
                        </a:rPr>
                        <a:t>Special</a:t>
                      </a:r>
                      <a:r>
                        <a:rPr lang="en-US" baseline="0" dirty="0">
                          <a:solidFill>
                            <a:schemeClr val="tx1"/>
                          </a:solidFill>
                        </a:rPr>
                        <a:t> offer</a:t>
                      </a:r>
                      <a:endParaRPr lang="en-US" dirty="0">
                        <a:solidFill>
                          <a:schemeClr val="tx1"/>
                        </a:solidFill>
                      </a:endParaRPr>
                    </a:p>
                  </a:txBody>
                  <a:tcPr/>
                </a:tc>
                <a:tc>
                  <a:txBody>
                    <a:bodyPr/>
                    <a:lstStyle/>
                    <a:p>
                      <a:pPr algn="ctr"/>
                      <a:r>
                        <a:rPr lang="en-US" dirty="0">
                          <a:solidFill>
                            <a:schemeClr val="tx1"/>
                          </a:solidFill>
                        </a:rPr>
                        <a:t>No offer</a:t>
                      </a:r>
                    </a:p>
                  </a:txBody>
                  <a:tcPr/>
                </a:tc>
                <a:extLst>
                  <a:ext uri="{0D108BD9-81ED-4DB2-BD59-A6C34878D82A}">
                    <a16:rowId xmlns:a16="http://schemas.microsoft.com/office/drawing/2014/main" val="10000"/>
                  </a:ext>
                </a:extLst>
              </a:tr>
              <a:tr h="370840">
                <a:tc>
                  <a:txBody>
                    <a:bodyPr/>
                    <a:lstStyle/>
                    <a:p>
                      <a:pPr algn="ctr"/>
                      <a:r>
                        <a:rPr lang="en-US" dirty="0"/>
                        <a:t>Special offer</a:t>
                      </a:r>
                    </a:p>
                  </a:txBody>
                  <a:tcPr/>
                </a:tc>
                <a:tc>
                  <a:txBody>
                    <a:bodyPr/>
                    <a:lstStyle/>
                    <a:p>
                      <a:pPr algn="ctr"/>
                      <a:r>
                        <a:rPr lang="en-US" dirty="0"/>
                        <a:t>10 , 14</a:t>
                      </a:r>
                    </a:p>
                  </a:txBody>
                  <a:tcPr/>
                </a:tc>
                <a:tc>
                  <a:txBody>
                    <a:bodyPr/>
                    <a:lstStyle/>
                    <a:p>
                      <a:pPr algn="ctr"/>
                      <a:r>
                        <a:rPr lang="en-US" dirty="0"/>
                        <a:t>18 , 6</a:t>
                      </a:r>
                    </a:p>
                  </a:txBody>
                  <a:tcPr/>
                </a:tc>
                <a:extLst>
                  <a:ext uri="{0D108BD9-81ED-4DB2-BD59-A6C34878D82A}">
                    <a16:rowId xmlns:a16="http://schemas.microsoft.com/office/drawing/2014/main" val="10001"/>
                  </a:ext>
                </a:extLst>
              </a:tr>
              <a:tr h="370840">
                <a:tc>
                  <a:txBody>
                    <a:bodyPr/>
                    <a:lstStyle/>
                    <a:p>
                      <a:pPr algn="ctr"/>
                      <a:r>
                        <a:rPr lang="en-US" dirty="0"/>
                        <a:t>No offer</a:t>
                      </a:r>
                    </a:p>
                  </a:txBody>
                  <a:tcPr/>
                </a:tc>
                <a:tc>
                  <a:txBody>
                    <a:bodyPr/>
                    <a:lstStyle/>
                    <a:p>
                      <a:pPr algn="ctr"/>
                      <a:r>
                        <a:rPr lang="en-US" dirty="0"/>
                        <a:t>4 , 20</a:t>
                      </a:r>
                    </a:p>
                  </a:txBody>
                  <a:tcPr/>
                </a:tc>
                <a:tc>
                  <a:txBody>
                    <a:bodyPr/>
                    <a:lstStyle/>
                    <a:p>
                      <a:pPr algn="ctr"/>
                      <a:r>
                        <a:rPr lang="en-US" dirty="0"/>
                        <a:t>7 , 8</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2436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Iterate-Dominance Equilibrium</a:t>
            </a:r>
            <a:endParaRPr lang="en-US" dirty="0"/>
          </a:p>
        </p:txBody>
      </p:sp>
      <p:sp>
        <p:nvSpPr>
          <p:cNvPr id="5" name="Content Placeholder 2"/>
          <p:cNvSpPr txBox="1">
            <a:spLocks/>
          </p:cNvSpPr>
          <p:nvPr/>
        </p:nvSpPr>
        <p:spPr>
          <a:xfrm>
            <a:off x="611560" y="1600200"/>
            <a:ext cx="7848872" cy="4525963"/>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a:t>Pay-off matrix iterated – dominance equilibrium game on attending to party or club </a:t>
            </a:r>
          </a:p>
          <a:p>
            <a:pPr marL="0" indent="0">
              <a:buFont typeface="Arial" pitchFamily="34" charset="0"/>
              <a:buNone/>
            </a:pPr>
            <a:endParaRPr lang="en-US" sz="2400"/>
          </a:p>
          <a:p>
            <a:pPr marL="0" indent="0">
              <a:buFont typeface="Arial" pitchFamily="34" charset="0"/>
              <a:buNone/>
            </a:pPr>
            <a:endParaRPr lang="en-US" sz="2400"/>
          </a:p>
          <a:p>
            <a:pPr marL="0" indent="0">
              <a:buFont typeface="Arial" pitchFamily="34" charset="0"/>
              <a:buNone/>
            </a:pPr>
            <a:endParaRPr lang="en-US" sz="2400"/>
          </a:p>
          <a:p>
            <a:pPr marL="0" indent="0">
              <a:buFont typeface="Arial" pitchFamily="34" charset="0"/>
              <a:buNone/>
            </a:pPr>
            <a:endParaRPr lang="en-US" sz="2400"/>
          </a:p>
          <a:p>
            <a:endParaRPr lang="en-US"/>
          </a:p>
          <a:p>
            <a:pPr marL="0" indent="0">
              <a:buFont typeface="Arial" pitchFamily="34" charset="0"/>
              <a:buNone/>
            </a:pPr>
            <a:endParaRPr lang="en-US" sz="2400"/>
          </a:p>
          <a:p>
            <a:pPr marL="0" indent="0">
              <a:buFont typeface="Arial" pitchFamily="34" charset="0"/>
              <a:buNone/>
            </a:pPr>
            <a:endParaRPr lang="en-US" sz="2400"/>
          </a:p>
          <a:p>
            <a:pPr marL="0" indent="0" algn="ctr">
              <a:buFont typeface="Arial" pitchFamily="34" charset="0"/>
              <a:buNone/>
            </a:pPr>
            <a:r>
              <a:rPr lang="en-US"/>
              <a:t>Does Ms Row or Mr Column have dominance strategy ? </a:t>
            </a:r>
          </a:p>
          <a:p>
            <a:pPr marL="0" indent="0">
              <a:buFont typeface="Arial" pitchFamily="34" charset="0"/>
              <a:buNone/>
            </a:pPr>
            <a:endParaRPr lang="en-US"/>
          </a:p>
          <a:p>
            <a:pPr marL="0" indent="0" algn="just">
              <a:buFont typeface="Arial" pitchFamily="34" charset="0"/>
              <a:buNone/>
            </a:pPr>
            <a:r>
              <a:rPr lang="en-US"/>
              <a:t>Mr. Column has dominant strategy that is “attend to party” but Ms Row does not. So the game has no dominant strategy equilibrium. However, it does have a strong iterate-dominance equilibrium that is Ms Row attends to Club.</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00146763"/>
              </p:ext>
            </p:extLst>
          </p:nvPr>
        </p:nvGraphicFramePr>
        <p:xfrm>
          <a:off x="789426" y="2521496"/>
          <a:ext cx="7704828" cy="1371600"/>
        </p:xfrm>
        <a:graphic>
          <a:graphicData uri="http://schemas.openxmlformats.org/drawingml/2006/table">
            <a:tbl>
              <a:tblPr firstRow="1" bandRow="1">
                <a:tableStyleId>{5C22544A-7EE6-4342-B048-85BDC9FD1C3A}</a:tableStyleId>
              </a:tblPr>
              <a:tblGrid>
                <a:gridCol w="3045740">
                  <a:extLst>
                    <a:ext uri="{9D8B030D-6E8A-4147-A177-3AD203B41FA5}">
                      <a16:colId xmlns:a16="http://schemas.microsoft.com/office/drawing/2014/main" val="20000"/>
                    </a:ext>
                  </a:extLst>
                </a:gridCol>
                <a:gridCol w="2246346">
                  <a:extLst>
                    <a:ext uri="{9D8B030D-6E8A-4147-A177-3AD203B41FA5}">
                      <a16:colId xmlns:a16="http://schemas.microsoft.com/office/drawing/2014/main" val="20001"/>
                    </a:ext>
                  </a:extLst>
                </a:gridCol>
                <a:gridCol w="2412742">
                  <a:extLst>
                    <a:ext uri="{9D8B030D-6E8A-4147-A177-3AD203B41FA5}">
                      <a16:colId xmlns:a16="http://schemas.microsoft.com/office/drawing/2014/main" val="20002"/>
                    </a:ext>
                  </a:extLst>
                </a:gridCol>
              </a:tblGrid>
              <a:tr h="370840">
                <a:tc>
                  <a:txBody>
                    <a:bodyPr/>
                    <a:lstStyle/>
                    <a:p>
                      <a:pPr algn="ctr"/>
                      <a:r>
                        <a:rPr lang="en-US" sz="2400" dirty="0" err="1">
                          <a:solidFill>
                            <a:schemeClr val="tx1"/>
                          </a:solidFill>
                        </a:rPr>
                        <a:t>Ms</a:t>
                      </a:r>
                      <a:r>
                        <a:rPr lang="en-US" sz="2400" dirty="0">
                          <a:solidFill>
                            <a:schemeClr val="tx1"/>
                          </a:solidFill>
                        </a:rPr>
                        <a:t> Row</a:t>
                      </a:r>
                      <a:r>
                        <a:rPr lang="en-US" sz="2400" baseline="0" dirty="0">
                          <a:solidFill>
                            <a:schemeClr val="tx1"/>
                          </a:solidFill>
                        </a:rPr>
                        <a:t> \ </a:t>
                      </a:r>
                      <a:r>
                        <a:rPr lang="en-US" sz="2400" baseline="0" dirty="0" err="1">
                          <a:solidFill>
                            <a:schemeClr val="tx1"/>
                          </a:solidFill>
                        </a:rPr>
                        <a:t>Mr</a:t>
                      </a:r>
                      <a:r>
                        <a:rPr lang="en-US" sz="2400" baseline="0" dirty="0">
                          <a:solidFill>
                            <a:schemeClr val="tx1"/>
                          </a:solidFill>
                        </a:rPr>
                        <a:t> Column</a:t>
                      </a:r>
                      <a:endParaRPr lang="en-US" sz="2400" dirty="0">
                        <a:solidFill>
                          <a:schemeClr val="tx1"/>
                        </a:solidFill>
                      </a:endParaRPr>
                    </a:p>
                  </a:txBody>
                  <a:tcPr/>
                </a:tc>
                <a:tc>
                  <a:txBody>
                    <a:bodyPr/>
                    <a:lstStyle/>
                    <a:p>
                      <a:pPr algn="ctr"/>
                      <a:r>
                        <a:rPr lang="en-US" sz="2400" dirty="0">
                          <a:solidFill>
                            <a:schemeClr val="tx1"/>
                          </a:solidFill>
                        </a:rPr>
                        <a:t>Party</a:t>
                      </a:r>
                    </a:p>
                  </a:txBody>
                  <a:tcPr/>
                </a:tc>
                <a:tc>
                  <a:txBody>
                    <a:bodyPr/>
                    <a:lstStyle/>
                    <a:p>
                      <a:pPr algn="ctr"/>
                      <a:r>
                        <a:rPr lang="en-US" sz="2400" dirty="0">
                          <a:solidFill>
                            <a:schemeClr val="tx1"/>
                          </a:solidFill>
                        </a:rPr>
                        <a:t>Club</a:t>
                      </a:r>
                    </a:p>
                  </a:txBody>
                  <a:tcPr/>
                </a:tc>
                <a:extLst>
                  <a:ext uri="{0D108BD9-81ED-4DB2-BD59-A6C34878D82A}">
                    <a16:rowId xmlns:a16="http://schemas.microsoft.com/office/drawing/2014/main" val="10000"/>
                  </a:ext>
                </a:extLst>
              </a:tr>
              <a:tr h="370840">
                <a:tc>
                  <a:txBody>
                    <a:bodyPr/>
                    <a:lstStyle/>
                    <a:p>
                      <a:pPr algn="ctr"/>
                      <a:r>
                        <a:rPr lang="en-US" sz="2400" dirty="0"/>
                        <a:t>Party</a:t>
                      </a:r>
                    </a:p>
                  </a:txBody>
                  <a:tcPr/>
                </a:tc>
                <a:tc>
                  <a:txBody>
                    <a:bodyPr/>
                    <a:lstStyle/>
                    <a:p>
                      <a:pPr algn="ctr"/>
                      <a:r>
                        <a:rPr lang="en-US" sz="2400" dirty="0"/>
                        <a:t>1 , 3</a:t>
                      </a:r>
                    </a:p>
                  </a:txBody>
                  <a:tcPr/>
                </a:tc>
                <a:tc>
                  <a:txBody>
                    <a:bodyPr/>
                    <a:lstStyle/>
                    <a:p>
                      <a:pPr algn="ctr"/>
                      <a:r>
                        <a:rPr lang="en-US" sz="2400" dirty="0"/>
                        <a:t>2 , 0</a:t>
                      </a:r>
                    </a:p>
                  </a:txBody>
                  <a:tcPr/>
                </a:tc>
                <a:extLst>
                  <a:ext uri="{0D108BD9-81ED-4DB2-BD59-A6C34878D82A}">
                    <a16:rowId xmlns:a16="http://schemas.microsoft.com/office/drawing/2014/main" val="10001"/>
                  </a:ext>
                </a:extLst>
              </a:tr>
              <a:tr h="370840">
                <a:tc>
                  <a:txBody>
                    <a:bodyPr/>
                    <a:lstStyle/>
                    <a:p>
                      <a:pPr algn="ctr">
                        <a:spcAft>
                          <a:spcPts val="1200"/>
                        </a:spcAft>
                      </a:pPr>
                      <a:r>
                        <a:rPr lang="en-US" sz="2400" dirty="0"/>
                        <a:t>Club</a:t>
                      </a:r>
                    </a:p>
                  </a:txBody>
                  <a:tcPr/>
                </a:tc>
                <a:tc>
                  <a:txBody>
                    <a:bodyPr/>
                    <a:lstStyle/>
                    <a:p>
                      <a:pPr algn="ctr"/>
                      <a:r>
                        <a:rPr lang="en-US" sz="2400" dirty="0"/>
                        <a:t>2 , 2</a:t>
                      </a:r>
                    </a:p>
                  </a:txBody>
                  <a:tcPr/>
                </a:tc>
                <a:tc>
                  <a:txBody>
                    <a:bodyPr/>
                    <a:lstStyle/>
                    <a:p>
                      <a:pPr algn="ctr"/>
                      <a:r>
                        <a:rPr lang="en-US" sz="2400" dirty="0"/>
                        <a:t>1 , 1</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646694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a:t>Weak Iterated Dominance Equilibrium</a:t>
            </a:r>
            <a:endParaRPr lang="en-US" sz="3600" dirty="0"/>
          </a:p>
        </p:txBody>
      </p:sp>
      <p:sp>
        <p:nvSpPr>
          <p:cNvPr id="5" name="Content Placeholder 2"/>
          <p:cNvSpPr txBox="1">
            <a:spLocks/>
          </p:cNvSpPr>
          <p:nvPr/>
        </p:nvSpPr>
        <p:spPr>
          <a:xfrm>
            <a:off x="611560" y="1677888"/>
            <a:ext cx="7848872" cy="4525963"/>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3600" dirty="0"/>
              <a:t>Given Pay-off matrix of the game  </a:t>
            </a:r>
          </a:p>
          <a:p>
            <a:pPr marL="0" indent="0">
              <a:buFont typeface="Arial" pitchFamily="34" charset="0"/>
              <a:buNone/>
            </a:pPr>
            <a:endParaRPr lang="en-US" dirty="0"/>
          </a:p>
          <a:p>
            <a:pPr marL="0" indent="0">
              <a:buFont typeface="Arial" pitchFamily="34" charset="0"/>
              <a:buNone/>
            </a:pPr>
            <a:endParaRPr lang="en-US" dirty="0"/>
          </a:p>
          <a:p>
            <a:pPr marL="0" indent="0">
              <a:buFont typeface="Arial" pitchFamily="34" charset="0"/>
              <a:buNone/>
            </a:pPr>
            <a:endParaRPr lang="en-US" dirty="0"/>
          </a:p>
          <a:p>
            <a:pPr marL="0" indent="0">
              <a:buFont typeface="Arial" pitchFamily="34" charset="0"/>
              <a:buNone/>
            </a:pPr>
            <a:endParaRPr lang="en-US" dirty="0"/>
          </a:p>
          <a:p>
            <a:pPr marL="0" indent="0">
              <a:buFont typeface="Arial" pitchFamily="34" charset="0"/>
              <a:buNone/>
            </a:pPr>
            <a:endParaRPr lang="en-US" dirty="0"/>
          </a:p>
          <a:p>
            <a:pPr marL="0" indent="0" algn="ctr">
              <a:buFont typeface="Arial" pitchFamily="34" charset="0"/>
              <a:buNone/>
              <a:tabLst>
                <a:tab pos="7654925" algn="r"/>
              </a:tabLst>
            </a:pPr>
            <a:endParaRPr lang="en-US" dirty="0"/>
          </a:p>
          <a:p>
            <a:pPr marL="0" indent="0" algn="ctr">
              <a:buFont typeface="Arial" pitchFamily="34" charset="0"/>
              <a:buNone/>
              <a:tabLst>
                <a:tab pos="7654925" algn="r"/>
              </a:tabLst>
            </a:pPr>
            <a:r>
              <a:rPr lang="en-US" sz="3600" dirty="0"/>
              <a:t>Is there dominated strategy for A or B ? </a:t>
            </a:r>
            <a:r>
              <a:rPr lang="en-US" dirty="0"/>
              <a:t> </a:t>
            </a:r>
          </a:p>
          <a:p>
            <a:pPr marL="0" indent="0">
              <a:buFont typeface="Arial" pitchFamily="34" charset="0"/>
              <a:buNone/>
            </a:pPr>
            <a:endParaRPr lang="en-US" dirty="0"/>
          </a:p>
          <a:p>
            <a:pPr marL="0" indent="0" algn="just">
              <a:buFont typeface="Arial" pitchFamily="34" charset="0"/>
              <a:buNone/>
            </a:pPr>
            <a:r>
              <a:rPr lang="en-US" sz="3600" dirty="0"/>
              <a:t>If strategy Down is eliminated by A, then strategy Left for B is dominated then it is eliminated. It causes strategy Up for A is omitted and comes to the weak iterated dominance equilibrium to [</a:t>
            </a:r>
            <a:r>
              <a:rPr lang="en-US" sz="3600" dirty="0" err="1"/>
              <a:t>Middle,Centre</a:t>
            </a:r>
            <a:r>
              <a:rPr lang="en-US" sz="3600" dirty="0"/>
              <a:t>].</a:t>
            </a:r>
          </a:p>
          <a:p>
            <a:pPr marL="0" indent="0">
              <a:buFont typeface="Arial" pitchFamily="34" charset="0"/>
              <a:buNone/>
            </a:pPr>
            <a:endParaRPr lang="en-US" sz="3600" dirty="0"/>
          </a:p>
          <a:p>
            <a:pPr marL="0" indent="0" algn="just">
              <a:buFont typeface="Arial" pitchFamily="34" charset="0"/>
              <a:buNone/>
            </a:pPr>
            <a:r>
              <a:rPr lang="en-US" sz="3600" dirty="0"/>
              <a:t>If weakly dominated strategy Middle is eliminated by A then strategy Centre for B is also eliminated. It causes strategy Up for A is omitted and comes to the weak iterated dominance equilibrium to [</a:t>
            </a:r>
            <a:r>
              <a:rPr lang="en-US" sz="3600" dirty="0" err="1"/>
              <a:t>Down,Left</a:t>
            </a:r>
            <a:r>
              <a:rPr lang="en-US" sz="3600" dirty="0"/>
              <a:t>] .</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198502600"/>
              </p:ext>
            </p:extLst>
          </p:nvPr>
        </p:nvGraphicFramePr>
        <p:xfrm>
          <a:off x="1524000" y="2057400"/>
          <a:ext cx="6096000" cy="1483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r>
                        <a:rPr lang="en-US" dirty="0">
                          <a:solidFill>
                            <a:schemeClr val="tx1"/>
                          </a:solidFill>
                        </a:rPr>
                        <a:t>A</a:t>
                      </a:r>
                      <a:r>
                        <a:rPr lang="en-US" baseline="0" dirty="0">
                          <a:solidFill>
                            <a:schemeClr val="tx1"/>
                          </a:solidFill>
                        </a:rPr>
                        <a:t> \ B</a:t>
                      </a:r>
                      <a:endParaRPr lang="en-US" dirty="0">
                        <a:solidFill>
                          <a:schemeClr val="tx1"/>
                        </a:solidFill>
                      </a:endParaRPr>
                    </a:p>
                  </a:txBody>
                  <a:tcPr/>
                </a:tc>
                <a:tc>
                  <a:txBody>
                    <a:bodyPr/>
                    <a:lstStyle/>
                    <a:p>
                      <a:pPr algn="ctr"/>
                      <a:r>
                        <a:rPr lang="en-US" dirty="0">
                          <a:solidFill>
                            <a:schemeClr val="tx1"/>
                          </a:solidFill>
                        </a:rPr>
                        <a:t>Left</a:t>
                      </a:r>
                    </a:p>
                  </a:txBody>
                  <a:tcPr/>
                </a:tc>
                <a:tc>
                  <a:txBody>
                    <a:bodyPr/>
                    <a:lstStyle/>
                    <a:p>
                      <a:pPr algn="ctr"/>
                      <a:r>
                        <a:rPr lang="en-US" dirty="0">
                          <a:solidFill>
                            <a:schemeClr val="tx1"/>
                          </a:solidFill>
                        </a:rPr>
                        <a:t>Centre</a:t>
                      </a:r>
                    </a:p>
                  </a:txBody>
                  <a:tcPr/>
                </a:tc>
                <a:tc>
                  <a:txBody>
                    <a:bodyPr/>
                    <a:lstStyle/>
                    <a:p>
                      <a:pPr algn="ctr"/>
                      <a:r>
                        <a:rPr lang="en-US" dirty="0">
                          <a:solidFill>
                            <a:schemeClr val="tx1"/>
                          </a:solidFill>
                        </a:rPr>
                        <a:t>Right</a:t>
                      </a:r>
                    </a:p>
                  </a:txBody>
                  <a:tcPr/>
                </a:tc>
                <a:extLst>
                  <a:ext uri="{0D108BD9-81ED-4DB2-BD59-A6C34878D82A}">
                    <a16:rowId xmlns:a16="http://schemas.microsoft.com/office/drawing/2014/main" val="10000"/>
                  </a:ext>
                </a:extLst>
              </a:tr>
              <a:tr h="370840">
                <a:tc>
                  <a:txBody>
                    <a:bodyPr/>
                    <a:lstStyle/>
                    <a:p>
                      <a:pPr algn="ctr"/>
                      <a:r>
                        <a:rPr lang="en-US" dirty="0"/>
                        <a:t>Up</a:t>
                      </a:r>
                    </a:p>
                  </a:txBody>
                  <a:tcPr/>
                </a:tc>
                <a:tc>
                  <a:txBody>
                    <a:bodyPr/>
                    <a:lstStyle/>
                    <a:p>
                      <a:pPr algn="ctr"/>
                      <a:r>
                        <a:rPr lang="en-US" dirty="0"/>
                        <a:t>3 , 6</a:t>
                      </a:r>
                    </a:p>
                  </a:txBody>
                  <a:tcPr/>
                </a:tc>
                <a:tc>
                  <a:txBody>
                    <a:bodyPr/>
                    <a:lstStyle/>
                    <a:p>
                      <a:pPr algn="ctr"/>
                      <a:r>
                        <a:rPr lang="en-US" dirty="0"/>
                        <a:t>2 , 6</a:t>
                      </a:r>
                    </a:p>
                  </a:txBody>
                  <a:tcPr/>
                </a:tc>
                <a:tc>
                  <a:txBody>
                    <a:bodyPr/>
                    <a:lstStyle/>
                    <a:p>
                      <a:pPr algn="ctr"/>
                      <a:r>
                        <a:rPr lang="en-US" dirty="0"/>
                        <a:t>1</a:t>
                      </a:r>
                      <a:r>
                        <a:rPr lang="en-US" baseline="0" dirty="0"/>
                        <a:t> , 7</a:t>
                      </a:r>
                      <a:endParaRPr lang="en-US" dirty="0"/>
                    </a:p>
                  </a:txBody>
                  <a:tcPr/>
                </a:tc>
                <a:extLst>
                  <a:ext uri="{0D108BD9-81ED-4DB2-BD59-A6C34878D82A}">
                    <a16:rowId xmlns:a16="http://schemas.microsoft.com/office/drawing/2014/main" val="10001"/>
                  </a:ext>
                </a:extLst>
              </a:tr>
              <a:tr h="370840">
                <a:tc>
                  <a:txBody>
                    <a:bodyPr/>
                    <a:lstStyle/>
                    <a:p>
                      <a:pPr algn="ctr"/>
                      <a:r>
                        <a:rPr lang="en-US" dirty="0"/>
                        <a:t>Middle</a:t>
                      </a:r>
                    </a:p>
                  </a:txBody>
                  <a:tcPr/>
                </a:tc>
                <a:tc>
                  <a:txBody>
                    <a:bodyPr/>
                    <a:lstStyle/>
                    <a:p>
                      <a:pPr algn="ctr"/>
                      <a:r>
                        <a:rPr lang="en-US" dirty="0"/>
                        <a:t>2 , 1</a:t>
                      </a:r>
                    </a:p>
                  </a:txBody>
                  <a:tcPr/>
                </a:tc>
                <a:tc>
                  <a:txBody>
                    <a:bodyPr/>
                    <a:lstStyle/>
                    <a:p>
                      <a:pPr algn="ctr"/>
                      <a:r>
                        <a:rPr lang="en-US" dirty="0"/>
                        <a:t>2 , 7</a:t>
                      </a:r>
                    </a:p>
                  </a:txBody>
                  <a:tcPr/>
                </a:tc>
                <a:tc>
                  <a:txBody>
                    <a:bodyPr/>
                    <a:lstStyle/>
                    <a:p>
                      <a:pPr algn="ctr"/>
                      <a:r>
                        <a:rPr lang="en-US" dirty="0"/>
                        <a:t>2 , 5</a:t>
                      </a:r>
                    </a:p>
                  </a:txBody>
                  <a:tcPr/>
                </a:tc>
                <a:extLst>
                  <a:ext uri="{0D108BD9-81ED-4DB2-BD59-A6C34878D82A}">
                    <a16:rowId xmlns:a16="http://schemas.microsoft.com/office/drawing/2014/main" val="10002"/>
                  </a:ext>
                </a:extLst>
              </a:tr>
              <a:tr h="370840">
                <a:tc>
                  <a:txBody>
                    <a:bodyPr/>
                    <a:lstStyle/>
                    <a:p>
                      <a:pPr algn="ctr"/>
                      <a:r>
                        <a:rPr lang="en-US" dirty="0"/>
                        <a:t>Down</a:t>
                      </a:r>
                    </a:p>
                  </a:txBody>
                  <a:tcPr/>
                </a:tc>
                <a:tc>
                  <a:txBody>
                    <a:bodyPr/>
                    <a:lstStyle/>
                    <a:p>
                      <a:pPr algn="ctr"/>
                      <a:r>
                        <a:rPr lang="en-US" dirty="0"/>
                        <a:t>3 , 7</a:t>
                      </a:r>
                    </a:p>
                  </a:txBody>
                  <a:tcPr/>
                </a:tc>
                <a:tc>
                  <a:txBody>
                    <a:bodyPr/>
                    <a:lstStyle/>
                    <a:p>
                      <a:pPr algn="ctr"/>
                      <a:r>
                        <a:rPr lang="en-US" dirty="0"/>
                        <a:t>1 , 5</a:t>
                      </a:r>
                    </a:p>
                  </a:txBody>
                  <a:tcPr/>
                </a:tc>
                <a:tc>
                  <a:txBody>
                    <a:bodyPr/>
                    <a:lstStyle/>
                    <a:p>
                      <a:pPr algn="ctr"/>
                      <a:r>
                        <a:rPr lang="en-US" dirty="0"/>
                        <a:t>2 , 6</a:t>
                      </a:r>
                    </a:p>
                  </a:txBody>
                  <a:tcPr/>
                </a:tc>
                <a:extLst>
                  <a:ext uri="{0D108BD9-81ED-4DB2-BD59-A6C34878D82A}">
                    <a16:rowId xmlns:a16="http://schemas.microsoft.com/office/drawing/2014/main" val="10003"/>
                  </a:ext>
                </a:extLst>
              </a:tr>
            </a:tbl>
          </a:graphicData>
        </a:graphic>
      </p:graphicFrame>
      <p:sp>
        <p:nvSpPr>
          <p:cNvPr id="7" name="TextBox 6"/>
          <p:cNvSpPr txBox="1"/>
          <p:nvPr/>
        </p:nvSpPr>
        <p:spPr>
          <a:xfrm>
            <a:off x="7391479" y="3540760"/>
            <a:ext cx="1194558" cy="400110"/>
          </a:xfrm>
          <a:prstGeom prst="rect">
            <a:avLst/>
          </a:prstGeom>
          <a:noFill/>
        </p:spPr>
        <p:txBody>
          <a:bodyPr wrap="none" rtlCol="0">
            <a:spAutoFit/>
          </a:bodyPr>
          <a:lstStyle/>
          <a:p>
            <a:r>
              <a:rPr lang="en-US" sz="2000" dirty="0"/>
              <a:t>No …  But</a:t>
            </a:r>
          </a:p>
        </p:txBody>
      </p:sp>
    </p:spTree>
    <p:extLst>
      <p:ext uri="{BB962C8B-B14F-4D97-AF65-F5344CB8AC3E}">
        <p14:creationId xmlns:p14="http://schemas.microsoft.com/office/powerpoint/2010/main" val="6886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Nash Equilibrium</a:t>
            </a:r>
            <a:endParaRPr 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724" y="3985563"/>
            <a:ext cx="4015287" cy="214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845175" y="3985563"/>
            <a:ext cx="3615257" cy="1107996"/>
          </a:xfrm>
          <a:prstGeom prst="rect">
            <a:avLst/>
          </a:prstGeom>
          <a:noFill/>
        </p:spPr>
        <p:txBody>
          <a:bodyPr wrap="square" rtlCol="0">
            <a:spAutoFit/>
          </a:bodyPr>
          <a:lstStyle/>
          <a:p>
            <a:pPr algn="ctr"/>
            <a:r>
              <a:rPr lang="en-US" sz="2200" dirty="0"/>
              <a:t>There are three Nash Equilibrium cells. They are (A,B),(B,A) and (C,C)</a:t>
            </a:r>
          </a:p>
        </p:txBody>
      </p:sp>
      <p:sp>
        <p:nvSpPr>
          <p:cNvPr id="8" name="TextBox 7"/>
          <p:cNvSpPr txBox="1"/>
          <p:nvPr/>
        </p:nvSpPr>
        <p:spPr>
          <a:xfrm>
            <a:off x="644525" y="3501008"/>
            <a:ext cx="4114800" cy="430887"/>
          </a:xfrm>
          <a:prstGeom prst="rect">
            <a:avLst/>
          </a:prstGeom>
          <a:noFill/>
        </p:spPr>
        <p:txBody>
          <a:bodyPr wrap="square" rtlCol="0">
            <a:spAutoFit/>
          </a:bodyPr>
          <a:lstStyle/>
          <a:p>
            <a:r>
              <a:rPr lang="en-US" sz="2200" dirty="0"/>
              <a:t>For example :</a:t>
            </a:r>
          </a:p>
        </p:txBody>
      </p:sp>
      <p:sp>
        <p:nvSpPr>
          <p:cNvPr id="9" name="Rectangle 8"/>
          <p:cNvSpPr/>
          <p:nvPr/>
        </p:nvSpPr>
        <p:spPr>
          <a:xfrm>
            <a:off x="611560" y="1582160"/>
            <a:ext cx="7848872" cy="1569660"/>
          </a:xfrm>
          <a:prstGeom prst="rect">
            <a:avLst/>
          </a:prstGeom>
        </p:spPr>
        <p:txBody>
          <a:bodyPr wrap="square">
            <a:spAutoFit/>
          </a:bodyPr>
          <a:lstStyle/>
          <a:p>
            <a:pPr algn="just"/>
            <a:r>
              <a:rPr lang="en-US" sz="2400" dirty="0"/>
              <a:t>A best player’s move of a game involving two or more players effects second player‘s decision, and while second player’s best moving considers the first player’s decision. It means the decision of each player depends on other player’s decision. </a:t>
            </a:r>
          </a:p>
        </p:txBody>
      </p:sp>
    </p:spTree>
    <p:extLst>
      <p:ext uri="{BB962C8B-B14F-4D97-AF65-F5344CB8AC3E}">
        <p14:creationId xmlns:p14="http://schemas.microsoft.com/office/powerpoint/2010/main" val="120231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Finding Nash Equilibrium</a:t>
            </a:r>
            <a:endParaRPr lang="en-US" dirty="0"/>
          </a:p>
        </p:txBody>
      </p:sp>
      <p:sp>
        <p:nvSpPr>
          <p:cNvPr id="5" name="Content Placeholder 2"/>
          <p:cNvSpPr txBox="1">
            <a:spLocks/>
          </p:cNvSpPr>
          <p:nvPr/>
        </p:nvSpPr>
        <p:spPr>
          <a:xfrm>
            <a:off x="-3236533" y="1169313"/>
            <a:ext cx="7848872"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en-US" sz="2200" dirty="0"/>
          </a:p>
        </p:txBody>
      </p:sp>
      <p:graphicFrame>
        <p:nvGraphicFramePr>
          <p:cNvPr id="6" name="Table 5"/>
          <p:cNvGraphicFramePr>
            <a:graphicFrameLocks noGrp="1"/>
          </p:cNvGraphicFramePr>
          <p:nvPr>
            <p:extLst>
              <p:ext uri="{D42A27DB-BD31-4B8C-83A1-F6EECF244321}">
                <p14:modId xmlns:p14="http://schemas.microsoft.com/office/powerpoint/2010/main" val="363944483"/>
              </p:ext>
            </p:extLst>
          </p:nvPr>
        </p:nvGraphicFramePr>
        <p:xfrm>
          <a:off x="914400" y="2362200"/>
          <a:ext cx="7198043" cy="1483360"/>
        </p:xfrm>
        <a:graphic>
          <a:graphicData uri="http://schemas.openxmlformats.org/drawingml/2006/table">
            <a:tbl>
              <a:tblPr firstRow="1" bandRow="1">
                <a:tableStyleId>{5C22544A-7EE6-4342-B048-85BDC9FD1C3A}</a:tableStyleId>
              </a:tblPr>
              <a:tblGrid>
                <a:gridCol w="3007043">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gridCol w="1657350">
                  <a:extLst>
                    <a:ext uri="{9D8B030D-6E8A-4147-A177-3AD203B41FA5}">
                      <a16:colId xmlns:a16="http://schemas.microsoft.com/office/drawing/2014/main" val="20003"/>
                    </a:ext>
                  </a:extLst>
                </a:gridCol>
              </a:tblGrid>
              <a:tr h="370840">
                <a:tc>
                  <a:txBody>
                    <a:bodyPr/>
                    <a:lstStyle/>
                    <a:p>
                      <a:pPr algn="ctr"/>
                      <a:r>
                        <a:rPr lang="en-US" dirty="0">
                          <a:solidFill>
                            <a:schemeClr val="tx1"/>
                          </a:solidFill>
                        </a:rPr>
                        <a:t>A \ B</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LP</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FP</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EG</a:t>
                      </a:r>
                    </a:p>
                  </a:txBody>
                  <a:tcPr/>
                </a:tc>
                <a:extLst>
                  <a:ext uri="{0D108BD9-81ED-4DB2-BD59-A6C34878D82A}">
                    <a16:rowId xmlns:a16="http://schemas.microsoft.com/office/drawing/2014/main" val="10000"/>
                  </a:ext>
                </a:extLst>
              </a:tr>
              <a:tr h="370840">
                <a:tc>
                  <a:txBody>
                    <a:bodyPr/>
                    <a:lstStyle/>
                    <a:p>
                      <a:pPr algn="ctr"/>
                      <a:r>
                        <a:rPr lang="en-US" dirty="0"/>
                        <a:t>Lower price (LP)</a:t>
                      </a:r>
                    </a:p>
                  </a:txBody>
                  <a:tcPr/>
                </a:tc>
                <a:tc>
                  <a:txBody>
                    <a:bodyPr/>
                    <a:lstStyle/>
                    <a:p>
                      <a:pPr algn="ctr"/>
                      <a:r>
                        <a:rPr lang="en-US" dirty="0"/>
                        <a:t>0 , 4</a:t>
                      </a:r>
                    </a:p>
                  </a:txBody>
                  <a:tcPr/>
                </a:tc>
                <a:tc>
                  <a:txBody>
                    <a:bodyPr/>
                    <a:lstStyle/>
                    <a:p>
                      <a:pPr algn="ctr"/>
                      <a:r>
                        <a:rPr lang="en-US" dirty="0"/>
                        <a:t>4 , 0</a:t>
                      </a:r>
                    </a:p>
                  </a:txBody>
                  <a:tcPr/>
                </a:tc>
                <a:tc>
                  <a:txBody>
                    <a:bodyPr/>
                    <a:lstStyle/>
                    <a:p>
                      <a:pPr algn="ctr"/>
                      <a:r>
                        <a:rPr lang="en-US" dirty="0"/>
                        <a:t>5 , 3</a:t>
                      </a:r>
                    </a:p>
                  </a:txBody>
                  <a:tcPr/>
                </a:tc>
                <a:extLst>
                  <a:ext uri="{0D108BD9-81ED-4DB2-BD59-A6C34878D82A}">
                    <a16:rowId xmlns:a16="http://schemas.microsoft.com/office/drawing/2014/main" val="10001"/>
                  </a:ext>
                </a:extLst>
              </a:tr>
              <a:tr h="370840">
                <a:tc>
                  <a:txBody>
                    <a:bodyPr/>
                    <a:lstStyle/>
                    <a:p>
                      <a:pPr algn="ctr"/>
                      <a:r>
                        <a:rPr lang="en-US" dirty="0"/>
                        <a:t>Free Printer (FP)</a:t>
                      </a:r>
                    </a:p>
                  </a:txBody>
                  <a:tcPr/>
                </a:tc>
                <a:tc>
                  <a:txBody>
                    <a:bodyPr/>
                    <a:lstStyle/>
                    <a:p>
                      <a:pPr algn="ctr"/>
                      <a:r>
                        <a:rPr lang="en-US" dirty="0"/>
                        <a:t>4 , 0</a:t>
                      </a:r>
                    </a:p>
                  </a:txBody>
                  <a:tcPr/>
                </a:tc>
                <a:tc>
                  <a:txBody>
                    <a:bodyPr/>
                    <a:lstStyle/>
                    <a:p>
                      <a:pPr algn="ctr"/>
                      <a:r>
                        <a:rPr lang="en-US" dirty="0"/>
                        <a:t>0 , 4</a:t>
                      </a:r>
                    </a:p>
                  </a:txBody>
                  <a:tcPr/>
                </a:tc>
                <a:tc>
                  <a:txBody>
                    <a:bodyPr/>
                    <a:lstStyle/>
                    <a:p>
                      <a:pPr algn="ctr"/>
                      <a:r>
                        <a:rPr lang="en-US" dirty="0"/>
                        <a:t>5 , 3</a:t>
                      </a:r>
                    </a:p>
                  </a:txBody>
                  <a:tcPr/>
                </a:tc>
                <a:extLst>
                  <a:ext uri="{0D108BD9-81ED-4DB2-BD59-A6C34878D82A}">
                    <a16:rowId xmlns:a16="http://schemas.microsoft.com/office/drawing/2014/main" val="10002"/>
                  </a:ext>
                </a:extLst>
              </a:tr>
              <a:tr h="370840">
                <a:tc>
                  <a:txBody>
                    <a:bodyPr/>
                    <a:lstStyle/>
                    <a:p>
                      <a:pPr algn="ctr"/>
                      <a:r>
                        <a:rPr lang="en-US" dirty="0"/>
                        <a:t>Extended Guarantee (EG)</a:t>
                      </a:r>
                    </a:p>
                  </a:txBody>
                  <a:tcPr/>
                </a:tc>
                <a:tc>
                  <a:txBody>
                    <a:bodyPr/>
                    <a:lstStyle/>
                    <a:p>
                      <a:pPr algn="ctr"/>
                      <a:r>
                        <a:rPr lang="en-US" dirty="0"/>
                        <a:t>3 , 5</a:t>
                      </a:r>
                    </a:p>
                  </a:txBody>
                  <a:tcPr/>
                </a:tc>
                <a:tc>
                  <a:txBody>
                    <a:bodyPr/>
                    <a:lstStyle/>
                    <a:p>
                      <a:pPr algn="ctr"/>
                      <a:r>
                        <a:rPr lang="en-US" dirty="0"/>
                        <a:t>3 , 5</a:t>
                      </a:r>
                    </a:p>
                  </a:txBody>
                  <a:tcPr/>
                </a:tc>
                <a:tc>
                  <a:txBody>
                    <a:bodyPr/>
                    <a:lstStyle/>
                    <a:p>
                      <a:pPr algn="ctr"/>
                      <a:r>
                        <a:rPr lang="en-US" dirty="0"/>
                        <a:t>6 , 6</a:t>
                      </a:r>
                    </a:p>
                  </a:txBody>
                  <a:tcPr/>
                </a:tc>
                <a:extLst>
                  <a:ext uri="{0D108BD9-81ED-4DB2-BD59-A6C34878D82A}">
                    <a16:rowId xmlns:a16="http://schemas.microsoft.com/office/drawing/2014/main" val="10003"/>
                  </a:ext>
                </a:extLst>
              </a:tr>
            </a:tbl>
          </a:graphicData>
        </a:graphic>
      </p:graphicFrame>
      <p:sp>
        <p:nvSpPr>
          <p:cNvPr id="7" name="TextBox 6"/>
          <p:cNvSpPr txBox="1"/>
          <p:nvPr/>
        </p:nvSpPr>
        <p:spPr>
          <a:xfrm>
            <a:off x="666132" y="3953030"/>
            <a:ext cx="4724400" cy="430887"/>
          </a:xfrm>
          <a:prstGeom prst="rect">
            <a:avLst/>
          </a:prstGeom>
          <a:noFill/>
        </p:spPr>
        <p:txBody>
          <a:bodyPr wrap="square" rtlCol="0">
            <a:spAutoFit/>
          </a:bodyPr>
          <a:lstStyle/>
          <a:p>
            <a:r>
              <a:rPr lang="en-US" sz="2200" dirty="0"/>
              <a:t>If A strategy is LP then B is LP    [LP,</a:t>
            </a:r>
            <a:r>
              <a:rPr lang="en-US" sz="2200" u="sng" dirty="0"/>
              <a:t>LP</a:t>
            </a:r>
            <a:r>
              <a:rPr lang="en-US" sz="2200" dirty="0"/>
              <a:t>]</a:t>
            </a:r>
          </a:p>
        </p:txBody>
      </p:sp>
      <p:sp>
        <p:nvSpPr>
          <p:cNvPr id="8" name="TextBox 7"/>
          <p:cNvSpPr txBox="1"/>
          <p:nvPr/>
        </p:nvSpPr>
        <p:spPr>
          <a:xfrm>
            <a:off x="666132" y="4322362"/>
            <a:ext cx="4724400" cy="430887"/>
          </a:xfrm>
          <a:prstGeom prst="rect">
            <a:avLst/>
          </a:prstGeom>
          <a:noFill/>
        </p:spPr>
        <p:txBody>
          <a:bodyPr wrap="square" rtlCol="0">
            <a:spAutoFit/>
          </a:bodyPr>
          <a:lstStyle/>
          <a:p>
            <a:r>
              <a:rPr lang="en-US" sz="2200" dirty="0"/>
              <a:t>If A strategy is FP then B is FP    [FP,</a:t>
            </a:r>
            <a:r>
              <a:rPr lang="en-US" sz="2200" u="sng" dirty="0"/>
              <a:t>FP</a:t>
            </a:r>
            <a:r>
              <a:rPr lang="en-US" sz="2200" dirty="0"/>
              <a:t>]</a:t>
            </a:r>
          </a:p>
        </p:txBody>
      </p:sp>
      <p:sp>
        <p:nvSpPr>
          <p:cNvPr id="9" name="TextBox 8"/>
          <p:cNvSpPr txBox="1"/>
          <p:nvPr/>
        </p:nvSpPr>
        <p:spPr>
          <a:xfrm>
            <a:off x="666132" y="4690521"/>
            <a:ext cx="4855029" cy="430887"/>
          </a:xfrm>
          <a:prstGeom prst="rect">
            <a:avLst/>
          </a:prstGeom>
          <a:noFill/>
        </p:spPr>
        <p:txBody>
          <a:bodyPr wrap="square" rtlCol="0">
            <a:spAutoFit/>
          </a:bodyPr>
          <a:lstStyle/>
          <a:p>
            <a:r>
              <a:rPr lang="en-US" sz="2200" dirty="0"/>
              <a:t>If A strategy is EG then B is EG   [EG,</a:t>
            </a:r>
            <a:r>
              <a:rPr lang="en-US" sz="2200" u="sng" dirty="0"/>
              <a:t>EG</a:t>
            </a:r>
            <a:r>
              <a:rPr lang="en-US" sz="2200" dirty="0"/>
              <a:t>]</a:t>
            </a:r>
          </a:p>
        </p:txBody>
      </p:sp>
      <p:sp>
        <p:nvSpPr>
          <p:cNvPr id="10" name="TextBox 9"/>
          <p:cNvSpPr txBox="1"/>
          <p:nvPr/>
        </p:nvSpPr>
        <p:spPr>
          <a:xfrm>
            <a:off x="687903" y="5059853"/>
            <a:ext cx="4724400" cy="430887"/>
          </a:xfrm>
          <a:prstGeom prst="rect">
            <a:avLst/>
          </a:prstGeom>
          <a:noFill/>
        </p:spPr>
        <p:txBody>
          <a:bodyPr wrap="square" rtlCol="0">
            <a:spAutoFit/>
          </a:bodyPr>
          <a:lstStyle/>
          <a:p>
            <a:r>
              <a:rPr lang="en-US" sz="2200" dirty="0"/>
              <a:t>If B strategy is LP then A is FP    [</a:t>
            </a:r>
            <a:r>
              <a:rPr lang="en-US" sz="2200" u="sng" dirty="0"/>
              <a:t>FP</a:t>
            </a:r>
            <a:r>
              <a:rPr lang="en-US" sz="2200" dirty="0"/>
              <a:t>,LP]</a:t>
            </a:r>
          </a:p>
        </p:txBody>
      </p:sp>
      <p:sp>
        <p:nvSpPr>
          <p:cNvPr id="11" name="TextBox 10"/>
          <p:cNvSpPr txBox="1"/>
          <p:nvPr/>
        </p:nvSpPr>
        <p:spPr>
          <a:xfrm>
            <a:off x="687903" y="5450956"/>
            <a:ext cx="4724400" cy="430887"/>
          </a:xfrm>
          <a:prstGeom prst="rect">
            <a:avLst/>
          </a:prstGeom>
          <a:noFill/>
        </p:spPr>
        <p:txBody>
          <a:bodyPr wrap="square" rtlCol="0">
            <a:spAutoFit/>
          </a:bodyPr>
          <a:lstStyle/>
          <a:p>
            <a:r>
              <a:rPr lang="en-US" sz="2200" dirty="0"/>
              <a:t>If B strategy is FP then A is LP    [</a:t>
            </a:r>
            <a:r>
              <a:rPr lang="en-US" sz="2200" u="sng" dirty="0"/>
              <a:t>LP</a:t>
            </a:r>
            <a:r>
              <a:rPr lang="en-US" sz="2200" dirty="0"/>
              <a:t>,FP]</a:t>
            </a:r>
          </a:p>
        </p:txBody>
      </p:sp>
      <p:sp>
        <p:nvSpPr>
          <p:cNvPr id="12" name="TextBox 11"/>
          <p:cNvSpPr txBox="1"/>
          <p:nvPr/>
        </p:nvSpPr>
        <p:spPr>
          <a:xfrm>
            <a:off x="687903" y="5820288"/>
            <a:ext cx="4833258" cy="430887"/>
          </a:xfrm>
          <a:prstGeom prst="rect">
            <a:avLst/>
          </a:prstGeom>
          <a:noFill/>
        </p:spPr>
        <p:txBody>
          <a:bodyPr wrap="square" rtlCol="0">
            <a:spAutoFit/>
          </a:bodyPr>
          <a:lstStyle/>
          <a:p>
            <a:r>
              <a:rPr lang="en-US" sz="2200" dirty="0"/>
              <a:t>If B strategy is EG then A is EG   [</a:t>
            </a:r>
            <a:r>
              <a:rPr lang="en-US" sz="2200" u="sng" dirty="0"/>
              <a:t>EG</a:t>
            </a:r>
            <a:r>
              <a:rPr lang="en-US" sz="2200" dirty="0"/>
              <a:t>,EG]</a:t>
            </a:r>
          </a:p>
        </p:txBody>
      </p:sp>
      <p:sp>
        <p:nvSpPr>
          <p:cNvPr id="13" name="TextBox 12"/>
          <p:cNvSpPr txBox="1"/>
          <p:nvPr/>
        </p:nvSpPr>
        <p:spPr>
          <a:xfrm>
            <a:off x="5695332" y="4691694"/>
            <a:ext cx="2743200" cy="769441"/>
          </a:xfrm>
          <a:prstGeom prst="rect">
            <a:avLst/>
          </a:prstGeom>
          <a:noFill/>
        </p:spPr>
        <p:txBody>
          <a:bodyPr wrap="square" rtlCol="0">
            <a:spAutoFit/>
          </a:bodyPr>
          <a:lstStyle/>
          <a:p>
            <a:r>
              <a:rPr lang="en-US" sz="2200" dirty="0"/>
              <a:t>The Nash Equilibrium is [EG,EG]</a:t>
            </a:r>
          </a:p>
        </p:txBody>
      </p:sp>
      <p:sp>
        <p:nvSpPr>
          <p:cNvPr id="14" name="Rectangle 13"/>
          <p:cNvSpPr/>
          <p:nvPr/>
        </p:nvSpPr>
        <p:spPr>
          <a:xfrm>
            <a:off x="601137" y="1499364"/>
            <a:ext cx="7828065" cy="830997"/>
          </a:xfrm>
          <a:prstGeom prst="rect">
            <a:avLst/>
          </a:prstGeom>
        </p:spPr>
        <p:txBody>
          <a:bodyPr wrap="square">
            <a:spAutoFit/>
          </a:bodyPr>
          <a:lstStyle/>
          <a:p>
            <a:pPr algn="just"/>
            <a:r>
              <a:rPr lang="en-US" sz="2400" dirty="0"/>
              <a:t>A combination of players’ strategies that are best responses to each other.</a:t>
            </a:r>
          </a:p>
        </p:txBody>
      </p:sp>
    </p:spTree>
    <p:extLst>
      <p:ext uri="{BB962C8B-B14F-4D97-AF65-F5344CB8AC3E}">
        <p14:creationId xmlns:p14="http://schemas.microsoft.com/office/powerpoint/2010/main" val="2702238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Prisoners dilemma</a:t>
            </a:r>
          </a:p>
        </p:txBody>
      </p:sp>
      <p:sp>
        <p:nvSpPr>
          <p:cNvPr id="5" name="Rectangle 4"/>
          <p:cNvSpPr/>
          <p:nvPr/>
        </p:nvSpPr>
        <p:spPr>
          <a:xfrm>
            <a:off x="611560" y="1556792"/>
            <a:ext cx="7848872" cy="1938992"/>
          </a:xfrm>
          <a:prstGeom prst="rect">
            <a:avLst/>
          </a:prstGeom>
        </p:spPr>
        <p:txBody>
          <a:bodyPr wrap="square">
            <a:spAutoFit/>
          </a:bodyPr>
          <a:lstStyle/>
          <a:p>
            <a:pPr algn="just"/>
            <a:r>
              <a:rPr lang="en-US" sz="2000" dirty="0"/>
              <a:t>Two suspects are being interviewed by the police in relation to a major crime. They are being interviewed in separate cells and neither knows how the other’s interview is processing. The implicit assumption of  the game is that the prisoners did in fact commit the crime that they are being questioned about. The suspects can either confess to the crime or deny they involvement in it. The pay-off matrix of this game is </a:t>
            </a:r>
          </a:p>
        </p:txBody>
      </p:sp>
      <p:graphicFrame>
        <p:nvGraphicFramePr>
          <p:cNvPr id="6" name="Table 5"/>
          <p:cNvGraphicFramePr>
            <a:graphicFrameLocks noGrp="1"/>
          </p:cNvGraphicFramePr>
          <p:nvPr>
            <p:extLst>
              <p:ext uri="{D42A27DB-BD31-4B8C-83A1-F6EECF244321}">
                <p14:modId xmlns:p14="http://schemas.microsoft.com/office/powerpoint/2010/main" val="3402052465"/>
              </p:ext>
            </p:extLst>
          </p:nvPr>
        </p:nvGraphicFramePr>
        <p:xfrm>
          <a:off x="1619672" y="3634938"/>
          <a:ext cx="6096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b="1" dirty="0">
                          <a:solidFill>
                            <a:schemeClr val="tx1"/>
                          </a:solidFill>
                        </a:rPr>
                        <a:t>P</a:t>
                      </a:r>
                      <a:r>
                        <a:rPr lang="en-US" b="1" baseline="-25000" dirty="0">
                          <a:solidFill>
                            <a:schemeClr val="tx1"/>
                          </a:solidFill>
                        </a:rPr>
                        <a:t>1</a:t>
                      </a:r>
                      <a:r>
                        <a:rPr lang="en-US" b="1" dirty="0">
                          <a:solidFill>
                            <a:schemeClr val="tx1"/>
                          </a:solidFill>
                        </a:rPr>
                        <a:t> \ P</a:t>
                      </a:r>
                      <a:r>
                        <a:rPr lang="en-US" b="1" baseline="-25000" dirty="0">
                          <a:solidFill>
                            <a:schemeClr val="tx1"/>
                          </a:solidFill>
                        </a:rPr>
                        <a:t>2</a:t>
                      </a:r>
                    </a:p>
                  </a:txBody>
                  <a:tcPr/>
                </a:tc>
                <a:tc>
                  <a:txBody>
                    <a:bodyPr/>
                    <a:lstStyle/>
                    <a:p>
                      <a:pPr algn="ctr"/>
                      <a:r>
                        <a:rPr lang="en-US" b="1" dirty="0">
                          <a:solidFill>
                            <a:schemeClr val="tx1"/>
                          </a:solidFill>
                        </a:rPr>
                        <a:t>Deny</a:t>
                      </a:r>
                    </a:p>
                  </a:txBody>
                  <a:tcPr/>
                </a:tc>
                <a:tc>
                  <a:txBody>
                    <a:bodyPr/>
                    <a:lstStyle/>
                    <a:p>
                      <a:pPr algn="ctr"/>
                      <a:r>
                        <a:rPr lang="en-US" b="1" dirty="0">
                          <a:solidFill>
                            <a:schemeClr val="tx1"/>
                          </a:solidFill>
                        </a:rPr>
                        <a:t>Confess</a:t>
                      </a:r>
                    </a:p>
                  </a:txBody>
                  <a:tcPr/>
                </a:tc>
                <a:extLst>
                  <a:ext uri="{0D108BD9-81ED-4DB2-BD59-A6C34878D82A}">
                    <a16:rowId xmlns:a16="http://schemas.microsoft.com/office/drawing/2014/main" val="10000"/>
                  </a:ext>
                </a:extLst>
              </a:tr>
              <a:tr h="370840">
                <a:tc>
                  <a:txBody>
                    <a:bodyPr/>
                    <a:lstStyle/>
                    <a:p>
                      <a:pPr algn="ctr"/>
                      <a:r>
                        <a:rPr lang="en-US" b="1" dirty="0"/>
                        <a:t>Deny</a:t>
                      </a:r>
                    </a:p>
                  </a:txBody>
                  <a:tcPr/>
                </a:tc>
                <a:tc>
                  <a:txBody>
                    <a:bodyPr/>
                    <a:lstStyle/>
                    <a:p>
                      <a:pPr algn="ctr"/>
                      <a:r>
                        <a:rPr lang="en-US" dirty="0"/>
                        <a:t>-1 , -1</a:t>
                      </a:r>
                    </a:p>
                  </a:txBody>
                  <a:tcPr/>
                </a:tc>
                <a:tc>
                  <a:txBody>
                    <a:bodyPr/>
                    <a:lstStyle/>
                    <a:p>
                      <a:pPr algn="ctr"/>
                      <a:r>
                        <a:rPr lang="en-US" dirty="0"/>
                        <a:t>-10 , 0</a:t>
                      </a:r>
                    </a:p>
                  </a:txBody>
                  <a:tcPr/>
                </a:tc>
                <a:extLst>
                  <a:ext uri="{0D108BD9-81ED-4DB2-BD59-A6C34878D82A}">
                    <a16:rowId xmlns:a16="http://schemas.microsoft.com/office/drawing/2014/main" val="10001"/>
                  </a:ext>
                </a:extLst>
              </a:tr>
              <a:tr h="370840">
                <a:tc>
                  <a:txBody>
                    <a:bodyPr/>
                    <a:lstStyle/>
                    <a:p>
                      <a:pPr algn="ctr"/>
                      <a:r>
                        <a:rPr lang="en-US" b="1" dirty="0"/>
                        <a:t>Confess</a:t>
                      </a:r>
                    </a:p>
                  </a:txBody>
                  <a:tcPr/>
                </a:tc>
                <a:tc>
                  <a:txBody>
                    <a:bodyPr/>
                    <a:lstStyle/>
                    <a:p>
                      <a:pPr algn="ctr"/>
                      <a:r>
                        <a:rPr lang="en-US" dirty="0"/>
                        <a:t>0 , -10</a:t>
                      </a:r>
                    </a:p>
                  </a:txBody>
                  <a:tcPr/>
                </a:tc>
                <a:tc>
                  <a:txBody>
                    <a:bodyPr/>
                    <a:lstStyle/>
                    <a:p>
                      <a:pPr algn="ctr"/>
                      <a:r>
                        <a:rPr lang="en-US" dirty="0"/>
                        <a:t>-5 , -5</a:t>
                      </a:r>
                    </a:p>
                  </a:txBody>
                  <a:tcPr/>
                </a:tc>
                <a:extLst>
                  <a:ext uri="{0D108BD9-81ED-4DB2-BD59-A6C34878D82A}">
                    <a16:rowId xmlns:a16="http://schemas.microsoft.com/office/drawing/2014/main" val="10002"/>
                  </a:ext>
                </a:extLst>
              </a:tr>
            </a:tbl>
          </a:graphicData>
        </a:graphic>
      </p:graphicFrame>
      <p:sp>
        <p:nvSpPr>
          <p:cNvPr id="7" name="Rectangle 6"/>
          <p:cNvSpPr/>
          <p:nvPr/>
        </p:nvSpPr>
        <p:spPr>
          <a:xfrm>
            <a:off x="611560" y="4886612"/>
            <a:ext cx="4734566" cy="400110"/>
          </a:xfrm>
          <a:prstGeom prst="rect">
            <a:avLst/>
          </a:prstGeom>
        </p:spPr>
        <p:txBody>
          <a:bodyPr wrap="none">
            <a:spAutoFit/>
          </a:bodyPr>
          <a:lstStyle/>
          <a:p>
            <a:r>
              <a:rPr lang="en-US" sz="2000" dirty="0"/>
              <a:t>What do you think the prisoner’s strategy ? </a:t>
            </a:r>
          </a:p>
        </p:txBody>
      </p:sp>
      <p:sp>
        <p:nvSpPr>
          <p:cNvPr id="8" name="Rectangle 7"/>
          <p:cNvSpPr/>
          <p:nvPr/>
        </p:nvSpPr>
        <p:spPr>
          <a:xfrm>
            <a:off x="611560" y="5393350"/>
            <a:ext cx="7848872" cy="707886"/>
          </a:xfrm>
          <a:prstGeom prst="rect">
            <a:avLst/>
          </a:prstGeom>
        </p:spPr>
        <p:txBody>
          <a:bodyPr wrap="square">
            <a:spAutoFit/>
          </a:bodyPr>
          <a:lstStyle/>
          <a:p>
            <a:r>
              <a:rPr lang="en-US" sz="2000" dirty="0"/>
              <a:t>Dominant strategy of this game is  [</a:t>
            </a:r>
            <a:r>
              <a:rPr lang="en-US" sz="2000" dirty="0" err="1"/>
              <a:t>Confess,Confess</a:t>
            </a:r>
            <a:r>
              <a:rPr lang="en-US" sz="2000" dirty="0"/>
              <a:t>], however they prefer to [Deny, Deny]</a:t>
            </a:r>
          </a:p>
        </p:txBody>
      </p:sp>
    </p:spTree>
    <p:extLst>
      <p:ext uri="{BB962C8B-B14F-4D97-AF65-F5344CB8AC3E}">
        <p14:creationId xmlns:p14="http://schemas.microsoft.com/office/powerpoint/2010/main" val="159134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Title 1"/>
          <p:cNvSpPr txBox="1">
            <a:spLocks/>
          </p:cNvSpPr>
          <p:nvPr/>
        </p:nvSpPr>
        <p:spPr>
          <a:xfrm>
            <a:off x="611560" y="274638"/>
            <a:ext cx="7848872" cy="1143000"/>
          </a:xfrm>
          <a:prstGeom prst="rect">
            <a:avLst/>
          </a:prstGeom>
          <a:solidFill>
            <a:schemeClr val="accent5">
              <a:lumMod val="20000"/>
              <a:lumOff val="80000"/>
            </a:schemeClr>
          </a:solidFill>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Exercise 01</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898234758"/>
              </p:ext>
            </p:extLst>
          </p:nvPr>
        </p:nvGraphicFramePr>
        <p:xfrm>
          <a:off x="1495808" y="1927172"/>
          <a:ext cx="6096000" cy="1112520"/>
        </p:xfrm>
        <a:graphic>
          <a:graphicData uri="http://schemas.openxmlformats.org/drawingml/2006/table">
            <a:tbl>
              <a:tblPr firstRow="1" bandRow="1">
                <a:tableStyleId>{5C22544A-7EE6-4342-B048-85BDC9FD1C3A}</a:tableStyleId>
              </a:tblPr>
              <a:tblGrid>
                <a:gridCol w="2068080">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gridCol w="2011696">
                  <a:extLst>
                    <a:ext uri="{9D8B030D-6E8A-4147-A177-3AD203B41FA5}">
                      <a16:colId xmlns:a16="http://schemas.microsoft.com/office/drawing/2014/main" val="20002"/>
                    </a:ext>
                  </a:extLst>
                </a:gridCol>
              </a:tblGrid>
              <a:tr h="370840">
                <a:tc>
                  <a:txBody>
                    <a:bodyPr/>
                    <a:lstStyle/>
                    <a:p>
                      <a:pPr algn="ctr"/>
                      <a:r>
                        <a:rPr lang="en-US" dirty="0">
                          <a:solidFill>
                            <a:schemeClr val="tx1"/>
                          </a:solidFill>
                        </a:rPr>
                        <a:t>C</a:t>
                      </a:r>
                      <a:r>
                        <a:rPr lang="en-US" baseline="-25000" dirty="0">
                          <a:solidFill>
                            <a:schemeClr val="tx1"/>
                          </a:solidFill>
                        </a:rPr>
                        <a:t>1</a:t>
                      </a:r>
                      <a:r>
                        <a:rPr lang="en-US" baseline="0" dirty="0">
                          <a:solidFill>
                            <a:schemeClr val="tx1"/>
                          </a:solidFill>
                        </a:rPr>
                        <a:t> \ C</a:t>
                      </a:r>
                      <a:r>
                        <a:rPr lang="en-US" baseline="-25000" dirty="0">
                          <a:solidFill>
                            <a:schemeClr val="tx1"/>
                          </a:solidFill>
                        </a:rPr>
                        <a:t>2</a:t>
                      </a:r>
                    </a:p>
                  </a:txBody>
                  <a:tcPr/>
                </a:tc>
                <a:tc>
                  <a:txBody>
                    <a:bodyPr/>
                    <a:lstStyle/>
                    <a:p>
                      <a:pPr algn="ctr"/>
                      <a:r>
                        <a:rPr lang="en-US" dirty="0">
                          <a:solidFill>
                            <a:schemeClr val="tx1"/>
                          </a:solidFill>
                        </a:rPr>
                        <a:t>Collude</a:t>
                      </a:r>
                    </a:p>
                  </a:txBody>
                  <a:tcPr/>
                </a:tc>
                <a:tc>
                  <a:txBody>
                    <a:bodyPr/>
                    <a:lstStyle/>
                    <a:p>
                      <a:pPr algn="ctr"/>
                      <a:r>
                        <a:rPr lang="en-US" dirty="0">
                          <a:solidFill>
                            <a:schemeClr val="tx1"/>
                          </a:solidFill>
                        </a:rPr>
                        <a:t>Cheat</a:t>
                      </a:r>
                    </a:p>
                  </a:txBody>
                  <a:tcPr/>
                </a:tc>
                <a:extLst>
                  <a:ext uri="{0D108BD9-81ED-4DB2-BD59-A6C34878D82A}">
                    <a16:rowId xmlns:a16="http://schemas.microsoft.com/office/drawing/2014/main" val="10000"/>
                  </a:ext>
                </a:extLst>
              </a:tr>
              <a:tr h="370840">
                <a:tc>
                  <a:txBody>
                    <a:bodyPr/>
                    <a:lstStyle/>
                    <a:p>
                      <a:pPr algn="ctr"/>
                      <a:r>
                        <a:rPr lang="en-US" b="1" dirty="0"/>
                        <a:t>Collude</a:t>
                      </a:r>
                    </a:p>
                  </a:txBody>
                  <a:tcPr/>
                </a:tc>
                <a:tc>
                  <a:txBody>
                    <a:bodyPr/>
                    <a:lstStyle/>
                    <a:p>
                      <a:pPr algn="ctr"/>
                      <a:r>
                        <a:rPr lang="en-US" dirty="0"/>
                        <a:t>7 , 7</a:t>
                      </a:r>
                    </a:p>
                  </a:txBody>
                  <a:tcPr/>
                </a:tc>
                <a:tc>
                  <a:txBody>
                    <a:bodyPr/>
                    <a:lstStyle/>
                    <a:p>
                      <a:pPr algn="ctr"/>
                      <a:r>
                        <a:rPr lang="en-US" dirty="0"/>
                        <a:t>3 , 10</a:t>
                      </a:r>
                    </a:p>
                  </a:txBody>
                  <a:tcPr/>
                </a:tc>
                <a:extLst>
                  <a:ext uri="{0D108BD9-81ED-4DB2-BD59-A6C34878D82A}">
                    <a16:rowId xmlns:a16="http://schemas.microsoft.com/office/drawing/2014/main" val="10001"/>
                  </a:ext>
                </a:extLst>
              </a:tr>
              <a:tr h="370840">
                <a:tc>
                  <a:txBody>
                    <a:bodyPr/>
                    <a:lstStyle/>
                    <a:p>
                      <a:pPr algn="ctr"/>
                      <a:r>
                        <a:rPr lang="en-US" b="1" dirty="0"/>
                        <a:t>Cheat</a:t>
                      </a:r>
                    </a:p>
                  </a:txBody>
                  <a:tcPr/>
                </a:tc>
                <a:tc>
                  <a:txBody>
                    <a:bodyPr/>
                    <a:lstStyle/>
                    <a:p>
                      <a:pPr algn="ctr"/>
                      <a:r>
                        <a:rPr lang="en-US" dirty="0"/>
                        <a:t>10 , 3</a:t>
                      </a:r>
                    </a:p>
                  </a:txBody>
                  <a:tcPr/>
                </a:tc>
                <a:tc>
                  <a:txBody>
                    <a:bodyPr/>
                    <a:lstStyle/>
                    <a:p>
                      <a:pPr algn="ctr"/>
                      <a:r>
                        <a:rPr lang="en-US" dirty="0"/>
                        <a:t>5 , 5</a:t>
                      </a:r>
                    </a:p>
                  </a:txBody>
                  <a:tcPr/>
                </a:tc>
                <a:extLst>
                  <a:ext uri="{0D108BD9-81ED-4DB2-BD59-A6C34878D82A}">
                    <a16:rowId xmlns:a16="http://schemas.microsoft.com/office/drawing/2014/main" val="10002"/>
                  </a:ext>
                </a:extLst>
              </a:tr>
            </a:tbl>
          </a:graphicData>
        </a:graphic>
      </p:graphicFrame>
      <p:sp>
        <p:nvSpPr>
          <p:cNvPr id="6" name="Rectangle 5"/>
          <p:cNvSpPr/>
          <p:nvPr/>
        </p:nvSpPr>
        <p:spPr>
          <a:xfrm>
            <a:off x="611560" y="1480654"/>
            <a:ext cx="7848872" cy="461665"/>
          </a:xfrm>
          <a:prstGeom prst="rect">
            <a:avLst/>
          </a:prstGeom>
        </p:spPr>
        <p:txBody>
          <a:bodyPr wrap="square">
            <a:spAutoFit/>
          </a:bodyPr>
          <a:lstStyle/>
          <a:p>
            <a:r>
              <a:rPr lang="en-US" sz="2400" dirty="0"/>
              <a:t>Do you think the game is a prisoners’ dilemma?  WHY ?</a:t>
            </a:r>
          </a:p>
        </p:txBody>
      </p:sp>
      <p:sp>
        <p:nvSpPr>
          <p:cNvPr id="7" name="TextBox 6"/>
          <p:cNvSpPr txBox="1"/>
          <p:nvPr/>
        </p:nvSpPr>
        <p:spPr>
          <a:xfrm>
            <a:off x="619372" y="1927172"/>
            <a:ext cx="576064" cy="461665"/>
          </a:xfrm>
          <a:prstGeom prst="rect">
            <a:avLst/>
          </a:prstGeom>
          <a:noFill/>
        </p:spPr>
        <p:txBody>
          <a:bodyPr wrap="square" rtlCol="0">
            <a:spAutoFit/>
          </a:bodyPr>
          <a:lstStyle/>
          <a:p>
            <a:r>
              <a:rPr lang="en-US" sz="2400" dirty="0"/>
              <a:t>1.</a:t>
            </a:r>
          </a:p>
        </p:txBody>
      </p:sp>
      <p:sp>
        <p:nvSpPr>
          <p:cNvPr id="8" name="TextBox 7"/>
          <p:cNvSpPr txBox="1"/>
          <p:nvPr/>
        </p:nvSpPr>
        <p:spPr>
          <a:xfrm>
            <a:off x="7748164" y="2578027"/>
            <a:ext cx="720080" cy="461665"/>
          </a:xfrm>
          <a:prstGeom prst="rect">
            <a:avLst/>
          </a:prstGeom>
          <a:solidFill>
            <a:schemeClr val="accent2">
              <a:lumMod val="40000"/>
              <a:lumOff val="60000"/>
            </a:schemeClr>
          </a:solidFill>
        </p:spPr>
        <p:txBody>
          <a:bodyPr wrap="square" rtlCol="0">
            <a:spAutoFit/>
          </a:bodyPr>
          <a:lstStyle/>
          <a:p>
            <a:pPr algn="just"/>
            <a:r>
              <a:rPr lang="en-US" sz="2400" dirty="0"/>
              <a:t>  Yes</a:t>
            </a:r>
          </a:p>
        </p:txBody>
      </p:sp>
      <p:graphicFrame>
        <p:nvGraphicFramePr>
          <p:cNvPr id="9" name="Table 8"/>
          <p:cNvGraphicFramePr>
            <a:graphicFrameLocks noGrp="1"/>
          </p:cNvGraphicFramePr>
          <p:nvPr>
            <p:extLst>
              <p:ext uri="{D42A27DB-BD31-4B8C-83A1-F6EECF244321}">
                <p14:modId xmlns:p14="http://schemas.microsoft.com/office/powerpoint/2010/main" val="383675212"/>
              </p:ext>
            </p:extLst>
          </p:nvPr>
        </p:nvGraphicFramePr>
        <p:xfrm>
          <a:off x="1472350" y="3108815"/>
          <a:ext cx="6096000" cy="1112520"/>
        </p:xfrm>
        <a:graphic>
          <a:graphicData uri="http://schemas.openxmlformats.org/drawingml/2006/table">
            <a:tbl>
              <a:tblPr firstRow="1" bandRow="1">
                <a:tableStyleId>{5C22544A-7EE6-4342-B048-85BDC9FD1C3A}</a:tableStyleId>
              </a:tblPr>
              <a:tblGrid>
                <a:gridCol w="2091538">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gridCol w="1988238">
                  <a:extLst>
                    <a:ext uri="{9D8B030D-6E8A-4147-A177-3AD203B41FA5}">
                      <a16:colId xmlns:a16="http://schemas.microsoft.com/office/drawing/2014/main" val="20002"/>
                    </a:ext>
                  </a:extLst>
                </a:gridCol>
              </a:tblGrid>
              <a:tr h="370840">
                <a:tc>
                  <a:txBody>
                    <a:bodyPr/>
                    <a:lstStyle/>
                    <a:p>
                      <a:pPr algn="ctr"/>
                      <a:r>
                        <a:rPr lang="en-US" dirty="0">
                          <a:solidFill>
                            <a:schemeClr val="tx1"/>
                          </a:solidFill>
                        </a:rPr>
                        <a:t>C</a:t>
                      </a:r>
                      <a:r>
                        <a:rPr lang="en-US" baseline="-25000" dirty="0">
                          <a:solidFill>
                            <a:schemeClr val="tx1"/>
                          </a:solidFill>
                        </a:rPr>
                        <a:t>1</a:t>
                      </a:r>
                      <a:r>
                        <a:rPr lang="en-US" baseline="0" dirty="0">
                          <a:solidFill>
                            <a:schemeClr val="tx1"/>
                          </a:solidFill>
                        </a:rPr>
                        <a:t> \ C</a:t>
                      </a:r>
                      <a:r>
                        <a:rPr lang="en-US" baseline="-25000" dirty="0">
                          <a:solidFill>
                            <a:schemeClr val="tx1"/>
                          </a:solidFill>
                        </a:rPr>
                        <a:t>2</a:t>
                      </a:r>
                    </a:p>
                  </a:txBody>
                  <a:tcPr/>
                </a:tc>
                <a:tc>
                  <a:txBody>
                    <a:bodyPr/>
                    <a:lstStyle/>
                    <a:p>
                      <a:pPr algn="ctr"/>
                      <a:r>
                        <a:rPr lang="en-US" dirty="0">
                          <a:solidFill>
                            <a:schemeClr val="tx1"/>
                          </a:solidFill>
                        </a:rPr>
                        <a:t>Collude</a:t>
                      </a:r>
                    </a:p>
                  </a:txBody>
                  <a:tcPr/>
                </a:tc>
                <a:tc>
                  <a:txBody>
                    <a:bodyPr/>
                    <a:lstStyle/>
                    <a:p>
                      <a:pPr algn="ctr"/>
                      <a:r>
                        <a:rPr lang="en-US" dirty="0">
                          <a:solidFill>
                            <a:schemeClr val="tx1"/>
                          </a:solidFill>
                        </a:rPr>
                        <a:t>Cheat</a:t>
                      </a:r>
                    </a:p>
                  </a:txBody>
                  <a:tcPr/>
                </a:tc>
                <a:extLst>
                  <a:ext uri="{0D108BD9-81ED-4DB2-BD59-A6C34878D82A}">
                    <a16:rowId xmlns:a16="http://schemas.microsoft.com/office/drawing/2014/main" val="10000"/>
                  </a:ext>
                </a:extLst>
              </a:tr>
              <a:tr h="370840">
                <a:tc>
                  <a:txBody>
                    <a:bodyPr/>
                    <a:lstStyle/>
                    <a:p>
                      <a:pPr algn="ctr"/>
                      <a:r>
                        <a:rPr lang="en-US" b="1" dirty="0"/>
                        <a:t>Collude</a:t>
                      </a:r>
                    </a:p>
                  </a:txBody>
                  <a:tcPr/>
                </a:tc>
                <a:tc>
                  <a:txBody>
                    <a:bodyPr/>
                    <a:lstStyle/>
                    <a:p>
                      <a:pPr algn="ctr"/>
                      <a:r>
                        <a:rPr lang="en-US" dirty="0"/>
                        <a:t>7 , 40</a:t>
                      </a:r>
                    </a:p>
                  </a:txBody>
                  <a:tcPr/>
                </a:tc>
                <a:tc>
                  <a:txBody>
                    <a:bodyPr/>
                    <a:lstStyle/>
                    <a:p>
                      <a:pPr algn="ctr"/>
                      <a:r>
                        <a:rPr lang="en-US" dirty="0"/>
                        <a:t>3, 18 </a:t>
                      </a:r>
                    </a:p>
                  </a:txBody>
                  <a:tcPr/>
                </a:tc>
                <a:extLst>
                  <a:ext uri="{0D108BD9-81ED-4DB2-BD59-A6C34878D82A}">
                    <a16:rowId xmlns:a16="http://schemas.microsoft.com/office/drawing/2014/main" val="10001"/>
                  </a:ext>
                </a:extLst>
              </a:tr>
              <a:tr h="370840">
                <a:tc>
                  <a:txBody>
                    <a:bodyPr/>
                    <a:lstStyle/>
                    <a:p>
                      <a:pPr algn="ctr"/>
                      <a:r>
                        <a:rPr lang="en-US" b="1" dirty="0"/>
                        <a:t>Cheat</a:t>
                      </a:r>
                    </a:p>
                  </a:txBody>
                  <a:tcPr/>
                </a:tc>
                <a:tc>
                  <a:txBody>
                    <a:bodyPr/>
                    <a:lstStyle/>
                    <a:p>
                      <a:pPr algn="ctr"/>
                      <a:r>
                        <a:rPr lang="en-US" dirty="0"/>
                        <a:t>10 , 20</a:t>
                      </a:r>
                    </a:p>
                  </a:txBody>
                  <a:tcPr/>
                </a:tc>
                <a:tc>
                  <a:txBody>
                    <a:bodyPr/>
                    <a:lstStyle/>
                    <a:p>
                      <a:pPr algn="ctr"/>
                      <a:r>
                        <a:rPr lang="en-US" dirty="0"/>
                        <a:t>5 , 10</a:t>
                      </a:r>
                    </a:p>
                  </a:txBody>
                  <a:tcPr/>
                </a:tc>
                <a:extLst>
                  <a:ext uri="{0D108BD9-81ED-4DB2-BD59-A6C34878D82A}">
                    <a16:rowId xmlns:a16="http://schemas.microsoft.com/office/drawing/2014/main" val="10002"/>
                  </a:ext>
                </a:extLst>
              </a:tr>
            </a:tbl>
          </a:graphicData>
        </a:graphic>
      </p:graphicFrame>
      <p:sp>
        <p:nvSpPr>
          <p:cNvPr id="10" name="TextBox 9"/>
          <p:cNvSpPr txBox="1"/>
          <p:nvPr/>
        </p:nvSpPr>
        <p:spPr>
          <a:xfrm>
            <a:off x="620269" y="2877983"/>
            <a:ext cx="576064" cy="461665"/>
          </a:xfrm>
          <a:prstGeom prst="rect">
            <a:avLst/>
          </a:prstGeom>
          <a:noFill/>
        </p:spPr>
        <p:txBody>
          <a:bodyPr wrap="square" rtlCol="0">
            <a:spAutoFit/>
          </a:bodyPr>
          <a:lstStyle/>
          <a:p>
            <a:r>
              <a:rPr lang="en-US" sz="2400" dirty="0"/>
              <a:t>2.</a:t>
            </a:r>
          </a:p>
        </p:txBody>
      </p:sp>
      <p:sp>
        <p:nvSpPr>
          <p:cNvPr id="11" name="TextBox 10"/>
          <p:cNvSpPr txBox="1"/>
          <p:nvPr/>
        </p:nvSpPr>
        <p:spPr>
          <a:xfrm>
            <a:off x="7749061" y="3528838"/>
            <a:ext cx="720080" cy="461665"/>
          </a:xfrm>
          <a:prstGeom prst="rect">
            <a:avLst/>
          </a:prstGeom>
          <a:solidFill>
            <a:schemeClr val="accent2">
              <a:lumMod val="40000"/>
              <a:lumOff val="60000"/>
            </a:schemeClr>
          </a:solidFill>
        </p:spPr>
        <p:txBody>
          <a:bodyPr wrap="square" rtlCol="0">
            <a:spAutoFit/>
          </a:bodyPr>
          <a:lstStyle/>
          <a:p>
            <a:pPr algn="just"/>
            <a:r>
              <a:rPr lang="en-US" sz="2400" dirty="0"/>
              <a:t>  No</a:t>
            </a:r>
          </a:p>
        </p:txBody>
      </p:sp>
      <p:graphicFrame>
        <p:nvGraphicFramePr>
          <p:cNvPr id="12" name="Table 11"/>
          <p:cNvGraphicFramePr>
            <a:graphicFrameLocks noGrp="1"/>
          </p:cNvGraphicFramePr>
          <p:nvPr>
            <p:extLst>
              <p:ext uri="{D42A27DB-BD31-4B8C-83A1-F6EECF244321}">
                <p14:modId xmlns:p14="http://schemas.microsoft.com/office/powerpoint/2010/main" val="4245584933"/>
              </p:ext>
            </p:extLst>
          </p:nvPr>
        </p:nvGraphicFramePr>
        <p:xfrm>
          <a:off x="1472350" y="4285677"/>
          <a:ext cx="6096000" cy="1112520"/>
        </p:xfrm>
        <a:graphic>
          <a:graphicData uri="http://schemas.openxmlformats.org/drawingml/2006/table">
            <a:tbl>
              <a:tblPr firstRow="1" bandRow="1">
                <a:tableStyleId>{5C22544A-7EE6-4342-B048-85BDC9FD1C3A}</a:tableStyleId>
              </a:tblPr>
              <a:tblGrid>
                <a:gridCol w="2091538">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gridCol w="1988238">
                  <a:extLst>
                    <a:ext uri="{9D8B030D-6E8A-4147-A177-3AD203B41FA5}">
                      <a16:colId xmlns:a16="http://schemas.microsoft.com/office/drawing/2014/main" val="20002"/>
                    </a:ext>
                  </a:extLst>
                </a:gridCol>
              </a:tblGrid>
              <a:tr h="370840">
                <a:tc>
                  <a:txBody>
                    <a:bodyPr/>
                    <a:lstStyle/>
                    <a:p>
                      <a:pPr algn="ctr"/>
                      <a:r>
                        <a:rPr lang="en-US" baseline="0" dirty="0">
                          <a:solidFill>
                            <a:schemeClr val="tx1"/>
                          </a:solidFill>
                        </a:rPr>
                        <a:t>Country 1 \ 2</a:t>
                      </a:r>
                      <a:endParaRPr lang="en-US" baseline="-25000" dirty="0">
                        <a:solidFill>
                          <a:schemeClr val="tx1"/>
                        </a:solidFill>
                      </a:endParaRPr>
                    </a:p>
                  </a:txBody>
                  <a:tcPr/>
                </a:tc>
                <a:tc>
                  <a:txBody>
                    <a:bodyPr/>
                    <a:lstStyle/>
                    <a:p>
                      <a:pPr algn="ctr"/>
                      <a:r>
                        <a:rPr lang="en-US" dirty="0">
                          <a:solidFill>
                            <a:schemeClr val="tx1"/>
                          </a:solidFill>
                        </a:rPr>
                        <a:t>No Import Tariff</a:t>
                      </a:r>
                    </a:p>
                  </a:txBody>
                  <a:tcPr/>
                </a:tc>
                <a:tc>
                  <a:txBody>
                    <a:bodyPr/>
                    <a:lstStyle/>
                    <a:p>
                      <a:pPr algn="ctr"/>
                      <a:r>
                        <a:rPr lang="en-US" b="1" dirty="0">
                          <a:solidFill>
                            <a:schemeClr val="tx1"/>
                          </a:solidFill>
                        </a:rPr>
                        <a:t>Impose Tariff</a:t>
                      </a:r>
                    </a:p>
                  </a:txBody>
                  <a:tcPr/>
                </a:tc>
                <a:extLst>
                  <a:ext uri="{0D108BD9-81ED-4DB2-BD59-A6C34878D82A}">
                    <a16:rowId xmlns:a16="http://schemas.microsoft.com/office/drawing/2014/main" val="10000"/>
                  </a:ext>
                </a:extLst>
              </a:tr>
              <a:tr h="370840">
                <a:tc>
                  <a:txBody>
                    <a:bodyPr/>
                    <a:lstStyle/>
                    <a:p>
                      <a:pPr algn="ctr"/>
                      <a:r>
                        <a:rPr lang="en-US" b="1" dirty="0"/>
                        <a:t>No Import Tariff</a:t>
                      </a:r>
                    </a:p>
                  </a:txBody>
                  <a:tcPr/>
                </a:tc>
                <a:tc>
                  <a:txBody>
                    <a:bodyPr/>
                    <a:lstStyle/>
                    <a:p>
                      <a:pPr algn="ctr"/>
                      <a:r>
                        <a:rPr lang="en-US" dirty="0"/>
                        <a:t>10 , 10</a:t>
                      </a:r>
                    </a:p>
                  </a:txBody>
                  <a:tcPr/>
                </a:tc>
                <a:tc>
                  <a:txBody>
                    <a:bodyPr/>
                    <a:lstStyle/>
                    <a:p>
                      <a:pPr algn="ctr"/>
                      <a:r>
                        <a:rPr lang="en-US" dirty="0"/>
                        <a:t>-1 , 15</a:t>
                      </a:r>
                    </a:p>
                  </a:txBody>
                  <a:tcPr/>
                </a:tc>
                <a:extLst>
                  <a:ext uri="{0D108BD9-81ED-4DB2-BD59-A6C34878D82A}">
                    <a16:rowId xmlns:a16="http://schemas.microsoft.com/office/drawing/2014/main" val="10001"/>
                  </a:ext>
                </a:extLst>
              </a:tr>
              <a:tr h="370840">
                <a:tc>
                  <a:txBody>
                    <a:bodyPr/>
                    <a:lstStyle/>
                    <a:p>
                      <a:pPr algn="ctr"/>
                      <a:r>
                        <a:rPr lang="en-US" b="1" dirty="0"/>
                        <a:t>Impose Tariff</a:t>
                      </a:r>
                    </a:p>
                  </a:txBody>
                  <a:tcPr/>
                </a:tc>
                <a:tc>
                  <a:txBody>
                    <a:bodyPr/>
                    <a:lstStyle/>
                    <a:p>
                      <a:pPr algn="ctr"/>
                      <a:r>
                        <a:rPr lang="en-US" dirty="0"/>
                        <a:t>15 , -1</a:t>
                      </a:r>
                    </a:p>
                  </a:txBody>
                  <a:tcPr/>
                </a:tc>
                <a:tc>
                  <a:txBody>
                    <a:bodyPr/>
                    <a:lstStyle/>
                    <a:p>
                      <a:pPr algn="ctr"/>
                      <a:r>
                        <a:rPr lang="en-US" dirty="0"/>
                        <a:t>2 , 2</a:t>
                      </a:r>
                    </a:p>
                  </a:txBody>
                  <a:tcPr/>
                </a:tc>
                <a:extLst>
                  <a:ext uri="{0D108BD9-81ED-4DB2-BD59-A6C34878D82A}">
                    <a16:rowId xmlns:a16="http://schemas.microsoft.com/office/drawing/2014/main" val="10002"/>
                  </a:ext>
                </a:extLst>
              </a:tr>
            </a:tbl>
          </a:graphicData>
        </a:graphic>
      </p:graphicFrame>
      <p:sp>
        <p:nvSpPr>
          <p:cNvPr id="13" name="TextBox 12"/>
          <p:cNvSpPr txBox="1"/>
          <p:nvPr/>
        </p:nvSpPr>
        <p:spPr>
          <a:xfrm>
            <a:off x="7722195" y="4869747"/>
            <a:ext cx="720080" cy="461665"/>
          </a:xfrm>
          <a:prstGeom prst="rect">
            <a:avLst/>
          </a:prstGeom>
          <a:solidFill>
            <a:schemeClr val="accent2">
              <a:lumMod val="40000"/>
              <a:lumOff val="60000"/>
            </a:schemeClr>
          </a:solidFill>
        </p:spPr>
        <p:txBody>
          <a:bodyPr wrap="square" rtlCol="0">
            <a:spAutoFit/>
          </a:bodyPr>
          <a:lstStyle/>
          <a:p>
            <a:pPr algn="just"/>
            <a:r>
              <a:rPr lang="en-US" sz="2400" dirty="0"/>
              <a:t>  Yes</a:t>
            </a:r>
          </a:p>
        </p:txBody>
      </p:sp>
      <p:sp>
        <p:nvSpPr>
          <p:cNvPr id="14" name="TextBox 13"/>
          <p:cNvSpPr txBox="1"/>
          <p:nvPr/>
        </p:nvSpPr>
        <p:spPr>
          <a:xfrm>
            <a:off x="620269" y="4271448"/>
            <a:ext cx="576064" cy="461665"/>
          </a:xfrm>
          <a:prstGeom prst="rect">
            <a:avLst/>
          </a:prstGeom>
          <a:noFill/>
        </p:spPr>
        <p:txBody>
          <a:bodyPr wrap="square" rtlCol="0">
            <a:spAutoFit/>
          </a:bodyPr>
          <a:lstStyle/>
          <a:p>
            <a:r>
              <a:rPr lang="en-US" sz="2400" dirty="0"/>
              <a:t>3.</a:t>
            </a:r>
          </a:p>
        </p:txBody>
      </p:sp>
      <p:graphicFrame>
        <p:nvGraphicFramePr>
          <p:cNvPr id="15" name="Table 14"/>
          <p:cNvGraphicFramePr>
            <a:graphicFrameLocks noGrp="1"/>
          </p:cNvGraphicFramePr>
          <p:nvPr>
            <p:extLst>
              <p:ext uri="{D42A27DB-BD31-4B8C-83A1-F6EECF244321}">
                <p14:modId xmlns:p14="http://schemas.microsoft.com/office/powerpoint/2010/main" val="557461898"/>
              </p:ext>
            </p:extLst>
          </p:nvPr>
        </p:nvGraphicFramePr>
        <p:xfrm>
          <a:off x="1472350" y="5494810"/>
          <a:ext cx="6110768" cy="1112520"/>
        </p:xfrm>
        <a:graphic>
          <a:graphicData uri="http://schemas.openxmlformats.org/drawingml/2006/table">
            <a:tbl>
              <a:tblPr firstRow="1" bandRow="1">
                <a:tableStyleId>{5C22544A-7EE6-4342-B048-85BDC9FD1C3A}</a:tableStyleId>
              </a:tblPr>
              <a:tblGrid>
                <a:gridCol w="2091538">
                  <a:extLst>
                    <a:ext uri="{9D8B030D-6E8A-4147-A177-3AD203B41FA5}">
                      <a16:colId xmlns:a16="http://schemas.microsoft.com/office/drawing/2014/main" val="20000"/>
                    </a:ext>
                  </a:extLst>
                </a:gridCol>
                <a:gridCol w="2016224">
                  <a:extLst>
                    <a:ext uri="{9D8B030D-6E8A-4147-A177-3AD203B41FA5}">
                      <a16:colId xmlns:a16="http://schemas.microsoft.com/office/drawing/2014/main" val="20001"/>
                    </a:ext>
                  </a:extLst>
                </a:gridCol>
                <a:gridCol w="2003006">
                  <a:extLst>
                    <a:ext uri="{9D8B030D-6E8A-4147-A177-3AD203B41FA5}">
                      <a16:colId xmlns:a16="http://schemas.microsoft.com/office/drawing/2014/main" val="20002"/>
                    </a:ext>
                  </a:extLst>
                </a:gridCol>
              </a:tblGrid>
              <a:tr h="370840">
                <a:tc>
                  <a:txBody>
                    <a:bodyPr/>
                    <a:lstStyle/>
                    <a:p>
                      <a:pPr algn="ctr"/>
                      <a:r>
                        <a:rPr lang="en-US" baseline="0" dirty="0">
                          <a:solidFill>
                            <a:schemeClr val="tx1"/>
                          </a:solidFill>
                        </a:rPr>
                        <a:t>Country 1 \ 2</a:t>
                      </a:r>
                      <a:endParaRPr lang="en-US" baseline="-25000" dirty="0">
                        <a:solidFill>
                          <a:schemeClr val="tx1"/>
                        </a:solidFill>
                      </a:endParaRPr>
                    </a:p>
                  </a:txBody>
                  <a:tcPr/>
                </a:tc>
                <a:tc>
                  <a:txBody>
                    <a:bodyPr/>
                    <a:lstStyle/>
                    <a:p>
                      <a:pPr algn="ctr"/>
                      <a:r>
                        <a:rPr lang="en-US" dirty="0">
                          <a:solidFill>
                            <a:schemeClr val="tx1"/>
                          </a:solidFill>
                        </a:rPr>
                        <a:t>No Import Tariff</a:t>
                      </a:r>
                    </a:p>
                  </a:txBody>
                  <a:tcPr/>
                </a:tc>
                <a:tc>
                  <a:txBody>
                    <a:bodyPr/>
                    <a:lstStyle/>
                    <a:p>
                      <a:pPr algn="ctr"/>
                      <a:r>
                        <a:rPr lang="en-US" b="1" dirty="0">
                          <a:solidFill>
                            <a:schemeClr val="tx1"/>
                          </a:solidFill>
                        </a:rPr>
                        <a:t>Impose Tariff</a:t>
                      </a:r>
                    </a:p>
                  </a:txBody>
                  <a:tcPr/>
                </a:tc>
                <a:extLst>
                  <a:ext uri="{0D108BD9-81ED-4DB2-BD59-A6C34878D82A}">
                    <a16:rowId xmlns:a16="http://schemas.microsoft.com/office/drawing/2014/main" val="10000"/>
                  </a:ext>
                </a:extLst>
              </a:tr>
              <a:tr h="370840">
                <a:tc>
                  <a:txBody>
                    <a:bodyPr/>
                    <a:lstStyle/>
                    <a:p>
                      <a:pPr algn="ctr"/>
                      <a:r>
                        <a:rPr lang="en-US" b="1" dirty="0"/>
                        <a:t>No Import Tariff</a:t>
                      </a:r>
                    </a:p>
                  </a:txBody>
                  <a:tcPr/>
                </a:tc>
                <a:tc>
                  <a:txBody>
                    <a:bodyPr/>
                    <a:lstStyle/>
                    <a:p>
                      <a:pPr algn="ctr"/>
                      <a:r>
                        <a:rPr lang="en-US" dirty="0"/>
                        <a:t>10 , 10</a:t>
                      </a:r>
                    </a:p>
                  </a:txBody>
                  <a:tcPr/>
                </a:tc>
                <a:tc>
                  <a:txBody>
                    <a:bodyPr/>
                    <a:lstStyle/>
                    <a:p>
                      <a:pPr algn="ctr"/>
                      <a:r>
                        <a:rPr lang="en-US" dirty="0"/>
                        <a:t>-1, 8 </a:t>
                      </a:r>
                    </a:p>
                  </a:txBody>
                  <a:tcPr/>
                </a:tc>
                <a:extLst>
                  <a:ext uri="{0D108BD9-81ED-4DB2-BD59-A6C34878D82A}">
                    <a16:rowId xmlns:a16="http://schemas.microsoft.com/office/drawing/2014/main" val="10001"/>
                  </a:ext>
                </a:extLst>
              </a:tr>
              <a:tr h="370840">
                <a:tc>
                  <a:txBody>
                    <a:bodyPr/>
                    <a:lstStyle/>
                    <a:p>
                      <a:pPr algn="ctr"/>
                      <a:r>
                        <a:rPr lang="en-US" b="1" dirty="0"/>
                        <a:t>Impose Tariff</a:t>
                      </a:r>
                    </a:p>
                  </a:txBody>
                  <a:tcPr/>
                </a:tc>
                <a:tc>
                  <a:txBody>
                    <a:bodyPr/>
                    <a:lstStyle/>
                    <a:p>
                      <a:pPr algn="ctr"/>
                      <a:r>
                        <a:rPr lang="en-US" dirty="0"/>
                        <a:t>8 , -1</a:t>
                      </a:r>
                    </a:p>
                  </a:txBody>
                  <a:tcPr/>
                </a:tc>
                <a:tc>
                  <a:txBody>
                    <a:bodyPr/>
                    <a:lstStyle/>
                    <a:p>
                      <a:pPr algn="ctr"/>
                      <a:r>
                        <a:rPr lang="en-US" dirty="0"/>
                        <a:t>-2 , -2</a:t>
                      </a:r>
                    </a:p>
                  </a:txBody>
                  <a:tcPr/>
                </a:tc>
                <a:extLst>
                  <a:ext uri="{0D108BD9-81ED-4DB2-BD59-A6C34878D82A}">
                    <a16:rowId xmlns:a16="http://schemas.microsoft.com/office/drawing/2014/main" val="10002"/>
                  </a:ext>
                </a:extLst>
              </a:tr>
            </a:tbl>
          </a:graphicData>
        </a:graphic>
      </p:graphicFrame>
      <p:sp>
        <p:nvSpPr>
          <p:cNvPr id="16" name="TextBox 15"/>
          <p:cNvSpPr txBox="1"/>
          <p:nvPr/>
        </p:nvSpPr>
        <p:spPr>
          <a:xfrm>
            <a:off x="7707506" y="6044593"/>
            <a:ext cx="720080" cy="461665"/>
          </a:xfrm>
          <a:prstGeom prst="rect">
            <a:avLst/>
          </a:prstGeom>
          <a:solidFill>
            <a:schemeClr val="accent2">
              <a:lumMod val="40000"/>
              <a:lumOff val="60000"/>
            </a:schemeClr>
          </a:solidFill>
        </p:spPr>
        <p:txBody>
          <a:bodyPr wrap="square" rtlCol="0">
            <a:spAutoFit/>
          </a:bodyPr>
          <a:lstStyle/>
          <a:p>
            <a:pPr algn="just"/>
            <a:r>
              <a:rPr lang="en-US" sz="2400" dirty="0"/>
              <a:t>  No</a:t>
            </a:r>
          </a:p>
        </p:txBody>
      </p:sp>
      <p:sp>
        <p:nvSpPr>
          <p:cNvPr id="17" name="TextBox 16"/>
          <p:cNvSpPr txBox="1"/>
          <p:nvPr/>
        </p:nvSpPr>
        <p:spPr>
          <a:xfrm>
            <a:off x="622042" y="5340538"/>
            <a:ext cx="576064" cy="461665"/>
          </a:xfrm>
          <a:prstGeom prst="rect">
            <a:avLst/>
          </a:prstGeom>
          <a:noFill/>
        </p:spPr>
        <p:txBody>
          <a:bodyPr wrap="square" rtlCol="0">
            <a:spAutoFit/>
          </a:bodyPr>
          <a:lstStyle/>
          <a:p>
            <a:r>
              <a:rPr lang="en-US" sz="2400" dirty="0"/>
              <a:t>4.</a:t>
            </a:r>
          </a:p>
        </p:txBody>
      </p:sp>
    </p:spTree>
    <p:extLst>
      <p:ext uri="{BB962C8B-B14F-4D97-AF65-F5344CB8AC3E}">
        <p14:creationId xmlns:p14="http://schemas.microsoft.com/office/powerpoint/2010/main" val="3099799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animBg="1"/>
      <p:bldP spid="13" grpId="0" animBg="1"/>
      <p:bldP spid="14" grpId="0"/>
      <p:bldP spid="16" grpId="0" animBg="1"/>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3568" y="548680"/>
            <a:ext cx="7632848" cy="461665"/>
          </a:xfrm>
          <a:prstGeom prst="rect">
            <a:avLst/>
          </a:prstGeom>
        </p:spPr>
        <p:txBody>
          <a:bodyPr wrap="square">
            <a:spAutoFit/>
          </a:bodyPr>
          <a:lstStyle/>
          <a:p>
            <a:pPr marL="396875" indent="-396875"/>
            <a:r>
              <a:rPr lang="en-US" sz="2400" dirty="0"/>
              <a:t>Given this pay-off game. Find the decision of each? </a:t>
            </a:r>
          </a:p>
        </p:txBody>
      </p:sp>
      <p:graphicFrame>
        <p:nvGraphicFramePr>
          <p:cNvPr id="5" name="Table 4"/>
          <p:cNvGraphicFramePr>
            <a:graphicFrameLocks noGrp="1"/>
          </p:cNvGraphicFramePr>
          <p:nvPr>
            <p:extLst>
              <p:ext uri="{D42A27DB-BD31-4B8C-83A1-F6EECF244321}">
                <p14:modId xmlns:p14="http://schemas.microsoft.com/office/powerpoint/2010/main" val="2778935587"/>
              </p:ext>
            </p:extLst>
          </p:nvPr>
        </p:nvGraphicFramePr>
        <p:xfrm>
          <a:off x="1691680" y="1124744"/>
          <a:ext cx="5867400" cy="1137921"/>
        </p:xfrm>
        <a:graphic>
          <a:graphicData uri="http://schemas.openxmlformats.org/drawingml/2006/table">
            <a:tbl>
              <a:tblPr firstRow="1" bandRow="1">
                <a:tableStyleId>{5C22544A-7EE6-4342-B048-85BDC9FD1C3A}</a:tableStyleId>
              </a:tblPr>
              <a:tblGrid>
                <a:gridCol w="2116866">
                  <a:extLst>
                    <a:ext uri="{9D8B030D-6E8A-4147-A177-3AD203B41FA5}">
                      <a16:colId xmlns:a16="http://schemas.microsoft.com/office/drawing/2014/main" val="20000"/>
                    </a:ext>
                  </a:extLst>
                </a:gridCol>
                <a:gridCol w="1794734">
                  <a:extLst>
                    <a:ext uri="{9D8B030D-6E8A-4147-A177-3AD203B41FA5}">
                      <a16:colId xmlns:a16="http://schemas.microsoft.com/office/drawing/2014/main" val="20001"/>
                    </a:ext>
                  </a:extLst>
                </a:gridCol>
                <a:gridCol w="1955800">
                  <a:extLst>
                    <a:ext uri="{9D8B030D-6E8A-4147-A177-3AD203B41FA5}">
                      <a16:colId xmlns:a16="http://schemas.microsoft.com/office/drawing/2014/main" val="20002"/>
                    </a:ext>
                  </a:extLst>
                </a:gridCol>
              </a:tblGrid>
              <a:tr h="379307">
                <a:tc>
                  <a:txBody>
                    <a:bodyPr/>
                    <a:lstStyle/>
                    <a:p>
                      <a:pPr algn="ctr"/>
                      <a:r>
                        <a:rPr lang="en-US" dirty="0">
                          <a:solidFill>
                            <a:schemeClr val="tx1"/>
                          </a:solidFill>
                        </a:rPr>
                        <a:t>A \ B</a:t>
                      </a:r>
                    </a:p>
                  </a:txBody>
                  <a:tcPr/>
                </a:tc>
                <a:tc>
                  <a:txBody>
                    <a:bodyPr/>
                    <a:lstStyle/>
                    <a:p>
                      <a:pPr algn="ctr"/>
                      <a:r>
                        <a:rPr lang="en-US" dirty="0">
                          <a:solidFill>
                            <a:schemeClr val="tx1"/>
                          </a:solidFill>
                        </a:rPr>
                        <a:t>No Tariff</a:t>
                      </a:r>
                    </a:p>
                  </a:txBody>
                  <a:tcPr/>
                </a:tc>
                <a:tc>
                  <a:txBody>
                    <a:bodyPr/>
                    <a:lstStyle/>
                    <a:p>
                      <a:pPr algn="ctr"/>
                      <a:r>
                        <a:rPr lang="en-US" dirty="0">
                          <a:solidFill>
                            <a:schemeClr val="tx1"/>
                          </a:solidFill>
                        </a:rPr>
                        <a:t>Impose Tariff</a:t>
                      </a:r>
                    </a:p>
                  </a:txBody>
                  <a:tcPr/>
                </a:tc>
                <a:extLst>
                  <a:ext uri="{0D108BD9-81ED-4DB2-BD59-A6C34878D82A}">
                    <a16:rowId xmlns:a16="http://schemas.microsoft.com/office/drawing/2014/main" val="10000"/>
                  </a:ext>
                </a:extLst>
              </a:tr>
              <a:tr h="379307">
                <a:tc>
                  <a:txBody>
                    <a:bodyPr/>
                    <a:lstStyle/>
                    <a:p>
                      <a:pPr algn="ctr"/>
                      <a:r>
                        <a:rPr lang="en-US" dirty="0">
                          <a:solidFill>
                            <a:schemeClr val="tx1"/>
                          </a:solidFill>
                        </a:rPr>
                        <a:t>No Tariff</a:t>
                      </a:r>
                    </a:p>
                  </a:txBody>
                  <a:tcPr/>
                </a:tc>
                <a:tc>
                  <a:txBody>
                    <a:bodyPr/>
                    <a:lstStyle/>
                    <a:p>
                      <a:pPr algn="ctr"/>
                      <a:r>
                        <a:rPr lang="en-US" dirty="0">
                          <a:solidFill>
                            <a:schemeClr val="tx1"/>
                          </a:solidFill>
                        </a:rPr>
                        <a:t>10 , 10</a:t>
                      </a:r>
                    </a:p>
                  </a:txBody>
                  <a:tcPr/>
                </a:tc>
                <a:tc>
                  <a:txBody>
                    <a:bodyPr/>
                    <a:lstStyle/>
                    <a:p>
                      <a:pPr algn="ctr"/>
                      <a:r>
                        <a:rPr lang="en-US" dirty="0">
                          <a:solidFill>
                            <a:schemeClr val="tx1"/>
                          </a:solidFill>
                        </a:rPr>
                        <a:t>-1 , 8</a:t>
                      </a:r>
                    </a:p>
                  </a:txBody>
                  <a:tcPr/>
                </a:tc>
                <a:extLst>
                  <a:ext uri="{0D108BD9-81ED-4DB2-BD59-A6C34878D82A}">
                    <a16:rowId xmlns:a16="http://schemas.microsoft.com/office/drawing/2014/main" val="10001"/>
                  </a:ext>
                </a:extLst>
              </a:tr>
              <a:tr h="379307">
                <a:tc>
                  <a:txBody>
                    <a:bodyPr/>
                    <a:lstStyle/>
                    <a:p>
                      <a:pPr algn="ctr"/>
                      <a:r>
                        <a:rPr lang="en-US" dirty="0">
                          <a:solidFill>
                            <a:schemeClr val="tx1"/>
                          </a:solidFill>
                        </a:rPr>
                        <a:t>Impose Tariff</a:t>
                      </a:r>
                    </a:p>
                  </a:txBody>
                  <a:tcPr/>
                </a:tc>
                <a:tc>
                  <a:txBody>
                    <a:bodyPr/>
                    <a:lstStyle/>
                    <a:p>
                      <a:pPr algn="ctr"/>
                      <a:r>
                        <a:rPr lang="en-US" dirty="0">
                          <a:solidFill>
                            <a:schemeClr val="tx1"/>
                          </a:solidFill>
                        </a:rPr>
                        <a:t>15 , -1 </a:t>
                      </a:r>
                    </a:p>
                  </a:txBody>
                  <a:tcPr/>
                </a:tc>
                <a:tc>
                  <a:txBody>
                    <a:bodyPr/>
                    <a:lstStyle/>
                    <a:p>
                      <a:pPr algn="ctr"/>
                      <a:r>
                        <a:rPr lang="en-US" dirty="0">
                          <a:solidFill>
                            <a:schemeClr val="tx1"/>
                          </a:solidFill>
                        </a:rPr>
                        <a:t>2 , -2</a:t>
                      </a:r>
                    </a:p>
                  </a:txBody>
                  <a:tcPr/>
                </a:tc>
                <a:extLst>
                  <a:ext uri="{0D108BD9-81ED-4DB2-BD59-A6C34878D82A}">
                    <a16:rowId xmlns:a16="http://schemas.microsoft.com/office/drawing/2014/main" val="10002"/>
                  </a:ext>
                </a:extLst>
              </a:tr>
            </a:tbl>
          </a:graphicData>
        </a:graphic>
      </p:graphicFrame>
      <p:sp>
        <p:nvSpPr>
          <p:cNvPr id="6" name="TextBox 5"/>
          <p:cNvSpPr txBox="1"/>
          <p:nvPr/>
        </p:nvSpPr>
        <p:spPr>
          <a:xfrm>
            <a:off x="698514" y="1124744"/>
            <a:ext cx="417102" cy="461665"/>
          </a:xfrm>
          <a:prstGeom prst="rect">
            <a:avLst/>
          </a:prstGeom>
          <a:noFill/>
        </p:spPr>
        <p:txBody>
          <a:bodyPr wrap="none" rtlCol="0">
            <a:spAutoFit/>
          </a:bodyPr>
          <a:lstStyle/>
          <a:p>
            <a:r>
              <a:rPr lang="en-US" sz="2400" dirty="0"/>
              <a:t>5.</a:t>
            </a:r>
          </a:p>
        </p:txBody>
      </p:sp>
      <p:graphicFrame>
        <p:nvGraphicFramePr>
          <p:cNvPr id="7" name="Table 6"/>
          <p:cNvGraphicFramePr>
            <a:graphicFrameLocks noGrp="1"/>
          </p:cNvGraphicFramePr>
          <p:nvPr>
            <p:extLst>
              <p:ext uri="{D42A27DB-BD31-4B8C-83A1-F6EECF244321}">
                <p14:modId xmlns:p14="http://schemas.microsoft.com/office/powerpoint/2010/main" val="559633868"/>
              </p:ext>
            </p:extLst>
          </p:nvPr>
        </p:nvGraphicFramePr>
        <p:xfrm>
          <a:off x="1691681" y="2708920"/>
          <a:ext cx="5867399" cy="1112520"/>
        </p:xfrm>
        <a:graphic>
          <a:graphicData uri="http://schemas.openxmlformats.org/drawingml/2006/table">
            <a:tbl>
              <a:tblPr firstRow="1" bandRow="1">
                <a:tableStyleId>{5C22544A-7EE6-4342-B048-85BDC9FD1C3A}</a:tableStyleId>
              </a:tblPr>
              <a:tblGrid>
                <a:gridCol w="1963794">
                  <a:extLst>
                    <a:ext uri="{9D8B030D-6E8A-4147-A177-3AD203B41FA5}">
                      <a16:colId xmlns:a16="http://schemas.microsoft.com/office/drawing/2014/main" val="20000"/>
                    </a:ext>
                  </a:extLst>
                </a:gridCol>
                <a:gridCol w="1692926">
                  <a:extLst>
                    <a:ext uri="{9D8B030D-6E8A-4147-A177-3AD203B41FA5}">
                      <a16:colId xmlns:a16="http://schemas.microsoft.com/office/drawing/2014/main" val="20001"/>
                    </a:ext>
                  </a:extLst>
                </a:gridCol>
                <a:gridCol w="2210679">
                  <a:extLst>
                    <a:ext uri="{9D8B030D-6E8A-4147-A177-3AD203B41FA5}">
                      <a16:colId xmlns:a16="http://schemas.microsoft.com/office/drawing/2014/main" val="20002"/>
                    </a:ext>
                  </a:extLst>
                </a:gridCol>
              </a:tblGrid>
              <a:tr h="370840">
                <a:tc>
                  <a:txBody>
                    <a:bodyPr/>
                    <a:lstStyle/>
                    <a:p>
                      <a:pPr algn="ctr"/>
                      <a:r>
                        <a:rPr lang="en-US" dirty="0">
                          <a:solidFill>
                            <a:schemeClr val="tx1"/>
                          </a:solidFill>
                        </a:rPr>
                        <a:t>A \ B</a:t>
                      </a:r>
                    </a:p>
                  </a:txBody>
                  <a:tcPr/>
                </a:tc>
                <a:tc>
                  <a:txBody>
                    <a:bodyPr/>
                    <a:lstStyle/>
                    <a:p>
                      <a:pPr algn="ctr"/>
                      <a:r>
                        <a:rPr lang="en-US" dirty="0">
                          <a:solidFill>
                            <a:schemeClr val="tx1"/>
                          </a:solidFill>
                        </a:rPr>
                        <a:t>Hold Out</a:t>
                      </a:r>
                    </a:p>
                  </a:txBody>
                  <a:tcPr/>
                </a:tc>
                <a:tc>
                  <a:txBody>
                    <a:bodyPr/>
                    <a:lstStyle/>
                    <a:p>
                      <a:pPr algn="ctr"/>
                      <a:r>
                        <a:rPr lang="en-US" dirty="0">
                          <a:solidFill>
                            <a:schemeClr val="tx1"/>
                          </a:solidFill>
                        </a:rPr>
                        <a:t>Confess</a:t>
                      </a:r>
                    </a:p>
                  </a:txBody>
                  <a:tcPr/>
                </a:tc>
                <a:extLst>
                  <a:ext uri="{0D108BD9-81ED-4DB2-BD59-A6C34878D82A}">
                    <a16:rowId xmlns:a16="http://schemas.microsoft.com/office/drawing/2014/main" val="10000"/>
                  </a:ext>
                </a:extLst>
              </a:tr>
              <a:tr h="370840">
                <a:tc>
                  <a:txBody>
                    <a:bodyPr/>
                    <a:lstStyle/>
                    <a:p>
                      <a:pPr algn="ctr"/>
                      <a:r>
                        <a:rPr lang="en-US" dirty="0">
                          <a:solidFill>
                            <a:schemeClr val="tx1"/>
                          </a:solidFill>
                        </a:rPr>
                        <a:t>Hold Out</a:t>
                      </a:r>
                    </a:p>
                  </a:txBody>
                  <a:tcPr/>
                </a:tc>
                <a:tc>
                  <a:txBody>
                    <a:bodyPr/>
                    <a:lstStyle/>
                    <a:p>
                      <a:pPr algn="ctr"/>
                      <a:r>
                        <a:rPr lang="en-US" dirty="0">
                          <a:solidFill>
                            <a:schemeClr val="tx1"/>
                          </a:solidFill>
                        </a:rPr>
                        <a:t>-3 , -3</a:t>
                      </a:r>
                    </a:p>
                  </a:txBody>
                  <a:tcPr/>
                </a:tc>
                <a:tc>
                  <a:txBody>
                    <a:bodyPr/>
                    <a:lstStyle/>
                    <a:p>
                      <a:pPr algn="ctr"/>
                      <a:r>
                        <a:rPr lang="en-US" dirty="0">
                          <a:solidFill>
                            <a:schemeClr val="tx1"/>
                          </a:solidFill>
                        </a:rPr>
                        <a:t>-8 , -2</a:t>
                      </a:r>
                    </a:p>
                  </a:txBody>
                  <a:tcPr/>
                </a:tc>
                <a:extLst>
                  <a:ext uri="{0D108BD9-81ED-4DB2-BD59-A6C34878D82A}">
                    <a16:rowId xmlns:a16="http://schemas.microsoft.com/office/drawing/2014/main" val="10001"/>
                  </a:ext>
                </a:extLst>
              </a:tr>
              <a:tr h="370840">
                <a:tc>
                  <a:txBody>
                    <a:bodyPr/>
                    <a:lstStyle/>
                    <a:p>
                      <a:pPr algn="ctr"/>
                      <a:r>
                        <a:rPr lang="en-US" dirty="0">
                          <a:solidFill>
                            <a:schemeClr val="tx1"/>
                          </a:solidFill>
                        </a:rPr>
                        <a:t>Confess</a:t>
                      </a:r>
                    </a:p>
                  </a:txBody>
                  <a:tcPr/>
                </a:tc>
                <a:tc>
                  <a:txBody>
                    <a:bodyPr/>
                    <a:lstStyle/>
                    <a:p>
                      <a:pPr algn="ctr"/>
                      <a:r>
                        <a:rPr lang="en-US" dirty="0">
                          <a:solidFill>
                            <a:schemeClr val="tx1"/>
                          </a:solidFill>
                        </a:rPr>
                        <a:t>-2 , -8</a:t>
                      </a:r>
                    </a:p>
                  </a:txBody>
                  <a:tcPr/>
                </a:tc>
                <a:tc>
                  <a:txBody>
                    <a:bodyPr/>
                    <a:lstStyle/>
                    <a:p>
                      <a:pPr algn="ctr"/>
                      <a:r>
                        <a:rPr lang="en-US" dirty="0">
                          <a:solidFill>
                            <a:schemeClr val="tx1"/>
                          </a:solidFill>
                        </a:rPr>
                        <a:t>-6 , -6</a:t>
                      </a:r>
                    </a:p>
                  </a:txBody>
                  <a:tcPr/>
                </a:tc>
                <a:extLst>
                  <a:ext uri="{0D108BD9-81ED-4DB2-BD59-A6C34878D82A}">
                    <a16:rowId xmlns:a16="http://schemas.microsoft.com/office/drawing/2014/main" val="10002"/>
                  </a:ext>
                </a:extLst>
              </a:tr>
            </a:tbl>
          </a:graphicData>
        </a:graphic>
      </p:graphicFrame>
      <p:sp>
        <p:nvSpPr>
          <p:cNvPr id="8" name="TextBox 7"/>
          <p:cNvSpPr txBox="1"/>
          <p:nvPr/>
        </p:nvSpPr>
        <p:spPr>
          <a:xfrm>
            <a:off x="698514" y="2704914"/>
            <a:ext cx="417102" cy="461665"/>
          </a:xfrm>
          <a:prstGeom prst="rect">
            <a:avLst/>
          </a:prstGeom>
          <a:noFill/>
        </p:spPr>
        <p:txBody>
          <a:bodyPr wrap="none" rtlCol="0">
            <a:spAutoFit/>
          </a:bodyPr>
          <a:lstStyle/>
          <a:p>
            <a:r>
              <a:rPr lang="en-US" sz="2400" dirty="0"/>
              <a:t>6.</a:t>
            </a:r>
          </a:p>
        </p:txBody>
      </p:sp>
    </p:spTree>
    <p:extLst>
      <p:ext uri="{BB962C8B-B14F-4D97-AF65-F5344CB8AC3E}">
        <p14:creationId xmlns:p14="http://schemas.microsoft.com/office/powerpoint/2010/main" val="1078201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7934</TotalTime>
  <Words>2087</Words>
  <Application>Microsoft Office PowerPoint</Application>
  <PresentationFormat>On-screen Show (4:3)</PresentationFormat>
  <Paragraphs>340</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 Math</vt:lpstr>
      <vt:lpstr>Times New Roman</vt:lpstr>
      <vt:lpstr>Office Theme</vt:lpstr>
      <vt:lpstr>PowerPoint Presentation</vt:lpstr>
      <vt:lpstr>Introduction</vt:lpstr>
      <vt:lpstr>Some Terminologies</vt:lpstr>
      <vt:lpstr>Types of The Game</vt:lpstr>
      <vt:lpstr>Simultaneous-Move Games</vt:lpstr>
      <vt:lpstr>PowerPoint Presentation</vt:lpstr>
      <vt:lpstr>PowerPoint Presentation</vt:lpstr>
      <vt:lpstr>Sequential-move games</vt:lpstr>
      <vt:lpstr>Other Type Games</vt:lpstr>
      <vt:lpstr>Exercises 01</vt:lpstr>
      <vt:lpstr>PowerPoint Presentation</vt:lpstr>
      <vt:lpstr>PowerPoint Presentation</vt:lpstr>
      <vt:lpstr>Simultaneous Games Strategies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lab-tif3</dc:creator>
  <cp:lastModifiedBy>Kie Saputra</cp:lastModifiedBy>
  <cp:revision>440</cp:revision>
  <dcterms:created xsi:type="dcterms:W3CDTF">2013-05-27T02:50:26Z</dcterms:created>
  <dcterms:modified xsi:type="dcterms:W3CDTF">2023-03-28T06:34:43Z</dcterms:modified>
</cp:coreProperties>
</file>
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340" r:id="rId3"/>
    <p:sldId id="333" r:id="rId4"/>
    <p:sldId id="336" r:id="rId5"/>
    <p:sldId id="337" r:id="rId6"/>
    <p:sldId id="338" r:id="rId7"/>
    <p:sldId id="331" r:id="rId8"/>
    <p:sldId id="33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69" d="100"/>
          <a:sy n="69" d="100"/>
        </p:scale>
        <p:origin x="73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39C82-0A8F-4A12-BC9D-E69FBD6581C4}" type="datetimeFigureOut">
              <a:rPr lang="en-US" smtClean="0"/>
              <a:t>10/13/2016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95663-BCE4-4B19-B6F4-33857B00B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547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06D07-5766-4BCD-8FDA-8CA78ACC3D9B}" type="datetimeFigureOut">
              <a:rPr lang="id-ID" smtClean="0"/>
              <a:t>13/10/2016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242AF-1A37-4556-ACA4-2D555F71B43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6382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84BEC-4855-421D-AEC2-2574B8FC72FA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693F-FEC6-40F4-8925-9F23DA36F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51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74638"/>
            <a:ext cx="7848872" cy="11430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00200"/>
            <a:ext cx="78488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9870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84BEC-4855-421D-AEC2-2574B8FC72FA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693F-FEC6-40F4-8925-9F23DA36F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2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84BEC-4855-421D-AEC2-2574B8FC72FA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693F-FEC6-40F4-8925-9F23DA36F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84BEC-4855-421D-AEC2-2574B8FC72FA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693F-FEC6-40F4-8925-9F23DA36F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32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84BEC-4855-421D-AEC2-2574B8FC72FA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693F-FEC6-40F4-8925-9F23DA36F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66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84BEC-4855-421D-AEC2-2574B8FC72FA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693F-FEC6-40F4-8925-9F23DA36F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7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84BEC-4855-421D-AEC2-2574B8FC72FA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693F-FEC6-40F4-8925-9F23DA36F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0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84BEC-4855-421D-AEC2-2574B8FC72FA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693F-FEC6-40F4-8925-9F23DA36F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9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84BEC-4855-421D-AEC2-2574B8FC72FA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693F-FEC6-40F4-8925-9F23DA36F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2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84BEC-4855-421D-AEC2-2574B8FC72FA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693F-FEC6-40F4-8925-9F23DA36F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3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884BEC-4855-421D-AEC2-2574B8FC72FA}" type="datetimeFigureOut">
              <a:rPr lang="en-US" smtClean="0"/>
              <a:pPr/>
              <a:t>10/13/2016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7693F-FEC6-40F4-8925-9F23DA36F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4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6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9027" y="3948543"/>
            <a:ext cx="930462" cy="83099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7704" y="3923404"/>
            <a:ext cx="6610507" cy="89255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3200" dirty="0"/>
              <a:t>Mathematics Model of Mixed Strategy</a:t>
            </a:r>
          </a:p>
          <a:p>
            <a:pPr algn="r"/>
            <a:r>
              <a:rPr lang="id-ID" sz="2000" b="1" dirty="0"/>
              <a:t>Samuel Lukas</a:t>
            </a:r>
            <a:endParaRPr lang="en-US" sz="2000" b="1" dirty="0"/>
          </a:p>
        </p:txBody>
      </p:sp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10" y="500042"/>
            <a:ext cx="7887124" cy="1306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48" y="1857364"/>
            <a:ext cx="360997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907704" y="4825981"/>
            <a:ext cx="665533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en-US" dirty="0"/>
              <a:t>A Guide to Game Theory by Fiona Carmichael,  Prentice Hall, 2005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7704" y="5195313"/>
            <a:ext cx="6631000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en-US" dirty="0"/>
              <a:t>Introduction Game Theory and Its Applications</a:t>
            </a:r>
          </a:p>
          <a:p>
            <a:pPr algn="r"/>
            <a:r>
              <a:rPr lang="en-US" dirty="0"/>
              <a:t> Elliott Mendelson, CRC Press Company, Washington DC.2004</a:t>
            </a:r>
          </a:p>
        </p:txBody>
      </p:sp>
    </p:spTree>
    <p:extLst>
      <p:ext uri="{BB962C8B-B14F-4D97-AF65-F5344CB8AC3E}">
        <p14:creationId xmlns:p14="http://schemas.microsoft.com/office/powerpoint/2010/main" val="1827818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Mathematics Model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4593968"/>
                  </p:ext>
                </p:extLst>
              </p:nvPr>
            </p:nvGraphicFramePr>
            <p:xfrm>
              <a:off x="628062" y="1772816"/>
              <a:ext cx="3476216" cy="16185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90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690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690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6905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439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i="1" baseline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1" i="1" baseline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lit/>
                                  </m:rPr>
                                  <a:rPr lang="en-US" i="1" baseline="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 baseline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39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439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711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𝑚𝑗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4593968"/>
                  </p:ext>
                </p:extLst>
              </p:nvPr>
            </p:nvGraphicFramePr>
            <p:xfrm>
              <a:off x="628062" y="1772816"/>
              <a:ext cx="3476216" cy="16185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90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690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690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6905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878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99" t="-1563" r="-302098" b="-32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1399" t="-1563" r="-202098" b="-32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817" t="-1563" r="-103521" b="-32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699" t="-1563" r="-2797" b="-320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99" t="-108333" r="-302098" b="-24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1399" t="-108333" r="-202098" b="-24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817" t="-108333" r="-103521" b="-24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699" t="-108333" r="-2797" b="-24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8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99" t="-195313" r="-302098" b="-126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817" t="-195313" r="-103521" b="-126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71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99" t="-239241" r="-302098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1399" t="-239241" r="-202098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817" t="-239241" r="-103521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699" t="-239241" r="-2797" b="-25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108" y="1772816"/>
            <a:ext cx="4204324" cy="23665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18" y="3573016"/>
            <a:ext cx="4752975" cy="2676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090" y="4501934"/>
            <a:ext cx="2974342" cy="138499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That is a dual problem </a:t>
            </a:r>
            <a:r>
              <a:rPr lang="en-US" sz="2800" dirty="0" err="1"/>
              <a:t>betwen</a:t>
            </a:r>
            <a:r>
              <a:rPr lang="en-US" sz="2800" dirty="0"/>
              <a:t> Problem A and B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0739" y="1710497"/>
            <a:ext cx="1704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Problem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3519" y="3535798"/>
            <a:ext cx="1704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Problem B</a:t>
            </a:r>
          </a:p>
        </p:txBody>
      </p:sp>
    </p:spTree>
    <p:extLst>
      <p:ext uri="{BB962C8B-B14F-4D97-AF65-F5344CB8AC3E}">
        <p14:creationId xmlns:p14="http://schemas.microsoft.com/office/powerpoint/2010/main" val="304965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01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33" y="1534059"/>
            <a:ext cx="4635339" cy="18407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868144" y="2306207"/>
                <a:ext cx="18019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2306207"/>
                <a:ext cx="180196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5315716" y="1782987"/>
            <a:ext cx="3147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Value of the game is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95" y="3467197"/>
            <a:ext cx="3047593" cy="25540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851920" y="3495985"/>
                <a:ext cx="518457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=0.39, 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=0.31, 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=0.29,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=−0.91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3495985"/>
                <a:ext cx="5184575" cy="307777"/>
              </a:xfrm>
              <a:prstGeom prst="rect">
                <a:avLst/>
              </a:prstGeom>
              <a:blipFill>
                <a:blip r:embed="rId5"/>
                <a:stretch>
                  <a:fillRect l="-1294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8282" y="3960941"/>
            <a:ext cx="3094825" cy="25027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993107" y="4076777"/>
                <a:ext cx="1467325" cy="12097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=0.32,  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=0.08,  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=0.60,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=−0.91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107" y="4076777"/>
                <a:ext cx="1467325" cy="1209755"/>
              </a:xfrm>
              <a:prstGeom prst="rect">
                <a:avLst/>
              </a:prstGeom>
              <a:blipFill>
                <a:blip r:embed="rId7"/>
                <a:stretch>
                  <a:fillRect r="-6224" b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013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01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628800"/>
            <a:ext cx="586740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33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3568" y="764704"/>
            <a:ext cx="763284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Hawks and Dove are two patterns of animal behavior. Hawks are aggressive and prefer to fight while doves are more peaceful and not to fight. They share a resources for survival such as food. Determine the percentage of the population of hawk and dove so that the system is stable, if the pay-off matrix is given below. 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428504"/>
              </p:ext>
            </p:extLst>
          </p:nvPr>
        </p:nvGraphicFramePr>
        <p:xfrm>
          <a:off x="755576" y="2492896"/>
          <a:ext cx="352839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6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 \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Hawk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Hawk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 , 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12 , 0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0 , 12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6 , 6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99992" y="2625504"/>
            <a:ext cx="38038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If 100% hawk than hawk will lost -4 of resources because they fight each other to get the resource. </a:t>
            </a:r>
          </a:p>
        </p:txBody>
      </p:sp>
      <p:sp>
        <p:nvSpPr>
          <p:cNvPr id="8" name="Rectangle 7"/>
          <p:cNvSpPr/>
          <p:nvPr/>
        </p:nvSpPr>
        <p:spPr>
          <a:xfrm>
            <a:off x="683568" y="3704083"/>
            <a:ext cx="76328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If 100% dove than the source will be share to the dove 6 units each, It is not stable either. But if there is one hawk exist then the hawk will invade the population by reproduce faster than the doves. </a:t>
            </a:r>
          </a:p>
        </p:txBody>
      </p:sp>
      <p:sp>
        <p:nvSpPr>
          <p:cNvPr id="9" name="Rectangle 8"/>
          <p:cNvSpPr/>
          <p:nvPr/>
        </p:nvSpPr>
        <p:spPr>
          <a:xfrm>
            <a:off x="683568" y="4949330"/>
            <a:ext cx="76328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The question is how many percentage of hawk and dove are there so that the population is stable? </a:t>
            </a:r>
          </a:p>
        </p:txBody>
      </p:sp>
    </p:spTree>
    <p:extLst>
      <p:ext uri="{BB962C8B-B14F-4D97-AF65-F5344CB8AC3E}">
        <p14:creationId xmlns:p14="http://schemas.microsoft.com/office/powerpoint/2010/main" val="1551172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27584" y="692696"/>
                <a:ext cx="403244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0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12=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692696"/>
                <a:ext cx="4032448" cy="400110"/>
              </a:xfrm>
              <a:prstGeom prst="rect">
                <a:avLst/>
              </a:prstGeom>
              <a:blipFill>
                <a:blip r:embed="rId2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27584" y="1097542"/>
                <a:ext cx="403244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0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097542"/>
                <a:ext cx="4032448" cy="400110"/>
              </a:xfrm>
              <a:prstGeom prst="rect">
                <a:avLst/>
              </a:prstGeom>
              <a:blipFill>
                <a:blip r:embed="rId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004048" y="738862"/>
                <a:ext cx="349557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→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738862"/>
                <a:ext cx="3495572" cy="307777"/>
              </a:xfrm>
              <a:prstGeom prst="rect">
                <a:avLst/>
              </a:prstGeom>
              <a:blipFill>
                <a:blip r:embed="rId4"/>
                <a:stretch>
                  <a:fillRect l="-1396" r="-1222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71" y="1772816"/>
            <a:ext cx="3314981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27984" y="1988840"/>
            <a:ext cx="40716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percentage of hawk population is higher then 0.6, it means population of hawk is higher, than Average-pay off hawk is less then average pay-off dove, consequently doves reproduce faster than hawks. The other way around is also apply and system will stable if percentage of hawk is 0.6   </a:t>
            </a:r>
          </a:p>
        </p:txBody>
      </p:sp>
    </p:spTree>
    <p:extLst>
      <p:ext uri="{BB962C8B-B14F-4D97-AF65-F5344CB8AC3E}">
        <p14:creationId xmlns:p14="http://schemas.microsoft.com/office/powerpoint/2010/main" val="387655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15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Intuitive strategy is chosen by maximizing the expected value of each possibility movement. But mathematical strategy by maximizing the expected value of all possibility movements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68086" y="2523530"/>
                <a:ext cx="8142514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dirty="0"/>
                  <a:t>Suppose according to A, the probability of B select “back down”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according to B, the probability of A select “back down”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Expected Pay-Off of all movement of A and B is written as EP</a:t>
                </a:r>
                <a:r>
                  <a:rPr lang="en-US" baseline="-25000" dirty="0"/>
                  <a:t>A  </a:t>
                </a:r>
                <a:r>
                  <a:rPr lang="en-US" dirty="0"/>
                  <a:t>and EP</a:t>
                </a:r>
                <a:r>
                  <a:rPr lang="en-US" baseline="-25000" dirty="0"/>
                  <a:t>B</a:t>
                </a:r>
                <a:r>
                  <a:rPr lang="en-US" dirty="0"/>
                  <a:t> . How big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?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86" y="2523530"/>
                <a:ext cx="8142514" cy="923330"/>
              </a:xfrm>
              <a:prstGeom prst="rect">
                <a:avLst/>
              </a:prstGeom>
              <a:blipFill>
                <a:blip r:embed="rId2"/>
                <a:stretch>
                  <a:fillRect l="-674" t="-3974" r="-52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366325" y="3430092"/>
                <a:ext cx="553990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𝐸𝑃</m:t>
                      </m:r>
                      <m:r>
                        <a:rPr lang="en-US" sz="1600" i="1" baseline="-25000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i="1" baseline="-25000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(1)+(1−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)(0)}+(1−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){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(2)+(1−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)(−3)} </m:t>
                      </m:r>
                    </m:oMath>
                  </m:oMathPara>
                </a14:m>
                <a:endParaRPr lang="en-US" sz="1600" dirty="0"/>
              </a:p>
              <a:p>
                <a:pPr>
                  <a:tabLst>
                    <a:tab pos="398463" algn="l"/>
                  </a:tabLst>
                </a:pPr>
                <a:r>
                  <a:rPr lang="en-US" sz="1600" dirty="0"/>
                  <a:t>	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 5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+ 3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− 4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− 3 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6325" y="3430092"/>
                <a:ext cx="5539904" cy="584775"/>
              </a:xfrm>
              <a:prstGeom prst="rect">
                <a:avLst/>
              </a:prstGeom>
              <a:blipFill>
                <a:blip r:embed="rId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366324" y="4006331"/>
                <a:ext cx="553990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74675" indent="-57467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𝐸𝑃</m:t>
                      </m:r>
                      <m:r>
                        <a:rPr lang="en-US" sz="1600" i="1" baseline="-25000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i="1" baseline="-25000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(1)+(1−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)(0)}+(1−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){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(2)+(1−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)(−3)}	= 3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 + 5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 − 4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 − 3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6324" y="4006331"/>
                <a:ext cx="5539904" cy="584775"/>
              </a:xfrm>
              <a:prstGeom prst="rect">
                <a:avLst/>
              </a:prstGeom>
              <a:blipFill>
                <a:blip r:embed="rId4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8036" y="4579631"/>
                <a:ext cx="3119315" cy="6839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𝐸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𝑦</m:t>
                          </m:r>
                        </m:den>
                      </m:f>
                      <m:r>
                        <a:rPr lang="en-US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3−4</m:t>
                      </m:r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=0→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36" y="4579631"/>
                <a:ext cx="3119315" cy="6839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726849" y="4625366"/>
                <a:ext cx="3051861" cy="6190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𝐸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den>
                      </m:f>
                      <m:r>
                        <a:rPr lang="en-US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3−4</m:t>
                      </m:r>
                      <m:r>
                        <a:rPr lang="en-US" b="0" i="1" smtClean="0">
                          <a:latin typeface="Cambria Math"/>
                        </a:rPr>
                        <m:t>𝑦</m:t>
                      </m:r>
                      <m:r>
                        <a:rPr lang="en-US" b="0" i="1" smtClean="0">
                          <a:latin typeface="Cambria Math"/>
                        </a:rPr>
                        <m:t>=0→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849" y="4625366"/>
                <a:ext cx="3051861" cy="6190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08863" y="5334316"/>
            <a:ext cx="7993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It means according to A the best strategy for B is “</a:t>
            </a:r>
            <a:r>
              <a:rPr lang="en-US" dirty="0" err="1"/>
              <a:t>backdown</a:t>
            </a:r>
            <a:r>
              <a:rPr lang="en-US" dirty="0"/>
              <a:t>” and according to B the best strategy for A is “</a:t>
            </a:r>
            <a:r>
              <a:rPr lang="en-US" dirty="0" err="1"/>
              <a:t>backdown</a:t>
            </a:r>
            <a:r>
              <a:rPr lang="en-US" dirty="0"/>
              <a:t>” therefore the Nast equilibrium is [</a:t>
            </a:r>
            <a:r>
              <a:rPr lang="en-US" dirty="0" err="1"/>
              <a:t>backdown,backdown</a:t>
            </a:r>
            <a:r>
              <a:rPr lang="en-US" dirty="0"/>
              <a:t>]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363852"/>
              </p:ext>
            </p:extLst>
          </p:nvPr>
        </p:nvGraphicFramePr>
        <p:xfrm>
          <a:off x="383305" y="3563291"/>
          <a:ext cx="2983018" cy="899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79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 \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Back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Challenge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1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Back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1 , 1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0 , 2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9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2 , 0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-3 , 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08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78568" y="1556792"/>
            <a:ext cx="78488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Consider striker in penalty game has more pleasure by kicking to the left with pay-off matrix given below. What is the Nash equilibrium of this asymmetric penalty game ? What does it mean ? 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053467"/>
              </p:ext>
            </p:extLst>
          </p:nvPr>
        </p:nvGraphicFramePr>
        <p:xfrm>
          <a:off x="1331640" y="2703806"/>
          <a:ext cx="560377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13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Striker \ Goalkeeper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1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0, 1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2 , 0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1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1 , 0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11560" y="3932437"/>
            <a:ext cx="78488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What strategy of each player of this pay-off matrix game? 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916121"/>
              </p:ext>
            </p:extLst>
          </p:nvPr>
        </p:nvGraphicFramePr>
        <p:xfrm>
          <a:off x="674098" y="4422444"/>
          <a:ext cx="3645060" cy="1574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59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\ B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5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0 , 0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r>
                        <a:rPr lang="en-US" baseline="0" dirty="0"/>
                        <a:t> ,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, 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5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, 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0 , 0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-1 , 1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5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Scissor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-1 , 1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, 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0 , 0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215035"/>
              </p:ext>
            </p:extLst>
          </p:nvPr>
        </p:nvGraphicFramePr>
        <p:xfrm>
          <a:off x="4986412" y="4422445"/>
          <a:ext cx="3476216" cy="1574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9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\ B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93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0 , 0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  <a:r>
                        <a:rPr lang="en-US" baseline="0" dirty="0"/>
                        <a:t> ,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, 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93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 , 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0 , 0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-2 </a:t>
                      </a:r>
                      <a:r>
                        <a:rPr lang="en-US" dirty="0"/>
                        <a:t>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1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Scissor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-1 , 1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, 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0 , 0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911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12854</TotalTime>
  <Words>649</Words>
  <Application>Microsoft Office PowerPoint</Application>
  <PresentationFormat>On-screen Show (4:3)</PresentationFormat>
  <Paragraphs>111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PowerPoint Presentation</vt:lpstr>
      <vt:lpstr>Mathematics Model </vt:lpstr>
      <vt:lpstr>Example 01</vt:lpstr>
      <vt:lpstr>Exercise 01</vt:lpstr>
      <vt:lpstr>PowerPoint Presentation</vt:lpstr>
      <vt:lpstr>PowerPoint Presentation</vt:lpstr>
      <vt:lpstr>Mathematical strategy</vt:lpstr>
      <vt:lpstr>Exercise 01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lab-tif3</dc:creator>
  <cp:lastModifiedBy>lab-tif3</cp:lastModifiedBy>
  <cp:revision>481</cp:revision>
  <dcterms:created xsi:type="dcterms:W3CDTF">2013-05-27T02:50:26Z</dcterms:created>
  <dcterms:modified xsi:type="dcterms:W3CDTF">2016-10-13T00:01:45Z</dcterms:modified>
</cp:coreProperties>
</file>
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94" r:id="rId3"/>
    <p:sldId id="296" r:id="rId4"/>
    <p:sldId id="297" r:id="rId5"/>
    <p:sldId id="307" r:id="rId6"/>
    <p:sldId id="308" r:id="rId7"/>
    <p:sldId id="309" r:id="rId8"/>
    <p:sldId id="310" r:id="rId9"/>
    <p:sldId id="312" r:id="rId10"/>
    <p:sldId id="311" r:id="rId11"/>
    <p:sldId id="318" r:id="rId12"/>
    <p:sldId id="319" r:id="rId13"/>
    <p:sldId id="320" r:id="rId14"/>
    <p:sldId id="321" r:id="rId15"/>
    <p:sldId id="313" r:id="rId16"/>
    <p:sldId id="314" r:id="rId17"/>
    <p:sldId id="315" r:id="rId18"/>
    <p:sldId id="316" r:id="rId19"/>
    <p:sldId id="317"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164" y="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306D07-5766-4BCD-8FDA-8CA78ACC3D9B}" type="datetimeFigureOut">
              <a:rPr lang="id-ID" smtClean="0"/>
              <a:t>18/04/2023</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C242AF-1A37-4556-ACA4-2D555F71B439}" type="slidenum">
              <a:rPr lang="id-ID" smtClean="0"/>
              <a:t>‹#›</a:t>
            </a:fld>
            <a:endParaRPr lang="id-ID"/>
          </a:p>
        </p:txBody>
      </p:sp>
    </p:spTree>
    <p:extLst>
      <p:ext uri="{BB962C8B-B14F-4D97-AF65-F5344CB8AC3E}">
        <p14:creationId xmlns:p14="http://schemas.microsoft.com/office/powerpoint/2010/main" val="2463822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8613D0C-F68A-4886-99F5-626E46C5968C}" type="slidenum">
              <a:rPr lang="en-US" smtClean="0"/>
              <a:t>3</a:t>
            </a:fld>
            <a:endParaRPr lang="en-US"/>
          </a:p>
        </p:txBody>
      </p:sp>
    </p:spTree>
    <p:extLst>
      <p:ext uri="{BB962C8B-B14F-4D97-AF65-F5344CB8AC3E}">
        <p14:creationId xmlns:p14="http://schemas.microsoft.com/office/powerpoint/2010/main" val="2880358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C242AF-1A37-4556-ACA4-2D555F71B439}" type="slidenum">
              <a:rPr lang="id-ID" smtClean="0"/>
              <a:t>7</a:t>
            </a:fld>
            <a:endParaRPr lang="id-ID"/>
          </a:p>
        </p:txBody>
      </p:sp>
    </p:spTree>
    <p:extLst>
      <p:ext uri="{BB962C8B-B14F-4D97-AF65-F5344CB8AC3E}">
        <p14:creationId xmlns:p14="http://schemas.microsoft.com/office/powerpoint/2010/main" val="3262547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C242AF-1A37-4556-ACA4-2D555F71B439}" type="slidenum">
              <a:rPr lang="id-ID" smtClean="0"/>
              <a:t>18</a:t>
            </a:fld>
            <a:endParaRPr lang="id-ID"/>
          </a:p>
        </p:txBody>
      </p:sp>
    </p:spTree>
    <p:extLst>
      <p:ext uri="{BB962C8B-B14F-4D97-AF65-F5344CB8AC3E}">
        <p14:creationId xmlns:p14="http://schemas.microsoft.com/office/powerpoint/2010/main" val="2617023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C884BEC-4855-421D-AEC2-2574B8FC72FA}" type="datetimeFigureOut">
              <a:rPr lang="en-US" smtClean="0"/>
              <a:pPr/>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4193251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1560" y="274638"/>
            <a:ext cx="7848872" cy="1143000"/>
          </a:xfrm>
          <a:solidFill>
            <a:schemeClr val="accent5">
              <a:lumMod val="20000"/>
              <a:lumOff val="80000"/>
            </a:schemeClr>
          </a:solidFill>
        </p:spPr>
        <p:txBody>
          <a:bodyPr/>
          <a:lstStyle/>
          <a:p>
            <a:r>
              <a:rPr lang="en-US"/>
              <a:t>Click to edit Master title style</a:t>
            </a:r>
          </a:p>
        </p:txBody>
      </p:sp>
      <p:sp>
        <p:nvSpPr>
          <p:cNvPr id="3" name="Content Placeholder 2"/>
          <p:cNvSpPr>
            <a:spLocks noGrp="1"/>
          </p:cNvSpPr>
          <p:nvPr>
            <p:ph idx="1"/>
          </p:nvPr>
        </p:nvSpPr>
        <p:spPr>
          <a:xfrm>
            <a:off x="611560" y="1600200"/>
            <a:ext cx="78488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69870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884BEC-4855-421D-AEC2-2574B8FC72FA}" type="datetimeFigureOut">
              <a:rPr lang="en-US" smtClean="0"/>
              <a:pPr/>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1755921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884BEC-4855-421D-AEC2-2574B8FC72FA}" type="datetimeFigureOut">
              <a:rPr lang="en-US" smtClean="0"/>
              <a:pPr/>
              <a:t>4/18/2023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8697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C884BEC-4855-421D-AEC2-2574B8FC72FA}" type="datetimeFigureOut">
              <a:rPr lang="en-US" smtClean="0"/>
              <a:pPr/>
              <a:t>4/18/2023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2384232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C884BEC-4855-421D-AEC2-2574B8FC72FA}" type="datetimeFigureOut">
              <a:rPr lang="en-US" smtClean="0"/>
              <a:pPr/>
              <a:t>4/18/2023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549866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884BEC-4855-421D-AEC2-2574B8FC72FA}" type="datetimeFigureOut">
              <a:rPr lang="en-US" smtClean="0"/>
              <a:pPr/>
              <a:t>4/18/2023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777478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884BEC-4855-421D-AEC2-2574B8FC72FA}" type="datetimeFigureOut">
              <a:rPr lang="en-US" smtClean="0"/>
              <a:pPr/>
              <a:t>4/18/2023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362270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884BEC-4855-421D-AEC2-2574B8FC72FA}" type="datetimeFigureOut">
              <a:rPr lang="en-US" smtClean="0"/>
              <a:pPr/>
              <a:t>4/18/2023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3790398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884BEC-4855-421D-AEC2-2574B8FC72FA}" type="datetimeFigureOut">
              <a:rPr lang="en-US" smtClean="0"/>
              <a:pPr/>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250772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884BEC-4855-421D-AEC2-2574B8FC72FA}" type="datetimeFigureOut">
              <a:rPr lang="en-US" smtClean="0"/>
              <a:pPr/>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127183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884BEC-4855-421D-AEC2-2574B8FC72FA}" type="datetimeFigureOut">
              <a:rPr lang="en-US" smtClean="0"/>
              <a:pPr/>
              <a:t>4/18/2023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37693F-FEC6-40F4-8925-9F23DA36F8A5}" type="slidenum">
              <a:rPr lang="en-US" smtClean="0"/>
              <a:pPr/>
              <a:t>‹#›</a:t>
            </a:fld>
            <a:endParaRPr lang="en-US"/>
          </a:p>
        </p:txBody>
      </p:sp>
    </p:spTree>
    <p:extLst>
      <p:ext uri="{BB962C8B-B14F-4D97-AF65-F5344CB8AC3E}">
        <p14:creationId xmlns:p14="http://schemas.microsoft.com/office/powerpoint/2010/main" val="680344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760850" y="4030203"/>
            <a:ext cx="930462" cy="830997"/>
          </a:xfrm>
          <a:prstGeom prst="rect">
            <a:avLst/>
          </a:prstGeom>
          <a:solidFill>
            <a:srgbClr val="00B0F0"/>
          </a:solidFill>
        </p:spPr>
        <p:txBody>
          <a:bodyPr wrap="square" rtlCol="0">
            <a:spAutoFit/>
          </a:bodyPr>
          <a:lstStyle/>
          <a:p>
            <a:pPr algn="ctr"/>
            <a:r>
              <a:rPr lang="en-US" sz="4800" dirty="0">
                <a:solidFill>
                  <a:schemeClr val="bg1"/>
                </a:solidFill>
              </a:rPr>
              <a:t>05</a:t>
            </a:r>
          </a:p>
        </p:txBody>
      </p:sp>
      <p:sp>
        <p:nvSpPr>
          <p:cNvPr id="9" name="TextBox 8"/>
          <p:cNvSpPr txBox="1"/>
          <p:nvPr/>
        </p:nvSpPr>
        <p:spPr>
          <a:xfrm>
            <a:off x="2071872" y="4005064"/>
            <a:ext cx="6458162" cy="892552"/>
          </a:xfrm>
          <a:prstGeom prst="rect">
            <a:avLst/>
          </a:prstGeom>
          <a:solidFill>
            <a:srgbClr val="00B0F0"/>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3200" dirty="0"/>
              <a:t>Combinatorial Games</a:t>
            </a:r>
          </a:p>
          <a:p>
            <a:pPr algn="r"/>
            <a:r>
              <a:rPr lang="id-ID" sz="2000" b="1" dirty="0"/>
              <a:t>Samuel Lukas</a:t>
            </a:r>
            <a:endParaRPr lang="en-US" sz="2000" b="1" dirty="0"/>
          </a:p>
        </p:txBody>
      </p:sp>
      <p:pic>
        <p:nvPicPr>
          <p:cNvPr id="1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10" y="500042"/>
            <a:ext cx="7887124" cy="13066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48" y="1857364"/>
            <a:ext cx="3609975" cy="1123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642910" y="4906764"/>
            <a:ext cx="7887124" cy="707886"/>
          </a:xfrm>
          <a:prstGeom prst="rect">
            <a:avLst/>
          </a:prstGeom>
        </p:spPr>
        <p:txBody>
          <a:bodyPr wrap="square">
            <a:spAutoFit/>
          </a:bodyPr>
          <a:lstStyle/>
          <a:p>
            <a:pPr algn="r"/>
            <a:r>
              <a:rPr lang="en-US" sz="2000" dirty="0"/>
              <a:t>Introduction Game Theory and Its Applications</a:t>
            </a:r>
          </a:p>
          <a:p>
            <a:pPr algn="r"/>
            <a:r>
              <a:rPr lang="en-US" sz="2000" dirty="0"/>
              <a:t> Elliott Mendelson, CRC Press Company, Washington DC.2004</a:t>
            </a:r>
          </a:p>
        </p:txBody>
      </p:sp>
    </p:spTree>
    <p:extLst>
      <p:ext uri="{BB962C8B-B14F-4D97-AF65-F5344CB8AC3E}">
        <p14:creationId xmlns:p14="http://schemas.microsoft.com/office/powerpoint/2010/main" val="1827818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75240" cy="1143000"/>
          </a:xfrm>
          <a:solidFill>
            <a:schemeClr val="accent5">
              <a:lumMod val="20000"/>
              <a:lumOff val="80000"/>
            </a:schemeClr>
          </a:solidFill>
        </p:spPr>
        <p:txBody>
          <a:bodyPr>
            <a:normAutofit/>
          </a:bodyPr>
          <a:lstStyle/>
          <a:p>
            <a:r>
              <a:rPr lang="en-US" dirty="0"/>
              <a:t>Definition</a:t>
            </a:r>
          </a:p>
        </p:txBody>
      </p:sp>
      <p:sp>
        <p:nvSpPr>
          <p:cNvPr id="4" name="Content Placeholder 3"/>
          <p:cNvSpPr>
            <a:spLocks noGrp="1"/>
          </p:cNvSpPr>
          <p:nvPr>
            <p:ph idx="1"/>
          </p:nvPr>
        </p:nvSpPr>
        <p:spPr>
          <a:xfrm>
            <a:off x="457200" y="1600200"/>
            <a:ext cx="8075240" cy="4525963"/>
          </a:xfrm>
        </p:spPr>
        <p:txBody>
          <a:bodyPr>
            <a:normAutofit lnSpcReduction="10000"/>
          </a:bodyPr>
          <a:lstStyle/>
          <a:p>
            <a:pPr marL="0" indent="0">
              <a:buNone/>
            </a:pPr>
            <a:r>
              <a:rPr lang="en-US" sz="3600" dirty="0"/>
              <a:t>The characteristics of Combinatorial games</a:t>
            </a:r>
          </a:p>
          <a:p>
            <a:pPr marL="514350" indent="-514350">
              <a:buFont typeface="+mj-lt"/>
              <a:buAutoNum type="arabicPeriod"/>
            </a:pPr>
            <a:r>
              <a:rPr lang="en-US" dirty="0"/>
              <a:t>There are only two players</a:t>
            </a:r>
          </a:p>
          <a:p>
            <a:pPr marL="514350" indent="-514350">
              <a:buFont typeface="+mj-lt"/>
              <a:buAutoNum type="arabicPeriod"/>
            </a:pPr>
            <a:r>
              <a:rPr lang="en-US" dirty="0"/>
              <a:t>It is deterministic or No random moves</a:t>
            </a:r>
          </a:p>
          <a:p>
            <a:pPr marL="514350" indent="-514350">
              <a:buFont typeface="+mj-lt"/>
              <a:buAutoNum type="arabicPeriod"/>
            </a:pPr>
            <a:r>
              <a:rPr lang="en-US" dirty="0"/>
              <a:t>It is finite  : a finite number of moves</a:t>
            </a:r>
          </a:p>
          <a:p>
            <a:pPr marL="514350" indent="-514350">
              <a:buFont typeface="+mj-lt"/>
              <a:buAutoNum type="arabicPeriod"/>
            </a:pPr>
            <a:r>
              <a:rPr lang="en-US" dirty="0"/>
              <a:t>Perfect Information : every moves by one player is known to the other player</a:t>
            </a:r>
          </a:p>
          <a:p>
            <a:pPr marL="514350" indent="-514350">
              <a:buFont typeface="+mj-lt"/>
              <a:buAutoNum type="arabicPeriod"/>
            </a:pPr>
            <a:r>
              <a:rPr lang="en-US" dirty="0"/>
              <a:t>It is a zero sum game</a:t>
            </a:r>
          </a:p>
        </p:txBody>
      </p:sp>
      <p:sp>
        <p:nvSpPr>
          <p:cNvPr id="6" name="TextBox 5"/>
          <p:cNvSpPr txBox="1"/>
          <p:nvPr/>
        </p:nvSpPr>
        <p:spPr>
          <a:xfrm>
            <a:off x="5806480" y="5601687"/>
            <a:ext cx="2725960" cy="523220"/>
          </a:xfrm>
          <a:prstGeom prst="rect">
            <a:avLst/>
          </a:prstGeom>
          <a:solidFill>
            <a:schemeClr val="accent2"/>
          </a:solidFill>
        </p:spPr>
        <p:txBody>
          <a:bodyPr wrap="square" rtlCol="0">
            <a:spAutoFit/>
          </a:bodyPr>
          <a:lstStyle/>
          <a:p>
            <a:pPr algn="ctr"/>
            <a:r>
              <a:rPr lang="en-US" sz="2800" dirty="0"/>
              <a:t>Tic-tac-Toe game</a:t>
            </a:r>
          </a:p>
        </p:txBody>
      </p:sp>
    </p:spTree>
    <p:extLst>
      <p:ext uri="{BB962C8B-B14F-4D97-AF65-F5344CB8AC3E}">
        <p14:creationId xmlns:p14="http://schemas.microsoft.com/office/powerpoint/2010/main" val="2781596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03232" cy="1143000"/>
          </a:xfrm>
          <a:solidFill>
            <a:schemeClr val="accent5">
              <a:lumMod val="20000"/>
              <a:lumOff val="80000"/>
            </a:schemeClr>
          </a:solidFill>
        </p:spPr>
        <p:txBody>
          <a:bodyPr/>
          <a:lstStyle/>
          <a:p>
            <a:r>
              <a:rPr lang="en-US" dirty="0"/>
              <a:t>Examples 01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700808"/>
                <a:ext cx="8003232" cy="4525963"/>
              </a:xfrm>
            </p:spPr>
            <p:txBody>
              <a:bodyPr>
                <a:normAutofit lnSpcReduction="10000"/>
              </a:bodyPr>
              <a:lstStyle/>
              <a:p>
                <a:pPr marL="0" indent="0">
                  <a:buNone/>
                </a:pPr>
                <a:r>
                  <a:rPr lang="en-US" sz="3000" dirty="0"/>
                  <a:t>Which of the following are combinational Games ?</a:t>
                </a:r>
              </a:p>
              <a:p>
                <a:pPr marL="514350" indent="-514350" algn="just">
                  <a:buFont typeface="+mj-lt"/>
                  <a:buAutoNum type="arabicPeriod"/>
                </a:pPr>
                <a:r>
                  <a:rPr lang="en-US" sz="2400" dirty="0"/>
                  <a:t>The first player, A, names a positive integer </a:t>
                </a:r>
                <a14:m>
                  <m:oMath xmlns:m="http://schemas.openxmlformats.org/officeDocument/2006/math">
                    <m:r>
                      <a:rPr lang="en-US" sz="2400" i="1" dirty="0" smtClean="0">
                        <a:latin typeface="Cambria Math" panose="02040503050406030204" pitchFamily="18" charset="0"/>
                      </a:rPr>
                      <m:t>𝑛</m:t>
                    </m:r>
                  </m:oMath>
                </a14:m>
                <a:r>
                  <a:rPr lang="en-US" sz="2400" dirty="0"/>
                  <a:t>. The second player, B, names a positive integer </a:t>
                </a:r>
                <a14:m>
                  <m:oMath xmlns:m="http://schemas.openxmlformats.org/officeDocument/2006/math">
                    <m:r>
                      <a:rPr lang="en-US" sz="2400" i="1" dirty="0" smtClean="0">
                        <a:latin typeface="Cambria Math" panose="02040503050406030204" pitchFamily="18" charset="0"/>
                      </a:rPr>
                      <m:t>𝑘</m:t>
                    </m:r>
                  </m:oMath>
                </a14:m>
                <a:r>
                  <a:rPr lang="en-US" sz="2400" dirty="0"/>
                  <a:t>. A win if the product </a:t>
                </a:r>
                <a14:m>
                  <m:oMath xmlns:m="http://schemas.openxmlformats.org/officeDocument/2006/math">
                    <m:r>
                      <a:rPr lang="en-US" sz="2400" i="1" dirty="0" smtClean="0">
                        <a:latin typeface="Cambria Math" panose="02040503050406030204" pitchFamily="18" charset="0"/>
                      </a:rPr>
                      <m:t>𝑛𝑘</m:t>
                    </m:r>
                  </m:oMath>
                </a14:m>
                <a:r>
                  <a:rPr lang="en-US" sz="2400" dirty="0"/>
                  <a:t> is even and B if it is odd.</a:t>
                </a:r>
              </a:p>
              <a:p>
                <a:pPr marL="514350" indent="-514350" algn="just">
                  <a:buFont typeface="+mj-lt"/>
                  <a:buAutoNum type="arabicPeriod"/>
                </a:pPr>
                <a:r>
                  <a:rPr lang="en-US" sz="2400" dirty="0"/>
                  <a:t>There is a pile of 6 sticks. Each of the two players alternately removes one or two sticks. The game continues until there is no sticks left. The last person to move loses. </a:t>
                </a:r>
              </a:p>
              <a:p>
                <a:pPr marL="514350" indent="-514350">
                  <a:buFont typeface="+mj-lt"/>
                  <a:buAutoNum type="arabicPeriod"/>
                </a:pPr>
                <a:r>
                  <a:rPr lang="en-US" sz="2400" dirty="0"/>
                  <a:t>Chess</a:t>
                </a:r>
              </a:p>
              <a:p>
                <a:pPr marL="514350" indent="-514350">
                  <a:buFont typeface="+mj-lt"/>
                  <a:buAutoNum type="arabicPeriod"/>
                </a:pPr>
                <a:r>
                  <a:rPr lang="en-US" sz="2400" dirty="0"/>
                  <a:t>Four in Row</a:t>
                </a:r>
              </a:p>
              <a:p>
                <a:pPr marL="514350" indent="-514350">
                  <a:buFont typeface="+mj-lt"/>
                  <a:buAutoNum type="arabicPeriod"/>
                </a:pPr>
                <a:r>
                  <a:rPr lang="en-US" sz="2400" dirty="0"/>
                  <a:t>Sudoku</a:t>
                </a:r>
              </a:p>
              <a:p>
                <a:pPr marL="514350" indent="-514350">
                  <a:buFont typeface="+mj-lt"/>
                  <a:buAutoNum type="arabicPeriod"/>
                </a:pPr>
                <a:r>
                  <a:rPr lang="en-US" sz="2400"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700808"/>
                <a:ext cx="8003232" cy="4525963"/>
              </a:xfrm>
              <a:blipFill>
                <a:blip r:embed="rId3"/>
                <a:stretch>
                  <a:fillRect l="-1752" t="-2695" r="-1523"/>
                </a:stretch>
              </a:blipFill>
            </p:spPr>
            <p:txBody>
              <a:bodyPr/>
              <a:lstStyle/>
              <a:p>
                <a:r>
                  <a:rPr lang="en-US">
                    <a:noFill/>
                  </a:rPr>
                  <a:t> </a:t>
                </a:r>
              </a:p>
            </p:txBody>
          </p:sp>
        </mc:Fallback>
      </mc:AlternateContent>
    </p:spTree>
    <p:extLst>
      <p:ext uri="{BB962C8B-B14F-4D97-AF65-F5344CB8AC3E}">
        <p14:creationId xmlns:p14="http://schemas.microsoft.com/office/powerpoint/2010/main" val="347506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solidFill>
            <a:schemeClr val="accent5">
              <a:lumMod val="20000"/>
              <a:lumOff val="80000"/>
            </a:schemeClr>
          </a:solidFill>
        </p:spPr>
        <p:txBody>
          <a:bodyPr/>
          <a:lstStyle/>
          <a:p>
            <a:r>
              <a:rPr lang="en-US" dirty="0"/>
              <a:t>Strategies in CG </a:t>
            </a:r>
          </a:p>
        </p:txBody>
      </p:sp>
      <p:sp>
        <p:nvSpPr>
          <p:cNvPr id="5" name="Content Placeholder 4"/>
          <p:cNvSpPr>
            <a:spLocks noGrp="1"/>
          </p:cNvSpPr>
          <p:nvPr>
            <p:ph idx="1"/>
          </p:nvPr>
        </p:nvSpPr>
        <p:spPr/>
        <p:txBody>
          <a:bodyPr/>
          <a:lstStyle/>
          <a:p>
            <a:pPr algn="just"/>
            <a:r>
              <a:rPr lang="en-US" dirty="0"/>
              <a:t>Winning Strategy is a strategy that makes a player wins the game.</a:t>
            </a:r>
          </a:p>
          <a:p>
            <a:pPr algn="just"/>
            <a:r>
              <a:rPr lang="en-US" dirty="0"/>
              <a:t>Non-losing strategy is a strategy that makes a player will not lose the game.</a:t>
            </a:r>
          </a:p>
        </p:txBody>
      </p:sp>
      <p:sp>
        <p:nvSpPr>
          <p:cNvPr id="6" name="TextBox 5"/>
          <p:cNvSpPr txBox="1"/>
          <p:nvPr/>
        </p:nvSpPr>
        <p:spPr>
          <a:xfrm>
            <a:off x="611560" y="4077072"/>
            <a:ext cx="7848872" cy="830997"/>
          </a:xfrm>
          <a:prstGeom prst="rect">
            <a:avLst/>
          </a:prstGeom>
          <a:solidFill>
            <a:schemeClr val="accent4">
              <a:lumMod val="40000"/>
              <a:lumOff val="60000"/>
            </a:schemeClr>
          </a:solidFill>
        </p:spPr>
        <p:txBody>
          <a:bodyPr wrap="square" rtlCol="0">
            <a:spAutoFit/>
          </a:bodyPr>
          <a:lstStyle/>
          <a:p>
            <a:pPr algn="just"/>
            <a:r>
              <a:rPr lang="en-US" sz="2400" dirty="0"/>
              <a:t>In any combinational game, at least one of the players has a non-losing strategy </a:t>
            </a:r>
          </a:p>
        </p:txBody>
      </p:sp>
      <p:sp>
        <p:nvSpPr>
          <p:cNvPr id="15" name="TextBox 14"/>
          <p:cNvSpPr txBox="1"/>
          <p:nvPr/>
        </p:nvSpPr>
        <p:spPr>
          <a:xfrm>
            <a:off x="611560" y="5118803"/>
            <a:ext cx="7848872" cy="830997"/>
          </a:xfrm>
          <a:prstGeom prst="rect">
            <a:avLst/>
          </a:prstGeom>
          <a:solidFill>
            <a:schemeClr val="accent4">
              <a:lumMod val="40000"/>
              <a:lumOff val="60000"/>
            </a:schemeClr>
          </a:solidFill>
        </p:spPr>
        <p:txBody>
          <a:bodyPr wrap="square" rtlCol="0">
            <a:spAutoFit/>
          </a:bodyPr>
          <a:lstStyle/>
          <a:p>
            <a:pPr algn="just"/>
            <a:r>
              <a:rPr lang="en-US" sz="2400" dirty="0"/>
              <a:t>In any combinational game, either one player has a winning strategy or both players have non-losing strategies </a:t>
            </a:r>
          </a:p>
        </p:txBody>
      </p:sp>
    </p:spTree>
    <p:extLst>
      <p:ext uri="{BB962C8B-B14F-4D97-AF65-F5344CB8AC3E}">
        <p14:creationId xmlns:p14="http://schemas.microsoft.com/office/powerpoint/2010/main" val="564660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Tic-Tac-Toe Game</a:t>
            </a:r>
          </a:p>
        </p:txBody>
      </p:sp>
      <p:sp>
        <p:nvSpPr>
          <p:cNvPr id="6" name="Content Placeholder 5"/>
          <p:cNvSpPr>
            <a:spLocks noGrp="1"/>
          </p:cNvSpPr>
          <p:nvPr>
            <p:ph idx="1"/>
          </p:nvPr>
        </p:nvSpPr>
        <p:spPr/>
        <p:txBody>
          <a:bodyPr/>
          <a:lstStyle/>
          <a:p>
            <a:pPr marL="0" indent="0">
              <a:buNone/>
            </a:pPr>
            <a:r>
              <a:rPr lang="en-US" dirty="0"/>
              <a:t>Non-losing strategy in 3 x 3 Tic-Tac-Toe Game</a:t>
            </a:r>
          </a:p>
        </p:txBody>
      </p:sp>
      <p:graphicFrame>
        <p:nvGraphicFramePr>
          <p:cNvPr id="19" name="Table 18"/>
          <p:cNvGraphicFramePr>
            <a:graphicFrameLocks noGrp="1"/>
          </p:cNvGraphicFramePr>
          <p:nvPr>
            <p:extLst>
              <p:ext uri="{D42A27DB-BD31-4B8C-83A1-F6EECF244321}">
                <p14:modId xmlns:p14="http://schemas.microsoft.com/office/powerpoint/2010/main" val="361345778"/>
              </p:ext>
            </p:extLst>
          </p:nvPr>
        </p:nvGraphicFramePr>
        <p:xfrm>
          <a:off x="635663" y="2381840"/>
          <a:ext cx="2889894" cy="2468880"/>
        </p:xfrm>
        <a:graphic>
          <a:graphicData uri="http://schemas.openxmlformats.org/drawingml/2006/table">
            <a:tbl>
              <a:tblPr firstRow="1" bandRow="1">
                <a:tableStyleId>{5C22544A-7EE6-4342-B048-85BDC9FD1C3A}</a:tableStyleId>
              </a:tblPr>
              <a:tblGrid>
                <a:gridCol w="963298">
                  <a:extLst>
                    <a:ext uri="{9D8B030D-6E8A-4147-A177-3AD203B41FA5}">
                      <a16:colId xmlns:a16="http://schemas.microsoft.com/office/drawing/2014/main" val="1042467596"/>
                    </a:ext>
                  </a:extLst>
                </a:gridCol>
                <a:gridCol w="963298">
                  <a:extLst>
                    <a:ext uri="{9D8B030D-6E8A-4147-A177-3AD203B41FA5}">
                      <a16:colId xmlns:a16="http://schemas.microsoft.com/office/drawing/2014/main" val="717668830"/>
                    </a:ext>
                  </a:extLst>
                </a:gridCol>
                <a:gridCol w="963298">
                  <a:extLst>
                    <a:ext uri="{9D8B030D-6E8A-4147-A177-3AD203B41FA5}">
                      <a16:colId xmlns:a16="http://schemas.microsoft.com/office/drawing/2014/main" val="1677919518"/>
                    </a:ext>
                  </a:extLst>
                </a:gridCol>
              </a:tblGrid>
              <a:tr h="784833">
                <a:tc>
                  <a:txBody>
                    <a:bodyPr/>
                    <a:lstStyle/>
                    <a:p>
                      <a:pPr algn="ctr"/>
                      <a:endParaRPr lang="en-US" sz="4800" dirty="0"/>
                    </a:p>
                  </a:txBody>
                  <a:tcPr>
                    <a:solidFill>
                      <a:schemeClr val="tx2">
                        <a:lumMod val="20000"/>
                        <a:lumOff val="80000"/>
                      </a:schemeClr>
                    </a:solidFill>
                  </a:tcPr>
                </a:tc>
                <a:tc>
                  <a:txBody>
                    <a:bodyPr/>
                    <a:lstStyle/>
                    <a:p>
                      <a:pPr algn="ctr"/>
                      <a:endParaRPr lang="en-US" sz="4800"/>
                    </a:p>
                  </a:txBody>
                  <a:tcPr>
                    <a:solidFill>
                      <a:schemeClr val="tx2">
                        <a:lumMod val="20000"/>
                        <a:lumOff val="80000"/>
                      </a:schemeClr>
                    </a:solidFill>
                  </a:tcPr>
                </a:tc>
                <a:tc>
                  <a:txBody>
                    <a:bodyPr/>
                    <a:lstStyle/>
                    <a:p>
                      <a:pPr algn="ctr"/>
                      <a:endParaRPr lang="en-US" sz="4800"/>
                    </a:p>
                  </a:txBody>
                  <a:tcPr>
                    <a:solidFill>
                      <a:schemeClr val="tx2">
                        <a:lumMod val="20000"/>
                        <a:lumOff val="80000"/>
                      </a:schemeClr>
                    </a:solidFill>
                  </a:tcPr>
                </a:tc>
                <a:extLst>
                  <a:ext uri="{0D108BD9-81ED-4DB2-BD59-A6C34878D82A}">
                    <a16:rowId xmlns:a16="http://schemas.microsoft.com/office/drawing/2014/main" val="1998619331"/>
                  </a:ext>
                </a:extLst>
              </a:tr>
              <a:tr h="717662">
                <a:tc>
                  <a:txBody>
                    <a:bodyPr/>
                    <a:lstStyle/>
                    <a:p>
                      <a:pPr algn="ctr"/>
                      <a:endParaRPr lang="en-US" sz="4800" dirty="0"/>
                    </a:p>
                  </a:txBody>
                  <a:tcPr>
                    <a:solidFill>
                      <a:schemeClr val="tx2">
                        <a:lumMod val="20000"/>
                        <a:lumOff val="80000"/>
                      </a:schemeClr>
                    </a:solidFill>
                  </a:tcPr>
                </a:tc>
                <a:tc>
                  <a:txBody>
                    <a:bodyPr/>
                    <a:lstStyle/>
                    <a:p>
                      <a:pPr algn="ctr"/>
                      <a:endParaRPr lang="en-US" sz="4800" dirty="0"/>
                    </a:p>
                  </a:txBody>
                  <a:tcPr>
                    <a:solidFill>
                      <a:schemeClr val="tx2">
                        <a:lumMod val="20000"/>
                        <a:lumOff val="80000"/>
                      </a:schemeClr>
                    </a:solidFill>
                  </a:tcPr>
                </a:tc>
                <a:tc>
                  <a:txBody>
                    <a:bodyPr/>
                    <a:lstStyle/>
                    <a:p>
                      <a:pPr algn="ctr"/>
                      <a:endParaRPr lang="en-US" sz="4800"/>
                    </a:p>
                  </a:txBody>
                  <a:tcPr>
                    <a:solidFill>
                      <a:schemeClr val="tx2">
                        <a:lumMod val="20000"/>
                        <a:lumOff val="80000"/>
                      </a:schemeClr>
                    </a:solidFill>
                  </a:tcPr>
                </a:tc>
                <a:extLst>
                  <a:ext uri="{0D108BD9-81ED-4DB2-BD59-A6C34878D82A}">
                    <a16:rowId xmlns:a16="http://schemas.microsoft.com/office/drawing/2014/main" val="462937795"/>
                  </a:ext>
                </a:extLst>
              </a:tr>
              <a:tr h="717662">
                <a:tc>
                  <a:txBody>
                    <a:bodyPr/>
                    <a:lstStyle/>
                    <a:p>
                      <a:pPr algn="ctr"/>
                      <a:endParaRPr lang="en-US" sz="4800"/>
                    </a:p>
                  </a:txBody>
                  <a:tcPr>
                    <a:solidFill>
                      <a:schemeClr val="tx2">
                        <a:lumMod val="20000"/>
                        <a:lumOff val="80000"/>
                      </a:schemeClr>
                    </a:solidFill>
                  </a:tcPr>
                </a:tc>
                <a:tc>
                  <a:txBody>
                    <a:bodyPr/>
                    <a:lstStyle/>
                    <a:p>
                      <a:pPr algn="ctr"/>
                      <a:endParaRPr lang="en-US" sz="4800" dirty="0"/>
                    </a:p>
                  </a:txBody>
                  <a:tcPr>
                    <a:solidFill>
                      <a:schemeClr val="tx2">
                        <a:lumMod val="20000"/>
                        <a:lumOff val="80000"/>
                      </a:schemeClr>
                    </a:solidFill>
                  </a:tcPr>
                </a:tc>
                <a:tc>
                  <a:txBody>
                    <a:bodyPr/>
                    <a:lstStyle/>
                    <a:p>
                      <a:pPr algn="ctr"/>
                      <a:endParaRPr lang="en-US" sz="4800" dirty="0"/>
                    </a:p>
                  </a:txBody>
                  <a:tcPr>
                    <a:solidFill>
                      <a:schemeClr val="tx2">
                        <a:lumMod val="20000"/>
                        <a:lumOff val="80000"/>
                      </a:schemeClr>
                    </a:solidFill>
                  </a:tcPr>
                </a:tc>
                <a:extLst>
                  <a:ext uri="{0D108BD9-81ED-4DB2-BD59-A6C34878D82A}">
                    <a16:rowId xmlns:a16="http://schemas.microsoft.com/office/drawing/2014/main" val="1127584427"/>
                  </a:ext>
                </a:extLst>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3491320576"/>
              </p:ext>
            </p:extLst>
          </p:nvPr>
        </p:nvGraphicFramePr>
        <p:xfrm>
          <a:off x="2574475" y="4010932"/>
          <a:ext cx="944092" cy="856841"/>
        </p:xfrm>
        <a:graphic>
          <a:graphicData uri="http://schemas.openxmlformats.org/drawingml/2006/table">
            <a:tbl>
              <a:tblPr firstRow="1" bandRow="1">
                <a:tableStyleId>{5C22544A-7EE6-4342-B048-85BDC9FD1C3A}</a:tableStyleId>
              </a:tblPr>
              <a:tblGrid>
                <a:gridCol w="944092">
                  <a:extLst>
                    <a:ext uri="{9D8B030D-6E8A-4147-A177-3AD203B41FA5}">
                      <a16:colId xmlns:a16="http://schemas.microsoft.com/office/drawing/2014/main" val="1418074174"/>
                    </a:ext>
                  </a:extLst>
                </a:gridCol>
              </a:tblGrid>
              <a:tr h="856841">
                <a:tc>
                  <a:txBody>
                    <a:bodyPr/>
                    <a:lstStyle/>
                    <a:p>
                      <a:pPr algn="ctr"/>
                      <a:r>
                        <a:rPr lang="en-US" sz="4400" dirty="0">
                          <a:solidFill>
                            <a:schemeClr val="tx1"/>
                          </a:solidFill>
                        </a:rPr>
                        <a:t>X</a:t>
                      </a:r>
                    </a:p>
                  </a:txBody>
                  <a:tcPr>
                    <a:solidFill>
                      <a:schemeClr val="accent1">
                        <a:lumMod val="40000"/>
                        <a:lumOff val="60000"/>
                      </a:schemeClr>
                    </a:solidFill>
                  </a:tcPr>
                </a:tc>
                <a:extLst>
                  <a:ext uri="{0D108BD9-81ED-4DB2-BD59-A6C34878D82A}">
                    <a16:rowId xmlns:a16="http://schemas.microsoft.com/office/drawing/2014/main" val="3482801913"/>
                  </a:ext>
                </a:extLst>
              </a:tr>
            </a:tbl>
          </a:graphicData>
        </a:graphic>
      </p:graphicFrame>
      <p:graphicFrame>
        <p:nvGraphicFramePr>
          <p:cNvPr id="23" name="Table 22"/>
          <p:cNvGraphicFramePr>
            <a:graphicFrameLocks noGrp="1"/>
          </p:cNvGraphicFramePr>
          <p:nvPr>
            <p:extLst>
              <p:ext uri="{D42A27DB-BD31-4B8C-83A1-F6EECF244321}">
                <p14:modId xmlns:p14="http://schemas.microsoft.com/office/powerpoint/2010/main" val="2716767412"/>
              </p:ext>
            </p:extLst>
          </p:nvPr>
        </p:nvGraphicFramePr>
        <p:xfrm>
          <a:off x="1621350" y="3219065"/>
          <a:ext cx="930297" cy="790803"/>
        </p:xfrm>
        <a:graphic>
          <a:graphicData uri="http://schemas.openxmlformats.org/drawingml/2006/table">
            <a:tbl>
              <a:tblPr firstRow="1" bandRow="1">
                <a:tableStyleId>{5C22544A-7EE6-4342-B048-85BDC9FD1C3A}</a:tableStyleId>
              </a:tblPr>
              <a:tblGrid>
                <a:gridCol w="930297">
                  <a:extLst>
                    <a:ext uri="{9D8B030D-6E8A-4147-A177-3AD203B41FA5}">
                      <a16:colId xmlns:a16="http://schemas.microsoft.com/office/drawing/2014/main" val="1418074174"/>
                    </a:ext>
                  </a:extLst>
                </a:gridCol>
              </a:tblGrid>
              <a:tr h="790803">
                <a:tc>
                  <a:txBody>
                    <a:bodyPr/>
                    <a:lstStyle/>
                    <a:p>
                      <a:pPr algn="ctr"/>
                      <a:r>
                        <a:rPr lang="en-US" sz="4400" dirty="0">
                          <a:solidFill>
                            <a:schemeClr val="tx1"/>
                          </a:solidFill>
                        </a:rPr>
                        <a:t>X</a:t>
                      </a:r>
                    </a:p>
                  </a:txBody>
                  <a:tcPr>
                    <a:solidFill>
                      <a:schemeClr val="accent1">
                        <a:lumMod val="40000"/>
                        <a:lumOff val="60000"/>
                      </a:schemeClr>
                    </a:solidFill>
                  </a:tcPr>
                </a:tc>
                <a:extLst>
                  <a:ext uri="{0D108BD9-81ED-4DB2-BD59-A6C34878D82A}">
                    <a16:rowId xmlns:a16="http://schemas.microsoft.com/office/drawing/2014/main" val="3482801913"/>
                  </a:ext>
                </a:extLst>
              </a:tr>
            </a:tbl>
          </a:graphicData>
        </a:graphic>
      </p:graphicFrame>
      <p:graphicFrame>
        <p:nvGraphicFramePr>
          <p:cNvPr id="26" name="Table 25"/>
          <p:cNvGraphicFramePr>
            <a:graphicFrameLocks noGrp="1"/>
          </p:cNvGraphicFramePr>
          <p:nvPr>
            <p:extLst>
              <p:ext uri="{D42A27DB-BD31-4B8C-83A1-F6EECF244321}">
                <p14:modId xmlns:p14="http://schemas.microsoft.com/office/powerpoint/2010/main" val="2646914267"/>
              </p:ext>
            </p:extLst>
          </p:nvPr>
        </p:nvGraphicFramePr>
        <p:xfrm>
          <a:off x="1608564" y="4010933"/>
          <a:ext cx="944092" cy="856841"/>
        </p:xfrm>
        <a:graphic>
          <a:graphicData uri="http://schemas.openxmlformats.org/drawingml/2006/table">
            <a:tbl>
              <a:tblPr firstRow="1" bandRow="1">
                <a:tableStyleId>{5C22544A-7EE6-4342-B048-85BDC9FD1C3A}</a:tableStyleId>
              </a:tblPr>
              <a:tblGrid>
                <a:gridCol w="944092">
                  <a:extLst>
                    <a:ext uri="{9D8B030D-6E8A-4147-A177-3AD203B41FA5}">
                      <a16:colId xmlns:a16="http://schemas.microsoft.com/office/drawing/2014/main" val="1418074174"/>
                    </a:ext>
                  </a:extLst>
                </a:gridCol>
              </a:tblGrid>
              <a:tr h="856841">
                <a:tc>
                  <a:txBody>
                    <a:bodyPr/>
                    <a:lstStyle/>
                    <a:p>
                      <a:pPr algn="ctr"/>
                      <a:r>
                        <a:rPr lang="en-US" sz="4400" dirty="0">
                          <a:solidFill>
                            <a:schemeClr val="tx1"/>
                          </a:solidFill>
                        </a:rPr>
                        <a:t>O</a:t>
                      </a:r>
                    </a:p>
                  </a:txBody>
                  <a:tcPr>
                    <a:solidFill>
                      <a:schemeClr val="accent1">
                        <a:lumMod val="40000"/>
                        <a:lumOff val="60000"/>
                      </a:schemeClr>
                    </a:solidFill>
                  </a:tcPr>
                </a:tc>
                <a:extLst>
                  <a:ext uri="{0D108BD9-81ED-4DB2-BD59-A6C34878D82A}">
                    <a16:rowId xmlns:a16="http://schemas.microsoft.com/office/drawing/2014/main" val="3482801913"/>
                  </a:ext>
                </a:extLst>
              </a:tr>
            </a:tbl>
          </a:graphicData>
        </a:graphic>
      </p:graphicFrame>
      <p:graphicFrame>
        <p:nvGraphicFramePr>
          <p:cNvPr id="28" name="Table 27"/>
          <p:cNvGraphicFramePr>
            <a:graphicFrameLocks noGrp="1"/>
          </p:cNvGraphicFramePr>
          <p:nvPr>
            <p:extLst>
              <p:ext uri="{D42A27DB-BD31-4B8C-83A1-F6EECF244321}">
                <p14:modId xmlns:p14="http://schemas.microsoft.com/office/powerpoint/2010/main" val="181220054"/>
              </p:ext>
            </p:extLst>
          </p:nvPr>
        </p:nvGraphicFramePr>
        <p:xfrm>
          <a:off x="2566111" y="3174355"/>
          <a:ext cx="944092" cy="835514"/>
        </p:xfrm>
        <a:graphic>
          <a:graphicData uri="http://schemas.openxmlformats.org/drawingml/2006/table">
            <a:tbl>
              <a:tblPr firstRow="1" bandRow="1">
                <a:tableStyleId>{5C22544A-7EE6-4342-B048-85BDC9FD1C3A}</a:tableStyleId>
              </a:tblPr>
              <a:tblGrid>
                <a:gridCol w="944092">
                  <a:extLst>
                    <a:ext uri="{9D8B030D-6E8A-4147-A177-3AD203B41FA5}">
                      <a16:colId xmlns:a16="http://schemas.microsoft.com/office/drawing/2014/main" val="1418074174"/>
                    </a:ext>
                  </a:extLst>
                </a:gridCol>
              </a:tblGrid>
              <a:tr h="835514">
                <a:tc>
                  <a:txBody>
                    <a:bodyPr/>
                    <a:lstStyle/>
                    <a:p>
                      <a:pPr algn="ctr"/>
                      <a:r>
                        <a:rPr lang="en-US" sz="4400" dirty="0">
                          <a:solidFill>
                            <a:schemeClr val="tx1"/>
                          </a:solidFill>
                        </a:rPr>
                        <a:t>O</a:t>
                      </a:r>
                    </a:p>
                  </a:txBody>
                  <a:tcPr>
                    <a:solidFill>
                      <a:schemeClr val="accent1">
                        <a:lumMod val="40000"/>
                        <a:lumOff val="60000"/>
                      </a:schemeClr>
                    </a:solidFill>
                  </a:tcPr>
                </a:tc>
                <a:extLst>
                  <a:ext uri="{0D108BD9-81ED-4DB2-BD59-A6C34878D82A}">
                    <a16:rowId xmlns:a16="http://schemas.microsoft.com/office/drawing/2014/main" val="3482801913"/>
                  </a:ext>
                </a:extLst>
              </a:tr>
            </a:tbl>
          </a:graphicData>
        </a:graphic>
      </p:graphicFrame>
      <p:graphicFrame>
        <p:nvGraphicFramePr>
          <p:cNvPr id="29" name="Table 28"/>
          <p:cNvGraphicFramePr>
            <a:graphicFrameLocks noGrp="1"/>
          </p:cNvGraphicFramePr>
          <p:nvPr>
            <p:extLst>
              <p:ext uri="{D42A27DB-BD31-4B8C-83A1-F6EECF244321}">
                <p14:modId xmlns:p14="http://schemas.microsoft.com/office/powerpoint/2010/main" val="1741902341"/>
              </p:ext>
            </p:extLst>
          </p:nvPr>
        </p:nvGraphicFramePr>
        <p:xfrm>
          <a:off x="1600887" y="2376505"/>
          <a:ext cx="944092" cy="856841"/>
        </p:xfrm>
        <a:graphic>
          <a:graphicData uri="http://schemas.openxmlformats.org/drawingml/2006/table">
            <a:tbl>
              <a:tblPr firstRow="1" bandRow="1">
                <a:tableStyleId>{5C22544A-7EE6-4342-B048-85BDC9FD1C3A}</a:tableStyleId>
              </a:tblPr>
              <a:tblGrid>
                <a:gridCol w="944092">
                  <a:extLst>
                    <a:ext uri="{9D8B030D-6E8A-4147-A177-3AD203B41FA5}">
                      <a16:colId xmlns:a16="http://schemas.microsoft.com/office/drawing/2014/main" val="1418074174"/>
                    </a:ext>
                  </a:extLst>
                </a:gridCol>
              </a:tblGrid>
              <a:tr h="856841">
                <a:tc>
                  <a:txBody>
                    <a:bodyPr/>
                    <a:lstStyle/>
                    <a:p>
                      <a:pPr algn="ctr"/>
                      <a:r>
                        <a:rPr lang="en-US" sz="4400" dirty="0">
                          <a:solidFill>
                            <a:schemeClr val="tx1"/>
                          </a:solidFill>
                        </a:rPr>
                        <a:t>X</a:t>
                      </a:r>
                    </a:p>
                  </a:txBody>
                  <a:tcPr>
                    <a:solidFill>
                      <a:schemeClr val="accent1">
                        <a:lumMod val="40000"/>
                        <a:lumOff val="60000"/>
                      </a:schemeClr>
                    </a:solidFill>
                  </a:tcPr>
                </a:tc>
                <a:extLst>
                  <a:ext uri="{0D108BD9-81ED-4DB2-BD59-A6C34878D82A}">
                    <a16:rowId xmlns:a16="http://schemas.microsoft.com/office/drawing/2014/main" val="3482801913"/>
                  </a:ext>
                </a:extLst>
              </a:tr>
            </a:tbl>
          </a:graphicData>
        </a:graphic>
      </p:graphicFrame>
      <p:graphicFrame>
        <p:nvGraphicFramePr>
          <p:cNvPr id="31" name="Table 30"/>
          <p:cNvGraphicFramePr>
            <a:graphicFrameLocks noGrp="1"/>
          </p:cNvGraphicFramePr>
          <p:nvPr>
            <p:extLst>
              <p:ext uri="{D42A27DB-BD31-4B8C-83A1-F6EECF244321}">
                <p14:modId xmlns:p14="http://schemas.microsoft.com/office/powerpoint/2010/main" val="78130624"/>
              </p:ext>
            </p:extLst>
          </p:nvPr>
        </p:nvGraphicFramePr>
        <p:xfrm>
          <a:off x="642734" y="3146644"/>
          <a:ext cx="944092" cy="856841"/>
        </p:xfrm>
        <a:graphic>
          <a:graphicData uri="http://schemas.openxmlformats.org/drawingml/2006/table">
            <a:tbl>
              <a:tblPr firstRow="1" bandRow="1">
                <a:tableStyleId>{5C22544A-7EE6-4342-B048-85BDC9FD1C3A}</a:tableStyleId>
              </a:tblPr>
              <a:tblGrid>
                <a:gridCol w="944092">
                  <a:extLst>
                    <a:ext uri="{9D8B030D-6E8A-4147-A177-3AD203B41FA5}">
                      <a16:colId xmlns:a16="http://schemas.microsoft.com/office/drawing/2014/main" val="1418074174"/>
                    </a:ext>
                  </a:extLst>
                </a:gridCol>
              </a:tblGrid>
              <a:tr h="856841">
                <a:tc>
                  <a:txBody>
                    <a:bodyPr/>
                    <a:lstStyle/>
                    <a:p>
                      <a:pPr algn="ctr"/>
                      <a:r>
                        <a:rPr lang="en-US" sz="4400" dirty="0">
                          <a:solidFill>
                            <a:schemeClr val="tx1"/>
                          </a:solidFill>
                        </a:rPr>
                        <a:t>X</a:t>
                      </a:r>
                    </a:p>
                  </a:txBody>
                  <a:tcPr>
                    <a:solidFill>
                      <a:schemeClr val="accent1">
                        <a:lumMod val="40000"/>
                        <a:lumOff val="60000"/>
                      </a:schemeClr>
                    </a:solidFill>
                  </a:tcPr>
                </a:tc>
                <a:extLst>
                  <a:ext uri="{0D108BD9-81ED-4DB2-BD59-A6C34878D82A}">
                    <a16:rowId xmlns:a16="http://schemas.microsoft.com/office/drawing/2014/main" val="3482801913"/>
                  </a:ext>
                </a:extLst>
              </a:tr>
            </a:tbl>
          </a:graphicData>
        </a:graphic>
      </p:graphicFrame>
      <p:graphicFrame>
        <p:nvGraphicFramePr>
          <p:cNvPr id="33" name="Table 32"/>
          <p:cNvGraphicFramePr>
            <a:graphicFrameLocks noGrp="1"/>
          </p:cNvGraphicFramePr>
          <p:nvPr>
            <p:extLst>
              <p:ext uri="{D42A27DB-BD31-4B8C-83A1-F6EECF244321}">
                <p14:modId xmlns:p14="http://schemas.microsoft.com/office/powerpoint/2010/main" val="2396921342"/>
              </p:ext>
            </p:extLst>
          </p:nvPr>
        </p:nvGraphicFramePr>
        <p:xfrm>
          <a:off x="650068" y="3999214"/>
          <a:ext cx="944092" cy="856841"/>
        </p:xfrm>
        <a:graphic>
          <a:graphicData uri="http://schemas.openxmlformats.org/drawingml/2006/table">
            <a:tbl>
              <a:tblPr firstRow="1" bandRow="1">
                <a:tableStyleId>{5C22544A-7EE6-4342-B048-85BDC9FD1C3A}</a:tableStyleId>
              </a:tblPr>
              <a:tblGrid>
                <a:gridCol w="944092">
                  <a:extLst>
                    <a:ext uri="{9D8B030D-6E8A-4147-A177-3AD203B41FA5}">
                      <a16:colId xmlns:a16="http://schemas.microsoft.com/office/drawing/2014/main" val="1418074174"/>
                    </a:ext>
                  </a:extLst>
                </a:gridCol>
              </a:tblGrid>
              <a:tr h="856841">
                <a:tc>
                  <a:txBody>
                    <a:bodyPr/>
                    <a:lstStyle/>
                    <a:p>
                      <a:pPr algn="ctr"/>
                      <a:r>
                        <a:rPr lang="en-US" sz="4400" dirty="0">
                          <a:solidFill>
                            <a:schemeClr val="tx1"/>
                          </a:solidFill>
                        </a:rPr>
                        <a:t>X</a:t>
                      </a:r>
                    </a:p>
                  </a:txBody>
                  <a:tcPr>
                    <a:solidFill>
                      <a:schemeClr val="accent1">
                        <a:lumMod val="40000"/>
                        <a:lumOff val="60000"/>
                      </a:schemeClr>
                    </a:solidFill>
                  </a:tcPr>
                </a:tc>
                <a:extLst>
                  <a:ext uri="{0D108BD9-81ED-4DB2-BD59-A6C34878D82A}">
                    <a16:rowId xmlns:a16="http://schemas.microsoft.com/office/drawing/2014/main" val="3482801913"/>
                  </a:ext>
                </a:extLst>
              </a:tr>
            </a:tbl>
          </a:graphicData>
        </a:graphic>
      </p:graphicFrame>
      <p:graphicFrame>
        <p:nvGraphicFramePr>
          <p:cNvPr id="34" name="Table 33"/>
          <p:cNvGraphicFramePr>
            <a:graphicFrameLocks noGrp="1"/>
          </p:cNvGraphicFramePr>
          <p:nvPr>
            <p:extLst>
              <p:ext uri="{D42A27DB-BD31-4B8C-83A1-F6EECF244321}">
                <p14:modId xmlns:p14="http://schemas.microsoft.com/office/powerpoint/2010/main" val="2112773582"/>
              </p:ext>
            </p:extLst>
          </p:nvPr>
        </p:nvGraphicFramePr>
        <p:xfrm>
          <a:off x="636066" y="2367092"/>
          <a:ext cx="944092" cy="856841"/>
        </p:xfrm>
        <a:graphic>
          <a:graphicData uri="http://schemas.openxmlformats.org/drawingml/2006/table">
            <a:tbl>
              <a:tblPr firstRow="1" bandRow="1">
                <a:tableStyleId>{5C22544A-7EE6-4342-B048-85BDC9FD1C3A}</a:tableStyleId>
              </a:tblPr>
              <a:tblGrid>
                <a:gridCol w="944092">
                  <a:extLst>
                    <a:ext uri="{9D8B030D-6E8A-4147-A177-3AD203B41FA5}">
                      <a16:colId xmlns:a16="http://schemas.microsoft.com/office/drawing/2014/main" val="1418074174"/>
                    </a:ext>
                  </a:extLst>
                </a:gridCol>
              </a:tblGrid>
              <a:tr h="856841">
                <a:tc>
                  <a:txBody>
                    <a:bodyPr/>
                    <a:lstStyle/>
                    <a:p>
                      <a:pPr algn="ctr"/>
                      <a:r>
                        <a:rPr lang="en-US" sz="4400" dirty="0">
                          <a:solidFill>
                            <a:schemeClr val="tx1"/>
                          </a:solidFill>
                        </a:rPr>
                        <a:t>O</a:t>
                      </a:r>
                    </a:p>
                  </a:txBody>
                  <a:tcPr>
                    <a:solidFill>
                      <a:schemeClr val="accent1">
                        <a:lumMod val="40000"/>
                        <a:lumOff val="60000"/>
                      </a:schemeClr>
                    </a:solidFill>
                  </a:tcPr>
                </a:tc>
                <a:extLst>
                  <a:ext uri="{0D108BD9-81ED-4DB2-BD59-A6C34878D82A}">
                    <a16:rowId xmlns:a16="http://schemas.microsoft.com/office/drawing/2014/main" val="3482801913"/>
                  </a:ext>
                </a:extLst>
              </a:tr>
            </a:tbl>
          </a:graphicData>
        </a:graphic>
      </p:graphicFrame>
      <p:graphicFrame>
        <p:nvGraphicFramePr>
          <p:cNvPr id="36" name="Table 35"/>
          <p:cNvGraphicFramePr>
            <a:graphicFrameLocks noGrp="1"/>
          </p:cNvGraphicFramePr>
          <p:nvPr>
            <p:extLst>
              <p:ext uri="{D42A27DB-BD31-4B8C-83A1-F6EECF244321}">
                <p14:modId xmlns:p14="http://schemas.microsoft.com/office/powerpoint/2010/main" val="1452114771"/>
              </p:ext>
            </p:extLst>
          </p:nvPr>
        </p:nvGraphicFramePr>
        <p:xfrm>
          <a:off x="2567060" y="2381840"/>
          <a:ext cx="944092" cy="856841"/>
        </p:xfrm>
        <a:graphic>
          <a:graphicData uri="http://schemas.openxmlformats.org/drawingml/2006/table">
            <a:tbl>
              <a:tblPr firstRow="1" bandRow="1">
                <a:tableStyleId>{5C22544A-7EE6-4342-B048-85BDC9FD1C3A}</a:tableStyleId>
              </a:tblPr>
              <a:tblGrid>
                <a:gridCol w="944092">
                  <a:extLst>
                    <a:ext uri="{9D8B030D-6E8A-4147-A177-3AD203B41FA5}">
                      <a16:colId xmlns:a16="http://schemas.microsoft.com/office/drawing/2014/main" val="1418074174"/>
                    </a:ext>
                  </a:extLst>
                </a:gridCol>
              </a:tblGrid>
              <a:tr h="856841">
                <a:tc>
                  <a:txBody>
                    <a:bodyPr/>
                    <a:lstStyle/>
                    <a:p>
                      <a:pPr algn="ctr"/>
                      <a:r>
                        <a:rPr lang="en-US" sz="4400" dirty="0">
                          <a:solidFill>
                            <a:schemeClr val="tx1"/>
                          </a:solidFill>
                        </a:rPr>
                        <a:t>O</a:t>
                      </a:r>
                    </a:p>
                  </a:txBody>
                  <a:tcPr>
                    <a:solidFill>
                      <a:schemeClr val="accent1">
                        <a:lumMod val="40000"/>
                        <a:lumOff val="60000"/>
                      </a:schemeClr>
                    </a:solidFill>
                  </a:tcPr>
                </a:tc>
                <a:extLst>
                  <a:ext uri="{0D108BD9-81ED-4DB2-BD59-A6C34878D82A}">
                    <a16:rowId xmlns:a16="http://schemas.microsoft.com/office/drawing/2014/main" val="3482801913"/>
                  </a:ext>
                </a:extLst>
              </a:tr>
            </a:tbl>
          </a:graphicData>
        </a:graphic>
      </p:graphicFrame>
      <p:graphicFrame>
        <p:nvGraphicFramePr>
          <p:cNvPr id="37" name="Table 36"/>
          <p:cNvGraphicFramePr>
            <a:graphicFrameLocks noGrp="1"/>
          </p:cNvGraphicFramePr>
          <p:nvPr>
            <p:extLst>
              <p:ext uri="{D42A27DB-BD31-4B8C-83A1-F6EECF244321}">
                <p14:modId xmlns:p14="http://schemas.microsoft.com/office/powerpoint/2010/main" val="2090198666"/>
              </p:ext>
            </p:extLst>
          </p:nvPr>
        </p:nvGraphicFramePr>
        <p:xfrm>
          <a:off x="5552296" y="2376505"/>
          <a:ext cx="2889894" cy="2468880"/>
        </p:xfrm>
        <a:graphic>
          <a:graphicData uri="http://schemas.openxmlformats.org/drawingml/2006/table">
            <a:tbl>
              <a:tblPr firstRow="1" bandRow="1">
                <a:tableStyleId>{5C22544A-7EE6-4342-B048-85BDC9FD1C3A}</a:tableStyleId>
              </a:tblPr>
              <a:tblGrid>
                <a:gridCol w="963298">
                  <a:extLst>
                    <a:ext uri="{9D8B030D-6E8A-4147-A177-3AD203B41FA5}">
                      <a16:colId xmlns:a16="http://schemas.microsoft.com/office/drawing/2014/main" val="1042467596"/>
                    </a:ext>
                  </a:extLst>
                </a:gridCol>
                <a:gridCol w="963298">
                  <a:extLst>
                    <a:ext uri="{9D8B030D-6E8A-4147-A177-3AD203B41FA5}">
                      <a16:colId xmlns:a16="http://schemas.microsoft.com/office/drawing/2014/main" val="717668830"/>
                    </a:ext>
                  </a:extLst>
                </a:gridCol>
                <a:gridCol w="963298">
                  <a:extLst>
                    <a:ext uri="{9D8B030D-6E8A-4147-A177-3AD203B41FA5}">
                      <a16:colId xmlns:a16="http://schemas.microsoft.com/office/drawing/2014/main" val="1677919518"/>
                    </a:ext>
                  </a:extLst>
                </a:gridCol>
              </a:tblGrid>
              <a:tr h="784833">
                <a:tc>
                  <a:txBody>
                    <a:bodyPr/>
                    <a:lstStyle/>
                    <a:p>
                      <a:pPr algn="ctr"/>
                      <a:endParaRPr lang="en-US" sz="4800" dirty="0"/>
                    </a:p>
                  </a:txBody>
                  <a:tcPr>
                    <a:solidFill>
                      <a:schemeClr val="tx2">
                        <a:lumMod val="20000"/>
                        <a:lumOff val="80000"/>
                      </a:schemeClr>
                    </a:solidFill>
                  </a:tcPr>
                </a:tc>
                <a:tc>
                  <a:txBody>
                    <a:bodyPr/>
                    <a:lstStyle/>
                    <a:p>
                      <a:pPr algn="ctr"/>
                      <a:endParaRPr lang="en-US" sz="4800"/>
                    </a:p>
                  </a:txBody>
                  <a:tcPr>
                    <a:solidFill>
                      <a:schemeClr val="tx2">
                        <a:lumMod val="20000"/>
                        <a:lumOff val="80000"/>
                      </a:schemeClr>
                    </a:solidFill>
                  </a:tcPr>
                </a:tc>
                <a:tc>
                  <a:txBody>
                    <a:bodyPr/>
                    <a:lstStyle/>
                    <a:p>
                      <a:pPr algn="ctr"/>
                      <a:endParaRPr lang="en-US" sz="4800"/>
                    </a:p>
                  </a:txBody>
                  <a:tcPr>
                    <a:solidFill>
                      <a:schemeClr val="tx2">
                        <a:lumMod val="20000"/>
                        <a:lumOff val="80000"/>
                      </a:schemeClr>
                    </a:solidFill>
                  </a:tcPr>
                </a:tc>
                <a:extLst>
                  <a:ext uri="{0D108BD9-81ED-4DB2-BD59-A6C34878D82A}">
                    <a16:rowId xmlns:a16="http://schemas.microsoft.com/office/drawing/2014/main" val="1998619331"/>
                  </a:ext>
                </a:extLst>
              </a:tr>
              <a:tr h="717662">
                <a:tc>
                  <a:txBody>
                    <a:bodyPr/>
                    <a:lstStyle/>
                    <a:p>
                      <a:pPr algn="ctr"/>
                      <a:endParaRPr lang="en-US" sz="4800" dirty="0"/>
                    </a:p>
                  </a:txBody>
                  <a:tcPr>
                    <a:solidFill>
                      <a:schemeClr val="tx2">
                        <a:lumMod val="20000"/>
                        <a:lumOff val="80000"/>
                      </a:schemeClr>
                    </a:solidFill>
                  </a:tcPr>
                </a:tc>
                <a:tc>
                  <a:txBody>
                    <a:bodyPr/>
                    <a:lstStyle/>
                    <a:p>
                      <a:pPr algn="ctr"/>
                      <a:endParaRPr lang="en-US" sz="4800" dirty="0"/>
                    </a:p>
                  </a:txBody>
                  <a:tcPr>
                    <a:solidFill>
                      <a:schemeClr val="tx2">
                        <a:lumMod val="20000"/>
                        <a:lumOff val="80000"/>
                      </a:schemeClr>
                    </a:solidFill>
                  </a:tcPr>
                </a:tc>
                <a:tc>
                  <a:txBody>
                    <a:bodyPr/>
                    <a:lstStyle/>
                    <a:p>
                      <a:pPr algn="ctr"/>
                      <a:endParaRPr lang="en-US" sz="4800"/>
                    </a:p>
                  </a:txBody>
                  <a:tcPr>
                    <a:solidFill>
                      <a:schemeClr val="tx2">
                        <a:lumMod val="20000"/>
                        <a:lumOff val="80000"/>
                      </a:schemeClr>
                    </a:solidFill>
                  </a:tcPr>
                </a:tc>
                <a:extLst>
                  <a:ext uri="{0D108BD9-81ED-4DB2-BD59-A6C34878D82A}">
                    <a16:rowId xmlns:a16="http://schemas.microsoft.com/office/drawing/2014/main" val="462937795"/>
                  </a:ext>
                </a:extLst>
              </a:tr>
              <a:tr h="717662">
                <a:tc>
                  <a:txBody>
                    <a:bodyPr/>
                    <a:lstStyle/>
                    <a:p>
                      <a:pPr algn="ctr"/>
                      <a:endParaRPr lang="en-US" sz="4800"/>
                    </a:p>
                  </a:txBody>
                  <a:tcPr>
                    <a:solidFill>
                      <a:schemeClr val="tx2">
                        <a:lumMod val="20000"/>
                        <a:lumOff val="80000"/>
                      </a:schemeClr>
                    </a:solidFill>
                  </a:tcPr>
                </a:tc>
                <a:tc>
                  <a:txBody>
                    <a:bodyPr/>
                    <a:lstStyle/>
                    <a:p>
                      <a:pPr algn="ctr"/>
                      <a:endParaRPr lang="en-US" sz="4800" dirty="0"/>
                    </a:p>
                  </a:txBody>
                  <a:tcPr>
                    <a:solidFill>
                      <a:schemeClr val="tx2">
                        <a:lumMod val="20000"/>
                        <a:lumOff val="80000"/>
                      </a:schemeClr>
                    </a:solidFill>
                  </a:tcPr>
                </a:tc>
                <a:tc>
                  <a:txBody>
                    <a:bodyPr/>
                    <a:lstStyle/>
                    <a:p>
                      <a:pPr algn="ctr"/>
                      <a:endParaRPr lang="en-US" sz="4800" dirty="0"/>
                    </a:p>
                  </a:txBody>
                  <a:tcPr>
                    <a:solidFill>
                      <a:schemeClr val="tx2">
                        <a:lumMod val="20000"/>
                        <a:lumOff val="80000"/>
                      </a:schemeClr>
                    </a:solidFill>
                  </a:tcPr>
                </a:tc>
                <a:extLst>
                  <a:ext uri="{0D108BD9-81ED-4DB2-BD59-A6C34878D82A}">
                    <a16:rowId xmlns:a16="http://schemas.microsoft.com/office/drawing/2014/main" val="1127584427"/>
                  </a:ext>
                </a:extLst>
              </a:tr>
            </a:tbl>
          </a:graphicData>
        </a:graphic>
      </p:graphicFrame>
      <p:graphicFrame>
        <p:nvGraphicFramePr>
          <p:cNvPr id="38" name="Table 37"/>
          <p:cNvGraphicFramePr>
            <a:graphicFrameLocks noGrp="1"/>
          </p:cNvGraphicFramePr>
          <p:nvPr>
            <p:extLst>
              <p:ext uri="{D42A27DB-BD31-4B8C-83A1-F6EECF244321}">
                <p14:modId xmlns:p14="http://schemas.microsoft.com/office/powerpoint/2010/main" val="1375967234"/>
              </p:ext>
            </p:extLst>
          </p:nvPr>
        </p:nvGraphicFramePr>
        <p:xfrm>
          <a:off x="6529631" y="4009869"/>
          <a:ext cx="944092" cy="856841"/>
        </p:xfrm>
        <a:graphic>
          <a:graphicData uri="http://schemas.openxmlformats.org/drawingml/2006/table">
            <a:tbl>
              <a:tblPr firstRow="1" bandRow="1">
                <a:tableStyleId>{5C22544A-7EE6-4342-B048-85BDC9FD1C3A}</a:tableStyleId>
              </a:tblPr>
              <a:tblGrid>
                <a:gridCol w="944092">
                  <a:extLst>
                    <a:ext uri="{9D8B030D-6E8A-4147-A177-3AD203B41FA5}">
                      <a16:colId xmlns:a16="http://schemas.microsoft.com/office/drawing/2014/main" val="1418074174"/>
                    </a:ext>
                  </a:extLst>
                </a:gridCol>
              </a:tblGrid>
              <a:tr h="856841">
                <a:tc>
                  <a:txBody>
                    <a:bodyPr/>
                    <a:lstStyle/>
                    <a:p>
                      <a:pPr algn="ctr"/>
                      <a:r>
                        <a:rPr lang="en-US" sz="4400" dirty="0">
                          <a:solidFill>
                            <a:schemeClr val="tx1"/>
                          </a:solidFill>
                        </a:rPr>
                        <a:t>X</a:t>
                      </a:r>
                    </a:p>
                  </a:txBody>
                  <a:tcPr>
                    <a:solidFill>
                      <a:schemeClr val="accent1">
                        <a:lumMod val="40000"/>
                        <a:lumOff val="60000"/>
                      </a:schemeClr>
                    </a:solidFill>
                  </a:tcPr>
                </a:tc>
                <a:extLst>
                  <a:ext uri="{0D108BD9-81ED-4DB2-BD59-A6C34878D82A}">
                    <a16:rowId xmlns:a16="http://schemas.microsoft.com/office/drawing/2014/main" val="3482801913"/>
                  </a:ext>
                </a:extLst>
              </a:tr>
            </a:tbl>
          </a:graphicData>
        </a:graphic>
      </p:graphicFrame>
      <p:graphicFrame>
        <p:nvGraphicFramePr>
          <p:cNvPr id="39" name="Table 38"/>
          <p:cNvGraphicFramePr>
            <a:graphicFrameLocks noGrp="1"/>
          </p:cNvGraphicFramePr>
          <p:nvPr>
            <p:extLst>
              <p:ext uri="{D42A27DB-BD31-4B8C-83A1-F6EECF244321}">
                <p14:modId xmlns:p14="http://schemas.microsoft.com/office/powerpoint/2010/main" val="1356410878"/>
              </p:ext>
            </p:extLst>
          </p:nvPr>
        </p:nvGraphicFramePr>
        <p:xfrm>
          <a:off x="6525197" y="3182525"/>
          <a:ext cx="944092" cy="826570"/>
        </p:xfrm>
        <a:graphic>
          <a:graphicData uri="http://schemas.openxmlformats.org/drawingml/2006/table">
            <a:tbl>
              <a:tblPr firstRow="1" bandRow="1">
                <a:tableStyleId>{5C22544A-7EE6-4342-B048-85BDC9FD1C3A}</a:tableStyleId>
              </a:tblPr>
              <a:tblGrid>
                <a:gridCol w="944092">
                  <a:extLst>
                    <a:ext uri="{9D8B030D-6E8A-4147-A177-3AD203B41FA5}">
                      <a16:colId xmlns:a16="http://schemas.microsoft.com/office/drawing/2014/main" val="1418074174"/>
                    </a:ext>
                  </a:extLst>
                </a:gridCol>
              </a:tblGrid>
              <a:tr h="826570">
                <a:tc>
                  <a:txBody>
                    <a:bodyPr/>
                    <a:lstStyle/>
                    <a:p>
                      <a:pPr algn="ctr"/>
                      <a:r>
                        <a:rPr lang="en-US" sz="4400" dirty="0">
                          <a:solidFill>
                            <a:schemeClr val="tx1"/>
                          </a:solidFill>
                        </a:rPr>
                        <a:t>X</a:t>
                      </a:r>
                    </a:p>
                  </a:txBody>
                  <a:tcPr>
                    <a:solidFill>
                      <a:schemeClr val="accent1">
                        <a:lumMod val="40000"/>
                        <a:lumOff val="60000"/>
                      </a:schemeClr>
                    </a:solidFill>
                  </a:tcPr>
                </a:tc>
                <a:extLst>
                  <a:ext uri="{0D108BD9-81ED-4DB2-BD59-A6C34878D82A}">
                    <a16:rowId xmlns:a16="http://schemas.microsoft.com/office/drawing/2014/main" val="3482801913"/>
                  </a:ext>
                </a:extLst>
              </a:tr>
            </a:tbl>
          </a:graphicData>
        </a:graphic>
      </p:graphicFrame>
      <p:graphicFrame>
        <p:nvGraphicFramePr>
          <p:cNvPr id="40" name="Table 39"/>
          <p:cNvGraphicFramePr>
            <a:graphicFrameLocks noGrp="1"/>
          </p:cNvGraphicFramePr>
          <p:nvPr>
            <p:extLst>
              <p:ext uri="{D42A27DB-BD31-4B8C-83A1-F6EECF244321}">
                <p14:modId xmlns:p14="http://schemas.microsoft.com/office/powerpoint/2010/main" val="1483150619"/>
              </p:ext>
            </p:extLst>
          </p:nvPr>
        </p:nvGraphicFramePr>
        <p:xfrm>
          <a:off x="7512502" y="2374313"/>
          <a:ext cx="944092" cy="856841"/>
        </p:xfrm>
        <a:graphic>
          <a:graphicData uri="http://schemas.openxmlformats.org/drawingml/2006/table">
            <a:tbl>
              <a:tblPr firstRow="1" bandRow="1">
                <a:tableStyleId>{5C22544A-7EE6-4342-B048-85BDC9FD1C3A}</a:tableStyleId>
              </a:tblPr>
              <a:tblGrid>
                <a:gridCol w="944092">
                  <a:extLst>
                    <a:ext uri="{9D8B030D-6E8A-4147-A177-3AD203B41FA5}">
                      <a16:colId xmlns:a16="http://schemas.microsoft.com/office/drawing/2014/main" val="1418074174"/>
                    </a:ext>
                  </a:extLst>
                </a:gridCol>
              </a:tblGrid>
              <a:tr h="856841">
                <a:tc>
                  <a:txBody>
                    <a:bodyPr/>
                    <a:lstStyle/>
                    <a:p>
                      <a:pPr algn="ctr"/>
                      <a:r>
                        <a:rPr lang="en-US" sz="4400" dirty="0">
                          <a:solidFill>
                            <a:schemeClr val="tx1"/>
                          </a:solidFill>
                        </a:rPr>
                        <a:t>O</a:t>
                      </a:r>
                    </a:p>
                  </a:txBody>
                  <a:tcPr>
                    <a:solidFill>
                      <a:schemeClr val="accent1">
                        <a:lumMod val="40000"/>
                        <a:lumOff val="60000"/>
                      </a:schemeClr>
                    </a:solidFill>
                  </a:tcPr>
                </a:tc>
                <a:extLst>
                  <a:ext uri="{0D108BD9-81ED-4DB2-BD59-A6C34878D82A}">
                    <a16:rowId xmlns:a16="http://schemas.microsoft.com/office/drawing/2014/main" val="3482801913"/>
                  </a:ext>
                </a:extLst>
              </a:tr>
            </a:tbl>
          </a:graphicData>
        </a:graphic>
      </p:graphicFrame>
      <p:graphicFrame>
        <p:nvGraphicFramePr>
          <p:cNvPr id="41" name="Table 40"/>
          <p:cNvGraphicFramePr>
            <a:graphicFrameLocks noGrp="1"/>
          </p:cNvGraphicFramePr>
          <p:nvPr>
            <p:extLst>
              <p:ext uri="{D42A27DB-BD31-4B8C-83A1-F6EECF244321}">
                <p14:modId xmlns:p14="http://schemas.microsoft.com/office/powerpoint/2010/main" val="716599523"/>
              </p:ext>
            </p:extLst>
          </p:nvPr>
        </p:nvGraphicFramePr>
        <p:xfrm>
          <a:off x="5548458" y="3219066"/>
          <a:ext cx="944092" cy="790028"/>
        </p:xfrm>
        <a:graphic>
          <a:graphicData uri="http://schemas.openxmlformats.org/drawingml/2006/table">
            <a:tbl>
              <a:tblPr firstRow="1" bandRow="1">
                <a:tableStyleId>{5C22544A-7EE6-4342-B048-85BDC9FD1C3A}</a:tableStyleId>
              </a:tblPr>
              <a:tblGrid>
                <a:gridCol w="944092">
                  <a:extLst>
                    <a:ext uri="{9D8B030D-6E8A-4147-A177-3AD203B41FA5}">
                      <a16:colId xmlns:a16="http://schemas.microsoft.com/office/drawing/2014/main" val="1418074174"/>
                    </a:ext>
                  </a:extLst>
                </a:gridCol>
              </a:tblGrid>
              <a:tr h="790028">
                <a:tc>
                  <a:txBody>
                    <a:bodyPr/>
                    <a:lstStyle/>
                    <a:p>
                      <a:pPr algn="ctr"/>
                      <a:r>
                        <a:rPr lang="en-US" sz="4400" dirty="0">
                          <a:solidFill>
                            <a:schemeClr val="tx1"/>
                          </a:solidFill>
                        </a:rPr>
                        <a:t>O</a:t>
                      </a:r>
                    </a:p>
                  </a:txBody>
                  <a:tcPr>
                    <a:solidFill>
                      <a:schemeClr val="accent1">
                        <a:lumMod val="40000"/>
                        <a:lumOff val="60000"/>
                      </a:schemeClr>
                    </a:solidFill>
                  </a:tcPr>
                </a:tc>
                <a:extLst>
                  <a:ext uri="{0D108BD9-81ED-4DB2-BD59-A6C34878D82A}">
                    <a16:rowId xmlns:a16="http://schemas.microsoft.com/office/drawing/2014/main" val="3482801913"/>
                  </a:ext>
                </a:extLst>
              </a:tr>
            </a:tbl>
          </a:graphicData>
        </a:graphic>
      </p:graphicFrame>
      <p:graphicFrame>
        <p:nvGraphicFramePr>
          <p:cNvPr id="42" name="Table 41"/>
          <p:cNvGraphicFramePr>
            <a:graphicFrameLocks noGrp="1"/>
          </p:cNvGraphicFramePr>
          <p:nvPr>
            <p:extLst>
              <p:ext uri="{D42A27DB-BD31-4B8C-83A1-F6EECF244321}">
                <p14:modId xmlns:p14="http://schemas.microsoft.com/office/powerpoint/2010/main" val="659756919"/>
              </p:ext>
            </p:extLst>
          </p:nvPr>
        </p:nvGraphicFramePr>
        <p:xfrm>
          <a:off x="5548802" y="4018847"/>
          <a:ext cx="944092" cy="856841"/>
        </p:xfrm>
        <a:graphic>
          <a:graphicData uri="http://schemas.openxmlformats.org/drawingml/2006/table">
            <a:tbl>
              <a:tblPr firstRow="1" bandRow="1">
                <a:tableStyleId>{5C22544A-7EE6-4342-B048-85BDC9FD1C3A}</a:tableStyleId>
              </a:tblPr>
              <a:tblGrid>
                <a:gridCol w="944092">
                  <a:extLst>
                    <a:ext uri="{9D8B030D-6E8A-4147-A177-3AD203B41FA5}">
                      <a16:colId xmlns:a16="http://schemas.microsoft.com/office/drawing/2014/main" val="1418074174"/>
                    </a:ext>
                  </a:extLst>
                </a:gridCol>
              </a:tblGrid>
              <a:tr h="856841">
                <a:tc>
                  <a:txBody>
                    <a:bodyPr/>
                    <a:lstStyle/>
                    <a:p>
                      <a:pPr algn="ctr"/>
                      <a:r>
                        <a:rPr lang="en-US" sz="4400" dirty="0">
                          <a:solidFill>
                            <a:schemeClr val="tx1"/>
                          </a:solidFill>
                        </a:rPr>
                        <a:t>X</a:t>
                      </a:r>
                    </a:p>
                  </a:txBody>
                  <a:tcPr>
                    <a:solidFill>
                      <a:schemeClr val="accent1">
                        <a:lumMod val="40000"/>
                        <a:lumOff val="60000"/>
                      </a:schemeClr>
                    </a:solidFill>
                  </a:tcPr>
                </a:tc>
                <a:extLst>
                  <a:ext uri="{0D108BD9-81ED-4DB2-BD59-A6C34878D82A}">
                    <a16:rowId xmlns:a16="http://schemas.microsoft.com/office/drawing/2014/main" val="3482801913"/>
                  </a:ext>
                </a:extLst>
              </a:tr>
            </a:tbl>
          </a:graphicData>
        </a:graphic>
      </p:graphicFrame>
      <p:graphicFrame>
        <p:nvGraphicFramePr>
          <p:cNvPr id="43" name="Table 42"/>
          <p:cNvGraphicFramePr>
            <a:graphicFrameLocks noGrp="1"/>
          </p:cNvGraphicFramePr>
          <p:nvPr>
            <p:extLst>
              <p:ext uri="{D42A27DB-BD31-4B8C-83A1-F6EECF244321}">
                <p14:modId xmlns:p14="http://schemas.microsoft.com/office/powerpoint/2010/main" val="2283348047"/>
              </p:ext>
            </p:extLst>
          </p:nvPr>
        </p:nvGraphicFramePr>
        <p:xfrm>
          <a:off x="7503813" y="3231154"/>
          <a:ext cx="944092" cy="856841"/>
        </p:xfrm>
        <a:graphic>
          <a:graphicData uri="http://schemas.openxmlformats.org/drawingml/2006/table">
            <a:tbl>
              <a:tblPr firstRow="1" bandRow="1">
                <a:tableStyleId>{5C22544A-7EE6-4342-B048-85BDC9FD1C3A}</a:tableStyleId>
              </a:tblPr>
              <a:tblGrid>
                <a:gridCol w="944092">
                  <a:extLst>
                    <a:ext uri="{9D8B030D-6E8A-4147-A177-3AD203B41FA5}">
                      <a16:colId xmlns:a16="http://schemas.microsoft.com/office/drawing/2014/main" val="1418074174"/>
                    </a:ext>
                  </a:extLst>
                </a:gridCol>
              </a:tblGrid>
              <a:tr h="856841">
                <a:tc>
                  <a:txBody>
                    <a:bodyPr/>
                    <a:lstStyle/>
                    <a:p>
                      <a:pPr algn="ctr"/>
                      <a:r>
                        <a:rPr lang="en-US" sz="4400" dirty="0">
                          <a:solidFill>
                            <a:schemeClr val="tx1"/>
                          </a:solidFill>
                        </a:rPr>
                        <a:t>X</a:t>
                      </a:r>
                    </a:p>
                  </a:txBody>
                  <a:tcPr>
                    <a:solidFill>
                      <a:schemeClr val="accent1">
                        <a:lumMod val="40000"/>
                        <a:lumOff val="60000"/>
                      </a:schemeClr>
                    </a:solidFill>
                  </a:tcPr>
                </a:tc>
                <a:extLst>
                  <a:ext uri="{0D108BD9-81ED-4DB2-BD59-A6C34878D82A}">
                    <a16:rowId xmlns:a16="http://schemas.microsoft.com/office/drawing/2014/main" val="3482801913"/>
                  </a:ext>
                </a:extLst>
              </a:tr>
            </a:tbl>
          </a:graphicData>
        </a:graphic>
      </p:graphicFrame>
      <p:graphicFrame>
        <p:nvGraphicFramePr>
          <p:cNvPr id="44" name="Table 43"/>
          <p:cNvGraphicFramePr>
            <a:graphicFrameLocks noGrp="1"/>
          </p:cNvGraphicFramePr>
          <p:nvPr>
            <p:extLst>
              <p:ext uri="{D42A27DB-BD31-4B8C-83A1-F6EECF244321}">
                <p14:modId xmlns:p14="http://schemas.microsoft.com/office/powerpoint/2010/main" val="975748377"/>
              </p:ext>
            </p:extLst>
          </p:nvPr>
        </p:nvGraphicFramePr>
        <p:xfrm>
          <a:off x="5549974" y="2366181"/>
          <a:ext cx="944092" cy="856841"/>
        </p:xfrm>
        <a:graphic>
          <a:graphicData uri="http://schemas.openxmlformats.org/drawingml/2006/table">
            <a:tbl>
              <a:tblPr firstRow="1" bandRow="1">
                <a:tableStyleId>{5C22544A-7EE6-4342-B048-85BDC9FD1C3A}</a:tableStyleId>
              </a:tblPr>
              <a:tblGrid>
                <a:gridCol w="944092">
                  <a:extLst>
                    <a:ext uri="{9D8B030D-6E8A-4147-A177-3AD203B41FA5}">
                      <a16:colId xmlns:a16="http://schemas.microsoft.com/office/drawing/2014/main" val="1418074174"/>
                    </a:ext>
                  </a:extLst>
                </a:gridCol>
              </a:tblGrid>
              <a:tr h="856841">
                <a:tc>
                  <a:txBody>
                    <a:bodyPr/>
                    <a:lstStyle/>
                    <a:p>
                      <a:pPr algn="ctr"/>
                      <a:r>
                        <a:rPr lang="en-US" sz="4400" dirty="0">
                          <a:solidFill>
                            <a:schemeClr val="tx1"/>
                          </a:solidFill>
                        </a:rPr>
                        <a:t>X</a:t>
                      </a:r>
                    </a:p>
                  </a:txBody>
                  <a:tcPr>
                    <a:solidFill>
                      <a:schemeClr val="accent1">
                        <a:lumMod val="40000"/>
                        <a:lumOff val="60000"/>
                      </a:schemeClr>
                    </a:solidFill>
                  </a:tcPr>
                </a:tc>
                <a:extLst>
                  <a:ext uri="{0D108BD9-81ED-4DB2-BD59-A6C34878D82A}">
                    <a16:rowId xmlns:a16="http://schemas.microsoft.com/office/drawing/2014/main" val="3482801913"/>
                  </a:ext>
                </a:extLst>
              </a:tr>
            </a:tbl>
          </a:graphicData>
        </a:graphic>
      </p:graphicFrame>
      <p:graphicFrame>
        <p:nvGraphicFramePr>
          <p:cNvPr id="45" name="Table 44"/>
          <p:cNvGraphicFramePr>
            <a:graphicFrameLocks noGrp="1"/>
          </p:cNvGraphicFramePr>
          <p:nvPr>
            <p:extLst>
              <p:ext uri="{D42A27DB-BD31-4B8C-83A1-F6EECF244321}">
                <p14:modId xmlns:p14="http://schemas.microsoft.com/office/powerpoint/2010/main" val="2461466757"/>
              </p:ext>
            </p:extLst>
          </p:nvPr>
        </p:nvGraphicFramePr>
        <p:xfrm>
          <a:off x="6539601" y="2366182"/>
          <a:ext cx="944092" cy="856841"/>
        </p:xfrm>
        <a:graphic>
          <a:graphicData uri="http://schemas.openxmlformats.org/drawingml/2006/table">
            <a:tbl>
              <a:tblPr firstRow="1" bandRow="1">
                <a:tableStyleId>{5C22544A-7EE6-4342-B048-85BDC9FD1C3A}</a:tableStyleId>
              </a:tblPr>
              <a:tblGrid>
                <a:gridCol w="944092">
                  <a:extLst>
                    <a:ext uri="{9D8B030D-6E8A-4147-A177-3AD203B41FA5}">
                      <a16:colId xmlns:a16="http://schemas.microsoft.com/office/drawing/2014/main" val="1418074174"/>
                    </a:ext>
                  </a:extLst>
                </a:gridCol>
              </a:tblGrid>
              <a:tr h="856841">
                <a:tc>
                  <a:txBody>
                    <a:bodyPr/>
                    <a:lstStyle/>
                    <a:p>
                      <a:pPr algn="ctr"/>
                      <a:r>
                        <a:rPr lang="en-US" sz="4400" dirty="0">
                          <a:solidFill>
                            <a:schemeClr val="tx1"/>
                          </a:solidFill>
                        </a:rPr>
                        <a:t>O</a:t>
                      </a:r>
                    </a:p>
                  </a:txBody>
                  <a:tcPr>
                    <a:solidFill>
                      <a:schemeClr val="accent1">
                        <a:lumMod val="40000"/>
                        <a:lumOff val="60000"/>
                      </a:schemeClr>
                    </a:solidFill>
                  </a:tcPr>
                </a:tc>
                <a:extLst>
                  <a:ext uri="{0D108BD9-81ED-4DB2-BD59-A6C34878D82A}">
                    <a16:rowId xmlns:a16="http://schemas.microsoft.com/office/drawing/2014/main" val="3482801913"/>
                  </a:ext>
                </a:extLst>
              </a:tr>
            </a:tbl>
          </a:graphicData>
        </a:graphic>
      </p:graphicFrame>
      <p:graphicFrame>
        <p:nvGraphicFramePr>
          <p:cNvPr id="46" name="Table 45"/>
          <p:cNvGraphicFramePr>
            <a:graphicFrameLocks noGrp="1"/>
          </p:cNvGraphicFramePr>
          <p:nvPr>
            <p:extLst>
              <p:ext uri="{D42A27DB-BD31-4B8C-83A1-F6EECF244321}">
                <p14:modId xmlns:p14="http://schemas.microsoft.com/office/powerpoint/2010/main" val="852285313"/>
              </p:ext>
            </p:extLst>
          </p:nvPr>
        </p:nvGraphicFramePr>
        <p:xfrm>
          <a:off x="7483753" y="4013045"/>
          <a:ext cx="944092" cy="856841"/>
        </p:xfrm>
        <a:graphic>
          <a:graphicData uri="http://schemas.openxmlformats.org/drawingml/2006/table">
            <a:tbl>
              <a:tblPr firstRow="1" bandRow="1">
                <a:tableStyleId>{5C22544A-7EE6-4342-B048-85BDC9FD1C3A}</a:tableStyleId>
              </a:tblPr>
              <a:tblGrid>
                <a:gridCol w="944092">
                  <a:extLst>
                    <a:ext uri="{9D8B030D-6E8A-4147-A177-3AD203B41FA5}">
                      <a16:colId xmlns:a16="http://schemas.microsoft.com/office/drawing/2014/main" val="1418074174"/>
                    </a:ext>
                  </a:extLst>
                </a:gridCol>
              </a:tblGrid>
              <a:tr h="856841">
                <a:tc>
                  <a:txBody>
                    <a:bodyPr/>
                    <a:lstStyle/>
                    <a:p>
                      <a:pPr algn="ctr"/>
                      <a:r>
                        <a:rPr lang="en-US" sz="4400" dirty="0">
                          <a:solidFill>
                            <a:schemeClr val="tx1"/>
                          </a:solidFill>
                        </a:rPr>
                        <a:t>O</a:t>
                      </a:r>
                    </a:p>
                  </a:txBody>
                  <a:tcPr>
                    <a:solidFill>
                      <a:schemeClr val="accent1">
                        <a:lumMod val="40000"/>
                        <a:lumOff val="60000"/>
                      </a:schemeClr>
                    </a:solidFill>
                  </a:tcPr>
                </a:tc>
                <a:extLst>
                  <a:ext uri="{0D108BD9-81ED-4DB2-BD59-A6C34878D82A}">
                    <a16:rowId xmlns:a16="http://schemas.microsoft.com/office/drawing/2014/main" val="3482801913"/>
                  </a:ext>
                </a:extLst>
              </a:tr>
            </a:tbl>
          </a:graphicData>
        </a:graphic>
      </p:graphicFrame>
      <p:graphicFrame>
        <p:nvGraphicFramePr>
          <p:cNvPr id="47" name="Table 46"/>
          <p:cNvGraphicFramePr>
            <a:graphicFrameLocks noGrp="1"/>
          </p:cNvGraphicFramePr>
          <p:nvPr>
            <p:extLst>
              <p:ext uri="{D42A27DB-BD31-4B8C-83A1-F6EECF244321}">
                <p14:modId xmlns:p14="http://schemas.microsoft.com/office/powerpoint/2010/main" val="92898924"/>
              </p:ext>
            </p:extLst>
          </p:nvPr>
        </p:nvGraphicFramePr>
        <p:xfrm>
          <a:off x="3723817" y="2810260"/>
          <a:ext cx="1597488" cy="1526250"/>
        </p:xfrm>
        <a:graphic>
          <a:graphicData uri="http://schemas.openxmlformats.org/drawingml/2006/table">
            <a:tbl>
              <a:tblPr firstRow="1" bandRow="1">
                <a:tableStyleId>{5C22544A-7EE6-4342-B048-85BDC9FD1C3A}</a:tableStyleId>
              </a:tblPr>
              <a:tblGrid>
                <a:gridCol w="532496">
                  <a:extLst>
                    <a:ext uri="{9D8B030D-6E8A-4147-A177-3AD203B41FA5}">
                      <a16:colId xmlns:a16="http://schemas.microsoft.com/office/drawing/2014/main" val="2786509279"/>
                    </a:ext>
                  </a:extLst>
                </a:gridCol>
                <a:gridCol w="532496">
                  <a:extLst>
                    <a:ext uri="{9D8B030D-6E8A-4147-A177-3AD203B41FA5}">
                      <a16:colId xmlns:a16="http://schemas.microsoft.com/office/drawing/2014/main" val="4232411026"/>
                    </a:ext>
                  </a:extLst>
                </a:gridCol>
                <a:gridCol w="532496">
                  <a:extLst>
                    <a:ext uri="{9D8B030D-6E8A-4147-A177-3AD203B41FA5}">
                      <a16:colId xmlns:a16="http://schemas.microsoft.com/office/drawing/2014/main" val="3737931037"/>
                    </a:ext>
                  </a:extLst>
                </a:gridCol>
              </a:tblGrid>
              <a:tr h="473565">
                <a:tc>
                  <a:txBody>
                    <a:bodyPr/>
                    <a:lstStyle/>
                    <a:p>
                      <a:endParaRPr lang="en-US" dirty="0"/>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extLst>
                  <a:ext uri="{0D108BD9-81ED-4DB2-BD59-A6C34878D82A}">
                    <a16:rowId xmlns:a16="http://schemas.microsoft.com/office/drawing/2014/main" val="2828311391"/>
                  </a:ext>
                </a:extLst>
              </a:tr>
              <a:tr h="473565">
                <a:tc>
                  <a:txBody>
                    <a:bodyPr/>
                    <a:lstStyle/>
                    <a:p>
                      <a:endParaRPr lang="en-US"/>
                    </a:p>
                  </a:txBody>
                  <a:tcPr>
                    <a:solidFill>
                      <a:schemeClr val="accent1">
                        <a:lumMod val="40000"/>
                        <a:lumOff val="60000"/>
                      </a:schemeClr>
                    </a:solidFill>
                  </a:tcPr>
                </a:tc>
                <a:tc>
                  <a:txBody>
                    <a:bodyPr/>
                    <a:lstStyle/>
                    <a:p>
                      <a:pPr algn="ctr"/>
                      <a:r>
                        <a:rPr lang="en-US" sz="3200" dirty="0"/>
                        <a:t>x</a:t>
                      </a:r>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extLst>
                  <a:ext uri="{0D108BD9-81ED-4DB2-BD59-A6C34878D82A}">
                    <a16:rowId xmlns:a16="http://schemas.microsoft.com/office/drawing/2014/main" val="4192752962"/>
                  </a:ext>
                </a:extLst>
              </a:tr>
              <a:tr h="473565">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dirty="0"/>
                    </a:p>
                  </a:txBody>
                  <a:tcPr>
                    <a:solidFill>
                      <a:schemeClr val="accent1">
                        <a:lumMod val="40000"/>
                        <a:lumOff val="60000"/>
                      </a:schemeClr>
                    </a:solidFill>
                  </a:tcPr>
                </a:tc>
                <a:extLst>
                  <a:ext uri="{0D108BD9-81ED-4DB2-BD59-A6C34878D82A}">
                    <a16:rowId xmlns:a16="http://schemas.microsoft.com/office/drawing/2014/main" val="2346587204"/>
                  </a:ext>
                </a:extLst>
              </a:tr>
            </a:tbl>
          </a:graphicData>
        </a:graphic>
      </p:graphicFrame>
      <p:sp>
        <p:nvSpPr>
          <p:cNvPr id="48" name="Rectangle 47"/>
          <p:cNvSpPr/>
          <p:nvPr/>
        </p:nvSpPr>
        <p:spPr>
          <a:xfrm>
            <a:off x="588999" y="5148339"/>
            <a:ext cx="7867595" cy="507831"/>
          </a:xfrm>
          <a:prstGeom prst="rect">
            <a:avLst/>
          </a:prstGeom>
        </p:spPr>
        <p:txBody>
          <a:bodyPr wrap="square">
            <a:spAutoFit/>
          </a:bodyPr>
          <a:lstStyle/>
          <a:p>
            <a:r>
              <a:rPr lang="en-US" sz="2700" dirty="0"/>
              <a:t>Does the player have a winning strategy in this Game ?</a:t>
            </a:r>
          </a:p>
        </p:txBody>
      </p:sp>
    </p:spTree>
    <p:extLst>
      <p:ext uri="{BB962C8B-B14F-4D97-AF65-F5344CB8AC3E}">
        <p14:creationId xmlns:p14="http://schemas.microsoft.com/office/powerpoint/2010/main" val="296549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Removal Games</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marL="0" indent="0" algn="just">
                  <a:buNone/>
                </a:pPr>
                <a:r>
                  <a:rPr lang="en-US" dirty="0"/>
                  <a:t>There is a pile of </a:t>
                </a:r>
                <a14:m>
                  <m:oMath xmlns:m="http://schemas.openxmlformats.org/officeDocument/2006/math">
                    <m:r>
                      <a:rPr lang="en-US" i="1" dirty="0" smtClean="0">
                        <a:latin typeface="Cambria Math" panose="02040503050406030204" pitchFamily="18" charset="0"/>
                      </a:rPr>
                      <m:t>𝑛</m:t>
                    </m:r>
                  </m:oMath>
                </a14:m>
                <a:r>
                  <a:rPr lang="en-US" dirty="0"/>
                  <a:t> sticks. Each of the two players, A and B, alternately removes one or two sticks. The game continues until there is no sticks left. The last person to move win. As always, player A moves first. Does A have a winning strategy in this Game ?</a:t>
                </a:r>
              </a:p>
              <a:p>
                <a:pPr marL="0" indent="0" algn="just">
                  <a:buNone/>
                </a:pPr>
                <a:endParaRPr lang="en-US" dirty="0"/>
              </a:p>
              <a:p>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1941" t="-1617" r="-1941"/>
                </a:stretch>
              </a:blipFill>
            </p:spPr>
            <p:txBody>
              <a:bodyPr/>
              <a:lstStyle/>
              <a:p>
                <a:r>
                  <a:rPr lang="en-US">
                    <a:noFill/>
                  </a:rPr>
                  <a:t> </a:t>
                </a:r>
              </a:p>
            </p:txBody>
          </p:sp>
        </mc:Fallback>
      </mc:AlternateContent>
      <p:sp>
        <p:nvSpPr>
          <p:cNvPr id="6" name="TextBox 5"/>
          <p:cNvSpPr txBox="1"/>
          <p:nvPr/>
        </p:nvSpPr>
        <p:spPr>
          <a:xfrm>
            <a:off x="611560" y="4725144"/>
            <a:ext cx="7848872" cy="1477328"/>
          </a:xfrm>
          <a:prstGeom prst="rect">
            <a:avLst/>
          </a:prstGeom>
          <a:solidFill>
            <a:schemeClr val="accent6">
              <a:lumMod val="20000"/>
              <a:lumOff val="80000"/>
            </a:schemeClr>
          </a:solidFill>
        </p:spPr>
        <p:txBody>
          <a:bodyPr wrap="square" rtlCol="0">
            <a:spAutoFit/>
          </a:bodyPr>
          <a:lstStyle/>
          <a:p>
            <a:pPr algn="just"/>
            <a:r>
              <a:rPr lang="en-US" dirty="0"/>
              <a:t>Suppose there are 13 sticks. A starts by removing one stick, leaving 12 sticks and whenever B removes one stick then A will remove 2 sticks but if B removes two sticks, A follows by removing one stick. It means the number of sticks left is always multiple of 3. B will not be the last person to move.  So this is the winning strategy of A  </a:t>
            </a:r>
          </a:p>
        </p:txBody>
      </p:sp>
    </p:spTree>
    <p:extLst>
      <p:ext uri="{BB962C8B-B14F-4D97-AF65-F5344CB8AC3E}">
        <p14:creationId xmlns:p14="http://schemas.microsoft.com/office/powerpoint/2010/main" val="332002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8072" y="2083707"/>
                <a:ext cx="7848872" cy="3849292"/>
              </a:xfrm>
            </p:spPr>
            <p:txBody>
              <a:bodyPr>
                <a:normAutofit/>
              </a:bodyPr>
              <a:lstStyle/>
              <a:p>
                <a:pPr marL="514350" indent="-514350" algn="just">
                  <a:spcBef>
                    <a:spcPts val="0"/>
                  </a:spcBef>
                  <a:buFont typeface="+mj-lt"/>
                  <a:buAutoNum type="arabicPeriod"/>
                </a:pPr>
                <a:r>
                  <a:rPr lang="en-US" sz="2000" dirty="0"/>
                  <a:t>Player A names a positive integer </a:t>
                </a:r>
                <a14:m>
                  <m:oMath xmlns:m="http://schemas.openxmlformats.org/officeDocument/2006/math">
                    <m:r>
                      <a:rPr lang="en-US" sz="2000" i="1" dirty="0">
                        <a:latin typeface="Cambria Math" panose="02040503050406030204" pitchFamily="18" charset="0"/>
                      </a:rPr>
                      <m:t>𝑛</m:t>
                    </m:r>
                    <m:r>
                      <a:rPr lang="en-US" sz="2000" b="0" i="0" dirty="0" smtClean="0">
                        <a:latin typeface="Cambria Math" panose="02040503050406030204" pitchFamily="18" charset="0"/>
                      </a:rPr>
                      <m:t> </m:t>
                    </m:r>
                    <m:r>
                      <m:rPr>
                        <m:sty m:val="p"/>
                      </m:rPr>
                      <a:rPr lang="en-US" sz="2000" b="0" i="0" dirty="0" smtClean="0">
                        <a:latin typeface="Cambria Math" panose="02040503050406030204" pitchFamily="18" charset="0"/>
                      </a:rPr>
                      <m:t>and</m:t>
                    </m:r>
                    <m:r>
                      <a:rPr lang="en-US" sz="2000" b="0" i="0" dirty="0" smtClean="0">
                        <a:latin typeface="Cambria Math" panose="02040503050406030204" pitchFamily="18" charset="0"/>
                      </a:rPr>
                      <m:t> </m:t>
                    </m:r>
                  </m:oMath>
                </a14:m>
                <a:r>
                  <a:rPr lang="en-US" sz="2000" dirty="0"/>
                  <a:t>player B then names a positive integer </a:t>
                </a:r>
                <a14:m>
                  <m:oMath xmlns:m="http://schemas.openxmlformats.org/officeDocument/2006/math">
                    <m:r>
                      <a:rPr lang="en-US" sz="2000" i="1" dirty="0">
                        <a:latin typeface="Cambria Math" panose="02040503050406030204" pitchFamily="18" charset="0"/>
                      </a:rPr>
                      <m:t>𝑘</m:t>
                    </m:r>
                  </m:oMath>
                </a14:m>
                <a:r>
                  <a:rPr lang="en-US" sz="2000" dirty="0"/>
                  <a:t>. </a:t>
                </a:r>
              </a:p>
              <a:p>
                <a:pPr marL="973138" lvl="1" indent="-455613" algn="just">
                  <a:spcBef>
                    <a:spcPts val="0"/>
                  </a:spcBef>
                  <a:buFont typeface="+mj-lt"/>
                  <a:buAutoNum type="alphaLcPeriod"/>
                  <a:tabLst>
                    <a:tab pos="7654925" algn="r"/>
                  </a:tabLst>
                </a:pPr>
                <a:r>
                  <a:rPr lang="en-US" sz="2000" dirty="0"/>
                  <a:t>A win if the </a:t>
                </a:r>
                <a14:m>
                  <m:oMath xmlns:m="http://schemas.openxmlformats.org/officeDocument/2006/math">
                    <m:r>
                      <a:rPr lang="en-US" sz="2000" i="1" dirty="0">
                        <a:latin typeface="Cambria Math" panose="02040503050406030204" pitchFamily="18" charset="0"/>
                      </a:rPr>
                      <m:t>𝑛</m:t>
                    </m:r>
                    <m:r>
                      <a:rPr lang="en-US" sz="2000" b="0" i="1" dirty="0" smtClean="0">
                        <a:latin typeface="Cambria Math" panose="02040503050406030204" pitchFamily="18" charset="0"/>
                      </a:rPr>
                      <m:t>+</m:t>
                    </m:r>
                    <m:r>
                      <a:rPr lang="en-US" sz="2000" i="1" dirty="0">
                        <a:latin typeface="Cambria Math" panose="02040503050406030204" pitchFamily="18" charset="0"/>
                      </a:rPr>
                      <m:t>𝑘</m:t>
                    </m:r>
                  </m:oMath>
                </a14:m>
                <a:r>
                  <a:rPr lang="en-US" sz="2000" dirty="0"/>
                  <a:t> is odd and B if it is even.	</a:t>
                </a:r>
                <a:endParaRPr lang="en-US" sz="2000" b="1" dirty="0">
                  <a:solidFill>
                    <a:srgbClr val="FF0000"/>
                  </a:solidFill>
                </a:endParaRPr>
              </a:p>
              <a:p>
                <a:pPr marL="973138" lvl="1" indent="-455613" algn="just">
                  <a:spcBef>
                    <a:spcPts val="0"/>
                  </a:spcBef>
                  <a:buFont typeface="+mj-lt"/>
                  <a:buAutoNum type="alphaLcPeriod"/>
                  <a:tabLst>
                    <a:tab pos="7654925" algn="r"/>
                  </a:tabLst>
                </a:pPr>
                <a:r>
                  <a:rPr lang="en-US" sz="2000" dirty="0"/>
                  <a:t>A win if </a:t>
                </a:r>
                <a14:m>
                  <m:oMath xmlns:m="http://schemas.openxmlformats.org/officeDocument/2006/math">
                    <m:r>
                      <a:rPr lang="en-US" sz="2000" i="1" dirty="0" smtClean="0">
                        <a:latin typeface="Cambria Math" panose="02040503050406030204" pitchFamily="18" charset="0"/>
                      </a:rPr>
                      <m:t>𝑛𝑘</m:t>
                    </m:r>
                  </m:oMath>
                </a14:m>
                <a:r>
                  <a:rPr lang="en-US" sz="2000" dirty="0"/>
                  <a:t> is even and B if it is odd.                                        </a:t>
                </a:r>
                <a:endParaRPr lang="en-US" sz="2000" b="1" dirty="0">
                  <a:solidFill>
                    <a:srgbClr val="FF0000"/>
                  </a:solidFill>
                </a:endParaRPr>
              </a:p>
              <a:p>
                <a:pPr marL="514350" indent="-514350" algn="just">
                  <a:buFont typeface="+mj-lt"/>
                  <a:buAutoNum type="arabicPeriod"/>
                </a:pPr>
                <a:r>
                  <a:rPr lang="en-US" sz="2000" dirty="0"/>
                  <a:t>There is a pile of </a:t>
                </a:r>
                <a14:m>
                  <m:oMath xmlns:m="http://schemas.openxmlformats.org/officeDocument/2006/math">
                    <m:r>
                      <a:rPr lang="en-US" sz="2000" i="1" dirty="0">
                        <a:latin typeface="Cambria Math" panose="02040503050406030204" pitchFamily="18" charset="0"/>
                      </a:rPr>
                      <m:t>𝑛</m:t>
                    </m:r>
                  </m:oMath>
                </a14:m>
                <a:r>
                  <a:rPr lang="en-US" sz="2000" dirty="0"/>
                  <a:t> sticks. A and B, alternately removes one or two sticks. The game continues until there is no sticks left. The last person to move loses. As always, player A moves first.	</a:t>
                </a:r>
                <a:endParaRPr lang="en-US" sz="2000" b="1" dirty="0">
                  <a:solidFill>
                    <a:srgbClr val="FF0000"/>
                  </a:solidFill>
                </a:endParaRPr>
              </a:p>
              <a:p>
                <a:pPr marL="514350" indent="-514350" algn="just">
                  <a:buFont typeface="+mj-lt"/>
                  <a:buAutoNum type="arabicPeriod"/>
                </a:pPr>
                <a:r>
                  <a:rPr lang="en-US" sz="2000" dirty="0"/>
                  <a:t>There is a pile of </a:t>
                </a:r>
                <a14:m>
                  <m:oMath xmlns:m="http://schemas.openxmlformats.org/officeDocument/2006/math">
                    <m:r>
                      <a:rPr lang="en-US" sz="2000" i="1" dirty="0">
                        <a:latin typeface="Cambria Math" panose="02040503050406030204" pitchFamily="18" charset="0"/>
                      </a:rPr>
                      <m:t>𝑛</m:t>
                    </m:r>
                  </m:oMath>
                </a14:m>
                <a:r>
                  <a:rPr lang="en-US" sz="2000" dirty="0"/>
                  <a:t> sticks. Two players alternately remove 1,2,or 3 sticks the last person to move loses.</a:t>
                </a:r>
              </a:p>
              <a:p>
                <a:pPr marL="514350" indent="-514350" algn="just">
                  <a:buFont typeface="+mj-lt"/>
                  <a:buAutoNum type="arabicPeriod"/>
                </a:pPr>
                <a:r>
                  <a:rPr lang="en-US" sz="2000" dirty="0"/>
                  <a:t>There is a pile of </a:t>
                </a:r>
                <a14:m>
                  <m:oMath xmlns:m="http://schemas.openxmlformats.org/officeDocument/2006/math">
                    <m:r>
                      <a:rPr lang="en-US" sz="2000" i="1" dirty="0">
                        <a:latin typeface="Cambria Math" panose="02040503050406030204" pitchFamily="18" charset="0"/>
                      </a:rPr>
                      <m:t>𝑛</m:t>
                    </m:r>
                  </m:oMath>
                </a14:m>
                <a:r>
                  <a:rPr lang="en-US" sz="2000" dirty="0"/>
                  <a:t> sticks. Two players alternately remove 1,2,3, or 4 sticks the last person to move wins.</a:t>
                </a:r>
              </a:p>
              <a:p>
                <a:pPr marL="514350" indent="-514350" algn="just">
                  <a:buFont typeface="+mj-lt"/>
                  <a:buAutoNum type="arabicPeriod"/>
                </a:pPr>
                <a:endParaRPr lang="en-US" sz="2000"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8072" y="2083707"/>
                <a:ext cx="7848872" cy="3849292"/>
              </a:xfrm>
              <a:blipFill>
                <a:blip r:embed="rId3"/>
                <a:stretch>
                  <a:fillRect l="-855" t="-1109" r="-777"/>
                </a:stretch>
              </a:blipFill>
            </p:spPr>
            <p:txBody>
              <a:bodyPr/>
              <a:lstStyle/>
              <a:p>
                <a:r>
                  <a:rPr lang="en-US">
                    <a:noFill/>
                  </a:rPr>
                  <a:t> </a:t>
                </a:r>
              </a:p>
            </p:txBody>
          </p:sp>
        </mc:Fallback>
      </mc:AlternateContent>
      <p:sp>
        <p:nvSpPr>
          <p:cNvPr id="4" name="TextBox 3"/>
          <p:cNvSpPr txBox="1"/>
          <p:nvPr/>
        </p:nvSpPr>
        <p:spPr>
          <a:xfrm>
            <a:off x="608072" y="1554867"/>
            <a:ext cx="7848872" cy="492443"/>
          </a:xfrm>
          <a:prstGeom prst="rect">
            <a:avLst/>
          </a:prstGeom>
          <a:noFill/>
        </p:spPr>
        <p:txBody>
          <a:bodyPr wrap="square" rtlCol="0">
            <a:spAutoFit/>
          </a:bodyPr>
          <a:lstStyle/>
          <a:p>
            <a:r>
              <a:rPr lang="en-US" sz="2600" dirty="0"/>
              <a:t>Find a winning or non-losing strategies of these games</a:t>
            </a:r>
          </a:p>
        </p:txBody>
      </p:sp>
      <p:sp>
        <p:nvSpPr>
          <p:cNvPr id="8" name="TextBox 7">
            <a:extLst>
              <a:ext uri="{FF2B5EF4-FFF2-40B4-BE49-F238E27FC236}">
                <a16:creationId xmlns:a16="http://schemas.microsoft.com/office/drawing/2014/main" id="{3DED46AD-17FD-48F9-AB49-AD05D8893969}"/>
              </a:ext>
            </a:extLst>
          </p:cNvPr>
          <p:cNvSpPr txBox="1"/>
          <p:nvPr/>
        </p:nvSpPr>
        <p:spPr>
          <a:xfrm>
            <a:off x="7524328" y="2708920"/>
            <a:ext cx="809837" cy="369332"/>
          </a:xfrm>
          <a:prstGeom prst="rect">
            <a:avLst/>
          </a:prstGeom>
          <a:noFill/>
        </p:spPr>
        <p:txBody>
          <a:bodyPr wrap="none" rtlCol="0">
            <a:spAutoFit/>
          </a:bodyPr>
          <a:lstStyle/>
          <a:p>
            <a:r>
              <a:rPr lang="en-US" b="1" dirty="0">
                <a:solidFill>
                  <a:srgbClr val="FF0000"/>
                </a:solidFill>
              </a:rPr>
              <a:t>B wins</a:t>
            </a:r>
          </a:p>
        </p:txBody>
      </p:sp>
      <p:sp>
        <p:nvSpPr>
          <p:cNvPr id="9" name="TextBox 8">
            <a:extLst>
              <a:ext uri="{FF2B5EF4-FFF2-40B4-BE49-F238E27FC236}">
                <a16:creationId xmlns:a16="http://schemas.microsoft.com/office/drawing/2014/main" id="{6639B576-B96D-4294-B6EA-751D342F030D}"/>
              </a:ext>
            </a:extLst>
          </p:cNvPr>
          <p:cNvSpPr txBox="1"/>
          <p:nvPr/>
        </p:nvSpPr>
        <p:spPr>
          <a:xfrm>
            <a:off x="7524327" y="3951627"/>
            <a:ext cx="809837" cy="369332"/>
          </a:xfrm>
          <a:prstGeom prst="rect">
            <a:avLst/>
          </a:prstGeom>
          <a:noFill/>
        </p:spPr>
        <p:txBody>
          <a:bodyPr wrap="none" rtlCol="0">
            <a:spAutoFit/>
          </a:bodyPr>
          <a:lstStyle/>
          <a:p>
            <a:r>
              <a:rPr lang="en-US" b="1" dirty="0">
                <a:solidFill>
                  <a:srgbClr val="FF0000"/>
                </a:solidFill>
              </a:rPr>
              <a:t>B wins</a:t>
            </a:r>
          </a:p>
        </p:txBody>
      </p:sp>
      <p:sp>
        <p:nvSpPr>
          <p:cNvPr id="10" name="TextBox 9">
            <a:extLst>
              <a:ext uri="{FF2B5EF4-FFF2-40B4-BE49-F238E27FC236}">
                <a16:creationId xmlns:a16="http://schemas.microsoft.com/office/drawing/2014/main" id="{8FD5F7FE-F566-48C0-9DCC-ADA1A3A5206D}"/>
              </a:ext>
            </a:extLst>
          </p:cNvPr>
          <p:cNvSpPr txBox="1"/>
          <p:nvPr/>
        </p:nvSpPr>
        <p:spPr>
          <a:xfrm>
            <a:off x="7514709" y="3059668"/>
            <a:ext cx="819455" cy="369332"/>
          </a:xfrm>
          <a:prstGeom prst="rect">
            <a:avLst/>
          </a:prstGeom>
          <a:noFill/>
        </p:spPr>
        <p:txBody>
          <a:bodyPr wrap="none" rtlCol="0">
            <a:spAutoFit/>
          </a:bodyPr>
          <a:lstStyle/>
          <a:p>
            <a:r>
              <a:rPr lang="en-US" b="1" dirty="0">
                <a:solidFill>
                  <a:srgbClr val="FF0000"/>
                </a:solidFill>
              </a:rPr>
              <a:t>A wins</a:t>
            </a:r>
          </a:p>
        </p:txBody>
      </p:sp>
    </p:spTree>
    <p:extLst>
      <p:ext uri="{BB962C8B-B14F-4D97-AF65-F5344CB8AC3E}">
        <p14:creationId xmlns:p14="http://schemas.microsoft.com/office/powerpoint/2010/main" val="409693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476672"/>
            <a:ext cx="7848872" cy="5649491"/>
          </a:xfrm>
        </p:spPr>
        <p:txBody>
          <a:bodyPr/>
          <a:lstStyle/>
          <a:p>
            <a:pPr marL="457200" indent="-457200" algn="just">
              <a:buFont typeface="+mj-lt"/>
              <a:buAutoNum type="arabicPeriod" startAt="5"/>
              <a:tabLst>
                <a:tab pos="7654925" algn="r"/>
              </a:tabLst>
            </a:pPr>
            <a:r>
              <a:rPr lang="en-US" sz="2000" dirty="0"/>
              <a:t>An 8 x 8 checkerboard contains 64 one-inch squares. Two players take turns covering two adjacent squares with 1 x 2 inch dominoes. The game is played until no further move is possible. The last person to move is the winner.  	</a:t>
            </a:r>
            <a:endParaRPr lang="en-US" sz="2000" b="1" dirty="0">
              <a:solidFill>
                <a:srgbClr val="FF0000"/>
              </a:solidFill>
            </a:endParaRPr>
          </a:p>
          <a:p>
            <a:pPr marL="457200" indent="-457200" algn="just">
              <a:buFont typeface="+mj-lt"/>
              <a:buAutoNum type="arabicPeriod" startAt="5"/>
              <a:tabLst>
                <a:tab pos="7654925" algn="r"/>
              </a:tabLst>
            </a:pPr>
            <a:r>
              <a:rPr lang="en-US" sz="2000" dirty="0"/>
              <a:t>Consider 25 sticks are arranged In a 5 x 5 square. Players alternately take any number of sticks  from a single row or column. At least one stick must be taken. There is an additional  restriction that a group of sticks can not be taken in one moves if there is a gap between the sticks. The last person to move win. 	</a:t>
            </a:r>
            <a:endParaRPr lang="en-US" sz="2000" b="1" dirty="0">
              <a:solidFill>
                <a:srgbClr val="FF0000"/>
              </a:solidFill>
            </a:endParaRPr>
          </a:p>
          <a:p>
            <a:pPr marL="457200" indent="-457200" algn="just">
              <a:buFont typeface="+mj-lt"/>
              <a:buAutoNum type="arabicPeriod" startAt="5"/>
              <a:tabLst>
                <a:tab pos="7654925" algn="r"/>
              </a:tabLst>
            </a:pPr>
            <a:r>
              <a:rPr lang="en-US" sz="2000" dirty="0"/>
              <a:t>From an ordinary deck cards, the spades from the ace to the nine are placed on a table. Two players choose in turn from these cards. A card has been chosen, cannot be chosen again. A winner is the first player to get three cards adding up to fifteen. 	</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675259866"/>
              </p:ext>
            </p:extLst>
          </p:nvPr>
        </p:nvGraphicFramePr>
        <p:xfrm>
          <a:off x="2987824" y="4793218"/>
          <a:ext cx="1463823" cy="1097280"/>
        </p:xfrm>
        <a:graphic>
          <a:graphicData uri="http://schemas.openxmlformats.org/drawingml/2006/table">
            <a:tbl>
              <a:tblPr firstRow="1" bandRow="1">
                <a:tableStyleId>{5C22544A-7EE6-4342-B048-85BDC9FD1C3A}</a:tableStyleId>
              </a:tblPr>
              <a:tblGrid>
                <a:gridCol w="487941">
                  <a:extLst>
                    <a:ext uri="{9D8B030D-6E8A-4147-A177-3AD203B41FA5}">
                      <a16:colId xmlns:a16="http://schemas.microsoft.com/office/drawing/2014/main" val="1752011604"/>
                    </a:ext>
                  </a:extLst>
                </a:gridCol>
                <a:gridCol w="487941">
                  <a:extLst>
                    <a:ext uri="{9D8B030D-6E8A-4147-A177-3AD203B41FA5}">
                      <a16:colId xmlns:a16="http://schemas.microsoft.com/office/drawing/2014/main" val="3297288389"/>
                    </a:ext>
                  </a:extLst>
                </a:gridCol>
                <a:gridCol w="487941">
                  <a:extLst>
                    <a:ext uri="{9D8B030D-6E8A-4147-A177-3AD203B41FA5}">
                      <a16:colId xmlns:a16="http://schemas.microsoft.com/office/drawing/2014/main" val="3597111192"/>
                    </a:ext>
                  </a:extLst>
                </a:gridCol>
              </a:tblGrid>
              <a:tr h="365299">
                <a:tc>
                  <a:txBody>
                    <a:bodyPr/>
                    <a:lstStyle/>
                    <a:p>
                      <a:pPr algn="ctr"/>
                      <a:r>
                        <a:rPr lang="en-US" b="1" dirty="0">
                          <a:solidFill>
                            <a:schemeClr val="tx1"/>
                          </a:solidFill>
                        </a:rPr>
                        <a:t>2</a:t>
                      </a:r>
                    </a:p>
                  </a:txBody>
                  <a:tcPr>
                    <a:solidFill>
                      <a:schemeClr val="tx2">
                        <a:lumMod val="20000"/>
                        <a:lumOff val="80000"/>
                      </a:schemeClr>
                    </a:solidFill>
                  </a:tcPr>
                </a:tc>
                <a:tc>
                  <a:txBody>
                    <a:bodyPr/>
                    <a:lstStyle/>
                    <a:p>
                      <a:pPr algn="ctr"/>
                      <a:r>
                        <a:rPr lang="en-US" b="1" dirty="0">
                          <a:solidFill>
                            <a:schemeClr val="tx1"/>
                          </a:solidFill>
                        </a:rPr>
                        <a:t>7</a:t>
                      </a:r>
                    </a:p>
                  </a:txBody>
                  <a:tcPr>
                    <a:solidFill>
                      <a:schemeClr val="tx2">
                        <a:lumMod val="20000"/>
                        <a:lumOff val="80000"/>
                      </a:schemeClr>
                    </a:solidFill>
                  </a:tcPr>
                </a:tc>
                <a:tc>
                  <a:txBody>
                    <a:bodyPr/>
                    <a:lstStyle/>
                    <a:p>
                      <a:pPr algn="ctr"/>
                      <a:r>
                        <a:rPr lang="en-US" b="1" dirty="0">
                          <a:solidFill>
                            <a:schemeClr val="tx1"/>
                          </a:solidFill>
                        </a:rPr>
                        <a:t>6</a:t>
                      </a:r>
                    </a:p>
                  </a:txBody>
                  <a:tcPr>
                    <a:solidFill>
                      <a:schemeClr val="tx2">
                        <a:lumMod val="20000"/>
                        <a:lumOff val="80000"/>
                      </a:schemeClr>
                    </a:solidFill>
                  </a:tcPr>
                </a:tc>
                <a:extLst>
                  <a:ext uri="{0D108BD9-81ED-4DB2-BD59-A6C34878D82A}">
                    <a16:rowId xmlns:a16="http://schemas.microsoft.com/office/drawing/2014/main" val="1502589431"/>
                  </a:ext>
                </a:extLst>
              </a:tr>
              <a:tr h="365299">
                <a:tc>
                  <a:txBody>
                    <a:bodyPr/>
                    <a:lstStyle/>
                    <a:p>
                      <a:pPr algn="ctr"/>
                      <a:r>
                        <a:rPr lang="en-US" b="1" dirty="0">
                          <a:solidFill>
                            <a:schemeClr val="tx1"/>
                          </a:solidFill>
                        </a:rPr>
                        <a:t>9</a:t>
                      </a:r>
                    </a:p>
                  </a:txBody>
                  <a:tcPr>
                    <a:solidFill>
                      <a:schemeClr val="tx2">
                        <a:lumMod val="20000"/>
                        <a:lumOff val="80000"/>
                      </a:schemeClr>
                    </a:solidFill>
                  </a:tcPr>
                </a:tc>
                <a:tc>
                  <a:txBody>
                    <a:bodyPr/>
                    <a:lstStyle/>
                    <a:p>
                      <a:pPr algn="ctr"/>
                      <a:r>
                        <a:rPr lang="en-US" b="1" dirty="0">
                          <a:solidFill>
                            <a:schemeClr val="tx1"/>
                          </a:solidFill>
                        </a:rPr>
                        <a:t>5</a:t>
                      </a:r>
                    </a:p>
                  </a:txBody>
                  <a:tcPr>
                    <a:solidFill>
                      <a:schemeClr val="tx2">
                        <a:lumMod val="20000"/>
                        <a:lumOff val="80000"/>
                      </a:schemeClr>
                    </a:solidFill>
                  </a:tcPr>
                </a:tc>
                <a:tc>
                  <a:txBody>
                    <a:bodyPr/>
                    <a:lstStyle/>
                    <a:p>
                      <a:pPr algn="ctr"/>
                      <a:r>
                        <a:rPr lang="en-US" b="1" dirty="0">
                          <a:solidFill>
                            <a:schemeClr val="tx1"/>
                          </a:solidFill>
                        </a:rPr>
                        <a:t>1</a:t>
                      </a:r>
                    </a:p>
                  </a:txBody>
                  <a:tcPr>
                    <a:solidFill>
                      <a:schemeClr val="tx2">
                        <a:lumMod val="20000"/>
                        <a:lumOff val="80000"/>
                      </a:schemeClr>
                    </a:solidFill>
                  </a:tcPr>
                </a:tc>
                <a:extLst>
                  <a:ext uri="{0D108BD9-81ED-4DB2-BD59-A6C34878D82A}">
                    <a16:rowId xmlns:a16="http://schemas.microsoft.com/office/drawing/2014/main" val="2121661411"/>
                  </a:ext>
                </a:extLst>
              </a:tr>
              <a:tr h="365299">
                <a:tc>
                  <a:txBody>
                    <a:bodyPr/>
                    <a:lstStyle/>
                    <a:p>
                      <a:pPr algn="ctr"/>
                      <a:r>
                        <a:rPr lang="en-US" b="1" dirty="0">
                          <a:solidFill>
                            <a:schemeClr val="tx1"/>
                          </a:solidFill>
                        </a:rPr>
                        <a:t>4</a:t>
                      </a:r>
                    </a:p>
                  </a:txBody>
                  <a:tcPr>
                    <a:solidFill>
                      <a:schemeClr val="tx2">
                        <a:lumMod val="20000"/>
                        <a:lumOff val="80000"/>
                      </a:schemeClr>
                    </a:solidFill>
                  </a:tcPr>
                </a:tc>
                <a:tc>
                  <a:txBody>
                    <a:bodyPr/>
                    <a:lstStyle/>
                    <a:p>
                      <a:pPr algn="ctr"/>
                      <a:r>
                        <a:rPr lang="en-US" b="1" dirty="0">
                          <a:solidFill>
                            <a:schemeClr val="tx1"/>
                          </a:solidFill>
                        </a:rPr>
                        <a:t>3</a:t>
                      </a:r>
                    </a:p>
                  </a:txBody>
                  <a:tcPr>
                    <a:solidFill>
                      <a:schemeClr val="tx2">
                        <a:lumMod val="20000"/>
                        <a:lumOff val="80000"/>
                      </a:schemeClr>
                    </a:solidFill>
                  </a:tcPr>
                </a:tc>
                <a:tc>
                  <a:txBody>
                    <a:bodyPr/>
                    <a:lstStyle/>
                    <a:p>
                      <a:pPr algn="ctr"/>
                      <a:r>
                        <a:rPr lang="en-US" b="1" dirty="0">
                          <a:solidFill>
                            <a:schemeClr val="tx1"/>
                          </a:solidFill>
                        </a:rPr>
                        <a:t>8</a:t>
                      </a:r>
                    </a:p>
                  </a:txBody>
                  <a:tcPr>
                    <a:solidFill>
                      <a:schemeClr val="tx2">
                        <a:lumMod val="20000"/>
                        <a:lumOff val="80000"/>
                      </a:schemeClr>
                    </a:solidFill>
                  </a:tcPr>
                </a:tc>
                <a:extLst>
                  <a:ext uri="{0D108BD9-81ED-4DB2-BD59-A6C34878D82A}">
                    <a16:rowId xmlns:a16="http://schemas.microsoft.com/office/drawing/2014/main" val="2548678895"/>
                  </a:ext>
                </a:extLst>
              </a:tr>
            </a:tbl>
          </a:graphicData>
        </a:graphic>
      </p:graphicFrame>
      <p:sp>
        <p:nvSpPr>
          <p:cNvPr id="5" name="TextBox 4"/>
          <p:cNvSpPr txBox="1"/>
          <p:nvPr/>
        </p:nvSpPr>
        <p:spPr>
          <a:xfrm>
            <a:off x="4716016" y="5157192"/>
            <a:ext cx="2228687" cy="369332"/>
          </a:xfrm>
          <a:prstGeom prst="rect">
            <a:avLst/>
          </a:prstGeom>
          <a:noFill/>
        </p:spPr>
        <p:txBody>
          <a:bodyPr wrap="none" rtlCol="0">
            <a:spAutoFit/>
          </a:bodyPr>
          <a:lstStyle/>
          <a:p>
            <a:r>
              <a:rPr lang="en-US" dirty="0"/>
              <a:t>Use this magic square</a:t>
            </a:r>
          </a:p>
        </p:txBody>
      </p:sp>
      <p:sp>
        <p:nvSpPr>
          <p:cNvPr id="8" name="TextBox 7">
            <a:extLst>
              <a:ext uri="{FF2B5EF4-FFF2-40B4-BE49-F238E27FC236}">
                <a16:creationId xmlns:a16="http://schemas.microsoft.com/office/drawing/2014/main" id="{E7C402E0-8666-41D8-B07F-E4B403B3413B}"/>
              </a:ext>
            </a:extLst>
          </p:cNvPr>
          <p:cNvSpPr txBox="1"/>
          <p:nvPr/>
        </p:nvSpPr>
        <p:spPr>
          <a:xfrm>
            <a:off x="7643699" y="1412776"/>
            <a:ext cx="809837" cy="369332"/>
          </a:xfrm>
          <a:prstGeom prst="rect">
            <a:avLst/>
          </a:prstGeom>
          <a:noFill/>
        </p:spPr>
        <p:txBody>
          <a:bodyPr wrap="none" rtlCol="0">
            <a:spAutoFit/>
          </a:bodyPr>
          <a:lstStyle/>
          <a:p>
            <a:r>
              <a:rPr lang="en-US" b="1" dirty="0">
                <a:solidFill>
                  <a:srgbClr val="FF0000"/>
                </a:solidFill>
              </a:rPr>
              <a:t>B wins</a:t>
            </a:r>
          </a:p>
        </p:txBody>
      </p:sp>
      <p:sp>
        <p:nvSpPr>
          <p:cNvPr id="9" name="TextBox 8">
            <a:extLst>
              <a:ext uri="{FF2B5EF4-FFF2-40B4-BE49-F238E27FC236}">
                <a16:creationId xmlns:a16="http://schemas.microsoft.com/office/drawing/2014/main" id="{9A5333E2-B523-48AA-B161-3C8F92AE0059}"/>
              </a:ext>
            </a:extLst>
          </p:cNvPr>
          <p:cNvSpPr txBox="1"/>
          <p:nvPr/>
        </p:nvSpPr>
        <p:spPr>
          <a:xfrm>
            <a:off x="7634081" y="2960684"/>
            <a:ext cx="819455" cy="369332"/>
          </a:xfrm>
          <a:prstGeom prst="rect">
            <a:avLst/>
          </a:prstGeom>
          <a:noFill/>
        </p:spPr>
        <p:txBody>
          <a:bodyPr wrap="none" rtlCol="0">
            <a:spAutoFit/>
          </a:bodyPr>
          <a:lstStyle/>
          <a:p>
            <a:r>
              <a:rPr lang="en-US" b="1" dirty="0">
                <a:solidFill>
                  <a:srgbClr val="FF0000"/>
                </a:solidFill>
              </a:rPr>
              <a:t>A wins</a:t>
            </a:r>
          </a:p>
        </p:txBody>
      </p:sp>
      <p:sp>
        <p:nvSpPr>
          <p:cNvPr id="2" name="Rectangle 1">
            <a:extLst>
              <a:ext uri="{FF2B5EF4-FFF2-40B4-BE49-F238E27FC236}">
                <a16:creationId xmlns:a16="http://schemas.microsoft.com/office/drawing/2014/main" id="{01F352C1-AFE8-41CA-9631-2A9DCD3C53E6}"/>
              </a:ext>
            </a:extLst>
          </p:cNvPr>
          <p:cNvSpPr/>
          <p:nvPr/>
        </p:nvSpPr>
        <p:spPr>
          <a:xfrm>
            <a:off x="6418748" y="4266120"/>
            <a:ext cx="2034788" cy="369332"/>
          </a:xfrm>
          <a:prstGeom prst="rect">
            <a:avLst/>
          </a:prstGeom>
        </p:spPr>
        <p:txBody>
          <a:bodyPr wrap="none">
            <a:spAutoFit/>
          </a:bodyPr>
          <a:lstStyle/>
          <a:p>
            <a:r>
              <a:rPr lang="en-US" b="1" dirty="0">
                <a:solidFill>
                  <a:srgbClr val="FF0000"/>
                </a:solidFill>
              </a:rPr>
              <a:t>Non-losing strategy</a:t>
            </a:r>
            <a:endParaRPr lang="en-US" dirty="0"/>
          </a:p>
        </p:txBody>
      </p:sp>
    </p:spTree>
    <p:extLst>
      <p:ext uri="{BB962C8B-B14F-4D97-AF65-F5344CB8AC3E}">
        <p14:creationId xmlns:p14="http://schemas.microsoft.com/office/powerpoint/2010/main" val="3451297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Game of </a:t>
            </a:r>
            <a:r>
              <a:rPr lang="en-US" dirty="0" err="1"/>
              <a:t>Nim</a:t>
            </a:r>
            <a:r>
              <a:rPr lang="en-US" dirty="0"/>
              <a:t> / Take</a:t>
            </a:r>
          </a:p>
        </p:txBody>
      </p:sp>
      <p:sp>
        <p:nvSpPr>
          <p:cNvPr id="3" name="Content Placeholder 2"/>
          <p:cNvSpPr>
            <a:spLocks noGrp="1"/>
          </p:cNvSpPr>
          <p:nvPr>
            <p:ph idx="1"/>
          </p:nvPr>
        </p:nvSpPr>
        <p:spPr>
          <a:xfrm>
            <a:off x="611560" y="1453612"/>
            <a:ext cx="7848872" cy="4525963"/>
          </a:xfrm>
        </p:spPr>
        <p:txBody>
          <a:bodyPr>
            <a:normAutofit/>
          </a:bodyPr>
          <a:lstStyle/>
          <a:p>
            <a:pPr marL="0" indent="0" algn="just">
              <a:buNone/>
            </a:pPr>
            <a:r>
              <a:rPr lang="en-US" sz="2800" dirty="0"/>
              <a:t>At the beginning of a game of </a:t>
            </a:r>
            <a:r>
              <a:rPr lang="en-US" sz="2800" dirty="0" err="1"/>
              <a:t>Nim</a:t>
            </a:r>
            <a:r>
              <a:rPr lang="en-US" sz="2800" dirty="0"/>
              <a:t>, there are one or more piles of objects. Different piles may contain different numbers of objects. The player alternately remove one or more objects from one of the piles (all of the objects in that pile may be taken). The last person to move wins.</a:t>
            </a:r>
          </a:p>
          <a:p>
            <a:pPr marL="0" indent="0" algn="just">
              <a:spcBef>
                <a:spcPts val="1200"/>
              </a:spcBef>
              <a:buNone/>
            </a:pPr>
            <a:r>
              <a:rPr lang="en-US" sz="2800" dirty="0"/>
              <a:t>Example      First pile :  x  </a:t>
            </a:r>
            <a:r>
              <a:rPr lang="en-US" sz="2800" dirty="0" err="1"/>
              <a:t>x</a:t>
            </a:r>
            <a:endParaRPr lang="en-US" sz="2800" dirty="0"/>
          </a:p>
          <a:p>
            <a:pPr marL="0" indent="0" algn="just">
              <a:buNone/>
            </a:pPr>
            <a:r>
              <a:rPr lang="en-US" sz="2800" dirty="0"/>
              <a:t>                Second pile :  x  </a:t>
            </a:r>
            <a:r>
              <a:rPr lang="en-US" sz="2800" dirty="0" err="1"/>
              <a:t>x</a:t>
            </a:r>
            <a:endParaRPr lang="en-US" sz="2800" dirty="0"/>
          </a:p>
          <a:p>
            <a:pPr marL="0" indent="0" algn="just">
              <a:buNone/>
            </a:pPr>
            <a:endParaRPr lang="en-US" sz="2000" dirty="0"/>
          </a:p>
        </p:txBody>
      </p:sp>
      <p:sp>
        <p:nvSpPr>
          <p:cNvPr id="4" name="Rectangle 3"/>
          <p:cNvSpPr/>
          <p:nvPr/>
        </p:nvSpPr>
        <p:spPr>
          <a:xfrm>
            <a:off x="5123714" y="4761635"/>
            <a:ext cx="3329822" cy="461665"/>
          </a:xfrm>
          <a:prstGeom prst="rect">
            <a:avLst/>
          </a:prstGeom>
        </p:spPr>
        <p:txBody>
          <a:bodyPr wrap="none">
            <a:spAutoFit/>
          </a:bodyPr>
          <a:lstStyle/>
          <a:p>
            <a:pPr algn="r"/>
            <a:r>
              <a:rPr lang="en-US" sz="2400" dirty="0"/>
              <a:t>B  has winning strategy ? </a:t>
            </a:r>
          </a:p>
        </p:txBody>
      </p:sp>
      <p:sp>
        <p:nvSpPr>
          <p:cNvPr id="5" name="Rectangle 4"/>
          <p:cNvSpPr/>
          <p:nvPr/>
        </p:nvSpPr>
        <p:spPr>
          <a:xfrm>
            <a:off x="603767" y="5314581"/>
            <a:ext cx="7856665" cy="923330"/>
          </a:xfrm>
          <a:prstGeom prst="rect">
            <a:avLst/>
          </a:prstGeom>
        </p:spPr>
        <p:txBody>
          <a:bodyPr wrap="square">
            <a:spAutoFit/>
          </a:bodyPr>
          <a:lstStyle/>
          <a:p>
            <a:pPr marL="457200" indent="-457200" algn="just">
              <a:buFont typeface="+mj-lt"/>
              <a:buAutoNum type="arabicPeriod"/>
            </a:pPr>
            <a:r>
              <a:rPr lang="en-US" dirty="0"/>
              <a:t>if A takes both objects from the first pile, then B removes both object from other pile. </a:t>
            </a:r>
          </a:p>
          <a:p>
            <a:pPr marL="457200" indent="-457200" algn="just">
              <a:buFont typeface="+mj-lt"/>
              <a:buAutoNum type="arabicPeriod"/>
            </a:pPr>
            <a:r>
              <a:rPr lang="en-US" dirty="0"/>
              <a:t>If A takes one object from a pile. Then B takes one object from the other pile.</a:t>
            </a:r>
          </a:p>
        </p:txBody>
      </p:sp>
    </p:spTree>
    <p:extLst>
      <p:ext uri="{BB962C8B-B14F-4D97-AF65-F5344CB8AC3E}">
        <p14:creationId xmlns:p14="http://schemas.microsoft.com/office/powerpoint/2010/main" val="2982575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1560" y="476672"/>
                <a:ext cx="7848872" cy="5649491"/>
              </a:xfrm>
            </p:spPr>
            <p:txBody>
              <a:bodyPr/>
              <a:lstStyle/>
              <a:p>
                <a:pPr marL="457200" indent="-457200" algn="just">
                  <a:buFont typeface="+mj-lt"/>
                  <a:buAutoNum type="arabicPeriod" startAt="8"/>
                  <a:tabLst>
                    <a:tab pos="7654925" algn="r"/>
                  </a:tabLst>
                </a:pPr>
                <a:r>
                  <a:rPr lang="en-US" sz="2000" dirty="0"/>
                  <a:t>A game of </a:t>
                </a:r>
                <a:r>
                  <a:rPr lang="en-US" sz="2000" dirty="0" err="1"/>
                  <a:t>Nim</a:t>
                </a:r>
                <a:r>
                  <a:rPr lang="en-US" sz="2000" dirty="0"/>
                  <a:t>, </a:t>
                </a:r>
              </a:p>
              <a:p>
                <a:pPr marL="457200" indent="0" algn="just">
                  <a:buNone/>
                  <a:tabLst>
                    <a:tab pos="1711325" algn="l"/>
                    <a:tab pos="3082925" algn="l"/>
                    <a:tab pos="7654925" algn="r"/>
                  </a:tabLst>
                </a:pPr>
                <a:r>
                  <a:rPr lang="en-US" sz="2000" dirty="0"/>
                  <a:t>first file 	:  x   </a:t>
                </a:r>
                <a:r>
                  <a:rPr lang="en-US" sz="2000" dirty="0" err="1"/>
                  <a:t>x</a:t>
                </a:r>
                <a:r>
                  <a:rPr lang="en-US" sz="2000" dirty="0"/>
                  <a:t>   </a:t>
                </a:r>
                <a:r>
                  <a:rPr lang="en-US" sz="2000" dirty="0" err="1"/>
                  <a:t>x</a:t>
                </a:r>
                <a:r>
                  <a:rPr lang="en-US" sz="2000" dirty="0"/>
                  <a:t>       	: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2</m:t>
                        </m:r>
                      </m:e>
                      <m:sup>
                        <m:r>
                          <a:rPr lang="en-US" sz="2000" b="0" i="1" smtClean="0">
                            <a:latin typeface="Cambria Math" panose="02040503050406030204" pitchFamily="18" charset="0"/>
                          </a:rPr>
                          <m:t>1</m:t>
                        </m:r>
                      </m:sup>
                    </m:sSup>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b="0" i="1" smtClean="0">
                            <a:latin typeface="Cambria Math" panose="02040503050406030204" pitchFamily="18" charset="0"/>
                          </a:rPr>
                          <m:t>0</m:t>
                        </m:r>
                      </m:sup>
                    </m:sSup>
                  </m:oMath>
                </a14:m>
                <a:endParaRPr lang="en-US" sz="2000" dirty="0"/>
              </a:p>
              <a:p>
                <a:pPr marL="457200" indent="0" algn="just">
                  <a:buNone/>
                  <a:tabLst>
                    <a:tab pos="1711325" algn="l"/>
                    <a:tab pos="3082925" algn="l"/>
                    <a:tab pos="7654925" algn="r"/>
                  </a:tabLst>
                </a:pPr>
                <a:r>
                  <a:rPr lang="en-US" sz="2000" dirty="0"/>
                  <a:t>second pile 	:  x   </a:t>
                </a:r>
                <a:r>
                  <a:rPr lang="en-US" sz="2000" dirty="0" err="1"/>
                  <a:t>x</a:t>
                </a:r>
                <a:r>
                  <a:rPr lang="en-US" sz="2000" dirty="0"/>
                  <a:t>	: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1</m:t>
                        </m:r>
                      </m:sup>
                    </m:sSup>
                  </m:oMath>
                </a14:m>
                <a:endParaRPr lang="en-US" sz="2000" dirty="0"/>
              </a:p>
              <a:p>
                <a:pPr marL="457200" indent="0" algn="just">
                  <a:buNone/>
                  <a:tabLst>
                    <a:tab pos="1711325" algn="l"/>
                    <a:tab pos="3082925" algn="l"/>
                    <a:tab pos="7654925" algn="r"/>
                  </a:tabLst>
                </a:pPr>
                <a:r>
                  <a:rPr lang="en-US" sz="2000" dirty="0"/>
                  <a:t>Third pile	:  x   </a:t>
                </a:r>
                <a:r>
                  <a:rPr lang="en-US" sz="2000" dirty="0" err="1"/>
                  <a:t>x</a:t>
                </a:r>
                <a:r>
                  <a:rPr lang="en-US" sz="2000" dirty="0"/>
                  <a:t>   </a:t>
                </a:r>
                <a:r>
                  <a:rPr lang="en-US" sz="2000" dirty="0" err="1"/>
                  <a:t>x</a:t>
                </a:r>
                <a:r>
                  <a:rPr lang="en-US" sz="2000" dirty="0"/>
                  <a:t>	: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1</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0</m:t>
                        </m:r>
                      </m:sup>
                    </m:sSup>
                  </m:oMath>
                </a14:m>
                <a:r>
                  <a:rPr lang="en-US" sz="2000" dirty="0"/>
                  <a:t>        	</a:t>
                </a:r>
                <a:endParaRPr lang="en-US" sz="2000" b="1" dirty="0">
                  <a:solidFill>
                    <a:srgbClr val="FF0000"/>
                  </a:solidFill>
                </a:endParaRPr>
              </a:p>
              <a:p>
                <a:pPr marL="457200" indent="-457200" algn="just">
                  <a:buNone/>
                  <a:tabLst>
                    <a:tab pos="1711325" algn="l"/>
                    <a:tab pos="3082925" algn="l"/>
                    <a:tab pos="7654925" algn="r"/>
                  </a:tabLst>
                </a:pPr>
                <a:r>
                  <a:rPr lang="en-US" sz="2000" dirty="0"/>
                  <a:t>9.	First file 	:  x  </a:t>
                </a:r>
                <a:r>
                  <a:rPr lang="en-US" sz="2000" dirty="0" err="1"/>
                  <a:t>x</a:t>
                </a:r>
                <a:r>
                  <a:rPr lang="en-US" sz="2000" dirty="0"/>
                  <a:t>  </a:t>
                </a:r>
                <a:r>
                  <a:rPr lang="en-US" sz="2000" dirty="0" err="1"/>
                  <a:t>x</a:t>
                </a:r>
                <a:r>
                  <a:rPr lang="en-US" sz="2000" dirty="0"/>
                  <a:t>  </a:t>
                </a:r>
                <a:r>
                  <a:rPr lang="en-US" sz="2000" dirty="0" err="1"/>
                  <a:t>x</a:t>
                </a:r>
                <a:r>
                  <a:rPr lang="en-US" sz="2000" dirty="0"/>
                  <a:t>  </a:t>
                </a:r>
                <a:r>
                  <a:rPr lang="en-US" sz="2000" dirty="0" err="1"/>
                  <a:t>x</a:t>
                </a:r>
                <a:r>
                  <a:rPr lang="en-US" sz="2000" dirty="0"/>
                  <a:t>   	: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      </m:t>
                    </m:r>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0</m:t>
                        </m:r>
                      </m:sup>
                    </m:sSup>
                  </m:oMath>
                </a14:m>
                <a:endParaRPr lang="en-US" sz="2000" dirty="0"/>
              </a:p>
              <a:p>
                <a:pPr marL="457200" indent="0" algn="just">
                  <a:buNone/>
                  <a:tabLst>
                    <a:tab pos="1711325" algn="l"/>
                    <a:tab pos="3082925" algn="l"/>
                    <a:tab pos="7654925" algn="r"/>
                  </a:tabLst>
                </a:pPr>
                <a:r>
                  <a:rPr lang="en-US" sz="2000" dirty="0"/>
                  <a:t>second pile 	:  x  </a:t>
                </a:r>
                <a:r>
                  <a:rPr lang="en-US" sz="2000" dirty="0" err="1"/>
                  <a:t>x</a:t>
                </a:r>
                <a:r>
                  <a:rPr lang="en-US" sz="2000" dirty="0"/>
                  <a:t>  </a:t>
                </a:r>
                <a:r>
                  <a:rPr lang="en-US" sz="2000" dirty="0" err="1"/>
                  <a:t>x</a:t>
                </a:r>
                <a:r>
                  <a:rPr lang="en-US" sz="2000" dirty="0"/>
                  <a:t>	: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1</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2</m:t>
                        </m:r>
                      </m:e>
                      <m:sup>
                        <m:r>
                          <a:rPr lang="en-US" sz="2000" b="0" i="1" smtClean="0">
                            <a:latin typeface="Cambria Math" panose="02040503050406030204" pitchFamily="18" charset="0"/>
                          </a:rPr>
                          <m:t>0</m:t>
                        </m:r>
                      </m:sup>
                    </m:sSup>
                  </m:oMath>
                </a14:m>
                <a:endParaRPr lang="en-US" sz="2000" dirty="0"/>
              </a:p>
              <a:p>
                <a:pPr marL="457200" indent="0" algn="just">
                  <a:buNone/>
                  <a:tabLst>
                    <a:tab pos="1711325" algn="l"/>
                    <a:tab pos="3082925" algn="l"/>
                    <a:tab pos="7654925" algn="r"/>
                  </a:tabLst>
                </a:pPr>
                <a:r>
                  <a:rPr lang="en-US" sz="2000" dirty="0"/>
                  <a:t>Third pile	:  x  </a:t>
                </a:r>
                <a:r>
                  <a:rPr lang="en-US" sz="2000" dirty="0" err="1"/>
                  <a:t>x</a:t>
                </a:r>
                <a:r>
                  <a:rPr lang="en-US" sz="2000" dirty="0"/>
                  <a:t>  </a:t>
                </a:r>
                <a:r>
                  <a:rPr lang="en-US" sz="2000" dirty="0" err="1"/>
                  <a:t>x</a:t>
                </a:r>
                <a:r>
                  <a:rPr lang="en-US" sz="2000" dirty="0"/>
                  <a:t>  </a:t>
                </a:r>
                <a:r>
                  <a:rPr lang="en-US" sz="2000" dirty="0" err="1"/>
                  <a:t>x</a:t>
                </a:r>
                <a:r>
                  <a:rPr lang="en-US" sz="2000" dirty="0"/>
                  <a:t>	: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 </m:t>
                    </m:r>
                  </m:oMath>
                </a14:m>
                <a:endParaRPr lang="en-US" sz="2000" dirty="0"/>
              </a:p>
              <a:p>
                <a:pPr marL="457200" indent="0" algn="just">
                  <a:buNone/>
                  <a:tabLst>
                    <a:tab pos="1711325" algn="l"/>
                    <a:tab pos="3082925" algn="l"/>
                    <a:tab pos="7654925" algn="r"/>
                  </a:tabLst>
                </a:pPr>
                <a:r>
                  <a:rPr lang="en-US" sz="2000" dirty="0"/>
                  <a:t>Fourth pile	:  x  </a:t>
                </a:r>
                <a:r>
                  <a:rPr lang="en-US" sz="2000" dirty="0" err="1"/>
                  <a:t>x</a:t>
                </a:r>
                <a:r>
                  <a:rPr lang="en-US" sz="2000" dirty="0"/>
                  <a:t>  	:  </a:t>
                </a:r>
                <a14:m>
                  <m:oMath xmlns:m="http://schemas.openxmlformats.org/officeDocument/2006/math">
                    <m:r>
                      <a:rPr lang="en-US" sz="2000" b="0" i="0" smtClean="0">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1</m:t>
                        </m:r>
                      </m:sup>
                    </m:sSup>
                    <m:r>
                      <a:rPr lang="en-US" sz="2000" b="0" i="1">
                        <a:latin typeface="Cambria Math" panose="02040503050406030204" pitchFamily="18" charset="0"/>
                      </a:rPr>
                      <m:t> </m:t>
                    </m:r>
                  </m:oMath>
                </a14:m>
                <a:r>
                  <a:rPr lang="en-US" sz="2000" dirty="0"/>
                  <a:t>	</a:t>
                </a:r>
                <a:endParaRPr lang="en-US" sz="2000" b="1" dirty="0">
                  <a:solidFill>
                    <a:srgbClr val="FF0000"/>
                  </a:solidFill>
                </a:endParaRPr>
              </a:p>
              <a:p>
                <a:pPr marL="0" indent="0" algn="just">
                  <a:buNone/>
                </a:pPr>
                <a:endParaRPr lang="en-US" sz="2000"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1560" y="476672"/>
                <a:ext cx="7848872" cy="5649491"/>
              </a:xfrm>
              <a:blipFill>
                <a:blip r:embed="rId2"/>
                <a:stretch>
                  <a:fillRect l="-854" t="-755"/>
                </a:stretch>
              </a:blipFill>
            </p:spPr>
            <p:txBody>
              <a:bodyPr/>
              <a:lstStyle/>
              <a:p>
                <a:r>
                  <a:rPr lang="en-US">
                    <a:noFill/>
                  </a:rPr>
                  <a:t> </a:t>
                </a:r>
              </a:p>
            </p:txBody>
          </p:sp>
        </mc:Fallback>
      </mc:AlternateContent>
      <p:sp>
        <p:nvSpPr>
          <p:cNvPr id="6" name="Rectangle 5"/>
          <p:cNvSpPr/>
          <p:nvPr/>
        </p:nvSpPr>
        <p:spPr>
          <a:xfrm>
            <a:off x="683568" y="4853684"/>
            <a:ext cx="7848872" cy="1015663"/>
          </a:xfrm>
          <a:prstGeom prst="rect">
            <a:avLst/>
          </a:prstGeom>
          <a:solidFill>
            <a:schemeClr val="accent6">
              <a:lumMod val="40000"/>
              <a:lumOff val="60000"/>
            </a:schemeClr>
          </a:solidFill>
        </p:spPr>
        <p:txBody>
          <a:bodyPr wrap="square">
            <a:spAutoFit/>
          </a:bodyPr>
          <a:lstStyle/>
          <a:p>
            <a:pPr algn="just"/>
            <a:r>
              <a:rPr lang="en-US" sz="2000" dirty="0"/>
              <a:t>If the origin collection is unbalanced then the first player, A, has a winning strategy. On the other hand, if the origin collection is balanced then the second player, B, has a winning strategy.  </a:t>
            </a:r>
          </a:p>
        </p:txBody>
      </p:sp>
      <p:sp>
        <p:nvSpPr>
          <p:cNvPr id="7" name="Rectangle 6"/>
          <p:cNvSpPr/>
          <p:nvPr/>
        </p:nvSpPr>
        <p:spPr>
          <a:xfrm>
            <a:off x="640160" y="3501008"/>
            <a:ext cx="7848872" cy="1323439"/>
          </a:xfrm>
          <a:prstGeom prst="rect">
            <a:avLst/>
          </a:prstGeom>
        </p:spPr>
        <p:txBody>
          <a:bodyPr wrap="square">
            <a:spAutoFit/>
          </a:bodyPr>
          <a:lstStyle/>
          <a:p>
            <a:pPr algn="just"/>
            <a:r>
              <a:rPr lang="en-US" sz="2000" dirty="0"/>
              <a:t>If a player confronts a balance collection, the new collection after that player moves must be unbalanced. However, If a player confronts an unbalance collection, that player can make a move in such away that the new collection is balanced.</a:t>
            </a:r>
          </a:p>
        </p:txBody>
      </p:sp>
      <p:sp>
        <p:nvSpPr>
          <p:cNvPr id="2" name="Rectangle 1">
            <a:extLst>
              <a:ext uri="{FF2B5EF4-FFF2-40B4-BE49-F238E27FC236}">
                <a16:creationId xmlns:a16="http://schemas.microsoft.com/office/drawing/2014/main" id="{1F70B07B-217A-41F4-B0BF-BFB54BB16B6E}"/>
              </a:ext>
            </a:extLst>
          </p:cNvPr>
          <p:cNvSpPr/>
          <p:nvPr/>
        </p:nvSpPr>
        <p:spPr>
          <a:xfrm>
            <a:off x="7608012" y="1619508"/>
            <a:ext cx="819455" cy="369332"/>
          </a:xfrm>
          <a:prstGeom prst="rect">
            <a:avLst/>
          </a:prstGeom>
        </p:spPr>
        <p:txBody>
          <a:bodyPr wrap="none">
            <a:spAutoFit/>
          </a:bodyPr>
          <a:lstStyle/>
          <a:p>
            <a:r>
              <a:rPr lang="en-US" b="1" dirty="0">
                <a:solidFill>
                  <a:srgbClr val="FF0000"/>
                </a:solidFill>
              </a:rPr>
              <a:t>A wins</a:t>
            </a:r>
            <a:endParaRPr lang="en-US" dirty="0"/>
          </a:p>
        </p:txBody>
      </p:sp>
      <p:sp>
        <p:nvSpPr>
          <p:cNvPr id="4" name="Rectangle 3">
            <a:extLst>
              <a:ext uri="{FF2B5EF4-FFF2-40B4-BE49-F238E27FC236}">
                <a16:creationId xmlns:a16="http://schemas.microsoft.com/office/drawing/2014/main" id="{85E38C1E-22BA-4B66-A8B8-7C2D13D1A632}"/>
              </a:ext>
            </a:extLst>
          </p:cNvPr>
          <p:cNvSpPr/>
          <p:nvPr/>
        </p:nvSpPr>
        <p:spPr>
          <a:xfrm>
            <a:off x="7617630" y="2442710"/>
            <a:ext cx="809837" cy="369332"/>
          </a:xfrm>
          <a:prstGeom prst="rect">
            <a:avLst/>
          </a:prstGeom>
        </p:spPr>
        <p:txBody>
          <a:bodyPr wrap="none">
            <a:spAutoFit/>
          </a:bodyPr>
          <a:lstStyle/>
          <a:p>
            <a:r>
              <a:rPr lang="en-US" b="1" dirty="0">
                <a:solidFill>
                  <a:srgbClr val="FF0000"/>
                </a:solidFill>
              </a:rPr>
              <a:t>B wins</a:t>
            </a:r>
            <a:endParaRPr lang="en-US" dirty="0"/>
          </a:p>
        </p:txBody>
      </p:sp>
      <p:sp>
        <p:nvSpPr>
          <p:cNvPr id="5" name="Rectangle 4">
            <a:extLst>
              <a:ext uri="{FF2B5EF4-FFF2-40B4-BE49-F238E27FC236}">
                <a16:creationId xmlns:a16="http://schemas.microsoft.com/office/drawing/2014/main" id="{B7DAC9D9-3675-422E-B01E-68461269C63A}"/>
              </a:ext>
            </a:extLst>
          </p:cNvPr>
          <p:cNvSpPr/>
          <p:nvPr/>
        </p:nvSpPr>
        <p:spPr>
          <a:xfrm>
            <a:off x="4760639" y="1137829"/>
            <a:ext cx="3728393" cy="369332"/>
          </a:xfrm>
          <a:prstGeom prst="rect">
            <a:avLst/>
          </a:prstGeom>
        </p:spPr>
        <p:txBody>
          <a:bodyPr wrap="none">
            <a:spAutoFit/>
          </a:bodyPr>
          <a:lstStyle/>
          <a:p>
            <a:r>
              <a:rPr lang="en-US" dirty="0"/>
              <a:t>The power of 2 occurs an odd number</a:t>
            </a:r>
          </a:p>
        </p:txBody>
      </p:sp>
      <p:sp>
        <p:nvSpPr>
          <p:cNvPr id="8" name="Rectangle 7">
            <a:extLst>
              <a:ext uri="{FF2B5EF4-FFF2-40B4-BE49-F238E27FC236}">
                <a16:creationId xmlns:a16="http://schemas.microsoft.com/office/drawing/2014/main" id="{EDAF0790-EDF4-4E75-AC8B-093193EC0ECA}"/>
              </a:ext>
            </a:extLst>
          </p:cNvPr>
          <p:cNvSpPr/>
          <p:nvPr/>
        </p:nvSpPr>
        <p:spPr>
          <a:xfrm>
            <a:off x="6366656" y="1378669"/>
            <a:ext cx="2122376" cy="369332"/>
          </a:xfrm>
          <a:prstGeom prst="rect">
            <a:avLst/>
          </a:prstGeom>
        </p:spPr>
        <p:txBody>
          <a:bodyPr wrap="none">
            <a:spAutoFit/>
          </a:bodyPr>
          <a:lstStyle/>
          <a:p>
            <a:r>
              <a:rPr lang="en-US" dirty="0"/>
              <a:t>unbalance collection</a:t>
            </a:r>
          </a:p>
        </p:txBody>
      </p:sp>
      <p:sp>
        <p:nvSpPr>
          <p:cNvPr id="9" name="Rectangle 8">
            <a:extLst>
              <a:ext uri="{FF2B5EF4-FFF2-40B4-BE49-F238E27FC236}">
                <a16:creationId xmlns:a16="http://schemas.microsoft.com/office/drawing/2014/main" id="{CE648A23-D5DC-4D4A-8BD3-B4FB40E7321A}"/>
              </a:ext>
            </a:extLst>
          </p:cNvPr>
          <p:cNvSpPr/>
          <p:nvPr/>
        </p:nvSpPr>
        <p:spPr>
          <a:xfrm>
            <a:off x="4716652" y="2681666"/>
            <a:ext cx="3816366" cy="369332"/>
          </a:xfrm>
          <a:prstGeom prst="rect">
            <a:avLst/>
          </a:prstGeom>
        </p:spPr>
        <p:txBody>
          <a:bodyPr wrap="none">
            <a:spAutoFit/>
          </a:bodyPr>
          <a:lstStyle/>
          <a:p>
            <a:r>
              <a:rPr lang="en-US" dirty="0"/>
              <a:t>the power of 2 occurs an even number</a:t>
            </a:r>
          </a:p>
        </p:txBody>
      </p:sp>
      <p:sp>
        <p:nvSpPr>
          <p:cNvPr id="10" name="Rectangle 9">
            <a:extLst>
              <a:ext uri="{FF2B5EF4-FFF2-40B4-BE49-F238E27FC236}">
                <a16:creationId xmlns:a16="http://schemas.microsoft.com/office/drawing/2014/main" id="{33C9B898-1653-4EE3-B50C-E442E37B7A4F}"/>
              </a:ext>
            </a:extLst>
          </p:cNvPr>
          <p:cNvSpPr/>
          <p:nvPr/>
        </p:nvSpPr>
        <p:spPr>
          <a:xfrm>
            <a:off x="6600821" y="2932085"/>
            <a:ext cx="1931619" cy="369332"/>
          </a:xfrm>
          <a:prstGeom prst="rect">
            <a:avLst/>
          </a:prstGeom>
        </p:spPr>
        <p:txBody>
          <a:bodyPr wrap="none">
            <a:spAutoFit/>
          </a:bodyPr>
          <a:lstStyle/>
          <a:p>
            <a:r>
              <a:rPr lang="en-US" dirty="0"/>
              <a:t>balance collection </a:t>
            </a:r>
          </a:p>
        </p:txBody>
      </p:sp>
    </p:spTree>
    <p:extLst>
      <p:ext uri="{BB962C8B-B14F-4D97-AF65-F5344CB8AC3E}">
        <p14:creationId xmlns:p14="http://schemas.microsoft.com/office/powerpoint/2010/main" val="2918039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2" grpId="0"/>
      <p:bldP spid="4" grpId="0"/>
      <p:bldP spid="5" grpId="0"/>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Analyzing Game using Tree</a:t>
            </a:r>
          </a:p>
        </p:txBody>
      </p:sp>
      <p:sp>
        <p:nvSpPr>
          <p:cNvPr id="7" name="TextBox 6"/>
          <p:cNvSpPr txBox="1"/>
          <p:nvPr/>
        </p:nvSpPr>
        <p:spPr>
          <a:xfrm>
            <a:off x="4542446" y="5591271"/>
            <a:ext cx="3871610" cy="707886"/>
          </a:xfrm>
          <a:prstGeom prst="rect">
            <a:avLst/>
          </a:prstGeom>
          <a:noFill/>
        </p:spPr>
        <p:txBody>
          <a:bodyPr wrap="square" rtlCol="0">
            <a:spAutoFit/>
          </a:bodyPr>
          <a:lstStyle/>
          <a:p>
            <a:r>
              <a:rPr lang="en-US" sz="2000" dirty="0"/>
              <a:t>Non-losing position for both player why </a:t>
            </a:r>
          </a:p>
        </p:txBody>
      </p:sp>
      <p:sp>
        <p:nvSpPr>
          <p:cNvPr id="8" name="TextBox 7"/>
          <p:cNvSpPr txBox="1"/>
          <p:nvPr/>
        </p:nvSpPr>
        <p:spPr>
          <a:xfrm>
            <a:off x="4560079" y="1543016"/>
            <a:ext cx="4040658" cy="400110"/>
          </a:xfrm>
          <a:prstGeom prst="rect">
            <a:avLst/>
          </a:prstGeom>
          <a:noFill/>
        </p:spPr>
        <p:txBody>
          <a:bodyPr wrap="none" rtlCol="0">
            <a:spAutoFit/>
          </a:bodyPr>
          <a:lstStyle/>
          <a:p>
            <a:r>
              <a:rPr lang="en-US" sz="2000" dirty="0"/>
              <a:t>Circle indicates a possible move for B</a:t>
            </a:r>
          </a:p>
        </p:txBody>
      </p:sp>
      <p:sp>
        <p:nvSpPr>
          <p:cNvPr id="9" name="Rectangle 8"/>
          <p:cNvSpPr/>
          <p:nvPr/>
        </p:nvSpPr>
        <p:spPr>
          <a:xfrm>
            <a:off x="4560079" y="1975908"/>
            <a:ext cx="4178901" cy="400110"/>
          </a:xfrm>
          <a:prstGeom prst="rect">
            <a:avLst/>
          </a:prstGeom>
        </p:spPr>
        <p:txBody>
          <a:bodyPr wrap="none">
            <a:spAutoFit/>
          </a:bodyPr>
          <a:lstStyle/>
          <a:p>
            <a:r>
              <a:rPr lang="en-US" sz="2000" dirty="0"/>
              <a:t>Square indicates a possible move for A</a:t>
            </a:r>
          </a:p>
        </p:txBody>
      </p:sp>
      <p:sp>
        <p:nvSpPr>
          <p:cNvPr id="10" name="TextBox 9"/>
          <p:cNvSpPr txBox="1"/>
          <p:nvPr/>
        </p:nvSpPr>
        <p:spPr>
          <a:xfrm>
            <a:off x="4560079" y="2376018"/>
            <a:ext cx="2700932" cy="400110"/>
          </a:xfrm>
          <a:prstGeom prst="rect">
            <a:avLst/>
          </a:prstGeom>
          <a:noFill/>
        </p:spPr>
        <p:txBody>
          <a:bodyPr wrap="none" rtlCol="0">
            <a:spAutoFit/>
          </a:bodyPr>
          <a:lstStyle/>
          <a:p>
            <a:r>
              <a:rPr lang="en-US" sz="2000" dirty="0"/>
              <a:t>B has a winning strategy</a:t>
            </a:r>
          </a:p>
        </p:txBody>
      </p:sp>
      <p:sp>
        <p:nvSpPr>
          <p:cNvPr id="11" name="TextBox 10"/>
          <p:cNvSpPr txBox="1"/>
          <p:nvPr/>
        </p:nvSpPr>
        <p:spPr>
          <a:xfrm>
            <a:off x="6713546" y="3167129"/>
            <a:ext cx="1922270" cy="1015663"/>
          </a:xfrm>
          <a:prstGeom prst="rect">
            <a:avLst/>
          </a:prstGeom>
          <a:noFill/>
        </p:spPr>
        <p:txBody>
          <a:bodyPr wrap="square" rtlCol="0">
            <a:spAutoFit/>
          </a:bodyPr>
          <a:lstStyle/>
          <a:p>
            <a:r>
              <a:rPr lang="en-US" sz="2000" dirty="0"/>
              <a:t>A has a winning strategy. </a:t>
            </a:r>
          </a:p>
          <a:p>
            <a:r>
              <a:rPr lang="en-US" sz="2000" dirty="0"/>
              <a:t>That is 1</a:t>
            </a:r>
          </a:p>
        </p:txBody>
      </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1560" y="3997826"/>
            <a:ext cx="3807152" cy="2298084"/>
          </a:xfrm>
          <a:prstGeom prst="rect">
            <a:avLst/>
          </a:prstGeom>
        </p:spPr>
      </p:pic>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347" y="1543016"/>
            <a:ext cx="3797365" cy="2195067"/>
          </a:xfrm>
          <a:prstGeom prst="rect">
            <a:avLst/>
          </a:prstGeom>
        </p:spPr>
      </p:pic>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95816" y="2875974"/>
            <a:ext cx="2016844" cy="2425234"/>
          </a:xfrm>
          <a:prstGeom prst="rect">
            <a:avLst/>
          </a:prstGeom>
        </p:spPr>
      </p:pic>
    </p:spTree>
    <p:extLst>
      <p:ext uri="{BB962C8B-B14F-4D97-AF65-F5344CB8AC3E}">
        <p14:creationId xmlns:p14="http://schemas.microsoft.com/office/powerpoint/2010/main" val="3975469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Grundy Functions</a:t>
            </a:r>
          </a:p>
        </p:txBody>
      </p:sp>
      <p:sp>
        <p:nvSpPr>
          <p:cNvPr id="4" name="TextBox 3"/>
          <p:cNvSpPr txBox="1"/>
          <p:nvPr/>
        </p:nvSpPr>
        <p:spPr>
          <a:xfrm>
            <a:off x="1925918" y="3495784"/>
            <a:ext cx="407127" cy="461665"/>
          </a:xfrm>
          <a:prstGeom prst="rect">
            <a:avLst/>
          </a:prstGeom>
          <a:noFill/>
        </p:spPr>
        <p:txBody>
          <a:bodyPr wrap="square" rtlCol="0">
            <a:spAutoFit/>
          </a:bodyPr>
          <a:lstStyle/>
          <a:p>
            <a:r>
              <a:rPr lang="en-US" sz="2400" dirty="0"/>
              <a:t>a</a:t>
            </a:r>
          </a:p>
        </p:txBody>
      </p:sp>
      <p:sp>
        <p:nvSpPr>
          <p:cNvPr id="5" name="Rectangle 4"/>
          <p:cNvSpPr/>
          <p:nvPr/>
        </p:nvSpPr>
        <p:spPr>
          <a:xfrm>
            <a:off x="592591" y="1556792"/>
            <a:ext cx="7831569" cy="1938992"/>
          </a:xfrm>
          <a:prstGeom prst="rect">
            <a:avLst/>
          </a:prstGeom>
        </p:spPr>
        <p:txBody>
          <a:bodyPr wrap="square">
            <a:spAutoFit/>
          </a:bodyPr>
          <a:lstStyle/>
          <a:p>
            <a:pPr algn="just"/>
            <a:r>
              <a:rPr lang="en-US" sz="2400" dirty="0"/>
              <a:t>A technique enables us to find suitable strategies to win a special combinational games that have two properties </a:t>
            </a:r>
          </a:p>
          <a:p>
            <a:pPr marL="803275" indent="-457200" algn="just">
              <a:buFont typeface="+mj-lt"/>
              <a:buAutoNum type="arabicPeriod"/>
            </a:pPr>
            <a:r>
              <a:rPr lang="en-US" sz="2400" dirty="0"/>
              <a:t>The last person to move wins</a:t>
            </a:r>
          </a:p>
          <a:p>
            <a:pPr marL="803275" indent="-457200" algn="just">
              <a:buFont typeface="+mj-lt"/>
              <a:buAutoNum type="arabicPeriod"/>
            </a:pPr>
            <a:r>
              <a:rPr lang="en-US" sz="2400" dirty="0"/>
              <a:t>At each position, there are only a finite number of allowable moves</a:t>
            </a:r>
          </a:p>
        </p:txBody>
      </p:sp>
      <p:sp>
        <p:nvSpPr>
          <p:cNvPr id="6" name="TextBox 5"/>
          <p:cNvSpPr txBox="1"/>
          <p:nvPr/>
        </p:nvSpPr>
        <p:spPr>
          <a:xfrm>
            <a:off x="1400998" y="4281480"/>
            <a:ext cx="424812" cy="461665"/>
          </a:xfrm>
          <a:prstGeom prst="rect">
            <a:avLst/>
          </a:prstGeom>
          <a:noFill/>
        </p:spPr>
        <p:txBody>
          <a:bodyPr wrap="square" rtlCol="0">
            <a:spAutoFit/>
          </a:bodyPr>
          <a:lstStyle/>
          <a:p>
            <a:r>
              <a:rPr lang="en-US" sz="2400" dirty="0"/>
              <a:t>b</a:t>
            </a:r>
          </a:p>
        </p:txBody>
      </p:sp>
      <p:sp>
        <p:nvSpPr>
          <p:cNvPr id="7" name="TextBox 6"/>
          <p:cNvSpPr txBox="1"/>
          <p:nvPr/>
        </p:nvSpPr>
        <p:spPr>
          <a:xfrm>
            <a:off x="2437135" y="4281480"/>
            <a:ext cx="385514" cy="461665"/>
          </a:xfrm>
          <a:prstGeom prst="rect">
            <a:avLst/>
          </a:prstGeom>
          <a:noFill/>
        </p:spPr>
        <p:txBody>
          <a:bodyPr wrap="square" rtlCol="0">
            <a:spAutoFit/>
          </a:bodyPr>
          <a:lstStyle/>
          <a:p>
            <a:r>
              <a:rPr lang="en-US" sz="2400" dirty="0"/>
              <a:t>c</a:t>
            </a:r>
          </a:p>
        </p:txBody>
      </p:sp>
      <p:sp>
        <p:nvSpPr>
          <p:cNvPr id="8" name="TextBox 7"/>
          <p:cNvSpPr txBox="1"/>
          <p:nvPr/>
        </p:nvSpPr>
        <p:spPr>
          <a:xfrm>
            <a:off x="1403648" y="5067176"/>
            <a:ext cx="424812" cy="461665"/>
          </a:xfrm>
          <a:prstGeom prst="rect">
            <a:avLst/>
          </a:prstGeom>
          <a:noFill/>
        </p:spPr>
        <p:txBody>
          <a:bodyPr wrap="square" rtlCol="0">
            <a:spAutoFit/>
          </a:bodyPr>
          <a:lstStyle/>
          <a:p>
            <a:r>
              <a:rPr lang="en-US" sz="2400" dirty="0"/>
              <a:t>d</a:t>
            </a:r>
          </a:p>
        </p:txBody>
      </p:sp>
      <p:sp>
        <p:nvSpPr>
          <p:cNvPr id="9" name="TextBox 8"/>
          <p:cNvSpPr txBox="1"/>
          <p:nvPr/>
        </p:nvSpPr>
        <p:spPr>
          <a:xfrm>
            <a:off x="2419685" y="5066254"/>
            <a:ext cx="414986" cy="461665"/>
          </a:xfrm>
          <a:prstGeom prst="rect">
            <a:avLst/>
          </a:prstGeom>
          <a:noFill/>
        </p:spPr>
        <p:txBody>
          <a:bodyPr wrap="square" rtlCol="0">
            <a:spAutoFit/>
          </a:bodyPr>
          <a:lstStyle/>
          <a:p>
            <a:r>
              <a:rPr lang="en-US" sz="2400" dirty="0"/>
              <a:t> e</a:t>
            </a:r>
          </a:p>
        </p:txBody>
      </p:sp>
      <p:cxnSp>
        <p:nvCxnSpPr>
          <p:cNvPr id="11" name="Straight Arrow Connector 10"/>
          <p:cNvCxnSpPr>
            <a:stCxn id="4" idx="2"/>
            <a:endCxn id="6" idx="0"/>
          </p:cNvCxnSpPr>
          <p:nvPr/>
        </p:nvCxnSpPr>
        <p:spPr>
          <a:xfrm flipH="1">
            <a:off x="1613404" y="3957449"/>
            <a:ext cx="516078" cy="324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4" idx="2"/>
            <a:endCxn id="7" idx="0"/>
          </p:cNvCxnSpPr>
          <p:nvPr/>
        </p:nvCxnSpPr>
        <p:spPr>
          <a:xfrm>
            <a:off x="2129482" y="3957449"/>
            <a:ext cx="500410" cy="324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6" idx="2"/>
            <a:endCxn id="8" idx="0"/>
          </p:cNvCxnSpPr>
          <p:nvPr/>
        </p:nvCxnSpPr>
        <p:spPr>
          <a:xfrm>
            <a:off x="1613404" y="4743145"/>
            <a:ext cx="2650" cy="324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3"/>
            <a:endCxn id="7" idx="1"/>
          </p:cNvCxnSpPr>
          <p:nvPr/>
        </p:nvCxnSpPr>
        <p:spPr>
          <a:xfrm>
            <a:off x="1825810" y="4512313"/>
            <a:ext cx="6113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1814186" y="4703712"/>
            <a:ext cx="687604" cy="4578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2"/>
            <a:endCxn id="9" idx="0"/>
          </p:cNvCxnSpPr>
          <p:nvPr/>
        </p:nvCxnSpPr>
        <p:spPr>
          <a:xfrm flipH="1">
            <a:off x="2627178" y="4743145"/>
            <a:ext cx="2714" cy="3231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p:cNvSpPr txBox="1"/>
              <p:nvPr/>
            </p:nvSpPr>
            <p:spPr>
              <a:xfrm>
                <a:off x="3272309" y="4021932"/>
                <a:ext cx="4615110" cy="461665"/>
              </a:xfrm>
              <a:prstGeom prst="rect">
                <a:avLst/>
              </a:prstGeom>
              <a:noFill/>
            </p:spPr>
            <p:txBody>
              <a:bodyPr wrap="none" rtlCol="0">
                <a:spAutoFit/>
              </a:bodyPr>
              <a:lstStyle/>
              <a:p>
                <a:r>
                  <a:rPr lang="en-US" sz="2400" dirty="0"/>
                  <a:t>First player can go to position </a:t>
                </a:r>
                <a14:m>
                  <m:oMath xmlns:m="http://schemas.openxmlformats.org/officeDocument/2006/math">
                    <m:r>
                      <a:rPr lang="en-US" sz="2400" i="1" dirty="0" smtClean="0">
                        <a:latin typeface="Cambria Math" panose="02040503050406030204" pitchFamily="18" charset="0"/>
                      </a:rPr>
                      <m:t>𝑏</m:t>
                    </m:r>
                  </m:oMath>
                </a14:m>
                <a:r>
                  <a:rPr lang="en-US" sz="2400" dirty="0"/>
                  <a:t> or </a:t>
                </a:r>
                <a14:m>
                  <m:oMath xmlns:m="http://schemas.openxmlformats.org/officeDocument/2006/math">
                    <m:r>
                      <a:rPr lang="en-US" sz="2400" i="1" dirty="0" smtClean="0">
                        <a:latin typeface="Cambria Math" panose="02040503050406030204" pitchFamily="18" charset="0"/>
                      </a:rPr>
                      <m:t>𝑐</m:t>
                    </m:r>
                  </m:oMath>
                </a14:m>
                <a:endParaRPr lang="en-US" sz="2400" dirty="0"/>
              </a:p>
            </p:txBody>
          </p:sp>
        </mc:Choice>
        <mc:Fallback xmlns="">
          <p:sp>
            <p:nvSpPr>
              <p:cNvPr id="48" name="TextBox 47"/>
              <p:cNvSpPr txBox="1">
                <a:spLocks noRot="1" noChangeAspect="1" noMove="1" noResize="1" noEditPoints="1" noAdjustHandles="1" noChangeArrowheads="1" noChangeShapeType="1" noTextEdit="1"/>
              </p:cNvSpPr>
              <p:nvPr/>
            </p:nvSpPr>
            <p:spPr>
              <a:xfrm>
                <a:off x="3272309" y="4021932"/>
                <a:ext cx="4615110" cy="461665"/>
              </a:xfrm>
              <a:prstGeom prst="rect">
                <a:avLst/>
              </a:prstGeom>
              <a:blipFill>
                <a:blip r:embed="rId2"/>
                <a:stretch>
                  <a:fillRect l="-2114" t="-10667" b="-3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p:cNvSpPr txBox="1"/>
              <p:nvPr/>
            </p:nvSpPr>
            <p:spPr>
              <a:xfrm>
                <a:off x="3267115" y="4421971"/>
                <a:ext cx="5294847" cy="461665"/>
              </a:xfrm>
              <a:prstGeom prst="rect">
                <a:avLst/>
              </a:prstGeom>
              <a:noFill/>
            </p:spPr>
            <p:txBody>
              <a:bodyPr wrap="none" rtlCol="0">
                <a:spAutoFit/>
              </a:bodyPr>
              <a:lstStyle/>
              <a:p>
                <a:r>
                  <a:rPr lang="en-US" sz="2400" dirty="0"/>
                  <a:t>Second player can go to position </a:t>
                </a:r>
                <a14:m>
                  <m:oMath xmlns:m="http://schemas.openxmlformats.org/officeDocument/2006/math">
                    <m:r>
                      <a:rPr lang="en-US" sz="2400" i="1" dirty="0" smtClean="0">
                        <a:latin typeface="Cambria Math" panose="02040503050406030204" pitchFamily="18" charset="0"/>
                      </a:rPr>
                      <m:t>𝑐</m:t>
                    </m:r>
                    <m:r>
                      <a:rPr lang="en-US" sz="2400" i="1" dirty="0" smtClean="0">
                        <a:latin typeface="Cambria Math" panose="02040503050406030204" pitchFamily="18" charset="0"/>
                      </a:rPr>
                      <m:t>, </m:t>
                    </m:r>
                    <m:r>
                      <a:rPr lang="en-US" sz="2400" i="1" dirty="0" smtClean="0">
                        <a:latin typeface="Cambria Math" panose="02040503050406030204" pitchFamily="18" charset="0"/>
                      </a:rPr>
                      <m:t>𝑑</m:t>
                    </m:r>
                  </m:oMath>
                </a14:m>
                <a:r>
                  <a:rPr lang="en-US" sz="2400" dirty="0"/>
                  <a:t> or </a:t>
                </a:r>
                <a14:m>
                  <m:oMath xmlns:m="http://schemas.openxmlformats.org/officeDocument/2006/math">
                    <m:r>
                      <a:rPr lang="en-US" sz="2400" b="0" i="1" dirty="0" smtClean="0">
                        <a:latin typeface="Cambria Math" panose="02040503050406030204" pitchFamily="18" charset="0"/>
                      </a:rPr>
                      <m:t>𝑒</m:t>
                    </m:r>
                  </m:oMath>
                </a14:m>
                <a:endParaRPr lang="en-US" sz="2400" dirty="0"/>
              </a:p>
            </p:txBody>
          </p:sp>
        </mc:Choice>
        <mc:Fallback xmlns="">
          <p:sp>
            <p:nvSpPr>
              <p:cNvPr id="49" name="TextBox 48"/>
              <p:cNvSpPr txBox="1">
                <a:spLocks noRot="1" noChangeAspect="1" noMove="1" noResize="1" noEditPoints="1" noAdjustHandles="1" noChangeArrowheads="1" noChangeShapeType="1" noTextEdit="1"/>
              </p:cNvSpPr>
              <p:nvPr/>
            </p:nvSpPr>
            <p:spPr>
              <a:xfrm>
                <a:off x="3267115" y="4421971"/>
                <a:ext cx="5294847" cy="461665"/>
              </a:xfrm>
              <a:prstGeom prst="rect">
                <a:avLst/>
              </a:prstGeom>
              <a:blipFill>
                <a:blip r:embed="rId3"/>
                <a:stretch>
                  <a:fillRect l="-1841"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3267115" y="4885405"/>
                <a:ext cx="5206993" cy="830997"/>
              </a:xfrm>
              <a:prstGeom prst="rect">
                <a:avLst/>
              </a:prstGeom>
              <a:noFill/>
            </p:spPr>
            <p:txBody>
              <a:bodyPr wrap="square" rtlCol="0">
                <a:spAutoFit/>
              </a:bodyPr>
              <a:lstStyle/>
              <a:p>
                <a:r>
                  <a:rPr lang="en-US" sz="2400" dirty="0"/>
                  <a:t>The winner is the one who moves to </a:t>
                </a:r>
                <a14:m>
                  <m:oMath xmlns:m="http://schemas.openxmlformats.org/officeDocument/2006/math">
                    <m:r>
                      <a:rPr lang="en-US" sz="2400" i="1" dirty="0" smtClean="0">
                        <a:latin typeface="Cambria Math" panose="02040503050406030204" pitchFamily="18" charset="0"/>
                      </a:rPr>
                      <m:t>𝑑</m:t>
                    </m:r>
                  </m:oMath>
                </a14:m>
                <a:r>
                  <a:rPr lang="en-US" sz="2400" dirty="0"/>
                  <a:t> or </a:t>
                </a:r>
                <a14:m>
                  <m:oMath xmlns:m="http://schemas.openxmlformats.org/officeDocument/2006/math">
                    <m:r>
                      <a:rPr lang="en-US" sz="2400" i="1" dirty="0" smtClean="0">
                        <a:latin typeface="Cambria Math" panose="02040503050406030204" pitchFamily="18" charset="0"/>
                      </a:rPr>
                      <m:t>𝑒</m:t>
                    </m:r>
                  </m:oMath>
                </a14:m>
                <a:r>
                  <a:rPr lang="en-US" sz="2400" dirty="0"/>
                  <a:t>    </a:t>
                </a:r>
              </a:p>
            </p:txBody>
          </p:sp>
        </mc:Choice>
        <mc:Fallback xmlns="">
          <p:sp>
            <p:nvSpPr>
              <p:cNvPr id="50" name="TextBox 49"/>
              <p:cNvSpPr txBox="1">
                <a:spLocks noRot="1" noChangeAspect="1" noMove="1" noResize="1" noEditPoints="1" noAdjustHandles="1" noChangeArrowheads="1" noChangeShapeType="1" noTextEdit="1"/>
              </p:cNvSpPr>
              <p:nvPr/>
            </p:nvSpPr>
            <p:spPr>
              <a:xfrm>
                <a:off x="3267115" y="4885405"/>
                <a:ext cx="5206993" cy="830997"/>
              </a:xfrm>
              <a:prstGeom prst="rect">
                <a:avLst/>
              </a:prstGeom>
              <a:blipFill>
                <a:blip r:embed="rId4"/>
                <a:stretch>
                  <a:fillRect l="-1874" t="-5839" b="-153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3267115" y="3495783"/>
                <a:ext cx="4620304" cy="461665"/>
              </a:xfrm>
              <a:prstGeom prst="rect">
                <a:avLst/>
              </a:prstGeom>
              <a:noFill/>
            </p:spPr>
            <p:txBody>
              <a:bodyPr wrap="none" rtlCol="0">
                <a:spAutoFit/>
              </a:bodyPr>
              <a:lstStyle/>
              <a:p>
                <a:r>
                  <a:rPr lang="en-US" sz="2400" dirty="0"/>
                  <a:t>Current condition is position </a:t>
                </a:r>
                <a14:m>
                  <m:oMath xmlns:m="http://schemas.openxmlformats.org/officeDocument/2006/math">
                    <m:r>
                      <a:rPr lang="en-US" sz="2400" i="1" dirty="0" smtClean="0">
                        <a:latin typeface="Cambria Math" panose="02040503050406030204" pitchFamily="18" charset="0"/>
                      </a:rPr>
                      <m:t>𝑎</m:t>
                    </m:r>
                  </m:oMath>
                </a14:m>
                <a:r>
                  <a:rPr lang="en-US" sz="2400" dirty="0"/>
                  <a:t> and </a:t>
                </a:r>
              </a:p>
            </p:txBody>
          </p:sp>
        </mc:Choice>
        <mc:Fallback xmlns="">
          <p:sp>
            <p:nvSpPr>
              <p:cNvPr id="51" name="TextBox 50"/>
              <p:cNvSpPr txBox="1">
                <a:spLocks noRot="1" noChangeAspect="1" noMove="1" noResize="1" noEditPoints="1" noAdjustHandles="1" noChangeArrowheads="1" noChangeShapeType="1" noTextEdit="1"/>
              </p:cNvSpPr>
              <p:nvPr/>
            </p:nvSpPr>
            <p:spPr>
              <a:xfrm>
                <a:off x="3267115" y="3495783"/>
                <a:ext cx="4620304" cy="461665"/>
              </a:xfrm>
              <a:prstGeom prst="rect">
                <a:avLst/>
              </a:prstGeom>
              <a:blipFill>
                <a:blip r:embed="rId5"/>
                <a:stretch>
                  <a:fillRect l="-2111" t="-10526" r="-132" b="-28947"/>
                </a:stretch>
              </a:blipFill>
            </p:spPr>
            <p:txBody>
              <a:bodyPr/>
              <a:lstStyle/>
              <a:p>
                <a:r>
                  <a:rPr lang="en-US">
                    <a:noFill/>
                  </a:rPr>
                  <a:t> </a:t>
                </a:r>
              </a:p>
            </p:txBody>
          </p:sp>
        </mc:Fallback>
      </mc:AlternateContent>
      <p:sp>
        <p:nvSpPr>
          <p:cNvPr id="52" name="TextBox 51"/>
          <p:cNvSpPr txBox="1"/>
          <p:nvPr/>
        </p:nvSpPr>
        <p:spPr>
          <a:xfrm>
            <a:off x="707545" y="5716402"/>
            <a:ext cx="7752887" cy="461665"/>
          </a:xfrm>
          <a:prstGeom prst="rect">
            <a:avLst/>
          </a:prstGeom>
          <a:solidFill>
            <a:srgbClr val="FF0000"/>
          </a:solidFill>
        </p:spPr>
        <p:txBody>
          <a:bodyPr wrap="square" rtlCol="0">
            <a:spAutoFit/>
          </a:bodyPr>
          <a:lstStyle/>
          <a:p>
            <a:pPr algn="ctr"/>
            <a:r>
              <a:rPr lang="en-US" sz="2400" dirty="0"/>
              <a:t>How can Grundy function </a:t>
            </a:r>
            <a:r>
              <a:rPr lang="en-US" sz="2400" dirty="0" err="1"/>
              <a:t>analyse</a:t>
            </a:r>
            <a:r>
              <a:rPr lang="en-US" sz="2400" dirty="0"/>
              <a:t> this condition ?</a:t>
            </a:r>
          </a:p>
        </p:txBody>
      </p:sp>
      <p:sp>
        <p:nvSpPr>
          <p:cNvPr id="3" name="Rectangle 2">
            <a:extLst>
              <a:ext uri="{FF2B5EF4-FFF2-40B4-BE49-F238E27FC236}">
                <a16:creationId xmlns:a16="http://schemas.microsoft.com/office/drawing/2014/main" id="{014FF5A7-A659-4F90-81F7-72D1C960248A}"/>
              </a:ext>
            </a:extLst>
          </p:cNvPr>
          <p:cNvSpPr/>
          <p:nvPr/>
        </p:nvSpPr>
        <p:spPr>
          <a:xfrm>
            <a:off x="4137201" y="5254738"/>
            <a:ext cx="4367158" cy="461665"/>
          </a:xfrm>
          <a:prstGeom prst="rect">
            <a:avLst/>
          </a:prstGeom>
        </p:spPr>
        <p:txBody>
          <a:bodyPr wrap="none">
            <a:spAutoFit/>
          </a:bodyPr>
          <a:lstStyle/>
          <a:p>
            <a:r>
              <a:rPr lang="en-US" sz="2400" b="1" dirty="0">
                <a:solidFill>
                  <a:srgbClr val="FF0000"/>
                </a:solidFill>
              </a:rPr>
              <a:t>Second player will win the game </a:t>
            </a:r>
          </a:p>
        </p:txBody>
      </p:sp>
    </p:spTree>
    <p:extLst>
      <p:ext uri="{BB962C8B-B14F-4D97-AF65-F5344CB8AC3E}">
        <p14:creationId xmlns:p14="http://schemas.microsoft.com/office/powerpoint/2010/main" val="2613554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P spid="48" grpId="0"/>
      <p:bldP spid="49" grpId="0"/>
      <p:bldP spid="50" grpId="0"/>
      <p:bldP spid="51" grpId="0"/>
      <p:bldP spid="5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Grundy Functions Procedure</a:t>
            </a:r>
          </a:p>
        </p:txBody>
      </p:sp>
      <mc:AlternateContent xmlns:mc="http://schemas.openxmlformats.org/markup-compatibility/2006" xmlns:a14="http://schemas.microsoft.com/office/drawing/2010/main">
        <mc:Choice Requires="a14">
          <p:sp>
            <p:nvSpPr>
              <p:cNvPr id="4" name="Rectangle 3"/>
              <p:cNvSpPr/>
              <p:nvPr/>
            </p:nvSpPr>
            <p:spPr>
              <a:xfrm>
                <a:off x="611560" y="1628800"/>
                <a:ext cx="7848872" cy="1200329"/>
              </a:xfrm>
              <a:prstGeom prst="rect">
                <a:avLst/>
              </a:prstGeom>
            </p:spPr>
            <p:txBody>
              <a:bodyPr wrap="square">
                <a:spAutoFit/>
              </a:bodyPr>
              <a:lstStyle/>
              <a:p>
                <a:pPr marL="342900" indent="-342900" algn="just">
                  <a:buFont typeface="+mj-lt"/>
                  <a:buAutoNum type="arabicPeriod"/>
                </a:pPr>
                <a:r>
                  <a:rPr lang="en-US" sz="2400" dirty="0"/>
                  <a:t>Find G-number of each position started from the last position to the current position labeled as </a:t>
                </a:r>
                <a14:m>
                  <m:oMath xmlns:m="http://schemas.openxmlformats.org/officeDocument/2006/math">
                    <m:r>
                      <a:rPr lang="en-US" sz="2400" i="1" dirty="0">
                        <a:latin typeface="Cambria Math" panose="02040503050406030204" pitchFamily="18" charset="0"/>
                      </a:rPr>
                      <m:t>𝑔</m:t>
                    </m:r>
                    <m:d>
                      <m:dPr>
                        <m:ctrlPr>
                          <a:rPr lang="en-US" sz="2400" i="1" dirty="0">
                            <a:latin typeface="Cambria Math" panose="02040503050406030204" pitchFamily="18" charset="0"/>
                          </a:rPr>
                        </m:ctrlPr>
                      </m:dPr>
                      <m:e>
                        <m:r>
                          <a:rPr lang="en-US" sz="2400" i="1" dirty="0">
                            <a:latin typeface="Cambria Math" panose="02040503050406030204" pitchFamily="18" charset="0"/>
                          </a:rPr>
                          <m:t>𝑥</m:t>
                        </m:r>
                      </m:e>
                    </m:d>
                    <m:r>
                      <a:rPr lang="en-US" sz="2400" i="1" dirty="0">
                        <a:latin typeface="Cambria Math" panose="02040503050406030204" pitchFamily="18" charset="0"/>
                      </a:rPr>
                      <m:t>: </m:t>
                    </m:r>
                    <m:r>
                      <a:rPr lang="en-US" sz="2400" i="1" dirty="0">
                        <a:latin typeface="Cambria Math" panose="02040503050406030204" pitchFamily="18" charset="0"/>
                      </a:rPr>
                      <m:t>𝑥</m:t>
                    </m:r>
                    <m:r>
                      <a:rPr lang="en-US" sz="2400" i="1" dirty="0">
                        <a:latin typeface="Cambria Math" panose="02040503050406030204" pitchFamily="18" charset="0"/>
                      </a:rPr>
                      <m:t> </m:t>
                    </m:r>
                    <m:r>
                      <a:rPr lang="en-US" sz="2400" i="1" dirty="0">
                        <a:latin typeface="Cambria Math" panose="02040503050406030204" pitchFamily="18" charset="0"/>
                        <a:ea typeface="Cambria Math" panose="02040503050406030204" pitchFamily="18" charset="0"/>
                      </a:rPr>
                      <m:t>𝜖</m:t>
                    </m:r>
                    <m:r>
                      <a:rPr lang="en-US" sz="2400" i="1" dirty="0">
                        <a:latin typeface="Cambria Math" panose="02040503050406030204" pitchFamily="18" charset="0"/>
                        <a:ea typeface="Cambria Math" panose="02040503050406030204" pitchFamily="18" charset="0"/>
                      </a:rPr>
                      <m:t> {∀</m:t>
                    </m:r>
                    <m:r>
                      <a:rPr lang="en-US" sz="2400" i="1" dirty="0">
                        <a:latin typeface="Cambria Math" panose="02040503050406030204" pitchFamily="18" charset="0"/>
                        <a:ea typeface="Cambria Math" panose="02040503050406030204" pitchFamily="18" charset="0"/>
                      </a:rPr>
                      <m:t>𝑝𝑜𝑠𝑖𝑡𝑖𝑜𝑛𝑠</m:t>
                    </m:r>
                    <m:r>
                      <a:rPr lang="en-US" sz="2400" i="1" dirty="0">
                        <a:latin typeface="Cambria Math" panose="02040503050406030204" pitchFamily="18" charset="0"/>
                        <a:ea typeface="Cambria Math" panose="02040503050406030204" pitchFamily="18" charset="0"/>
                      </a:rPr>
                      <m:t>} </m:t>
                    </m:r>
                  </m:oMath>
                </a14:m>
                <a:r>
                  <a:rPr lang="en-US" sz="2400" dirty="0"/>
                  <a:t>. If </a:t>
                </a:r>
                <a14:m>
                  <m:oMath xmlns:m="http://schemas.openxmlformats.org/officeDocument/2006/math">
                    <m:r>
                      <a:rPr lang="en-US" sz="2400" b="0" i="1" dirty="0" smtClean="0">
                        <a:latin typeface="Cambria Math" panose="02040503050406030204" pitchFamily="18" charset="0"/>
                      </a:rPr>
                      <m:t>𝑦</m:t>
                    </m:r>
                  </m:oMath>
                </a14:m>
                <a:r>
                  <a:rPr lang="en-US" sz="2400" dirty="0"/>
                  <a:t> is last position then </a:t>
                </a:r>
                <a14:m>
                  <m:oMath xmlns:m="http://schemas.openxmlformats.org/officeDocument/2006/math">
                    <m:r>
                      <a:rPr lang="en-US" sz="2400" i="1" dirty="0" smtClean="0">
                        <a:latin typeface="Cambria Math" panose="02040503050406030204" pitchFamily="18" charset="0"/>
                      </a:rPr>
                      <m:t>𝑔</m:t>
                    </m:r>
                    <m:r>
                      <a:rPr lang="en-US" sz="2400" i="1" dirty="0" smtClean="0">
                        <a:latin typeface="Cambria Math" panose="02040503050406030204" pitchFamily="18" charset="0"/>
                      </a:rPr>
                      <m:t>(</m:t>
                    </m:r>
                    <m:r>
                      <a:rPr lang="en-US" sz="2400" i="1" dirty="0" smtClean="0">
                        <a:latin typeface="Cambria Math" panose="02040503050406030204" pitchFamily="18" charset="0"/>
                      </a:rPr>
                      <m:t>𝑦</m:t>
                    </m:r>
                    <m:r>
                      <a:rPr lang="en-US" sz="2400" i="1" dirty="0" smtClean="0">
                        <a:latin typeface="Cambria Math" panose="02040503050406030204" pitchFamily="18" charset="0"/>
                      </a:rPr>
                      <m:t>)=0</m:t>
                    </m:r>
                  </m:oMath>
                </a14:m>
                <a:endParaRPr lang="en-US" sz="2400" dirty="0"/>
              </a:p>
            </p:txBody>
          </p:sp>
        </mc:Choice>
        <mc:Fallback xmlns="">
          <p:sp>
            <p:nvSpPr>
              <p:cNvPr id="4" name="Rectangle 3"/>
              <p:cNvSpPr>
                <a:spLocks noRot="1" noChangeAspect="1" noMove="1" noResize="1" noEditPoints="1" noAdjustHandles="1" noChangeArrowheads="1" noChangeShapeType="1" noTextEdit="1"/>
              </p:cNvSpPr>
              <p:nvPr/>
            </p:nvSpPr>
            <p:spPr>
              <a:xfrm>
                <a:off x="611560" y="1628800"/>
                <a:ext cx="7848872" cy="1200329"/>
              </a:xfrm>
              <a:prstGeom prst="rect">
                <a:avLst/>
              </a:prstGeom>
              <a:blipFill>
                <a:blip r:embed="rId2"/>
                <a:stretch>
                  <a:fillRect l="-1242" t="-4569" r="-1165" b="-10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632908" y="4365104"/>
                <a:ext cx="7848872" cy="830997"/>
              </a:xfrm>
              <a:prstGeom prst="rect">
                <a:avLst/>
              </a:prstGeom>
            </p:spPr>
            <p:txBody>
              <a:bodyPr wrap="square">
                <a:spAutoFit/>
              </a:bodyPr>
              <a:lstStyle/>
              <a:p>
                <a:pPr marL="346075" indent="-346075" algn="just"/>
                <a:r>
                  <a:rPr lang="en-US" sz="2400" dirty="0"/>
                  <a:t>2. </a:t>
                </a:r>
                <a14:m>
                  <m:oMath xmlns:m="http://schemas.openxmlformats.org/officeDocument/2006/math">
                    <m:r>
                      <a:rPr lang="en-US" sz="2400" i="1" dirty="0" smtClean="0">
                        <a:latin typeface="Cambria Math" panose="02040503050406030204" pitchFamily="18" charset="0"/>
                      </a:rPr>
                      <m:t>𝐴</m:t>
                    </m:r>
                  </m:oMath>
                </a14:m>
                <a:r>
                  <a:rPr lang="en-US" sz="2400" dirty="0"/>
                  <a:t> will win the game if </a:t>
                </a:r>
                <a14:m>
                  <m:oMath xmlns:m="http://schemas.openxmlformats.org/officeDocument/2006/math">
                    <m:r>
                      <a:rPr lang="en-US" sz="2400" i="1" dirty="0" smtClean="0">
                        <a:latin typeface="Cambria Math" panose="02040503050406030204" pitchFamily="18" charset="0"/>
                      </a:rPr>
                      <m:t>𝑔</m:t>
                    </m:r>
                    <m:d>
                      <m:dPr>
                        <m:ctrlPr>
                          <a:rPr lang="en-US" sz="2400" i="1" dirty="0" smtClean="0">
                            <a:latin typeface="Cambria Math" panose="02040503050406030204" pitchFamily="18" charset="0"/>
                          </a:rPr>
                        </m:ctrlPr>
                      </m:dPr>
                      <m:e>
                        <m:r>
                          <a:rPr lang="en-US" sz="2400" b="0" i="1" dirty="0" smtClean="0">
                            <a:latin typeface="Cambria Math" panose="02040503050406030204" pitchFamily="18" charset="0"/>
                          </a:rPr>
                          <m:t>𝑐𝑢𝑟𝑟𝑒𝑛𝑡</m:t>
                        </m:r>
                        <m:r>
                          <a:rPr lang="en-US" sz="2400" b="0" i="1" dirty="0" smtClean="0">
                            <a:latin typeface="Cambria Math" panose="02040503050406030204" pitchFamily="18" charset="0"/>
                          </a:rPr>
                          <m:t> </m:t>
                        </m:r>
                        <m:r>
                          <a:rPr lang="en-US" sz="2400" b="0" i="1" dirty="0" smtClean="0">
                            <a:latin typeface="Cambria Math" panose="02040503050406030204" pitchFamily="18" charset="0"/>
                          </a:rPr>
                          <m:t>𝑝𝑜𝑠𝑖𝑡𝑖𝑜𝑛</m:t>
                        </m:r>
                      </m:e>
                    </m:d>
                    <m:r>
                      <a:rPr lang="en-US" sz="2400" b="0" i="1" dirty="0" smtClean="0">
                        <a:latin typeface="Cambria Math" panose="02040503050406030204" pitchFamily="18" charset="0"/>
                      </a:rPr>
                      <m:t>&gt;0</m:t>
                    </m:r>
                  </m:oMath>
                </a14:m>
                <a:r>
                  <a:rPr lang="en-US" sz="2400" dirty="0"/>
                  <a:t> by moving to position </a:t>
                </a:r>
                <a14:m>
                  <m:oMath xmlns:m="http://schemas.openxmlformats.org/officeDocument/2006/math">
                    <m:r>
                      <a:rPr lang="en-US" sz="2400" i="1" dirty="0" smtClean="0">
                        <a:latin typeface="Cambria Math" panose="02040503050406030204" pitchFamily="18" charset="0"/>
                      </a:rPr>
                      <m:t>𝑥</m:t>
                    </m:r>
                  </m:oMath>
                </a14:m>
                <a:r>
                  <a:rPr lang="en-US" sz="2400" dirty="0"/>
                  <a:t> where </a:t>
                </a:r>
                <a14:m>
                  <m:oMath xmlns:m="http://schemas.openxmlformats.org/officeDocument/2006/math">
                    <m:r>
                      <a:rPr lang="en-US" sz="2400" i="1" dirty="0" smtClean="0">
                        <a:latin typeface="Cambria Math" panose="02040503050406030204" pitchFamily="18" charset="0"/>
                      </a:rPr>
                      <m:t>𝑔</m:t>
                    </m:r>
                    <m:r>
                      <a:rPr lang="en-US" sz="2400" i="1" dirty="0" smtClean="0">
                        <a:latin typeface="Cambria Math" panose="02040503050406030204" pitchFamily="18" charset="0"/>
                      </a:rPr>
                      <m:t>(</m:t>
                    </m:r>
                    <m:r>
                      <a:rPr lang="en-US" sz="2400" i="1" dirty="0" smtClean="0">
                        <a:latin typeface="Cambria Math" panose="02040503050406030204" pitchFamily="18" charset="0"/>
                      </a:rPr>
                      <m:t>𝑥</m:t>
                    </m:r>
                    <m:r>
                      <a:rPr lang="en-US" sz="2400" i="1" dirty="0" smtClean="0">
                        <a:latin typeface="Cambria Math" panose="02040503050406030204" pitchFamily="18" charset="0"/>
                      </a:rPr>
                      <m:t>) = 0</m:t>
                    </m:r>
                  </m:oMath>
                </a14:m>
                <a:endParaRPr lang="en-US" sz="2400" dirty="0"/>
              </a:p>
            </p:txBody>
          </p:sp>
        </mc:Choice>
        <mc:Fallback xmlns="">
          <p:sp>
            <p:nvSpPr>
              <p:cNvPr id="5" name="Rectangle 4"/>
              <p:cNvSpPr>
                <a:spLocks noRot="1" noChangeAspect="1" noMove="1" noResize="1" noEditPoints="1" noAdjustHandles="1" noChangeArrowheads="1" noChangeShapeType="1" noTextEdit="1"/>
              </p:cNvSpPr>
              <p:nvPr/>
            </p:nvSpPr>
            <p:spPr>
              <a:xfrm>
                <a:off x="632908" y="4365104"/>
                <a:ext cx="7848872" cy="830997"/>
              </a:xfrm>
              <a:prstGeom prst="rect">
                <a:avLst/>
              </a:prstGeom>
              <a:blipFill>
                <a:blip r:embed="rId3"/>
                <a:stretch>
                  <a:fillRect l="-1243" t="-5882" r="-1166" b="-16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115616" y="2829129"/>
                <a:ext cx="7848872" cy="1446550"/>
              </a:xfrm>
              <a:prstGeom prst="rect">
                <a:avLst/>
              </a:prstGeom>
            </p:spPr>
            <p:txBody>
              <a:bodyPr wrap="square">
                <a:spAutoFit/>
              </a:bodyPr>
              <a:lstStyle/>
              <a:p>
                <a:pPr marL="457200" indent="-457200" algn="just">
                  <a:buFont typeface="+mj-lt"/>
                  <a:buAutoNum type="alphaLcPeriod"/>
                </a:pPr>
                <a14:m>
                  <m:oMath xmlns:m="http://schemas.openxmlformats.org/officeDocument/2006/math">
                    <m:r>
                      <a:rPr lang="en-US" sz="2200" i="1" dirty="0" smtClean="0">
                        <a:latin typeface="Cambria Math" panose="02040503050406030204" pitchFamily="18" charset="0"/>
                      </a:rPr>
                      <m:t>𝑜𝑝𝑡</m:t>
                    </m:r>
                    <m:r>
                      <a:rPr lang="en-US" sz="2200" i="1" dirty="0" smtClean="0">
                        <a:latin typeface="Cambria Math" panose="02040503050406030204" pitchFamily="18" charset="0"/>
                      </a:rPr>
                      <m:t>(</m:t>
                    </m:r>
                    <m:r>
                      <a:rPr lang="en-US" sz="2200" i="1" dirty="0" smtClean="0">
                        <a:latin typeface="Cambria Math" panose="02040503050406030204" pitchFamily="18" charset="0"/>
                      </a:rPr>
                      <m:t>𝑥</m:t>
                    </m:r>
                    <m:r>
                      <a:rPr lang="en-US" sz="2200" i="1" dirty="0" smtClean="0">
                        <a:latin typeface="Cambria Math" panose="02040503050406030204" pitchFamily="18" charset="0"/>
                      </a:rPr>
                      <m:t>)</m:t>
                    </m:r>
                  </m:oMath>
                </a14:m>
                <a:r>
                  <a:rPr lang="en-US" sz="2200" dirty="0"/>
                  <a:t> is a set of all possible moves from </a:t>
                </a:r>
                <a14:m>
                  <m:oMath xmlns:m="http://schemas.openxmlformats.org/officeDocument/2006/math">
                    <m:r>
                      <m:rPr>
                        <m:sty m:val="p"/>
                      </m:rPr>
                      <a:rPr lang="en-US" sz="2200" b="0" i="0" dirty="0" smtClean="0">
                        <a:latin typeface="Cambria Math" panose="02040503050406030204" pitchFamily="18" charset="0"/>
                      </a:rPr>
                      <m:t>position</m:t>
                    </m:r>
                    <m:r>
                      <a:rPr lang="en-US" sz="2200" b="0" i="0" dirty="0" smtClean="0">
                        <a:latin typeface="Cambria Math" panose="02040503050406030204" pitchFamily="18" charset="0"/>
                      </a:rPr>
                      <m:t> </m:t>
                    </m:r>
                    <m:r>
                      <a:rPr lang="en-US" sz="2200" i="1" dirty="0" smtClean="0">
                        <a:latin typeface="Cambria Math" panose="02040503050406030204" pitchFamily="18" charset="0"/>
                      </a:rPr>
                      <m:t>𝑥</m:t>
                    </m:r>
                  </m:oMath>
                </a14:m>
                <a:endParaRPr lang="en-US" sz="2200" dirty="0"/>
              </a:p>
              <a:p>
                <a:pPr marL="457200" indent="-457200" algn="just">
                  <a:buFont typeface="+mj-lt"/>
                  <a:buAutoNum type="alphaLcPeriod"/>
                </a:pPr>
                <a14:m>
                  <m:oMath xmlns:m="http://schemas.openxmlformats.org/officeDocument/2006/math">
                    <m:r>
                      <m:rPr>
                        <m:sty m:val="p"/>
                      </m:rPr>
                      <a:rPr lang="en-US" sz="2200" b="0" i="0" dirty="0" smtClean="0">
                        <a:latin typeface="Cambria Math" panose="02040503050406030204" pitchFamily="18" charset="0"/>
                      </a:rPr>
                      <m:t>if</m:t>
                    </m:r>
                    <m:r>
                      <a:rPr lang="en-US" sz="2200" b="0" i="0" dirty="0" smtClean="0">
                        <a:latin typeface="Cambria Math" panose="02040503050406030204" pitchFamily="18" charset="0"/>
                      </a:rPr>
                      <m:t>  </m:t>
                    </m:r>
                    <m:r>
                      <a:rPr lang="en-US" sz="2200" i="1" dirty="0" smtClean="0">
                        <a:latin typeface="Cambria Math" panose="02040503050406030204" pitchFamily="18" charset="0"/>
                      </a:rPr>
                      <m:t>𝑜𝑝𝑡</m:t>
                    </m:r>
                    <m:d>
                      <m:dPr>
                        <m:ctrlPr>
                          <a:rPr lang="en-US" sz="2200" i="1" dirty="0" smtClean="0">
                            <a:latin typeface="Cambria Math" panose="02040503050406030204" pitchFamily="18" charset="0"/>
                          </a:rPr>
                        </m:ctrlPr>
                      </m:dPr>
                      <m:e>
                        <m:r>
                          <a:rPr lang="en-US" sz="2200" i="1" dirty="0" smtClean="0">
                            <a:latin typeface="Cambria Math" panose="02040503050406030204" pitchFamily="18" charset="0"/>
                          </a:rPr>
                          <m:t>𝑥</m:t>
                        </m:r>
                      </m:e>
                    </m:d>
                    <m:r>
                      <a:rPr lang="en-US" sz="2200" i="1" dirty="0" smtClean="0">
                        <a:latin typeface="Cambria Math" panose="02040503050406030204" pitchFamily="18" charset="0"/>
                      </a:rPr>
                      <m:t>=</m:t>
                    </m:r>
                    <m:r>
                      <a:rPr lang="en-US" sz="2200" i="1" dirty="0" smtClean="0">
                        <a:latin typeface="Cambria Math" panose="02040503050406030204" pitchFamily="18" charset="0"/>
                        <a:ea typeface="Cambria Math" panose="02040503050406030204" pitchFamily="18" charset="0"/>
                      </a:rPr>
                      <m:t>∅</m:t>
                    </m:r>
                    <m:r>
                      <a:rPr lang="en-US" sz="2200" b="0" i="1" dirty="0" smtClean="0">
                        <a:latin typeface="Cambria Math" panose="02040503050406030204" pitchFamily="18" charset="0"/>
                        <a:ea typeface="Cambria Math" panose="02040503050406030204" pitchFamily="18" charset="0"/>
                      </a:rPr>
                      <m:t> </m:t>
                    </m:r>
                    <m:r>
                      <a:rPr lang="en-US" sz="2200" b="0" i="1" dirty="0" smtClean="0">
                        <a:latin typeface="Cambria Math" panose="02040503050406030204" pitchFamily="18" charset="0"/>
                        <a:ea typeface="Cambria Math" panose="02040503050406030204" pitchFamily="18" charset="0"/>
                      </a:rPr>
                      <m:t>𝑡h𝑒𝑛</m:t>
                    </m:r>
                    <m:r>
                      <a:rPr lang="en-US" sz="2200" b="0" i="1" dirty="0" smtClean="0">
                        <a:latin typeface="Cambria Math" panose="02040503050406030204" pitchFamily="18" charset="0"/>
                        <a:ea typeface="Cambria Math" panose="02040503050406030204" pitchFamily="18" charset="0"/>
                      </a:rPr>
                      <m:t> </m:t>
                    </m:r>
                    <m:r>
                      <a:rPr lang="en-US" sz="2200" b="0" i="1" dirty="0" smtClean="0">
                        <a:latin typeface="Cambria Math" panose="02040503050406030204" pitchFamily="18" charset="0"/>
                        <a:ea typeface="Cambria Math" panose="02040503050406030204" pitchFamily="18" charset="0"/>
                      </a:rPr>
                      <m:t>𝑔</m:t>
                    </m:r>
                    <m:d>
                      <m:dPr>
                        <m:ctrlPr>
                          <a:rPr lang="en-US" sz="2200" b="0" i="1" dirty="0" smtClean="0">
                            <a:latin typeface="Cambria Math" panose="02040503050406030204" pitchFamily="18" charset="0"/>
                            <a:ea typeface="Cambria Math" panose="02040503050406030204" pitchFamily="18" charset="0"/>
                          </a:rPr>
                        </m:ctrlPr>
                      </m:dPr>
                      <m:e>
                        <m:r>
                          <a:rPr lang="en-US" sz="2200" b="0" i="1" dirty="0" smtClean="0">
                            <a:latin typeface="Cambria Math" panose="02040503050406030204" pitchFamily="18" charset="0"/>
                            <a:ea typeface="Cambria Math" panose="02040503050406030204" pitchFamily="18" charset="0"/>
                          </a:rPr>
                          <m:t>𝑥</m:t>
                        </m:r>
                      </m:e>
                    </m:d>
                    <m:r>
                      <a:rPr lang="en-US" sz="2200" b="0" i="1" dirty="0" smtClean="0">
                        <a:latin typeface="Cambria Math" panose="02040503050406030204" pitchFamily="18" charset="0"/>
                        <a:ea typeface="Cambria Math" panose="02040503050406030204" pitchFamily="18" charset="0"/>
                      </a:rPr>
                      <m:t>=0 </m:t>
                    </m:r>
                    <m:r>
                      <a:rPr lang="en-US" sz="2200" b="0" i="1" dirty="0" smtClean="0">
                        <a:latin typeface="Cambria Math" panose="02040503050406030204" pitchFamily="18" charset="0"/>
                        <a:ea typeface="Cambria Math" panose="02040503050406030204" pitchFamily="18" charset="0"/>
                      </a:rPr>
                      <m:t>𝑒𝑙𝑠𝑒</m:t>
                    </m:r>
                    <m:r>
                      <a:rPr lang="en-US" sz="2200" b="0" i="1" dirty="0" smtClean="0">
                        <a:latin typeface="Cambria Math" panose="02040503050406030204" pitchFamily="18" charset="0"/>
                        <a:ea typeface="Cambria Math" panose="02040503050406030204" pitchFamily="18" charset="0"/>
                      </a:rPr>
                      <m:t> </m:t>
                    </m:r>
                  </m:oMath>
                </a14:m>
                <a:endParaRPr lang="en-US" sz="2200" b="0" i="1" dirty="0">
                  <a:latin typeface="Cambria Math" panose="02040503050406030204" pitchFamily="18" charset="0"/>
                  <a:ea typeface="Cambria Math" panose="02040503050406030204" pitchFamily="18" charset="0"/>
                </a:endParaRPr>
              </a:p>
              <a:p>
                <a:pPr marL="457200" indent="-457200" algn="just"/>
                <a:r>
                  <a:rPr lang="en-US" sz="2200" b="0" dirty="0">
                    <a:ea typeface="Cambria Math" panose="02040503050406030204" pitchFamily="18" charset="0"/>
                  </a:rPr>
                  <a:t>            </a:t>
                </a:r>
                <a14:m>
                  <m:oMath xmlns:m="http://schemas.openxmlformats.org/officeDocument/2006/math">
                    <m:r>
                      <a:rPr lang="en-US" sz="2200" b="0" i="1" dirty="0" smtClean="0">
                        <a:latin typeface="Cambria Math" panose="02040503050406030204" pitchFamily="18" charset="0"/>
                        <a:ea typeface="Cambria Math" panose="02040503050406030204" pitchFamily="18" charset="0"/>
                      </a:rPr>
                      <m:t>𝑔</m:t>
                    </m:r>
                    <m:d>
                      <m:dPr>
                        <m:ctrlPr>
                          <a:rPr lang="en-US" sz="2200" b="0" i="1" dirty="0" smtClean="0">
                            <a:latin typeface="Cambria Math" panose="02040503050406030204" pitchFamily="18" charset="0"/>
                            <a:ea typeface="Cambria Math" panose="02040503050406030204" pitchFamily="18" charset="0"/>
                          </a:rPr>
                        </m:ctrlPr>
                      </m:dPr>
                      <m:e>
                        <m:r>
                          <a:rPr lang="en-US" sz="2200" b="0" i="1" dirty="0" smtClean="0">
                            <a:latin typeface="Cambria Math" panose="02040503050406030204" pitchFamily="18" charset="0"/>
                            <a:ea typeface="Cambria Math" panose="02040503050406030204" pitchFamily="18" charset="0"/>
                          </a:rPr>
                          <m:t>𝑥</m:t>
                        </m:r>
                      </m:e>
                    </m:d>
                    <m:r>
                      <a:rPr lang="en-US" sz="2200" b="0" i="1" dirty="0" smtClean="0">
                        <a:latin typeface="Cambria Math" panose="02040503050406030204" pitchFamily="18" charset="0"/>
                        <a:ea typeface="Cambria Math" panose="02040503050406030204" pitchFamily="18" charset="0"/>
                      </a:rPr>
                      <m:t>=</m:t>
                    </m:r>
                    <m:r>
                      <a:rPr lang="en-US" sz="2200" b="0" i="1" dirty="0" smtClean="0">
                        <a:latin typeface="Cambria Math" panose="02040503050406030204" pitchFamily="18" charset="0"/>
                        <a:ea typeface="Cambria Math" panose="02040503050406030204" pitchFamily="18" charset="0"/>
                      </a:rPr>
                      <m:t>𝑚𝑒𝑥</m:t>
                    </m:r>
                    <m:d>
                      <m:dPr>
                        <m:begChr m:val="{"/>
                        <m:endChr m:val="}"/>
                        <m:ctrlPr>
                          <a:rPr lang="en-US" sz="2200" b="0" i="1" dirty="0" smtClean="0">
                            <a:latin typeface="Cambria Math" panose="02040503050406030204" pitchFamily="18" charset="0"/>
                            <a:ea typeface="Cambria Math" panose="02040503050406030204" pitchFamily="18" charset="0"/>
                          </a:rPr>
                        </m:ctrlPr>
                      </m:dPr>
                      <m:e>
                        <m:r>
                          <a:rPr lang="en-US" sz="2200" b="0" i="1" dirty="0" smtClean="0">
                            <a:latin typeface="Cambria Math" panose="02040503050406030204" pitchFamily="18" charset="0"/>
                            <a:ea typeface="Cambria Math" panose="02040503050406030204" pitchFamily="18" charset="0"/>
                          </a:rPr>
                          <m:t>𝑔</m:t>
                        </m:r>
                        <m:d>
                          <m:dPr>
                            <m:ctrlPr>
                              <a:rPr lang="en-US" sz="2200" b="0" i="1" dirty="0" smtClean="0">
                                <a:latin typeface="Cambria Math" panose="02040503050406030204" pitchFamily="18" charset="0"/>
                                <a:ea typeface="Cambria Math" panose="02040503050406030204" pitchFamily="18" charset="0"/>
                              </a:rPr>
                            </m:ctrlPr>
                          </m:dPr>
                          <m:e>
                            <m:r>
                              <a:rPr lang="en-US" sz="2200" b="0" i="1" dirty="0" smtClean="0">
                                <a:latin typeface="Cambria Math" panose="02040503050406030204" pitchFamily="18" charset="0"/>
                                <a:ea typeface="Cambria Math" panose="02040503050406030204" pitchFamily="18" charset="0"/>
                              </a:rPr>
                              <m:t>𝑞</m:t>
                            </m:r>
                          </m:e>
                        </m:d>
                        <m:r>
                          <a:rPr lang="en-US" sz="2200" b="0" i="1" dirty="0" smtClean="0">
                            <a:latin typeface="Cambria Math" panose="02040503050406030204" pitchFamily="18" charset="0"/>
                            <a:ea typeface="Cambria Math" panose="02040503050406030204" pitchFamily="18" charset="0"/>
                          </a:rPr>
                          <m:t> | </m:t>
                        </m:r>
                        <m:r>
                          <a:rPr lang="en-US" sz="2200" i="1" dirty="0">
                            <a:latin typeface="Cambria Math" panose="02040503050406030204" pitchFamily="18" charset="0"/>
                            <a:ea typeface="Cambria Math" panose="02040503050406030204" pitchFamily="18" charset="0"/>
                          </a:rPr>
                          <m:t>𝑞</m:t>
                        </m:r>
                        <m:r>
                          <a:rPr lang="en-US" sz="2200" i="1" dirty="0">
                            <a:latin typeface="Cambria Math" panose="02040503050406030204" pitchFamily="18" charset="0"/>
                            <a:ea typeface="Cambria Math" panose="02040503050406030204" pitchFamily="18" charset="0"/>
                          </a:rPr>
                          <m:t> </m:t>
                        </m:r>
                        <m:r>
                          <a:rPr lang="en-US" sz="2200" i="1" dirty="0">
                            <a:latin typeface="Cambria Math" panose="02040503050406030204" pitchFamily="18" charset="0"/>
                            <a:ea typeface="Cambria Math" panose="02040503050406030204" pitchFamily="18" charset="0"/>
                          </a:rPr>
                          <m:t>𝜖</m:t>
                        </m:r>
                        <m:r>
                          <a:rPr lang="en-US" sz="2200" i="1" dirty="0">
                            <a:latin typeface="Cambria Math" panose="02040503050406030204" pitchFamily="18" charset="0"/>
                            <a:ea typeface="Cambria Math" panose="02040503050406030204" pitchFamily="18" charset="0"/>
                          </a:rPr>
                          <m:t> </m:t>
                        </m:r>
                        <m:r>
                          <a:rPr lang="en-US" sz="2200" i="1" dirty="0">
                            <a:latin typeface="Cambria Math" panose="02040503050406030204" pitchFamily="18" charset="0"/>
                            <a:ea typeface="Cambria Math" panose="02040503050406030204" pitchFamily="18" charset="0"/>
                          </a:rPr>
                          <m:t>𝑜𝑝𝑡</m:t>
                        </m:r>
                        <m:r>
                          <a:rPr lang="en-US" sz="2200" i="1" dirty="0">
                            <a:latin typeface="Cambria Math" panose="02040503050406030204" pitchFamily="18" charset="0"/>
                            <a:ea typeface="Cambria Math" panose="02040503050406030204" pitchFamily="18" charset="0"/>
                          </a:rPr>
                          <m:t>(</m:t>
                        </m:r>
                        <m:r>
                          <a:rPr lang="en-US" sz="2200" i="1" dirty="0">
                            <a:latin typeface="Cambria Math" panose="02040503050406030204" pitchFamily="18" charset="0"/>
                            <a:ea typeface="Cambria Math" panose="02040503050406030204" pitchFamily="18" charset="0"/>
                          </a:rPr>
                          <m:t>𝑥</m:t>
                        </m:r>
                        <m:r>
                          <a:rPr lang="en-US" sz="2200" i="1" dirty="0">
                            <a:latin typeface="Cambria Math" panose="02040503050406030204" pitchFamily="18" charset="0"/>
                            <a:ea typeface="Cambria Math" panose="02040503050406030204" pitchFamily="18" charset="0"/>
                          </a:rPr>
                          <m:t>)</m:t>
                        </m:r>
                      </m:e>
                    </m:d>
                  </m:oMath>
                </a14:m>
                <a:endParaRPr lang="en-US" sz="2200" dirty="0"/>
              </a:p>
              <a:p>
                <a:pPr marL="457200" indent="-457200" algn="just"/>
                <a14:m>
                  <m:oMath xmlns:m="http://schemas.openxmlformats.org/officeDocument/2006/math">
                    <m:r>
                      <a:rPr lang="en-US" sz="2200" b="0" i="1" dirty="0" smtClean="0">
                        <a:latin typeface="Cambria Math" panose="02040503050406030204" pitchFamily="18" charset="0"/>
                      </a:rPr>
                      <m:t>𝑚</m:t>
                    </m:r>
                    <m:r>
                      <a:rPr lang="en-US" sz="2200" i="1" dirty="0" smtClean="0">
                        <a:latin typeface="Cambria Math" panose="02040503050406030204" pitchFamily="18" charset="0"/>
                      </a:rPr>
                      <m:t>𝑒𝑥</m:t>
                    </m:r>
                    <m:r>
                      <a:rPr lang="en-US" sz="2200" i="1" dirty="0" smtClean="0">
                        <a:latin typeface="Cambria Math" panose="02040503050406030204" pitchFamily="18" charset="0"/>
                      </a:rPr>
                      <m:t>{</m:t>
                    </m:r>
                    <m:r>
                      <a:rPr lang="en-US" sz="2200" i="1" dirty="0" smtClean="0">
                        <a:latin typeface="Cambria Math" panose="02040503050406030204" pitchFamily="18" charset="0"/>
                      </a:rPr>
                      <m:t>𝐹</m:t>
                    </m:r>
                    <m:r>
                      <a:rPr lang="en-US" sz="2200" i="1" dirty="0" smtClean="0">
                        <a:latin typeface="Cambria Math" panose="02040503050406030204" pitchFamily="18" charset="0"/>
                      </a:rPr>
                      <m:t>}</m:t>
                    </m:r>
                  </m:oMath>
                </a14:m>
                <a:r>
                  <a:rPr lang="en-US" sz="2200" dirty="0"/>
                  <a:t> is least nonnegative integer that does not belong to </a:t>
                </a:r>
                <a14:m>
                  <m:oMath xmlns:m="http://schemas.openxmlformats.org/officeDocument/2006/math">
                    <m:r>
                      <a:rPr lang="en-US" sz="2200" i="1" dirty="0" smtClean="0">
                        <a:latin typeface="Cambria Math" panose="02040503050406030204" pitchFamily="18" charset="0"/>
                      </a:rPr>
                      <m:t>𝐹</m:t>
                    </m:r>
                  </m:oMath>
                </a14:m>
                <a:endParaRPr lang="en-US" sz="2200" dirty="0"/>
              </a:p>
            </p:txBody>
          </p:sp>
        </mc:Choice>
        <mc:Fallback xmlns="">
          <p:sp>
            <p:nvSpPr>
              <p:cNvPr id="6" name="Rectangle 5"/>
              <p:cNvSpPr>
                <a:spLocks noRot="1" noChangeAspect="1" noMove="1" noResize="1" noEditPoints="1" noAdjustHandles="1" noChangeArrowheads="1" noChangeShapeType="1" noTextEdit="1"/>
              </p:cNvSpPr>
              <p:nvPr/>
            </p:nvSpPr>
            <p:spPr>
              <a:xfrm>
                <a:off x="1115616" y="2829129"/>
                <a:ext cx="7848872" cy="1446550"/>
              </a:xfrm>
              <a:prstGeom prst="rect">
                <a:avLst/>
              </a:prstGeom>
              <a:blipFill>
                <a:blip r:embed="rId4"/>
                <a:stretch>
                  <a:fillRect l="-932" t="-2954" b="-8017"/>
                </a:stretch>
              </a:blipFill>
            </p:spPr>
            <p:txBody>
              <a:bodyPr/>
              <a:lstStyle/>
              <a:p>
                <a:r>
                  <a:rPr lang="en-US">
                    <a:noFill/>
                  </a:rPr>
                  <a:t> </a:t>
                </a:r>
              </a:p>
            </p:txBody>
          </p:sp>
        </mc:Fallback>
      </mc:AlternateContent>
    </p:spTree>
    <p:extLst>
      <p:ext uri="{BB962C8B-B14F-4D97-AF65-F5344CB8AC3E}">
        <p14:creationId xmlns:p14="http://schemas.microsoft.com/office/powerpoint/2010/main" val="3583604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02</a:t>
            </a:r>
          </a:p>
        </p:txBody>
      </p:sp>
      <p:grpSp>
        <p:nvGrpSpPr>
          <p:cNvPr id="84" name="Group 83"/>
          <p:cNvGrpSpPr/>
          <p:nvPr/>
        </p:nvGrpSpPr>
        <p:grpSpPr>
          <a:xfrm>
            <a:off x="600384" y="1537974"/>
            <a:ext cx="1433673" cy="2033057"/>
            <a:chOff x="599880" y="1704685"/>
            <a:chExt cx="1433673" cy="2033057"/>
          </a:xfrm>
        </p:grpSpPr>
        <p:sp>
          <p:nvSpPr>
            <p:cNvPr id="4" name="TextBox 3"/>
            <p:cNvSpPr txBox="1"/>
            <p:nvPr/>
          </p:nvSpPr>
          <p:spPr>
            <a:xfrm>
              <a:off x="1124800" y="1704685"/>
              <a:ext cx="407127" cy="461665"/>
            </a:xfrm>
            <a:prstGeom prst="rect">
              <a:avLst/>
            </a:prstGeom>
            <a:noFill/>
          </p:spPr>
          <p:txBody>
            <a:bodyPr wrap="square" rtlCol="0">
              <a:spAutoFit/>
            </a:bodyPr>
            <a:lstStyle/>
            <a:p>
              <a:r>
                <a:rPr lang="en-US" sz="2400" dirty="0"/>
                <a:t>a</a:t>
              </a:r>
            </a:p>
          </p:txBody>
        </p:sp>
        <p:sp>
          <p:nvSpPr>
            <p:cNvPr id="5" name="TextBox 4"/>
            <p:cNvSpPr txBox="1"/>
            <p:nvPr/>
          </p:nvSpPr>
          <p:spPr>
            <a:xfrm>
              <a:off x="599880" y="2490381"/>
              <a:ext cx="424812" cy="461665"/>
            </a:xfrm>
            <a:prstGeom prst="rect">
              <a:avLst/>
            </a:prstGeom>
            <a:noFill/>
          </p:spPr>
          <p:txBody>
            <a:bodyPr wrap="square" rtlCol="0">
              <a:spAutoFit/>
            </a:bodyPr>
            <a:lstStyle/>
            <a:p>
              <a:r>
                <a:rPr lang="en-US" sz="2400" dirty="0"/>
                <a:t>b</a:t>
              </a:r>
            </a:p>
          </p:txBody>
        </p:sp>
        <p:sp>
          <p:nvSpPr>
            <p:cNvPr id="6" name="TextBox 5"/>
            <p:cNvSpPr txBox="1"/>
            <p:nvPr/>
          </p:nvSpPr>
          <p:spPr>
            <a:xfrm>
              <a:off x="1636017" y="2490381"/>
              <a:ext cx="385514" cy="461665"/>
            </a:xfrm>
            <a:prstGeom prst="rect">
              <a:avLst/>
            </a:prstGeom>
            <a:noFill/>
          </p:spPr>
          <p:txBody>
            <a:bodyPr wrap="square" rtlCol="0">
              <a:spAutoFit/>
            </a:bodyPr>
            <a:lstStyle/>
            <a:p>
              <a:r>
                <a:rPr lang="en-US" sz="2400" dirty="0"/>
                <a:t>c</a:t>
              </a:r>
            </a:p>
          </p:txBody>
        </p:sp>
        <p:sp>
          <p:nvSpPr>
            <p:cNvPr id="7" name="TextBox 6"/>
            <p:cNvSpPr txBox="1"/>
            <p:nvPr/>
          </p:nvSpPr>
          <p:spPr>
            <a:xfrm>
              <a:off x="602530" y="3276077"/>
              <a:ext cx="424812" cy="461665"/>
            </a:xfrm>
            <a:prstGeom prst="rect">
              <a:avLst/>
            </a:prstGeom>
            <a:noFill/>
          </p:spPr>
          <p:txBody>
            <a:bodyPr wrap="square" rtlCol="0">
              <a:spAutoFit/>
            </a:bodyPr>
            <a:lstStyle/>
            <a:p>
              <a:r>
                <a:rPr lang="en-US" sz="2400" dirty="0"/>
                <a:t>d</a:t>
              </a:r>
            </a:p>
          </p:txBody>
        </p:sp>
        <p:sp>
          <p:nvSpPr>
            <p:cNvPr id="8" name="TextBox 7"/>
            <p:cNvSpPr txBox="1"/>
            <p:nvPr/>
          </p:nvSpPr>
          <p:spPr>
            <a:xfrm>
              <a:off x="1618567" y="3275155"/>
              <a:ext cx="414986" cy="461665"/>
            </a:xfrm>
            <a:prstGeom prst="rect">
              <a:avLst/>
            </a:prstGeom>
            <a:noFill/>
          </p:spPr>
          <p:txBody>
            <a:bodyPr wrap="square" rtlCol="0">
              <a:spAutoFit/>
            </a:bodyPr>
            <a:lstStyle/>
            <a:p>
              <a:r>
                <a:rPr lang="en-US" sz="2400" dirty="0"/>
                <a:t> e</a:t>
              </a:r>
            </a:p>
          </p:txBody>
        </p:sp>
        <p:cxnSp>
          <p:nvCxnSpPr>
            <p:cNvPr id="9" name="Straight Arrow Connector 8"/>
            <p:cNvCxnSpPr>
              <a:stCxn id="4" idx="2"/>
              <a:endCxn id="5" idx="0"/>
            </p:cNvCxnSpPr>
            <p:nvPr/>
          </p:nvCxnSpPr>
          <p:spPr>
            <a:xfrm flipH="1">
              <a:off x="812286" y="2166350"/>
              <a:ext cx="516078" cy="324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 idx="2"/>
              <a:endCxn id="6" idx="0"/>
            </p:cNvCxnSpPr>
            <p:nvPr/>
          </p:nvCxnSpPr>
          <p:spPr>
            <a:xfrm>
              <a:off x="1328364" y="2166350"/>
              <a:ext cx="500410" cy="324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5" idx="2"/>
              <a:endCxn id="7" idx="0"/>
            </p:cNvCxnSpPr>
            <p:nvPr/>
          </p:nvCxnSpPr>
          <p:spPr>
            <a:xfrm>
              <a:off x="812286" y="2952046"/>
              <a:ext cx="2650" cy="324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5" idx="3"/>
              <a:endCxn id="6" idx="1"/>
            </p:cNvCxnSpPr>
            <p:nvPr/>
          </p:nvCxnSpPr>
          <p:spPr>
            <a:xfrm>
              <a:off x="1024692" y="2721214"/>
              <a:ext cx="6113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1024692" y="2882307"/>
              <a:ext cx="706380" cy="5025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8" idx="0"/>
            </p:cNvCxnSpPr>
            <p:nvPr/>
          </p:nvCxnSpPr>
          <p:spPr>
            <a:xfrm flipH="1">
              <a:off x="1826060" y="2952046"/>
              <a:ext cx="2714" cy="3231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 name="Rectangle 14"/>
              <p:cNvSpPr/>
              <p:nvPr/>
            </p:nvSpPr>
            <p:spPr>
              <a:xfrm>
                <a:off x="2049278" y="1580477"/>
                <a:ext cx="128259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𝑔</m:t>
                      </m:r>
                      <m:d>
                        <m:dPr>
                          <m:ctrlPr>
                            <a:rPr lang="en-US" sz="2000" i="1" dirty="0">
                              <a:latin typeface="Cambria Math" panose="02040503050406030204" pitchFamily="18" charset="0"/>
                            </a:rPr>
                          </m:ctrlPr>
                        </m:dPr>
                        <m:e>
                          <m:r>
                            <a:rPr lang="en-US" sz="2000" b="0" i="1" dirty="0" smtClean="0">
                              <a:latin typeface="Cambria Math" panose="02040503050406030204" pitchFamily="18" charset="0"/>
                            </a:rPr>
                            <m:t>𝑒</m:t>
                          </m:r>
                        </m:e>
                      </m:d>
                      <m:r>
                        <a:rPr lang="en-US" sz="2000" b="0" i="1" dirty="0" smtClean="0">
                          <a:latin typeface="Cambria Math" panose="02040503050406030204" pitchFamily="18" charset="0"/>
                        </a:rPr>
                        <m:t>=0</m:t>
                      </m:r>
                      <m:r>
                        <a:rPr lang="en-US" sz="2000" i="1" dirty="0">
                          <a:latin typeface="Cambria Math" panose="02040503050406030204" pitchFamily="18" charset="0"/>
                        </a:rPr>
                        <m:t> </m:t>
                      </m:r>
                    </m:oMath>
                  </m:oMathPara>
                </a14:m>
                <a:endParaRPr lang="en-US" sz="2000" dirty="0"/>
              </a:p>
            </p:txBody>
          </p:sp>
        </mc:Choice>
        <mc:Fallback xmlns="">
          <p:sp>
            <p:nvSpPr>
              <p:cNvPr id="15" name="Rectangle 14"/>
              <p:cNvSpPr>
                <a:spLocks noRot="1" noChangeAspect="1" noMove="1" noResize="1" noEditPoints="1" noAdjustHandles="1" noChangeArrowheads="1" noChangeShapeType="1" noTextEdit="1"/>
              </p:cNvSpPr>
              <p:nvPr/>
            </p:nvSpPr>
            <p:spPr>
              <a:xfrm>
                <a:off x="2049278" y="1580477"/>
                <a:ext cx="1282595" cy="400110"/>
              </a:xfrm>
              <a:prstGeom prst="rect">
                <a:avLst/>
              </a:prstGeom>
              <a:blipFill>
                <a:blip r:embed="rId2"/>
                <a:stretch>
                  <a:fillRect b="-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3417430" y="1580477"/>
                <a:ext cx="130753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𝑔</m:t>
                      </m:r>
                      <m:d>
                        <m:dPr>
                          <m:ctrlPr>
                            <a:rPr lang="en-US" sz="2000" i="1" dirty="0">
                              <a:latin typeface="Cambria Math" panose="02040503050406030204" pitchFamily="18" charset="0"/>
                            </a:rPr>
                          </m:ctrlPr>
                        </m:dPr>
                        <m:e>
                          <m:r>
                            <a:rPr lang="en-US" sz="2000" b="0" i="1" dirty="0" smtClean="0">
                              <a:latin typeface="Cambria Math" panose="02040503050406030204" pitchFamily="18" charset="0"/>
                            </a:rPr>
                            <m:t>𝑑</m:t>
                          </m:r>
                        </m:e>
                      </m:d>
                      <m:r>
                        <a:rPr lang="en-US" sz="2000" b="0" i="1" dirty="0" smtClean="0">
                          <a:latin typeface="Cambria Math" panose="02040503050406030204" pitchFamily="18" charset="0"/>
                        </a:rPr>
                        <m:t>=0</m:t>
                      </m:r>
                      <m:r>
                        <a:rPr lang="en-US" sz="2000" i="1" dirty="0">
                          <a:latin typeface="Cambria Math" panose="02040503050406030204" pitchFamily="18" charset="0"/>
                        </a:rPr>
                        <m:t> </m:t>
                      </m:r>
                    </m:oMath>
                  </m:oMathPara>
                </a14:m>
                <a:endParaRPr lang="en-US" sz="2000" dirty="0"/>
              </a:p>
            </p:txBody>
          </p:sp>
        </mc:Choice>
        <mc:Fallback xmlns="">
          <p:sp>
            <p:nvSpPr>
              <p:cNvPr id="16" name="Rectangle 15"/>
              <p:cNvSpPr>
                <a:spLocks noRot="1" noChangeAspect="1" noMove="1" noResize="1" noEditPoints="1" noAdjustHandles="1" noChangeArrowheads="1" noChangeShapeType="1" noTextEdit="1"/>
              </p:cNvSpPr>
              <p:nvPr/>
            </p:nvSpPr>
            <p:spPr>
              <a:xfrm>
                <a:off x="3417430" y="1580477"/>
                <a:ext cx="1307537" cy="400110"/>
              </a:xfrm>
              <a:prstGeom prst="rect">
                <a:avLst/>
              </a:prstGeom>
              <a:blipFill>
                <a:blip r:embed="rId3"/>
                <a:stretch>
                  <a:fillRect b="-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2002918" y="1992546"/>
                <a:ext cx="661270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𝑜𝑝𝑐</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𝑐</m:t>
                          </m:r>
                        </m:e>
                      </m:d>
                      <m:r>
                        <a:rPr lang="en-US" sz="2000" b="0" i="1" dirty="0" smtClean="0">
                          <a:latin typeface="Cambria Math" panose="02040503050406030204" pitchFamily="18" charset="0"/>
                        </a:rPr>
                        <m:t>=</m:t>
                      </m:r>
                      <m:d>
                        <m:dPr>
                          <m:begChr m:val="{"/>
                          <m:endChr m:val="}"/>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𝑑</m:t>
                          </m:r>
                          <m:r>
                            <a:rPr lang="en-US" sz="2000" b="0" i="1" dirty="0" smtClean="0">
                              <a:latin typeface="Cambria Math" panose="02040503050406030204" pitchFamily="18" charset="0"/>
                            </a:rPr>
                            <m:t>,</m:t>
                          </m:r>
                          <m:r>
                            <a:rPr lang="en-US" sz="2000" b="0" i="1" dirty="0" smtClean="0">
                              <a:latin typeface="Cambria Math" panose="02040503050406030204" pitchFamily="18" charset="0"/>
                            </a:rPr>
                            <m:t>𝑒</m:t>
                          </m:r>
                        </m:e>
                      </m:d>
                      <m:r>
                        <a:rPr lang="en-US" sz="2000" b="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rPr>
                        <m:t>𝑔</m:t>
                      </m:r>
                      <m:d>
                        <m:dPr>
                          <m:ctrlPr>
                            <a:rPr lang="en-US" sz="2000" i="1" dirty="0">
                              <a:latin typeface="Cambria Math" panose="02040503050406030204" pitchFamily="18" charset="0"/>
                            </a:rPr>
                          </m:ctrlPr>
                        </m:dPr>
                        <m:e>
                          <m:r>
                            <a:rPr lang="en-US" sz="2000" b="0" i="1" dirty="0" smtClean="0">
                              <a:latin typeface="Cambria Math" panose="02040503050406030204" pitchFamily="18" charset="0"/>
                            </a:rPr>
                            <m:t>𝑐</m:t>
                          </m:r>
                        </m:e>
                      </m:d>
                      <m:r>
                        <a:rPr lang="en-US" sz="2000" b="0" i="1" dirty="0" smtClean="0">
                          <a:latin typeface="Cambria Math" panose="02040503050406030204" pitchFamily="18" charset="0"/>
                        </a:rPr>
                        <m:t>=</m:t>
                      </m:r>
                      <m:r>
                        <a:rPr lang="en-US" sz="2000" b="0" i="1" dirty="0" smtClean="0">
                          <a:latin typeface="Cambria Math" panose="02040503050406030204" pitchFamily="18" charset="0"/>
                        </a:rPr>
                        <m:t>𝑚𝑒𝑥</m:t>
                      </m:r>
                      <m:d>
                        <m:dPr>
                          <m:begChr m:val="{"/>
                          <m:endChr m:val="}"/>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𝑔</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𝑑</m:t>
                              </m:r>
                            </m:e>
                          </m:d>
                          <m:r>
                            <a:rPr lang="en-US" sz="2000" b="0" i="1" dirty="0" smtClean="0">
                              <a:latin typeface="Cambria Math" panose="02040503050406030204" pitchFamily="18" charset="0"/>
                            </a:rPr>
                            <m:t>,</m:t>
                          </m:r>
                          <m:r>
                            <a:rPr lang="en-US" sz="2000" b="0" i="1" dirty="0" smtClean="0">
                              <a:latin typeface="Cambria Math" panose="02040503050406030204" pitchFamily="18" charset="0"/>
                            </a:rPr>
                            <m:t>𝑔</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𝑒</m:t>
                              </m:r>
                            </m:e>
                          </m:d>
                        </m:e>
                      </m:d>
                      <m:r>
                        <a:rPr lang="en-US" sz="2000" b="0" i="1" dirty="0" smtClean="0">
                          <a:latin typeface="Cambria Math" panose="02040503050406030204" pitchFamily="18" charset="0"/>
                        </a:rPr>
                        <m:t>=</m:t>
                      </m:r>
                      <m:r>
                        <a:rPr lang="en-US" sz="2000" b="0" i="1" dirty="0" smtClean="0">
                          <a:latin typeface="Cambria Math" panose="02040503050406030204" pitchFamily="18" charset="0"/>
                        </a:rPr>
                        <m:t>𝑚𝑒𝑥</m:t>
                      </m:r>
                      <m:d>
                        <m:dPr>
                          <m:begChr m:val="{"/>
                          <m:endChr m:val="}"/>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0</m:t>
                          </m:r>
                        </m:e>
                      </m:d>
                      <m:r>
                        <a:rPr lang="en-US" sz="2000" b="0" i="1" dirty="0" smtClean="0">
                          <a:latin typeface="Cambria Math" panose="02040503050406030204" pitchFamily="18" charset="0"/>
                        </a:rPr>
                        <m:t>=1</m:t>
                      </m:r>
                      <m:r>
                        <a:rPr lang="en-US" sz="2000" i="1" dirty="0">
                          <a:latin typeface="Cambria Math" panose="02040503050406030204" pitchFamily="18" charset="0"/>
                        </a:rPr>
                        <m:t> </m:t>
                      </m:r>
                    </m:oMath>
                  </m:oMathPara>
                </a14:m>
                <a:endParaRPr lang="en-US" sz="2000" dirty="0"/>
              </a:p>
            </p:txBody>
          </p:sp>
        </mc:Choice>
        <mc:Fallback xmlns="">
          <p:sp>
            <p:nvSpPr>
              <p:cNvPr id="17" name="Rectangle 16"/>
              <p:cNvSpPr>
                <a:spLocks noRot="1" noChangeAspect="1" noMove="1" noResize="1" noEditPoints="1" noAdjustHandles="1" noChangeArrowheads="1" noChangeShapeType="1" noTextEdit="1"/>
              </p:cNvSpPr>
              <p:nvPr/>
            </p:nvSpPr>
            <p:spPr>
              <a:xfrm>
                <a:off x="2002918" y="1992546"/>
                <a:ext cx="6612708" cy="400110"/>
              </a:xfrm>
              <a:prstGeom prst="rect">
                <a:avLst/>
              </a:prstGeom>
              <a:blipFill>
                <a:blip r:embed="rId4"/>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2022613" y="2424174"/>
                <a:ext cx="683071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𝑜𝑝𝑐</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𝑏</m:t>
                          </m:r>
                        </m:e>
                      </m:d>
                      <m:r>
                        <a:rPr lang="en-US" sz="2000" b="0" i="1" dirty="0" smtClean="0">
                          <a:latin typeface="Cambria Math" panose="02040503050406030204" pitchFamily="18" charset="0"/>
                        </a:rPr>
                        <m:t>=</m:t>
                      </m:r>
                      <m:d>
                        <m:dPr>
                          <m:begChr m:val="{"/>
                          <m:endChr m:val="}"/>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𝑐</m:t>
                          </m:r>
                          <m:r>
                            <a:rPr lang="en-US" sz="2000" b="0" i="1" dirty="0" smtClean="0">
                              <a:latin typeface="Cambria Math" panose="02040503050406030204" pitchFamily="18" charset="0"/>
                            </a:rPr>
                            <m:t>,</m:t>
                          </m:r>
                          <m:r>
                            <a:rPr lang="en-US" sz="2000" b="0" i="1" dirty="0" smtClean="0">
                              <a:latin typeface="Cambria Math" panose="02040503050406030204" pitchFamily="18" charset="0"/>
                            </a:rPr>
                            <m:t>𝑑</m:t>
                          </m:r>
                        </m:e>
                      </m:d>
                      <m:r>
                        <a:rPr lang="en-US" sz="2000" b="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rPr>
                        <m:t>𝑔</m:t>
                      </m:r>
                      <m:d>
                        <m:dPr>
                          <m:ctrlPr>
                            <a:rPr lang="en-US" sz="2000" i="1" dirty="0">
                              <a:latin typeface="Cambria Math" panose="02040503050406030204" pitchFamily="18" charset="0"/>
                            </a:rPr>
                          </m:ctrlPr>
                        </m:dPr>
                        <m:e>
                          <m:r>
                            <a:rPr lang="en-US" sz="2000" b="0" i="1" dirty="0" smtClean="0">
                              <a:latin typeface="Cambria Math" panose="02040503050406030204" pitchFamily="18" charset="0"/>
                            </a:rPr>
                            <m:t>𝑏</m:t>
                          </m:r>
                        </m:e>
                      </m:d>
                      <m:r>
                        <a:rPr lang="en-US" sz="2000" b="0" i="1" dirty="0" smtClean="0">
                          <a:latin typeface="Cambria Math" panose="02040503050406030204" pitchFamily="18" charset="0"/>
                        </a:rPr>
                        <m:t>=</m:t>
                      </m:r>
                      <m:r>
                        <a:rPr lang="en-US" sz="2000" b="0" i="1" dirty="0" smtClean="0">
                          <a:latin typeface="Cambria Math" panose="02040503050406030204" pitchFamily="18" charset="0"/>
                        </a:rPr>
                        <m:t>𝑚𝑒𝑥</m:t>
                      </m:r>
                      <m:d>
                        <m:dPr>
                          <m:begChr m:val="{"/>
                          <m:endChr m:val="}"/>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𝑔</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𝑐</m:t>
                              </m:r>
                            </m:e>
                          </m:d>
                          <m:r>
                            <a:rPr lang="en-US" sz="2000" b="0" i="1" dirty="0" smtClean="0">
                              <a:latin typeface="Cambria Math" panose="02040503050406030204" pitchFamily="18" charset="0"/>
                            </a:rPr>
                            <m:t>,</m:t>
                          </m:r>
                          <m:r>
                            <a:rPr lang="en-US" sz="2000" b="0" i="1" dirty="0" smtClean="0">
                              <a:latin typeface="Cambria Math" panose="02040503050406030204" pitchFamily="18" charset="0"/>
                            </a:rPr>
                            <m:t>𝑔</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𝑑</m:t>
                              </m:r>
                            </m:e>
                          </m:d>
                        </m:e>
                      </m:d>
                      <m:r>
                        <a:rPr lang="en-US" sz="2000" b="0" i="1" dirty="0" smtClean="0">
                          <a:latin typeface="Cambria Math" panose="02040503050406030204" pitchFamily="18" charset="0"/>
                        </a:rPr>
                        <m:t>=</m:t>
                      </m:r>
                      <m:r>
                        <a:rPr lang="en-US" sz="2000" b="0" i="1" dirty="0" smtClean="0">
                          <a:latin typeface="Cambria Math" panose="02040503050406030204" pitchFamily="18" charset="0"/>
                        </a:rPr>
                        <m:t>𝑚𝑒𝑥</m:t>
                      </m:r>
                      <m:d>
                        <m:dPr>
                          <m:begChr m:val="{"/>
                          <m:endChr m:val="}"/>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0,1</m:t>
                          </m:r>
                        </m:e>
                      </m:d>
                      <m:r>
                        <a:rPr lang="en-US" sz="2000" b="0" i="1" dirty="0" smtClean="0">
                          <a:latin typeface="Cambria Math" panose="02040503050406030204" pitchFamily="18" charset="0"/>
                        </a:rPr>
                        <m:t>=2</m:t>
                      </m:r>
                      <m:r>
                        <a:rPr lang="en-US" sz="2000" i="1" dirty="0">
                          <a:latin typeface="Cambria Math" panose="02040503050406030204" pitchFamily="18" charset="0"/>
                        </a:rPr>
                        <m:t> </m:t>
                      </m:r>
                    </m:oMath>
                  </m:oMathPara>
                </a14:m>
                <a:endParaRPr lang="en-US" sz="2000" dirty="0"/>
              </a:p>
            </p:txBody>
          </p:sp>
        </mc:Choice>
        <mc:Fallback xmlns="">
          <p:sp>
            <p:nvSpPr>
              <p:cNvPr id="20" name="Rectangle 19"/>
              <p:cNvSpPr>
                <a:spLocks noRot="1" noChangeAspect="1" noMove="1" noResize="1" noEditPoints="1" noAdjustHandles="1" noChangeArrowheads="1" noChangeShapeType="1" noTextEdit="1"/>
              </p:cNvSpPr>
              <p:nvPr/>
            </p:nvSpPr>
            <p:spPr>
              <a:xfrm>
                <a:off x="2022613" y="2424174"/>
                <a:ext cx="6830716" cy="400110"/>
              </a:xfrm>
              <a:prstGeom prst="rect">
                <a:avLst/>
              </a:prstGeom>
              <a:blipFill>
                <a:blip r:embed="rId5"/>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2022613" y="2887755"/>
                <a:ext cx="683071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𝑜𝑝𝑐</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𝑎</m:t>
                          </m:r>
                        </m:e>
                      </m:d>
                      <m:r>
                        <a:rPr lang="en-US" sz="2000" b="0" i="1" dirty="0" smtClean="0">
                          <a:latin typeface="Cambria Math" panose="02040503050406030204" pitchFamily="18" charset="0"/>
                        </a:rPr>
                        <m:t>=</m:t>
                      </m:r>
                      <m:d>
                        <m:dPr>
                          <m:begChr m:val="{"/>
                          <m:endChr m:val="}"/>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𝑏</m:t>
                          </m:r>
                          <m:r>
                            <a:rPr lang="en-US" sz="2000" b="0" i="1" dirty="0" smtClean="0">
                              <a:latin typeface="Cambria Math" panose="02040503050406030204" pitchFamily="18" charset="0"/>
                            </a:rPr>
                            <m:t>,</m:t>
                          </m:r>
                          <m:r>
                            <a:rPr lang="en-US" sz="2000" b="0" i="1" dirty="0" smtClean="0">
                              <a:latin typeface="Cambria Math" panose="02040503050406030204" pitchFamily="18" charset="0"/>
                            </a:rPr>
                            <m:t>𝑐</m:t>
                          </m:r>
                        </m:e>
                      </m:d>
                      <m:r>
                        <a:rPr lang="en-US" sz="2000" b="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rPr>
                        <m:t>𝑔</m:t>
                      </m:r>
                      <m:d>
                        <m:dPr>
                          <m:ctrlPr>
                            <a:rPr lang="en-US" sz="2000" i="1" dirty="0">
                              <a:latin typeface="Cambria Math" panose="02040503050406030204" pitchFamily="18" charset="0"/>
                            </a:rPr>
                          </m:ctrlPr>
                        </m:dPr>
                        <m:e>
                          <m:r>
                            <a:rPr lang="en-US" sz="2000" b="0" i="1" dirty="0" smtClean="0">
                              <a:latin typeface="Cambria Math" panose="02040503050406030204" pitchFamily="18" charset="0"/>
                            </a:rPr>
                            <m:t>𝑎</m:t>
                          </m:r>
                        </m:e>
                      </m:d>
                      <m:r>
                        <a:rPr lang="en-US" sz="2000" b="0" i="1" dirty="0" smtClean="0">
                          <a:latin typeface="Cambria Math" panose="02040503050406030204" pitchFamily="18" charset="0"/>
                        </a:rPr>
                        <m:t>=</m:t>
                      </m:r>
                      <m:r>
                        <a:rPr lang="en-US" sz="2000" b="0" i="1" dirty="0" smtClean="0">
                          <a:latin typeface="Cambria Math" panose="02040503050406030204" pitchFamily="18" charset="0"/>
                        </a:rPr>
                        <m:t>𝑚𝑒𝑥</m:t>
                      </m:r>
                      <m:d>
                        <m:dPr>
                          <m:begChr m:val="{"/>
                          <m:endChr m:val="}"/>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𝑔</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𝑏</m:t>
                              </m:r>
                            </m:e>
                          </m:d>
                          <m:r>
                            <a:rPr lang="en-US" sz="2000" b="0" i="1" dirty="0" smtClean="0">
                              <a:latin typeface="Cambria Math" panose="02040503050406030204" pitchFamily="18" charset="0"/>
                            </a:rPr>
                            <m:t>,</m:t>
                          </m:r>
                          <m:r>
                            <a:rPr lang="en-US" sz="2000" b="0" i="1" dirty="0" smtClean="0">
                              <a:latin typeface="Cambria Math" panose="02040503050406030204" pitchFamily="18" charset="0"/>
                            </a:rPr>
                            <m:t>𝑔</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𝑐</m:t>
                              </m:r>
                            </m:e>
                          </m:d>
                        </m:e>
                      </m:d>
                      <m:r>
                        <a:rPr lang="en-US" sz="2000" b="0" i="1" dirty="0" smtClean="0">
                          <a:latin typeface="Cambria Math" panose="02040503050406030204" pitchFamily="18" charset="0"/>
                        </a:rPr>
                        <m:t>=</m:t>
                      </m:r>
                      <m:r>
                        <a:rPr lang="en-US" sz="2000" b="0" i="1" dirty="0" smtClean="0">
                          <a:latin typeface="Cambria Math" panose="02040503050406030204" pitchFamily="18" charset="0"/>
                        </a:rPr>
                        <m:t>𝑚𝑒𝑥</m:t>
                      </m:r>
                      <m:d>
                        <m:dPr>
                          <m:begChr m:val="{"/>
                          <m:endChr m:val="}"/>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1,2</m:t>
                          </m:r>
                        </m:e>
                      </m:d>
                      <m:r>
                        <a:rPr lang="en-US" sz="2000" b="0" i="1" dirty="0" smtClean="0">
                          <a:latin typeface="Cambria Math" panose="02040503050406030204" pitchFamily="18" charset="0"/>
                        </a:rPr>
                        <m:t>=0</m:t>
                      </m:r>
                      <m:r>
                        <a:rPr lang="en-US" sz="2000" i="1" dirty="0">
                          <a:latin typeface="Cambria Math" panose="02040503050406030204" pitchFamily="18" charset="0"/>
                        </a:rPr>
                        <m:t> </m:t>
                      </m:r>
                    </m:oMath>
                  </m:oMathPara>
                </a14:m>
                <a:endParaRPr lang="en-US" sz="2000" dirty="0"/>
              </a:p>
            </p:txBody>
          </p:sp>
        </mc:Choice>
        <mc:Fallback xmlns="">
          <p:sp>
            <p:nvSpPr>
              <p:cNvPr id="21" name="Rectangle 20"/>
              <p:cNvSpPr>
                <a:spLocks noRot="1" noChangeAspect="1" noMove="1" noResize="1" noEditPoints="1" noAdjustHandles="1" noChangeArrowheads="1" noChangeShapeType="1" noTextEdit="1"/>
              </p:cNvSpPr>
              <p:nvPr/>
            </p:nvSpPr>
            <p:spPr>
              <a:xfrm>
                <a:off x="2022613" y="2887755"/>
                <a:ext cx="6830716" cy="400110"/>
              </a:xfrm>
              <a:prstGeom prst="rect">
                <a:avLst/>
              </a:prstGeom>
              <a:blipFill>
                <a:blip r:embed="rId6"/>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2064914" y="3351336"/>
                <a:ext cx="226626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rPr>
                        <m:t>𝑃𝑙𝑎𝑦𝑒𝑟</m:t>
                      </m:r>
                      <m:r>
                        <a:rPr lang="en-US" sz="2000" i="1" dirty="0" smtClean="0">
                          <a:latin typeface="Cambria Math" panose="02040503050406030204" pitchFamily="18" charset="0"/>
                        </a:rPr>
                        <m:t> </m:t>
                      </m:r>
                      <m:r>
                        <a:rPr lang="en-US" sz="2000" i="1" dirty="0" smtClean="0">
                          <a:latin typeface="Cambria Math" panose="02040503050406030204" pitchFamily="18" charset="0"/>
                        </a:rPr>
                        <m:t>𝑤𝑖𝑙𝑙</m:t>
                      </m:r>
                      <m:r>
                        <a:rPr lang="en-US" sz="2000" i="1" dirty="0" smtClean="0">
                          <a:latin typeface="Cambria Math" panose="02040503050406030204" pitchFamily="18" charset="0"/>
                        </a:rPr>
                        <m:t> </m:t>
                      </m:r>
                      <m:r>
                        <a:rPr lang="en-US" sz="2000" i="1" dirty="0" smtClean="0">
                          <a:latin typeface="Cambria Math" panose="02040503050406030204" pitchFamily="18" charset="0"/>
                        </a:rPr>
                        <m:t>𝑙𝑜𝑠𝑒</m:t>
                      </m:r>
                    </m:oMath>
                  </m:oMathPara>
                </a14:m>
                <a:endParaRPr lang="en-US" sz="2000" dirty="0"/>
              </a:p>
            </p:txBody>
          </p:sp>
        </mc:Choice>
        <mc:Fallback xmlns="">
          <p:sp>
            <p:nvSpPr>
              <p:cNvPr id="22" name="TextBox 21"/>
              <p:cNvSpPr txBox="1">
                <a:spLocks noRot="1" noChangeAspect="1" noMove="1" noResize="1" noEditPoints="1" noAdjustHandles="1" noChangeArrowheads="1" noChangeShapeType="1" noTextEdit="1"/>
              </p:cNvSpPr>
              <p:nvPr/>
            </p:nvSpPr>
            <p:spPr>
              <a:xfrm>
                <a:off x="2064914" y="3351336"/>
                <a:ext cx="2266261" cy="400110"/>
              </a:xfrm>
              <a:prstGeom prst="rect">
                <a:avLst/>
              </a:prstGeom>
              <a:blipFill>
                <a:blip r:embed="rId7"/>
                <a:stretch>
                  <a:fillRect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3281555" y="3998939"/>
                <a:ext cx="129888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𝑔</m:t>
                      </m:r>
                      <m:d>
                        <m:dPr>
                          <m:ctrlPr>
                            <a:rPr lang="en-US" sz="2000" i="1" dirty="0">
                              <a:latin typeface="Cambria Math" panose="02040503050406030204" pitchFamily="18" charset="0"/>
                            </a:rPr>
                          </m:ctrlPr>
                        </m:dPr>
                        <m:e>
                          <m:r>
                            <a:rPr lang="en-US" sz="2000" b="0" i="1" dirty="0" smtClean="0">
                              <a:latin typeface="Cambria Math" panose="02040503050406030204" pitchFamily="18" charset="0"/>
                            </a:rPr>
                            <m:t>𝑓</m:t>
                          </m:r>
                        </m:e>
                      </m:d>
                      <m:r>
                        <a:rPr lang="en-US" sz="2000" b="0" i="1" dirty="0" smtClean="0">
                          <a:latin typeface="Cambria Math" panose="02040503050406030204" pitchFamily="18" charset="0"/>
                        </a:rPr>
                        <m:t>=0</m:t>
                      </m:r>
                      <m:r>
                        <a:rPr lang="en-US" sz="2000" i="1" dirty="0">
                          <a:latin typeface="Cambria Math" panose="02040503050406030204" pitchFamily="18" charset="0"/>
                        </a:rPr>
                        <m:t> </m:t>
                      </m:r>
                    </m:oMath>
                  </m:oMathPara>
                </a14:m>
                <a:endParaRPr lang="en-US" sz="2000" dirty="0"/>
              </a:p>
            </p:txBody>
          </p:sp>
        </mc:Choice>
        <mc:Fallback xmlns="">
          <p:sp>
            <p:nvSpPr>
              <p:cNvPr id="35" name="Rectangle 34"/>
              <p:cNvSpPr>
                <a:spLocks noRot="1" noChangeAspect="1" noMove="1" noResize="1" noEditPoints="1" noAdjustHandles="1" noChangeArrowheads="1" noChangeShapeType="1" noTextEdit="1"/>
              </p:cNvSpPr>
              <p:nvPr/>
            </p:nvSpPr>
            <p:spPr>
              <a:xfrm>
                <a:off x="3281555" y="3998939"/>
                <a:ext cx="1298881" cy="400110"/>
              </a:xfrm>
              <a:prstGeom prst="rect">
                <a:avLst/>
              </a:prstGeom>
              <a:blipFill>
                <a:blip r:embed="rId8"/>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p:cNvSpPr/>
              <p:nvPr/>
            </p:nvSpPr>
            <p:spPr>
              <a:xfrm>
                <a:off x="3264839" y="4415526"/>
                <a:ext cx="468032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𝑜𝑝𝑐</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𝑏</m:t>
                          </m:r>
                        </m:e>
                      </m:d>
                      <m:r>
                        <a:rPr lang="en-US" sz="2000" b="0" i="1" dirty="0" smtClean="0">
                          <a:latin typeface="Cambria Math" panose="02040503050406030204" pitchFamily="18" charset="0"/>
                        </a:rPr>
                        <m:t>=</m:t>
                      </m:r>
                      <m:d>
                        <m:dPr>
                          <m:begChr m:val="{"/>
                          <m:endChr m:val="}"/>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𝑒</m:t>
                          </m:r>
                          <m:r>
                            <a:rPr lang="en-US" sz="2000" b="0" i="1" dirty="0" smtClean="0">
                              <a:latin typeface="Cambria Math" panose="02040503050406030204" pitchFamily="18" charset="0"/>
                            </a:rPr>
                            <m:t>,</m:t>
                          </m:r>
                          <m:r>
                            <a:rPr lang="en-US" sz="2000" b="0" i="1" dirty="0" smtClean="0">
                              <a:latin typeface="Cambria Math" panose="02040503050406030204" pitchFamily="18" charset="0"/>
                            </a:rPr>
                            <m:t>𝑓</m:t>
                          </m:r>
                        </m:e>
                      </m:d>
                      <m:r>
                        <a:rPr lang="en-US" sz="2000" b="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rPr>
                        <m:t>𝑔</m:t>
                      </m:r>
                      <m:d>
                        <m:dPr>
                          <m:ctrlPr>
                            <a:rPr lang="en-US" sz="2000" i="1" dirty="0">
                              <a:latin typeface="Cambria Math" panose="02040503050406030204" pitchFamily="18" charset="0"/>
                            </a:rPr>
                          </m:ctrlPr>
                        </m:dPr>
                        <m:e>
                          <m:r>
                            <a:rPr lang="en-US" sz="2000" b="0" i="1" dirty="0" smtClean="0">
                              <a:latin typeface="Cambria Math" panose="02040503050406030204" pitchFamily="18" charset="0"/>
                            </a:rPr>
                            <m:t>𝑏</m:t>
                          </m:r>
                        </m:e>
                      </m:d>
                      <m:r>
                        <a:rPr lang="en-US" sz="2000" b="0" i="1" dirty="0" smtClean="0">
                          <a:latin typeface="Cambria Math" panose="02040503050406030204" pitchFamily="18" charset="0"/>
                        </a:rPr>
                        <m:t>=</m:t>
                      </m:r>
                      <m:r>
                        <a:rPr lang="en-US" sz="2000" b="0" i="1" dirty="0" smtClean="0">
                          <a:latin typeface="Cambria Math" panose="02040503050406030204" pitchFamily="18" charset="0"/>
                        </a:rPr>
                        <m:t>𝑚𝑒𝑥</m:t>
                      </m:r>
                      <m:d>
                        <m:dPr>
                          <m:begChr m:val="{"/>
                          <m:endChr m:val="}"/>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0,1</m:t>
                          </m:r>
                        </m:e>
                      </m:d>
                      <m:r>
                        <a:rPr lang="en-US" sz="2000" b="0" i="1" dirty="0" smtClean="0">
                          <a:latin typeface="Cambria Math" panose="02040503050406030204" pitchFamily="18" charset="0"/>
                        </a:rPr>
                        <m:t>=2</m:t>
                      </m:r>
                      <m:r>
                        <a:rPr lang="en-US" sz="2000" i="1" dirty="0">
                          <a:latin typeface="Cambria Math" panose="02040503050406030204" pitchFamily="18" charset="0"/>
                        </a:rPr>
                        <m:t> </m:t>
                      </m:r>
                    </m:oMath>
                  </m:oMathPara>
                </a14:m>
                <a:endParaRPr lang="en-US" sz="2000" dirty="0"/>
              </a:p>
            </p:txBody>
          </p:sp>
        </mc:Choice>
        <mc:Fallback xmlns="">
          <p:sp>
            <p:nvSpPr>
              <p:cNvPr id="37" name="Rectangle 36"/>
              <p:cNvSpPr>
                <a:spLocks noRot="1" noChangeAspect="1" noMove="1" noResize="1" noEditPoints="1" noAdjustHandles="1" noChangeArrowheads="1" noChangeShapeType="1" noTextEdit="1"/>
              </p:cNvSpPr>
              <p:nvPr/>
            </p:nvSpPr>
            <p:spPr>
              <a:xfrm>
                <a:off x="3264839" y="4415526"/>
                <a:ext cx="4680320" cy="400110"/>
              </a:xfrm>
              <a:prstGeom prst="rect">
                <a:avLst/>
              </a:prstGeom>
              <a:blipFill>
                <a:blip r:embed="rId9"/>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p:cNvSpPr/>
              <p:nvPr/>
            </p:nvSpPr>
            <p:spPr>
              <a:xfrm>
                <a:off x="3248427" y="4843555"/>
                <a:ext cx="465807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𝑜𝑝𝑐</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𝑐</m:t>
                          </m:r>
                        </m:e>
                      </m:d>
                      <m:r>
                        <a:rPr lang="en-US" sz="2000" b="0" i="1" dirty="0" smtClean="0">
                          <a:latin typeface="Cambria Math" panose="02040503050406030204" pitchFamily="18" charset="0"/>
                        </a:rPr>
                        <m:t>=</m:t>
                      </m:r>
                      <m:d>
                        <m:dPr>
                          <m:begChr m:val="{"/>
                          <m:endChr m:val="}"/>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𝑏</m:t>
                          </m:r>
                          <m:r>
                            <a:rPr lang="en-US" sz="2000" b="0" i="1" dirty="0" smtClean="0">
                              <a:latin typeface="Cambria Math" panose="02040503050406030204" pitchFamily="18" charset="0"/>
                            </a:rPr>
                            <m:t>,</m:t>
                          </m:r>
                          <m:r>
                            <a:rPr lang="en-US" sz="2000" b="0" i="1" dirty="0" smtClean="0">
                              <a:latin typeface="Cambria Math" panose="02040503050406030204" pitchFamily="18" charset="0"/>
                            </a:rPr>
                            <m:t>𝑓</m:t>
                          </m:r>
                        </m:e>
                      </m:d>
                      <m:r>
                        <a:rPr lang="en-US" sz="2000" b="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rPr>
                        <m:t>𝑔</m:t>
                      </m:r>
                      <m:d>
                        <m:dPr>
                          <m:ctrlPr>
                            <a:rPr lang="en-US" sz="2000" i="1" dirty="0">
                              <a:latin typeface="Cambria Math" panose="02040503050406030204" pitchFamily="18" charset="0"/>
                            </a:rPr>
                          </m:ctrlPr>
                        </m:dPr>
                        <m:e>
                          <m:r>
                            <a:rPr lang="en-US" sz="2000" b="0" i="1" dirty="0" smtClean="0">
                              <a:latin typeface="Cambria Math" panose="02040503050406030204" pitchFamily="18" charset="0"/>
                            </a:rPr>
                            <m:t>𝑐</m:t>
                          </m:r>
                        </m:e>
                      </m:d>
                      <m:r>
                        <a:rPr lang="en-US" sz="2000" b="0" i="1" dirty="0" smtClean="0">
                          <a:latin typeface="Cambria Math" panose="02040503050406030204" pitchFamily="18" charset="0"/>
                        </a:rPr>
                        <m:t>=</m:t>
                      </m:r>
                      <m:r>
                        <a:rPr lang="en-US" sz="2000" b="0" i="1" dirty="0" smtClean="0">
                          <a:latin typeface="Cambria Math" panose="02040503050406030204" pitchFamily="18" charset="0"/>
                        </a:rPr>
                        <m:t>𝑚𝑒𝑥</m:t>
                      </m:r>
                      <m:d>
                        <m:dPr>
                          <m:begChr m:val="{"/>
                          <m:endChr m:val="}"/>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2,0</m:t>
                          </m:r>
                        </m:e>
                      </m:d>
                      <m:r>
                        <a:rPr lang="en-US" sz="2000" b="0" i="1" dirty="0" smtClean="0">
                          <a:latin typeface="Cambria Math" panose="02040503050406030204" pitchFamily="18" charset="0"/>
                        </a:rPr>
                        <m:t>=1</m:t>
                      </m:r>
                      <m:r>
                        <a:rPr lang="en-US" sz="2000" i="1" dirty="0">
                          <a:latin typeface="Cambria Math" panose="02040503050406030204" pitchFamily="18" charset="0"/>
                        </a:rPr>
                        <m:t> </m:t>
                      </m:r>
                    </m:oMath>
                  </m:oMathPara>
                </a14:m>
                <a:endParaRPr lang="en-US" sz="2000" dirty="0"/>
              </a:p>
            </p:txBody>
          </p:sp>
        </mc:Choice>
        <mc:Fallback xmlns="">
          <p:sp>
            <p:nvSpPr>
              <p:cNvPr id="38" name="Rectangle 37"/>
              <p:cNvSpPr>
                <a:spLocks noRot="1" noChangeAspect="1" noMove="1" noResize="1" noEditPoints="1" noAdjustHandles="1" noChangeArrowheads="1" noChangeShapeType="1" noTextEdit="1"/>
              </p:cNvSpPr>
              <p:nvPr/>
            </p:nvSpPr>
            <p:spPr>
              <a:xfrm>
                <a:off x="3248427" y="4843555"/>
                <a:ext cx="4658070" cy="400110"/>
              </a:xfrm>
              <a:prstGeom prst="rect">
                <a:avLst/>
              </a:prstGeom>
              <a:blipFill>
                <a:blip r:embed="rId10"/>
                <a:stretch>
                  <a:fillRect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p:cNvSpPr/>
              <p:nvPr/>
            </p:nvSpPr>
            <p:spPr>
              <a:xfrm>
                <a:off x="3248427" y="5307136"/>
                <a:ext cx="4262449"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𝑜𝑝𝑐</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𝑑</m:t>
                          </m:r>
                        </m:e>
                      </m:d>
                      <m:r>
                        <a:rPr lang="en-US" sz="2000" b="0" i="1" dirty="0" smtClean="0">
                          <a:latin typeface="Cambria Math" panose="02040503050406030204" pitchFamily="18" charset="0"/>
                        </a:rPr>
                        <m:t>=</m:t>
                      </m:r>
                      <m:d>
                        <m:dPr>
                          <m:begChr m:val="{"/>
                          <m:endChr m:val="}"/>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𝑐</m:t>
                          </m:r>
                        </m:e>
                      </m:d>
                      <m:r>
                        <a:rPr lang="en-US" sz="2000" b="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rPr>
                        <m:t>𝑔</m:t>
                      </m:r>
                      <m:d>
                        <m:dPr>
                          <m:ctrlPr>
                            <a:rPr lang="en-US" sz="2000" i="1" dirty="0">
                              <a:latin typeface="Cambria Math" panose="02040503050406030204" pitchFamily="18" charset="0"/>
                            </a:rPr>
                          </m:ctrlPr>
                        </m:dPr>
                        <m:e>
                          <m:r>
                            <a:rPr lang="en-US" sz="2000" b="0" i="1" dirty="0" smtClean="0">
                              <a:latin typeface="Cambria Math" panose="02040503050406030204" pitchFamily="18" charset="0"/>
                            </a:rPr>
                            <m:t>𝑑</m:t>
                          </m:r>
                        </m:e>
                      </m:d>
                      <m:r>
                        <a:rPr lang="en-US" sz="2000" b="0" i="1" dirty="0" smtClean="0">
                          <a:latin typeface="Cambria Math" panose="02040503050406030204" pitchFamily="18" charset="0"/>
                        </a:rPr>
                        <m:t>=</m:t>
                      </m:r>
                      <m:r>
                        <a:rPr lang="en-US" sz="2000" b="0" i="1" dirty="0" smtClean="0">
                          <a:latin typeface="Cambria Math" panose="02040503050406030204" pitchFamily="18" charset="0"/>
                        </a:rPr>
                        <m:t>𝑚𝑒𝑥</m:t>
                      </m:r>
                      <m:d>
                        <m:dPr>
                          <m:begChr m:val="{"/>
                          <m:endChr m:val="}"/>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1</m:t>
                          </m:r>
                        </m:e>
                      </m:d>
                      <m:r>
                        <a:rPr lang="en-US" sz="2000" b="0" i="1" dirty="0" smtClean="0">
                          <a:latin typeface="Cambria Math" panose="02040503050406030204" pitchFamily="18" charset="0"/>
                        </a:rPr>
                        <m:t>=0</m:t>
                      </m:r>
                      <m:r>
                        <a:rPr lang="en-US" sz="2000" i="1" dirty="0">
                          <a:latin typeface="Cambria Math" panose="02040503050406030204" pitchFamily="18" charset="0"/>
                        </a:rPr>
                        <m:t> </m:t>
                      </m:r>
                    </m:oMath>
                  </m:oMathPara>
                </a14:m>
                <a:endParaRPr lang="en-US" sz="2000" dirty="0"/>
              </a:p>
            </p:txBody>
          </p:sp>
        </mc:Choice>
        <mc:Fallback xmlns="">
          <p:sp>
            <p:nvSpPr>
              <p:cNvPr id="39" name="Rectangle 38"/>
              <p:cNvSpPr>
                <a:spLocks noRot="1" noChangeAspect="1" noMove="1" noResize="1" noEditPoints="1" noAdjustHandles="1" noChangeArrowheads="1" noChangeShapeType="1" noTextEdit="1"/>
              </p:cNvSpPr>
              <p:nvPr/>
            </p:nvSpPr>
            <p:spPr>
              <a:xfrm>
                <a:off x="3248427" y="5307136"/>
                <a:ext cx="4262449" cy="400110"/>
              </a:xfrm>
              <a:prstGeom prst="rect">
                <a:avLst/>
              </a:prstGeom>
              <a:blipFill>
                <a:blip r:embed="rId11"/>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510115" y="5707246"/>
                <a:ext cx="2814941" cy="707886"/>
              </a:xfrm>
              <a:prstGeom prst="rect">
                <a:avLst/>
              </a:prstGeom>
              <a:noFill/>
            </p:spPr>
            <p:txBody>
              <a:bodyPr wrap="square" rtlCol="0">
                <a:spAutoFit/>
              </a:bodyPr>
              <a:lstStyle/>
              <a:p>
                <a:pPr algn="ctr"/>
                <a14:m>
                  <m:oMath xmlns:m="http://schemas.openxmlformats.org/officeDocument/2006/math">
                    <m:r>
                      <a:rPr lang="en-US" sz="200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rPr>
                      <m:t>𝑃𝑙𝑎𝑦𝑒𝑟</m:t>
                    </m:r>
                    <m:r>
                      <a:rPr lang="en-US" sz="2000" i="1" dirty="0" smtClean="0">
                        <a:latin typeface="Cambria Math" panose="02040503050406030204" pitchFamily="18" charset="0"/>
                      </a:rPr>
                      <m:t> </m:t>
                    </m:r>
                    <m:r>
                      <a:rPr lang="en-US" sz="2000" i="1" dirty="0" smtClean="0">
                        <a:latin typeface="Cambria Math" panose="02040503050406030204" pitchFamily="18" charset="0"/>
                      </a:rPr>
                      <m:t>𝑤𝑖𝑙𝑙</m:t>
                    </m:r>
                    <m:r>
                      <a:rPr lang="en-US" sz="2000" i="1" dirty="0" smtClean="0">
                        <a:latin typeface="Cambria Math" panose="02040503050406030204" pitchFamily="18" charset="0"/>
                      </a:rPr>
                      <m:t> </m:t>
                    </m:r>
                    <m:r>
                      <a:rPr lang="en-US" sz="2000" b="0" i="1" dirty="0" smtClean="0">
                        <a:latin typeface="Cambria Math" panose="02040503050406030204" pitchFamily="18" charset="0"/>
                      </a:rPr>
                      <m:t>𝑤𝑖𝑛</m:t>
                    </m:r>
                  </m:oMath>
                </a14:m>
                <a:r>
                  <a:rPr lang="en-US" sz="2000" dirty="0"/>
                  <a:t> by moving to </a:t>
                </a:r>
                <a14:m>
                  <m:oMath xmlns:m="http://schemas.openxmlformats.org/officeDocument/2006/math">
                    <m:r>
                      <a:rPr lang="en-US" sz="2000" i="1" dirty="0" smtClean="0">
                        <a:latin typeface="Cambria Math" panose="02040503050406030204" pitchFamily="18" charset="0"/>
                      </a:rPr>
                      <m:t>𝑑</m:t>
                    </m:r>
                  </m:oMath>
                </a14:m>
                <a:endParaRPr lang="en-US" sz="2000" dirty="0"/>
              </a:p>
            </p:txBody>
          </p:sp>
        </mc:Choice>
        <mc:Fallback xmlns="">
          <p:sp>
            <p:nvSpPr>
              <p:cNvPr id="40" name="TextBox 39"/>
              <p:cNvSpPr txBox="1">
                <a:spLocks noRot="1" noChangeAspect="1" noMove="1" noResize="1" noEditPoints="1" noAdjustHandles="1" noChangeArrowheads="1" noChangeShapeType="1" noTextEdit="1"/>
              </p:cNvSpPr>
              <p:nvPr/>
            </p:nvSpPr>
            <p:spPr>
              <a:xfrm>
                <a:off x="510115" y="5707246"/>
                <a:ext cx="2814941" cy="707886"/>
              </a:xfrm>
              <a:prstGeom prst="rect">
                <a:avLst/>
              </a:prstGeom>
              <a:blipFill>
                <a:blip r:embed="rId12"/>
                <a:stretch>
                  <a:fillRect t="-4310" b="-14655"/>
                </a:stretch>
              </a:blipFill>
            </p:spPr>
            <p:txBody>
              <a:bodyPr/>
              <a:lstStyle/>
              <a:p>
                <a:r>
                  <a:rPr lang="en-US">
                    <a:noFill/>
                  </a:rPr>
                  <a:t> </a:t>
                </a:r>
              </a:p>
            </p:txBody>
          </p:sp>
        </mc:Fallback>
      </mc:AlternateContent>
      <p:grpSp>
        <p:nvGrpSpPr>
          <p:cNvPr id="85" name="Group 84"/>
          <p:cNvGrpSpPr/>
          <p:nvPr/>
        </p:nvGrpSpPr>
        <p:grpSpPr>
          <a:xfrm>
            <a:off x="604729" y="3681001"/>
            <a:ext cx="2393106" cy="2026246"/>
            <a:chOff x="611546" y="3871951"/>
            <a:chExt cx="2393106" cy="2026246"/>
          </a:xfrm>
        </p:grpSpPr>
        <p:sp>
          <p:nvSpPr>
            <p:cNvPr id="24" name="TextBox 23"/>
            <p:cNvSpPr txBox="1"/>
            <p:nvPr/>
          </p:nvSpPr>
          <p:spPr>
            <a:xfrm>
              <a:off x="1634162" y="3871951"/>
              <a:ext cx="407127" cy="461665"/>
            </a:xfrm>
            <a:prstGeom prst="rect">
              <a:avLst/>
            </a:prstGeom>
            <a:noFill/>
          </p:spPr>
          <p:txBody>
            <a:bodyPr wrap="square" rtlCol="0">
              <a:spAutoFit/>
            </a:bodyPr>
            <a:lstStyle/>
            <a:p>
              <a:r>
                <a:rPr lang="en-US" sz="2400" dirty="0"/>
                <a:t>a</a:t>
              </a:r>
            </a:p>
          </p:txBody>
        </p:sp>
        <p:grpSp>
          <p:nvGrpSpPr>
            <p:cNvPr id="83" name="Group 82"/>
            <p:cNvGrpSpPr/>
            <p:nvPr/>
          </p:nvGrpSpPr>
          <p:grpSpPr>
            <a:xfrm>
              <a:off x="611546" y="4333616"/>
              <a:ext cx="2393106" cy="1564581"/>
              <a:chOff x="611546" y="4333616"/>
              <a:chExt cx="2393106" cy="1564581"/>
            </a:xfrm>
          </p:grpSpPr>
          <p:sp>
            <p:nvSpPr>
              <p:cNvPr id="25" name="TextBox 24"/>
              <p:cNvSpPr txBox="1"/>
              <p:nvPr/>
            </p:nvSpPr>
            <p:spPr>
              <a:xfrm>
                <a:off x="611546" y="4650836"/>
                <a:ext cx="424812" cy="461665"/>
              </a:xfrm>
              <a:prstGeom prst="rect">
                <a:avLst/>
              </a:prstGeom>
              <a:noFill/>
            </p:spPr>
            <p:txBody>
              <a:bodyPr wrap="square" rtlCol="0">
                <a:spAutoFit/>
              </a:bodyPr>
              <a:lstStyle/>
              <a:p>
                <a:r>
                  <a:rPr lang="en-US" sz="2400" dirty="0"/>
                  <a:t>b</a:t>
                </a:r>
              </a:p>
            </p:txBody>
          </p:sp>
          <p:sp>
            <p:nvSpPr>
              <p:cNvPr id="26" name="TextBox 25"/>
              <p:cNvSpPr txBox="1"/>
              <p:nvPr/>
            </p:nvSpPr>
            <p:spPr>
              <a:xfrm>
                <a:off x="1647683" y="4650836"/>
                <a:ext cx="385514" cy="461665"/>
              </a:xfrm>
              <a:prstGeom prst="rect">
                <a:avLst/>
              </a:prstGeom>
              <a:noFill/>
            </p:spPr>
            <p:txBody>
              <a:bodyPr wrap="square" rtlCol="0">
                <a:spAutoFit/>
              </a:bodyPr>
              <a:lstStyle/>
              <a:p>
                <a:r>
                  <a:rPr lang="en-US" sz="2400" dirty="0"/>
                  <a:t>c</a:t>
                </a:r>
              </a:p>
            </p:txBody>
          </p:sp>
          <p:sp>
            <p:nvSpPr>
              <p:cNvPr id="27" name="TextBox 26"/>
              <p:cNvSpPr txBox="1"/>
              <p:nvPr/>
            </p:nvSpPr>
            <p:spPr>
              <a:xfrm>
                <a:off x="614196" y="5436532"/>
                <a:ext cx="424812" cy="461665"/>
              </a:xfrm>
              <a:prstGeom prst="rect">
                <a:avLst/>
              </a:prstGeom>
              <a:noFill/>
            </p:spPr>
            <p:txBody>
              <a:bodyPr wrap="square" rtlCol="0">
                <a:spAutoFit/>
              </a:bodyPr>
              <a:lstStyle/>
              <a:p>
                <a:r>
                  <a:rPr lang="en-US" sz="2400" dirty="0"/>
                  <a:t>e</a:t>
                </a:r>
              </a:p>
            </p:txBody>
          </p:sp>
          <p:sp>
            <p:nvSpPr>
              <p:cNvPr id="28" name="TextBox 27"/>
              <p:cNvSpPr txBox="1"/>
              <p:nvPr/>
            </p:nvSpPr>
            <p:spPr>
              <a:xfrm>
                <a:off x="1626980" y="5436531"/>
                <a:ext cx="414986" cy="461665"/>
              </a:xfrm>
              <a:prstGeom prst="rect">
                <a:avLst/>
              </a:prstGeom>
              <a:noFill/>
            </p:spPr>
            <p:txBody>
              <a:bodyPr wrap="square" rtlCol="0">
                <a:spAutoFit/>
              </a:bodyPr>
              <a:lstStyle/>
              <a:p>
                <a:r>
                  <a:rPr lang="en-US" sz="2400" dirty="0"/>
                  <a:t> f</a:t>
                </a:r>
              </a:p>
            </p:txBody>
          </p:sp>
          <p:cxnSp>
            <p:nvCxnSpPr>
              <p:cNvPr id="29" name="Straight Arrow Connector 28"/>
              <p:cNvCxnSpPr>
                <a:stCxn id="24" idx="2"/>
                <a:endCxn id="25" idx="0"/>
              </p:cNvCxnSpPr>
              <p:nvPr/>
            </p:nvCxnSpPr>
            <p:spPr>
              <a:xfrm flipH="1">
                <a:off x="823952" y="4333616"/>
                <a:ext cx="1013774" cy="317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24" idx="2"/>
                <a:endCxn id="26" idx="0"/>
              </p:cNvCxnSpPr>
              <p:nvPr/>
            </p:nvCxnSpPr>
            <p:spPr>
              <a:xfrm>
                <a:off x="1837726" y="4333616"/>
                <a:ext cx="2714" cy="317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25" idx="2"/>
                <a:endCxn id="27" idx="0"/>
              </p:cNvCxnSpPr>
              <p:nvPr/>
            </p:nvCxnSpPr>
            <p:spPr>
              <a:xfrm>
                <a:off x="823952" y="5112501"/>
                <a:ext cx="2650" cy="324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6" idx="2"/>
                <a:endCxn id="28" idx="0"/>
              </p:cNvCxnSpPr>
              <p:nvPr/>
            </p:nvCxnSpPr>
            <p:spPr>
              <a:xfrm flipH="1">
                <a:off x="1834473" y="5112501"/>
                <a:ext cx="5967" cy="3240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2579840" y="4637155"/>
                <a:ext cx="424812" cy="461665"/>
              </a:xfrm>
              <a:prstGeom prst="rect">
                <a:avLst/>
              </a:prstGeom>
              <a:noFill/>
            </p:spPr>
            <p:txBody>
              <a:bodyPr wrap="square" rtlCol="0">
                <a:spAutoFit/>
              </a:bodyPr>
              <a:lstStyle/>
              <a:p>
                <a:r>
                  <a:rPr lang="en-US" sz="2400" dirty="0"/>
                  <a:t>d</a:t>
                </a:r>
              </a:p>
            </p:txBody>
          </p:sp>
          <p:cxnSp>
            <p:nvCxnSpPr>
              <p:cNvPr id="63" name="Straight Arrow Connector 62"/>
              <p:cNvCxnSpPr>
                <a:stCxn id="24" idx="2"/>
                <a:endCxn id="59" idx="0"/>
              </p:cNvCxnSpPr>
              <p:nvPr/>
            </p:nvCxnSpPr>
            <p:spPr>
              <a:xfrm>
                <a:off x="1837726" y="4333616"/>
                <a:ext cx="954520" cy="3035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59" idx="1"/>
                <a:endCxn id="26" idx="3"/>
              </p:cNvCxnSpPr>
              <p:nvPr/>
            </p:nvCxnSpPr>
            <p:spPr>
              <a:xfrm flipH="1">
                <a:off x="2033197" y="4867988"/>
                <a:ext cx="546643" cy="13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26" idx="1"/>
                <a:endCxn id="25" idx="3"/>
              </p:cNvCxnSpPr>
              <p:nvPr/>
            </p:nvCxnSpPr>
            <p:spPr>
              <a:xfrm flipH="1">
                <a:off x="1036358" y="4881669"/>
                <a:ext cx="6113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a:off x="948728" y="5026045"/>
                <a:ext cx="681505" cy="4412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stCxn id="27" idx="3"/>
                <a:endCxn id="28" idx="1"/>
              </p:cNvCxnSpPr>
              <p:nvPr/>
            </p:nvCxnSpPr>
            <p:spPr>
              <a:xfrm flipV="1">
                <a:off x="1039008" y="5667364"/>
                <a:ext cx="58797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86" name="Rectangle 85"/>
              <p:cNvSpPr/>
              <p:nvPr/>
            </p:nvSpPr>
            <p:spPr>
              <a:xfrm>
                <a:off x="4571517" y="4013003"/>
                <a:ext cx="424558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𝑜𝑝𝑐</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𝑒</m:t>
                          </m:r>
                        </m:e>
                      </m:d>
                      <m:r>
                        <a:rPr lang="en-US" sz="2000" b="0" i="1" dirty="0" smtClean="0">
                          <a:latin typeface="Cambria Math" panose="02040503050406030204" pitchFamily="18" charset="0"/>
                        </a:rPr>
                        <m:t>=</m:t>
                      </m:r>
                      <m:d>
                        <m:dPr>
                          <m:begChr m:val="{"/>
                          <m:endChr m:val="}"/>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𝑓</m:t>
                          </m:r>
                        </m:e>
                      </m:d>
                      <m:r>
                        <a:rPr lang="en-US" sz="2000" b="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rPr>
                        <m:t>𝑔</m:t>
                      </m:r>
                      <m:d>
                        <m:dPr>
                          <m:ctrlPr>
                            <a:rPr lang="en-US" sz="2000" i="1" dirty="0">
                              <a:latin typeface="Cambria Math" panose="02040503050406030204" pitchFamily="18" charset="0"/>
                            </a:rPr>
                          </m:ctrlPr>
                        </m:dPr>
                        <m:e>
                          <m:r>
                            <a:rPr lang="en-US" sz="2000" b="0" i="1" dirty="0" smtClean="0">
                              <a:latin typeface="Cambria Math" panose="02040503050406030204" pitchFamily="18" charset="0"/>
                            </a:rPr>
                            <m:t>𝑒</m:t>
                          </m:r>
                        </m:e>
                      </m:d>
                      <m:r>
                        <a:rPr lang="en-US" sz="2000" b="0" i="1" dirty="0" smtClean="0">
                          <a:latin typeface="Cambria Math" panose="02040503050406030204" pitchFamily="18" charset="0"/>
                        </a:rPr>
                        <m:t>=</m:t>
                      </m:r>
                      <m:r>
                        <a:rPr lang="en-US" sz="2000" b="0" i="1" dirty="0" smtClean="0">
                          <a:latin typeface="Cambria Math" panose="02040503050406030204" pitchFamily="18" charset="0"/>
                        </a:rPr>
                        <m:t>𝑚𝑒𝑥</m:t>
                      </m:r>
                      <m:d>
                        <m:dPr>
                          <m:begChr m:val="{"/>
                          <m:endChr m:val="}"/>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0</m:t>
                          </m:r>
                        </m:e>
                      </m:d>
                      <m:r>
                        <a:rPr lang="en-US" sz="2000" b="0" i="1" dirty="0" smtClean="0">
                          <a:latin typeface="Cambria Math" panose="02040503050406030204" pitchFamily="18" charset="0"/>
                        </a:rPr>
                        <m:t>=1</m:t>
                      </m:r>
                      <m:r>
                        <a:rPr lang="en-US" sz="2000" i="1" dirty="0">
                          <a:latin typeface="Cambria Math" panose="02040503050406030204" pitchFamily="18" charset="0"/>
                        </a:rPr>
                        <m:t> </m:t>
                      </m:r>
                    </m:oMath>
                  </m:oMathPara>
                </a14:m>
                <a:endParaRPr lang="en-US" sz="2000" dirty="0"/>
              </a:p>
            </p:txBody>
          </p:sp>
        </mc:Choice>
        <mc:Fallback xmlns="">
          <p:sp>
            <p:nvSpPr>
              <p:cNvPr id="86" name="Rectangle 85"/>
              <p:cNvSpPr>
                <a:spLocks noRot="1" noChangeAspect="1" noMove="1" noResize="1" noEditPoints="1" noAdjustHandles="1" noChangeArrowheads="1" noChangeShapeType="1" noTextEdit="1"/>
              </p:cNvSpPr>
              <p:nvPr/>
            </p:nvSpPr>
            <p:spPr>
              <a:xfrm>
                <a:off x="4571517" y="4013003"/>
                <a:ext cx="4245585" cy="400110"/>
              </a:xfrm>
              <a:prstGeom prst="rect">
                <a:avLst/>
              </a:prstGeom>
              <a:blipFill>
                <a:blip r:embed="rId13"/>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Rectangle 86"/>
              <p:cNvSpPr/>
              <p:nvPr/>
            </p:nvSpPr>
            <p:spPr>
              <a:xfrm>
                <a:off x="3281555" y="5731115"/>
                <a:ext cx="512909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𝑜𝑝𝑐</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𝑎</m:t>
                          </m:r>
                        </m:e>
                      </m:d>
                      <m:r>
                        <a:rPr lang="en-US" sz="2000" b="0" i="1" dirty="0" smtClean="0">
                          <a:latin typeface="Cambria Math" panose="02040503050406030204" pitchFamily="18" charset="0"/>
                        </a:rPr>
                        <m:t>=</m:t>
                      </m:r>
                      <m:d>
                        <m:dPr>
                          <m:begChr m:val="{"/>
                          <m:endChr m:val="}"/>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𝑏</m:t>
                          </m:r>
                          <m:r>
                            <a:rPr lang="en-US" sz="2000" b="0" i="1" dirty="0" smtClean="0">
                              <a:latin typeface="Cambria Math" panose="02040503050406030204" pitchFamily="18" charset="0"/>
                            </a:rPr>
                            <m:t>,</m:t>
                          </m:r>
                          <m:r>
                            <a:rPr lang="en-US" sz="2000" b="0" i="1" dirty="0" smtClean="0">
                              <a:latin typeface="Cambria Math" panose="02040503050406030204" pitchFamily="18" charset="0"/>
                            </a:rPr>
                            <m:t>𝑐</m:t>
                          </m:r>
                          <m:r>
                            <a:rPr lang="en-US" sz="2000" b="0" i="1" dirty="0" smtClean="0">
                              <a:latin typeface="Cambria Math" panose="02040503050406030204" pitchFamily="18" charset="0"/>
                            </a:rPr>
                            <m:t>,</m:t>
                          </m:r>
                          <m:r>
                            <a:rPr lang="en-US" sz="2000" b="0" i="1" dirty="0" smtClean="0">
                              <a:latin typeface="Cambria Math" panose="02040503050406030204" pitchFamily="18" charset="0"/>
                            </a:rPr>
                            <m:t>𝑑</m:t>
                          </m:r>
                        </m:e>
                      </m:d>
                      <m:r>
                        <a:rPr lang="en-US" sz="2000" b="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rPr>
                        <m:t>𝑔</m:t>
                      </m:r>
                      <m:d>
                        <m:dPr>
                          <m:ctrlPr>
                            <a:rPr lang="en-US" sz="2000" i="1" dirty="0">
                              <a:latin typeface="Cambria Math" panose="02040503050406030204" pitchFamily="18" charset="0"/>
                            </a:rPr>
                          </m:ctrlPr>
                        </m:dPr>
                        <m:e>
                          <m:r>
                            <a:rPr lang="en-US" sz="2000" b="0" i="1" dirty="0" smtClean="0">
                              <a:latin typeface="Cambria Math" panose="02040503050406030204" pitchFamily="18" charset="0"/>
                            </a:rPr>
                            <m:t>𝑎</m:t>
                          </m:r>
                        </m:e>
                      </m:d>
                      <m:r>
                        <a:rPr lang="en-US" sz="2000" b="0" i="1" dirty="0" smtClean="0">
                          <a:latin typeface="Cambria Math" panose="02040503050406030204" pitchFamily="18" charset="0"/>
                        </a:rPr>
                        <m:t>=</m:t>
                      </m:r>
                      <m:r>
                        <a:rPr lang="en-US" sz="2000" b="0" i="1" dirty="0" smtClean="0">
                          <a:latin typeface="Cambria Math" panose="02040503050406030204" pitchFamily="18" charset="0"/>
                        </a:rPr>
                        <m:t>𝑚𝑒𝑥</m:t>
                      </m:r>
                      <m:d>
                        <m:dPr>
                          <m:begChr m:val="{"/>
                          <m:endChr m:val="}"/>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2,1,0</m:t>
                          </m:r>
                        </m:e>
                      </m:d>
                      <m:r>
                        <a:rPr lang="en-US" sz="2000" b="0" i="1" dirty="0" smtClean="0">
                          <a:latin typeface="Cambria Math" panose="02040503050406030204" pitchFamily="18" charset="0"/>
                        </a:rPr>
                        <m:t>=3</m:t>
                      </m:r>
                      <m:r>
                        <a:rPr lang="en-US" sz="2000" i="1" dirty="0">
                          <a:latin typeface="Cambria Math" panose="02040503050406030204" pitchFamily="18" charset="0"/>
                        </a:rPr>
                        <m:t> </m:t>
                      </m:r>
                    </m:oMath>
                  </m:oMathPara>
                </a14:m>
                <a:endParaRPr lang="en-US" sz="2000" dirty="0"/>
              </a:p>
            </p:txBody>
          </p:sp>
        </mc:Choice>
        <mc:Fallback xmlns="">
          <p:sp>
            <p:nvSpPr>
              <p:cNvPr id="87" name="Rectangle 86"/>
              <p:cNvSpPr>
                <a:spLocks noRot="1" noChangeAspect="1" noMove="1" noResize="1" noEditPoints="1" noAdjustHandles="1" noChangeArrowheads="1" noChangeShapeType="1" noTextEdit="1"/>
              </p:cNvSpPr>
              <p:nvPr/>
            </p:nvSpPr>
            <p:spPr>
              <a:xfrm>
                <a:off x="3281555" y="5731115"/>
                <a:ext cx="5129096" cy="400110"/>
              </a:xfrm>
              <a:prstGeom prst="rect">
                <a:avLst/>
              </a:prstGeom>
              <a:blipFill>
                <a:blip r:embed="rId14"/>
                <a:stretch>
                  <a:fillRect b="-7576"/>
                </a:stretch>
              </a:blipFill>
            </p:spPr>
            <p:txBody>
              <a:bodyPr/>
              <a:lstStyle/>
              <a:p>
                <a:r>
                  <a:rPr lang="en-US">
                    <a:noFill/>
                  </a:rPr>
                  <a:t> </a:t>
                </a:r>
              </a:p>
            </p:txBody>
          </p:sp>
        </mc:Fallback>
      </mc:AlternateContent>
    </p:spTree>
    <p:extLst>
      <p:ext uri="{BB962C8B-B14F-4D97-AF65-F5344CB8AC3E}">
        <p14:creationId xmlns:p14="http://schemas.microsoft.com/office/powerpoint/2010/main" val="1412017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20" grpId="0"/>
      <p:bldP spid="21" grpId="0"/>
      <p:bldP spid="22" grpId="0"/>
      <p:bldP spid="35" grpId="0"/>
      <p:bldP spid="37" grpId="0"/>
      <p:bldP spid="38" grpId="0"/>
      <p:bldP spid="39" grpId="0"/>
      <p:bldP spid="40" grpId="0"/>
      <p:bldP spid="86" grpId="0"/>
      <p:bldP spid="8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Trick base on Binary decompositions</a:t>
            </a:r>
          </a:p>
        </p:txBody>
      </p:sp>
      <p:sp>
        <p:nvSpPr>
          <p:cNvPr id="6" name="TextBox 5"/>
          <p:cNvSpPr txBox="1"/>
          <p:nvPr/>
        </p:nvSpPr>
        <p:spPr>
          <a:xfrm>
            <a:off x="4215428" y="1539771"/>
            <a:ext cx="4248472" cy="1938992"/>
          </a:xfrm>
          <a:prstGeom prst="rect">
            <a:avLst/>
          </a:prstGeom>
          <a:noFill/>
        </p:spPr>
        <p:txBody>
          <a:bodyPr wrap="square" rtlCol="0">
            <a:spAutoFit/>
          </a:bodyPr>
          <a:lstStyle/>
          <a:p>
            <a:pPr algn="just"/>
            <a:r>
              <a:rPr lang="en-US" sz="2400" dirty="0"/>
              <a:t>A has to think any number between 1 and 15, and then player B will ask A whether that number appears in this column after asking four times. </a:t>
            </a:r>
          </a:p>
        </p:txBody>
      </p:sp>
      <p:sp>
        <p:nvSpPr>
          <p:cNvPr id="7" name="Rectangle 6"/>
          <p:cNvSpPr/>
          <p:nvPr/>
        </p:nvSpPr>
        <p:spPr>
          <a:xfrm>
            <a:off x="4277256" y="4323821"/>
            <a:ext cx="4132793" cy="923330"/>
          </a:xfrm>
          <a:prstGeom prst="rect">
            <a:avLst/>
          </a:prstGeom>
        </p:spPr>
        <p:txBody>
          <a:bodyPr wrap="square">
            <a:spAutoFit/>
          </a:bodyPr>
          <a:lstStyle/>
          <a:p>
            <a:pPr algn="just"/>
            <a:r>
              <a:rPr lang="en-US" dirty="0"/>
              <a:t>Suppose A think 11, then A said yes, no yes and yes then B answers the number is 11</a:t>
            </a:r>
          </a:p>
        </p:txBody>
      </p:sp>
      <p:sp>
        <p:nvSpPr>
          <p:cNvPr id="8" name="Rectangle 7"/>
          <p:cNvSpPr/>
          <p:nvPr/>
        </p:nvSpPr>
        <p:spPr>
          <a:xfrm>
            <a:off x="4258876" y="5301208"/>
            <a:ext cx="4124815" cy="923330"/>
          </a:xfrm>
          <a:prstGeom prst="rect">
            <a:avLst/>
          </a:prstGeom>
        </p:spPr>
        <p:txBody>
          <a:bodyPr wrap="square">
            <a:spAutoFit/>
          </a:bodyPr>
          <a:lstStyle/>
          <a:p>
            <a:pPr algn="just"/>
            <a:r>
              <a:rPr lang="en-US" dirty="0"/>
              <a:t>How would B extend the table so that he can guess any unknown number between 1 and 31 ? </a:t>
            </a:r>
          </a:p>
        </p:txBody>
      </p:sp>
      <p:graphicFrame>
        <p:nvGraphicFramePr>
          <p:cNvPr id="9" name="Table 8"/>
          <p:cNvGraphicFramePr>
            <a:graphicFrameLocks noGrp="1"/>
          </p:cNvGraphicFramePr>
          <p:nvPr>
            <p:extLst>
              <p:ext uri="{D42A27DB-BD31-4B8C-83A1-F6EECF244321}">
                <p14:modId xmlns:p14="http://schemas.microsoft.com/office/powerpoint/2010/main" val="1754045822"/>
              </p:ext>
            </p:extLst>
          </p:nvPr>
        </p:nvGraphicFramePr>
        <p:xfrm>
          <a:off x="615028" y="1516375"/>
          <a:ext cx="828092" cy="4663440"/>
        </p:xfrm>
        <a:graphic>
          <a:graphicData uri="http://schemas.openxmlformats.org/drawingml/2006/table">
            <a:tbl>
              <a:tblPr firstRow="1" bandRow="1">
                <a:tableStyleId>{5C22544A-7EE6-4342-B048-85BDC9FD1C3A}</a:tableStyleId>
              </a:tblPr>
              <a:tblGrid>
                <a:gridCol w="828092">
                  <a:extLst>
                    <a:ext uri="{9D8B030D-6E8A-4147-A177-3AD203B41FA5}">
                      <a16:colId xmlns:a16="http://schemas.microsoft.com/office/drawing/2014/main" val="4174804694"/>
                    </a:ext>
                  </a:extLst>
                </a:gridCol>
              </a:tblGrid>
              <a:tr h="512057">
                <a:tc>
                  <a:txBody>
                    <a:bodyPr/>
                    <a:lstStyle/>
                    <a:p>
                      <a:pPr algn="ctr"/>
                      <a:r>
                        <a:rPr lang="en-US" sz="2800" dirty="0"/>
                        <a:t>1</a:t>
                      </a:r>
                    </a:p>
                  </a:txBody>
                  <a:tcPr/>
                </a:tc>
                <a:extLst>
                  <a:ext uri="{0D108BD9-81ED-4DB2-BD59-A6C34878D82A}">
                    <a16:rowId xmlns:a16="http://schemas.microsoft.com/office/drawing/2014/main" val="2997249423"/>
                  </a:ext>
                </a:extLst>
              </a:tr>
              <a:tr h="512057">
                <a:tc>
                  <a:txBody>
                    <a:bodyPr/>
                    <a:lstStyle/>
                    <a:p>
                      <a:pPr algn="ctr"/>
                      <a:r>
                        <a:rPr lang="en-US" sz="2800" dirty="0"/>
                        <a:t>8</a:t>
                      </a:r>
                    </a:p>
                  </a:txBody>
                  <a:tcPr/>
                </a:tc>
                <a:extLst>
                  <a:ext uri="{0D108BD9-81ED-4DB2-BD59-A6C34878D82A}">
                    <a16:rowId xmlns:a16="http://schemas.microsoft.com/office/drawing/2014/main" val="953282994"/>
                  </a:ext>
                </a:extLst>
              </a:tr>
              <a:tr h="512057">
                <a:tc>
                  <a:txBody>
                    <a:bodyPr/>
                    <a:lstStyle/>
                    <a:p>
                      <a:pPr algn="ctr"/>
                      <a:r>
                        <a:rPr lang="en-US" sz="2800" dirty="0"/>
                        <a:t>9</a:t>
                      </a:r>
                    </a:p>
                  </a:txBody>
                  <a:tcPr/>
                </a:tc>
                <a:extLst>
                  <a:ext uri="{0D108BD9-81ED-4DB2-BD59-A6C34878D82A}">
                    <a16:rowId xmlns:a16="http://schemas.microsoft.com/office/drawing/2014/main" val="2687852861"/>
                  </a:ext>
                </a:extLst>
              </a:tr>
              <a:tr h="512057">
                <a:tc>
                  <a:txBody>
                    <a:bodyPr/>
                    <a:lstStyle/>
                    <a:p>
                      <a:pPr algn="ctr"/>
                      <a:r>
                        <a:rPr lang="en-US" sz="2800" dirty="0"/>
                        <a:t>10</a:t>
                      </a:r>
                    </a:p>
                  </a:txBody>
                  <a:tcPr/>
                </a:tc>
                <a:extLst>
                  <a:ext uri="{0D108BD9-81ED-4DB2-BD59-A6C34878D82A}">
                    <a16:rowId xmlns:a16="http://schemas.microsoft.com/office/drawing/2014/main" val="1178606649"/>
                  </a:ext>
                </a:extLst>
              </a:tr>
              <a:tr h="512057">
                <a:tc>
                  <a:txBody>
                    <a:bodyPr/>
                    <a:lstStyle/>
                    <a:p>
                      <a:pPr algn="ctr"/>
                      <a:r>
                        <a:rPr lang="en-US" sz="2800" dirty="0"/>
                        <a:t>11</a:t>
                      </a:r>
                    </a:p>
                  </a:txBody>
                  <a:tcPr/>
                </a:tc>
                <a:extLst>
                  <a:ext uri="{0D108BD9-81ED-4DB2-BD59-A6C34878D82A}">
                    <a16:rowId xmlns:a16="http://schemas.microsoft.com/office/drawing/2014/main" val="337663892"/>
                  </a:ext>
                </a:extLst>
              </a:tr>
              <a:tr h="512057">
                <a:tc>
                  <a:txBody>
                    <a:bodyPr/>
                    <a:lstStyle/>
                    <a:p>
                      <a:pPr algn="ctr"/>
                      <a:r>
                        <a:rPr lang="en-US" sz="2800" dirty="0"/>
                        <a:t>12</a:t>
                      </a:r>
                    </a:p>
                  </a:txBody>
                  <a:tcPr/>
                </a:tc>
                <a:extLst>
                  <a:ext uri="{0D108BD9-81ED-4DB2-BD59-A6C34878D82A}">
                    <a16:rowId xmlns:a16="http://schemas.microsoft.com/office/drawing/2014/main" val="1329320169"/>
                  </a:ext>
                </a:extLst>
              </a:tr>
              <a:tr h="512057">
                <a:tc>
                  <a:txBody>
                    <a:bodyPr/>
                    <a:lstStyle/>
                    <a:p>
                      <a:pPr algn="ctr"/>
                      <a:r>
                        <a:rPr lang="en-US" sz="2800" dirty="0"/>
                        <a:t>13</a:t>
                      </a:r>
                    </a:p>
                  </a:txBody>
                  <a:tcPr/>
                </a:tc>
                <a:extLst>
                  <a:ext uri="{0D108BD9-81ED-4DB2-BD59-A6C34878D82A}">
                    <a16:rowId xmlns:a16="http://schemas.microsoft.com/office/drawing/2014/main" val="4280208363"/>
                  </a:ext>
                </a:extLst>
              </a:tr>
              <a:tr h="512057">
                <a:tc>
                  <a:txBody>
                    <a:bodyPr/>
                    <a:lstStyle/>
                    <a:p>
                      <a:pPr algn="ctr"/>
                      <a:r>
                        <a:rPr lang="en-US" sz="2800" dirty="0"/>
                        <a:t>14</a:t>
                      </a:r>
                    </a:p>
                  </a:txBody>
                  <a:tcPr/>
                </a:tc>
                <a:extLst>
                  <a:ext uri="{0D108BD9-81ED-4DB2-BD59-A6C34878D82A}">
                    <a16:rowId xmlns:a16="http://schemas.microsoft.com/office/drawing/2014/main" val="3641141211"/>
                  </a:ext>
                </a:extLst>
              </a:tr>
              <a:tr h="512057">
                <a:tc>
                  <a:txBody>
                    <a:bodyPr/>
                    <a:lstStyle/>
                    <a:p>
                      <a:pPr algn="ctr"/>
                      <a:r>
                        <a:rPr lang="en-US" sz="2800" dirty="0"/>
                        <a:t>15</a:t>
                      </a:r>
                    </a:p>
                  </a:txBody>
                  <a:tcPr/>
                </a:tc>
                <a:extLst>
                  <a:ext uri="{0D108BD9-81ED-4DB2-BD59-A6C34878D82A}">
                    <a16:rowId xmlns:a16="http://schemas.microsoft.com/office/drawing/2014/main" val="2059665826"/>
                  </a:ext>
                </a:extLst>
              </a:tr>
            </a:tbl>
          </a:graphicData>
        </a:graphic>
      </p:graphicFrame>
      <p:sp>
        <p:nvSpPr>
          <p:cNvPr id="10" name="Rectangle 9"/>
          <p:cNvSpPr/>
          <p:nvPr/>
        </p:nvSpPr>
        <p:spPr>
          <a:xfrm>
            <a:off x="4240620" y="3438767"/>
            <a:ext cx="4231664" cy="830997"/>
          </a:xfrm>
          <a:prstGeom prst="rect">
            <a:avLst/>
          </a:prstGeom>
        </p:spPr>
        <p:txBody>
          <a:bodyPr wrap="square">
            <a:spAutoFit/>
          </a:bodyPr>
          <a:lstStyle/>
          <a:p>
            <a:pPr algn="just"/>
            <a:r>
              <a:rPr lang="en-US" sz="2400" dirty="0"/>
              <a:t>Then B will know the unknown number of A.       How can it be ? </a:t>
            </a:r>
          </a:p>
        </p:txBody>
      </p:sp>
      <p:graphicFrame>
        <p:nvGraphicFramePr>
          <p:cNvPr id="11" name="Table 10"/>
          <p:cNvGraphicFramePr>
            <a:graphicFrameLocks noGrp="1"/>
          </p:cNvGraphicFramePr>
          <p:nvPr>
            <p:extLst>
              <p:ext uri="{D42A27DB-BD31-4B8C-83A1-F6EECF244321}">
                <p14:modId xmlns:p14="http://schemas.microsoft.com/office/powerpoint/2010/main" val="635852810"/>
              </p:ext>
            </p:extLst>
          </p:nvPr>
        </p:nvGraphicFramePr>
        <p:xfrm>
          <a:off x="1443120" y="1516375"/>
          <a:ext cx="828092" cy="4663440"/>
        </p:xfrm>
        <a:graphic>
          <a:graphicData uri="http://schemas.openxmlformats.org/drawingml/2006/table">
            <a:tbl>
              <a:tblPr firstRow="1" bandRow="1">
                <a:tableStyleId>{5C22544A-7EE6-4342-B048-85BDC9FD1C3A}</a:tableStyleId>
              </a:tblPr>
              <a:tblGrid>
                <a:gridCol w="828092">
                  <a:extLst>
                    <a:ext uri="{9D8B030D-6E8A-4147-A177-3AD203B41FA5}">
                      <a16:colId xmlns:a16="http://schemas.microsoft.com/office/drawing/2014/main" val="3566405591"/>
                    </a:ext>
                  </a:extLst>
                </a:gridCol>
              </a:tblGrid>
              <a:tr h="512057">
                <a:tc>
                  <a:txBody>
                    <a:bodyPr/>
                    <a:lstStyle/>
                    <a:p>
                      <a:pPr algn="ctr"/>
                      <a:r>
                        <a:rPr lang="en-US" sz="2800" dirty="0"/>
                        <a:t>2</a:t>
                      </a:r>
                    </a:p>
                  </a:txBody>
                  <a:tcPr/>
                </a:tc>
                <a:extLst>
                  <a:ext uri="{0D108BD9-81ED-4DB2-BD59-A6C34878D82A}">
                    <a16:rowId xmlns:a16="http://schemas.microsoft.com/office/drawing/2014/main" val="3371624891"/>
                  </a:ext>
                </a:extLst>
              </a:tr>
              <a:tr h="512057">
                <a:tc>
                  <a:txBody>
                    <a:bodyPr/>
                    <a:lstStyle/>
                    <a:p>
                      <a:pPr algn="ctr"/>
                      <a:r>
                        <a:rPr lang="en-US" sz="2800" dirty="0"/>
                        <a:t>4</a:t>
                      </a:r>
                    </a:p>
                  </a:txBody>
                  <a:tcPr/>
                </a:tc>
                <a:extLst>
                  <a:ext uri="{0D108BD9-81ED-4DB2-BD59-A6C34878D82A}">
                    <a16:rowId xmlns:a16="http://schemas.microsoft.com/office/drawing/2014/main" val="3240494598"/>
                  </a:ext>
                </a:extLst>
              </a:tr>
              <a:tr h="512057">
                <a:tc>
                  <a:txBody>
                    <a:bodyPr/>
                    <a:lstStyle/>
                    <a:p>
                      <a:pPr algn="ctr"/>
                      <a:r>
                        <a:rPr lang="en-US" sz="2800" dirty="0"/>
                        <a:t>5</a:t>
                      </a:r>
                    </a:p>
                  </a:txBody>
                  <a:tcPr/>
                </a:tc>
                <a:extLst>
                  <a:ext uri="{0D108BD9-81ED-4DB2-BD59-A6C34878D82A}">
                    <a16:rowId xmlns:a16="http://schemas.microsoft.com/office/drawing/2014/main" val="17491220"/>
                  </a:ext>
                </a:extLst>
              </a:tr>
              <a:tr h="512057">
                <a:tc>
                  <a:txBody>
                    <a:bodyPr/>
                    <a:lstStyle/>
                    <a:p>
                      <a:pPr algn="ctr"/>
                      <a:r>
                        <a:rPr lang="en-US" sz="2800" dirty="0"/>
                        <a:t>6</a:t>
                      </a:r>
                    </a:p>
                  </a:txBody>
                  <a:tcPr/>
                </a:tc>
                <a:extLst>
                  <a:ext uri="{0D108BD9-81ED-4DB2-BD59-A6C34878D82A}">
                    <a16:rowId xmlns:a16="http://schemas.microsoft.com/office/drawing/2014/main" val="1864393091"/>
                  </a:ext>
                </a:extLst>
              </a:tr>
              <a:tr h="512057">
                <a:tc>
                  <a:txBody>
                    <a:bodyPr/>
                    <a:lstStyle/>
                    <a:p>
                      <a:pPr algn="ctr"/>
                      <a:r>
                        <a:rPr lang="en-US" sz="2800" dirty="0"/>
                        <a:t>7</a:t>
                      </a:r>
                    </a:p>
                  </a:txBody>
                  <a:tcPr/>
                </a:tc>
                <a:extLst>
                  <a:ext uri="{0D108BD9-81ED-4DB2-BD59-A6C34878D82A}">
                    <a16:rowId xmlns:a16="http://schemas.microsoft.com/office/drawing/2014/main" val="526601194"/>
                  </a:ext>
                </a:extLst>
              </a:tr>
              <a:tr h="512057">
                <a:tc>
                  <a:txBody>
                    <a:bodyPr/>
                    <a:lstStyle/>
                    <a:p>
                      <a:pPr algn="ctr"/>
                      <a:r>
                        <a:rPr lang="en-US" sz="2800" dirty="0"/>
                        <a:t>12</a:t>
                      </a:r>
                    </a:p>
                  </a:txBody>
                  <a:tcPr/>
                </a:tc>
                <a:extLst>
                  <a:ext uri="{0D108BD9-81ED-4DB2-BD59-A6C34878D82A}">
                    <a16:rowId xmlns:a16="http://schemas.microsoft.com/office/drawing/2014/main" val="4193732337"/>
                  </a:ext>
                </a:extLst>
              </a:tr>
              <a:tr h="512057">
                <a:tc>
                  <a:txBody>
                    <a:bodyPr/>
                    <a:lstStyle/>
                    <a:p>
                      <a:pPr algn="ctr"/>
                      <a:r>
                        <a:rPr lang="en-US" sz="2800" dirty="0"/>
                        <a:t>13</a:t>
                      </a:r>
                    </a:p>
                  </a:txBody>
                  <a:tcPr/>
                </a:tc>
                <a:extLst>
                  <a:ext uri="{0D108BD9-81ED-4DB2-BD59-A6C34878D82A}">
                    <a16:rowId xmlns:a16="http://schemas.microsoft.com/office/drawing/2014/main" val="103054906"/>
                  </a:ext>
                </a:extLst>
              </a:tr>
              <a:tr h="512057">
                <a:tc>
                  <a:txBody>
                    <a:bodyPr/>
                    <a:lstStyle/>
                    <a:p>
                      <a:pPr algn="ctr"/>
                      <a:r>
                        <a:rPr lang="en-US" sz="2800" dirty="0"/>
                        <a:t>14</a:t>
                      </a:r>
                    </a:p>
                  </a:txBody>
                  <a:tcPr/>
                </a:tc>
                <a:extLst>
                  <a:ext uri="{0D108BD9-81ED-4DB2-BD59-A6C34878D82A}">
                    <a16:rowId xmlns:a16="http://schemas.microsoft.com/office/drawing/2014/main" val="1659862382"/>
                  </a:ext>
                </a:extLst>
              </a:tr>
              <a:tr h="512057">
                <a:tc>
                  <a:txBody>
                    <a:bodyPr/>
                    <a:lstStyle/>
                    <a:p>
                      <a:pPr algn="ctr"/>
                      <a:r>
                        <a:rPr lang="en-US" sz="2800" dirty="0"/>
                        <a:t>15</a:t>
                      </a:r>
                    </a:p>
                  </a:txBody>
                  <a:tcPr/>
                </a:tc>
                <a:extLst>
                  <a:ext uri="{0D108BD9-81ED-4DB2-BD59-A6C34878D82A}">
                    <a16:rowId xmlns:a16="http://schemas.microsoft.com/office/drawing/2014/main" val="4080158919"/>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817564671"/>
              </p:ext>
            </p:extLst>
          </p:nvPr>
        </p:nvGraphicFramePr>
        <p:xfrm>
          <a:off x="2281656" y="1516375"/>
          <a:ext cx="828092" cy="4663440"/>
        </p:xfrm>
        <a:graphic>
          <a:graphicData uri="http://schemas.openxmlformats.org/drawingml/2006/table">
            <a:tbl>
              <a:tblPr firstRow="1" bandRow="1">
                <a:tableStyleId>{5C22544A-7EE6-4342-B048-85BDC9FD1C3A}</a:tableStyleId>
              </a:tblPr>
              <a:tblGrid>
                <a:gridCol w="828092">
                  <a:extLst>
                    <a:ext uri="{9D8B030D-6E8A-4147-A177-3AD203B41FA5}">
                      <a16:colId xmlns:a16="http://schemas.microsoft.com/office/drawing/2014/main" val="2061788180"/>
                    </a:ext>
                  </a:extLst>
                </a:gridCol>
              </a:tblGrid>
              <a:tr h="512057">
                <a:tc>
                  <a:txBody>
                    <a:bodyPr/>
                    <a:lstStyle/>
                    <a:p>
                      <a:pPr algn="ctr"/>
                      <a:r>
                        <a:rPr lang="en-US" sz="2800" dirty="0"/>
                        <a:t>3</a:t>
                      </a:r>
                    </a:p>
                  </a:txBody>
                  <a:tcPr/>
                </a:tc>
                <a:extLst>
                  <a:ext uri="{0D108BD9-81ED-4DB2-BD59-A6C34878D82A}">
                    <a16:rowId xmlns:a16="http://schemas.microsoft.com/office/drawing/2014/main" val="4098404081"/>
                  </a:ext>
                </a:extLst>
              </a:tr>
              <a:tr h="512057">
                <a:tc>
                  <a:txBody>
                    <a:bodyPr/>
                    <a:lstStyle/>
                    <a:p>
                      <a:pPr algn="ctr"/>
                      <a:r>
                        <a:rPr lang="en-US" sz="2800" dirty="0"/>
                        <a:t>2</a:t>
                      </a:r>
                    </a:p>
                  </a:txBody>
                  <a:tcPr/>
                </a:tc>
                <a:extLst>
                  <a:ext uri="{0D108BD9-81ED-4DB2-BD59-A6C34878D82A}">
                    <a16:rowId xmlns:a16="http://schemas.microsoft.com/office/drawing/2014/main" val="3062149727"/>
                  </a:ext>
                </a:extLst>
              </a:tr>
              <a:tr h="512057">
                <a:tc>
                  <a:txBody>
                    <a:bodyPr/>
                    <a:lstStyle/>
                    <a:p>
                      <a:pPr algn="ctr"/>
                      <a:r>
                        <a:rPr lang="en-US" sz="2800" dirty="0"/>
                        <a:t>3</a:t>
                      </a:r>
                    </a:p>
                  </a:txBody>
                  <a:tcPr/>
                </a:tc>
                <a:extLst>
                  <a:ext uri="{0D108BD9-81ED-4DB2-BD59-A6C34878D82A}">
                    <a16:rowId xmlns:a16="http://schemas.microsoft.com/office/drawing/2014/main" val="3398235096"/>
                  </a:ext>
                </a:extLst>
              </a:tr>
              <a:tr h="512057">
                <a:tc>
                  <a:txBody>
                    <a:bodyPr/>
                    <a:lstStyle/>
                    <a:p>
                      <a:pPr algn="ctr"/>
                      <a:r>
                        <a:rPr lang="en-US" sz="2800" dirty="0"/>
                        <a:t>6</a:t>
                      </a:r>
                    </a:p>
                  </a:txBody>
                  <a:tcPr/>
                </a:tc>
                <a:extLst>
                  <a:ext uri="{0D108BD9-81ED-4DB2-BD59-A6C34878D82A}">
                    <a16:rowId xmlns:a16="http://schemas.microsoft.com/office/drawing/2014/main" val="623838108"/>
                  </a:ext>
                </a:extLst>
              </a:tr>
              <a:tr h="512057">
                <a:tc>
                  <a:txBody>
                    <a:bodyPr/>
                    <a:lstStyle/>
                    <a:p>
                      <a:pPr algn="ctr"/>
                      <a:r>
                        <a:rPr lang="en-US" sz="2800" dirty="0"/>
                        <a:t>7</a:t>
                      </a:r>
                    </a:p>
                  </a:txBody>
                  <a:tcPr/>
                </a:tc>
                <a:extLst>
                  <a:ext uri="{0D108BD9-81ED-4DB2-BD59-A6C34878D82A}">
                    <a16:rowId xmlns:a16="http://schemas.microsoft.com/office/drawing/2014/main" val="1661029588"/>
                  </a:ext>
                </a:extLst>
              </a:tr>
              <a:tr h="512057">
                <a:tc>
                  <a:txBody>
                    <a:bodyPr/>
                    <a:lstStyle/>
                    <a:p>
                      <a:pPr algn="ctr"/>
                      <a:r>
                        <a:rPr lang="en-US" sz="2800" dirty="0"/>
                        <a:t>10</a:t>
                      </a:r>
                    </a:p>
                  </a:txBody>
                  <a:tcPr/>
                </a:tc>
                <a:extLst>
                  <a:ext uri="{0D108BD9-81ED-4DB2-BD59-A6C34878D82A}">
                    <a16:rowId xmlns:a16="http://schemas.microsoft.com/office/drawing/2014/main" val="1135376797"/>
                  </a:ext>
                </a:extLst>
              </a:tr>
              <a:tr h="512057">
                <a:tc>
                  <a:txBody>
                    <a:bodyPr/>
                    <a:lstStyle/>
                    <a:p>
                      <a:pPr algn="ctr"/>
                      <a:r>
                        <a:rPr lang="en-US" sz="2800" dirty="0"/>
                        <a:t>11</a:t>
                      </a:r>
                    </a:p>
                  </a:txBody>
                  <a:tcPr/>
                </a:tc>
                <a:extLst>
                  <a:ext uri="{0D108BD9-81ED-4DB2-BD59-A6C34878D82A}">
                    <a16:rowId xmlns:a16="http://schemas.microsoft.com/office/drawing/2014/main" val="2395582406"/>
                  </a:ext>
                </a:extLst>
              </a:tr>
              <a:tr h="512057">
                <a:tc>
                  <a:txBody>
                    <a:bodyPr/>
                    <a:lstStyle/>
                    <a:p>
                      <a:pPr algn="ctr"/>
                      <a:r>
                        <a:rPr lang="en-US" sz="2800" dirty="0"/>
                        <a:t>14</a:t>
                      </a:r>
                    </a:p>
                  </a:txBody>
                  <a:tcPr/>
                </a:tc>
                <a:extLst>
                  <a:ext uri="{0D108BD9-81ED-4DB2-BD59-A6C34878D82A}">
                    <a16:rowId xmlns:a16="http://schemas.microsoft.com/office/drawing/2014/main" val="4042206737"/>
                  </a:ext>
                </a:extLst>
              </a:tr>
              <a:tr h="512057">
                <a:tc>
                  <a:txBody>
                    <a:bodyPr/>
                    <a:lstStyle/>
                    <a:p>
                      <a:pPr algn="ctr"/>
                      <a:r>
                        <a:rPr lang="en-US" sz="2800" dirty="0"/>
                        <a:t>15</a:t>
                      </a:r>
                    </a:p>
                  </a:txBody>
                  <a:tcPr/>
                </a:tc>
                <a:extLst>
                  <a:ext uri="{0D108BD9-81ED-4DB2-BD59-A6C34878D82A}">
                    <a16:rowId xmlns:a16="http://schemas.microsoft.com/office/drawing/2014/main" val="3654997851"/>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2563006687"/>
              </p:ext>
            </p:extLst>
          </p:nvPr>
        </p:nvGraphicFramePr>
        <p:xfrm>
          <a:off x="3120192" y="1516375"/>
          <a:ext cx="828092" cy="4663440"/>
        </p:xfrm>
        <a:graphic>
          <a:graphicData uri="http://schemas.openxmlformats.org/drawingml/2006/table">
            <a:tbl>
              <a:tblPr firstRow="1" bandRow="1">
                <a:tableStyleId>{5C22544A-7EE6-4342-B048-85BDC9FD1C3A}</a:tableStyleId>
              </a:tblPr>
              <a:tblGrid>
                <a:gridCol w="828092">
                  <a:extLst>
                    <a:ext uri="{9D8B030D-6E8A-4147-A177-3AD203B41FA5}">
                      <a16:colId xmlns:a16="http://schemas.microsoft.com/office/drawing/2014/main" val="3731936040"/>
                    </a:ext>
                  </a:extLst>
                </a:gridCol>
              </a:tblGrid>
              <a:tr h="512057">
                <a:tc>
                  <a:txBody>
                    <a:bodyPr/>
                    <a:lstStyle/>
                    <a:p>
                      <a:pPr algn="ctr"/>
                      <a:r>
                        <a:rPr lang="en-US" sz="2800" dirty="0"/>
                        <a:t>4</a:t>
                      </a:r>
                    </a:p>
                  </a:txBody>
                  <a:tcPr/>
                </a:tc>
                <a:extLst>
                  <a:ext uri="{0D108BD9-81ED-4DB2-BD59-A6C34878D82A}">
                    <a16:rowId xmlns:a16="http://schemas.microsoft.com/office/drawing/2014/main" val="3285050938"/>
                  </a:ext>
                </a:extLst>
              </a:tr>
              <a:tr h="512057">
                <a:tc>
                  <a:txBody>
                    <a:bodyPr/>
                    <a:lstStyle/>
                    <a:p>
                      <a:pPr algn="ctr"/>
                      <a:r>
                        <a:rPr lang="en-US" sz="2800" dirty="0"/>
                        <a:t>1</a:t>
                      </a:r>
                    </a:p>
                  </a:txBody>
                  <a:tcPr/>
                </a:tc>
                <a:extLst>
                  <a:ext uri="{0D108BD9-81ED-4DB2-BD59-A6C34878D82A}">
                    <a16:rowId xmlns:a16="http://schemas.microsoft.com/office/drawing/2014/main" val="1763928996"/>
                  </a:ext>
                </a:extLst>
              </a:tr>
              <a:tr h="512057">
                <a:tc>
                  <a:txBody>
                    <a:bodyPr/>
                    <a:lstStyle/>
                    <a:p>
                      <a:pPr algn="ctr"/>
                      <a:r>
                        <a:rPr lang="en-US" sz="2800" dirty="0"/>
                        <a:t>3</a:t>
                      </a:r>
                    </a:p>
                  </a:txBody>
                  <a:tcPr/>
                </a:tc>
                <a:extLst>
                  <a:ext uri="{0D108BD9-81ED-4DB2-BD59-A6C34878D82A}">
                    <a16:rowId xmlns:a16="http://schemas.microsoft.com/office/drawing/2014/main" val="910897534"/>
                  </a:ext>
                </a:extLst>
              </a:tr>
              <a:tr h="512057">
                <a:tc>
                  <a:txBody>
                    <a:bodyPr/>
                    <a:lstStyle/>
                    <a:p>
                      <a:pPr algn="ctr"/>
                      <a:r>
                        <a:rPr lang="en-US" sz="2800" dirty="0"/>
                        <a:t>5</a:t>
                      </a:r>
                    </a:p>
                  </a:txBody>
                  <a:tcPr/>
                </a:tc>
                <a:extLst>
                  <a:ext uri="{0D108BD9-81ED-4DB2-BD59-A6C34878D82A}">
                    <a16:rowId xmlns:a16="http://schemas.microsoft.com/office/drawing/2014/main" val="1325156280"/>
                  </a:ext>
                </a:extLst>
              </a:tr>
              <a:tr h="512057">
                <a:tc>
                  <a:txBody>
                    <a:bodyPr/>
                    <a:lstStyle/>
                    <a:p>
                      <a:pPr algn="ctr"/>
                      <a:r>
                        <a:rPr lang="en-US" sz="2800" dirty="0"/>
                        <a:t>7</a:t>
                      </a:r>
                    </a:p>
                  </a:txBody>
                  <a:tcPr/>
                </a:tc>
                <a:extLst>
                  <a:ext uri="{0D108BD9-81ED-4DB2-BD59-A6C34878D82A}">
                    <a16:rowId xmlns:a16="http://schemas.microsoft.com/office/drawing/2014/main" val="442502126"/>
                  </a:ext>
                </a:extLst>
              </a:tr>
              <a:tr h="512057">
                <a:tc>
                  <a:txBody>
                    <a:bodyPr/>
                    <a:lstStyle/>
                    <a:p>
                      <a:pPr algn="ctr"/>
                      <a:r>
                        <a:rPr lang="en-US" sz="2800" dirty="0"/>
                        <a:t>9</a:t>
                      </a:r>
                    </a:p>
                  </a:txBody>
                  <a:tcPr/>
                </a:tc>
                <a:extLst>
                  <a:ext uri="{0D108BD9-81ED-4DB2-BD59-A6C34878D82A}">
                    <a16:rowId xmlns:a16="http://schemas.microsoft.com/office/drawing/2014/main" val="1864877705"/>
                  </a:ext>
                </a:extLst>
              </a:tr>
              <a:tr h="512057">
                <a:tc>
                  <a:txBody>
                    <a:bodyPr/>
                    <a:lstStyle/>
                    <a:p>
                      <a:pPr algn="ctr"/>
                      <a:r>
                        <a:rPr lang="en-US" sz="2800" dirty="0"/>
                        <a:t>11</a:t>
                      </a:r>
                    </a:p>
                  </a:txBody>
                  <a:tcPr/>
                </a:tc>
                <a:extLst>
                  <a:ext uri="{0D108BD9-81ED-4DB2-BD59-A6C34878D82A}">
                    <a16:rowId xmlns:a16="http://schemas.microsoft.com/office/drawing/2014/main" val="1423389147"/>
                  </a:ext>
                </a:extLst>
              </a:tr>
              <a:tr h="512057">
                <a:tc>
                  <a:txBody>
                    <a:bodyPr/>
                    <a:lstStyle/>
                    <a:p>
                      <a:pPr algn="ctr"/>
                      <a:r>
                        <a:rPr lang="en-US" sz="2800" dirty="0"/>
                        <a:t>13</a:t>
                      </a:r>
                    </a:p>
                  </a:txBody>
                  <a:tcPr/>
                </a:tc>
                <a:extLst>
                  <a:ext uri="{0D108BD9-81ED-4DB2-BD59-A6C34878D82A}">
                    <a16:rowId xmlns:a16="http://schemas.microsoft.com/office/drawing/2014/main" val="4259641554"/>
                  </a:ext>
                </a:extLst>
              </a:tr>
              <a:tr h="512057">
                <a:tc>
                  <a:txBody>
                    <a:bodyPr/>
                    <a:lstStyle/>
                    <a:p>
                      <a:pPr algn="ctr"/>
                      <a:r>
                        <a:rPr lang="en-US" sz="2800" dirty="0"/>
                        <a:t>15</a:t>
                      </a:r>
                    </a:p>
                  </a:txBody>
                  <a:tcPr/>
                </a:tc>
                <a:extLst>
                  <a:ext uri="{0D108BD9-81ED-4DB2-BD59-A6C34878D82A}">
                    <a16:rowId xmlns:a16="http://schemas.microsoft.com/office/drawing/2014/main" val="4120564543"/>
                  </a:ext>
                </a:extLst>
              </a:tr>
            </a:tbl>
          </a:graphicData>
        </a:graphic>
      </p:graphicFrame>
    </p:spTree>
    <p:extLst>
      <p:ext uri="{BB962C8B-B14F-4D97-AF65-F5344CB8AC3E}">
        <p14:creationId xmlns:p14="http://schemas.microsoft.com/office/powerpoint/2010/main" val="317228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Hex Games</a:t>
            </a:r>
          </a:p>
        </p:txBody>
      </p:sp>
      <p:grpSp>
        <p:nvGrpSpPr>
          <p:cNvPr id="179" name="Group 178"/>
          <p:cNvGrpSpPr/>
          <p:nvPr/>
        </p:nvGrpSpPr>
        <p:grpSpPr>
          <a:xfrm>
            <a:off x="1553602" y="2005007"/>
            <a:ext cx="1086775" cy="1537374"/>
            <a:chOff x="631251" y="1673793"/>
            <a:chExt cx="1086775" cy="1537374"/>
          </a:xfrm>
        </p:grpSpPr>
        <p:grpSp>
          <p:nvGrpSpPr>
            <p:cNvPr id="46" name="Group 45"/>
            <p:cNvGrpSpPr/>
            <p:nvPr/>
          </p:nvGrpSpPr>
          <p:grpSpPr>
            <a:xfrm>
              <a:off x="631251" y="2276873"/>
              <a:ext cx="428975" cy="934294"/>
              <a:chOff x="5292080" y="2519550"/>
              <a:chExt cx="428975" cy="934294"/>
            </a:xfrm>
          </p:grpSpPr>
          <p:cxnSp>
            <p:nvCxnSpPr>
              <p:cNvPr id="11" name="Straight Connector 10"/>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4" name="Group 93"/>
            <p:cNvGrpSpPr/>
            <p:nvPr/>
          </p:nvGrpSpPr>
          <p:grpSpPr>
            <a:xfrm>
              <a:off x="853998" y="1673793"/>
              <a:ext cx="428975" cy="934294"/>
              <a:chOff x="5292080" y="2519550"/>
              <a:chExt cx="428975" cy="934294"/>
            </a:xfrm>
          </p:grpSpPr>
          <p:cxnSp>
            <p:nvCxnSpPr>
              <p:cNvPr id="95" name="Straight Connector 94"/>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01" name="Group 100"/>
            <p:cNvGrpSpPr/>
            <p:nvPr/>
          </p:nvGrpSpPr>
          <p:grpSpPr>
            <a:xfrm>
              <a:off x="1069419" y="2276872"/>
              <a:ext cx="428975" cy="934294"/>
              <a:chOff x="5292080" y="2519550"/>
              <a:chExt cx="428975" cy="934294"/>
            </a:xfrm>
          </p:grpSpPr>
          <p:cxnSp>
            <p:nvCxnSpPr>
              <p:cNvPr id="102" name="Straight Connector 101"/>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08" name="Group 107"/>
            <p:cNvGrpSpPr/>
            <p:nvPr/>
          </p:nvGrpSpPr>
          <p:grpSpPr>
            <a:xfrm>
              <a:off x="1289051" y="1673793"/>
              <a:ext cx="428975" cy="934294"/>
              <a:chOff x="5292080" y="2519550"/>
              <a:chExt cx="428975" cy="934294"/>
            </a:xfrm>
          </p:grpSpPr>
          <p:cxnSp>
            <p:nvCxnSpPr>
              <p:cNvPr id="109" name="Straight Connector 108"/>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115" name="Group 114"/>
          <p:cNvGrpSpPr/>
          <p:nvPr/>
        </p:nvGrpSpPr>
        <p:grpSpPr>
          <a:xfrm>
            <a:off x="3125720" y="2301587"/>
            <a:ext cx="428975" cy="934294"/>
            <a:chOff x="5292080" y="2519550"/>
            <a:chExt cx="428975" cy="934294"/>
          </a:xfrm>
        </p:grpSpPr>
        <p:cxnSp>
          <p:nvCxnSpPr>
            <p:cNvPr id="116" name="Straight Connector 115"/>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22" name="Group 121"/>
          <p:cNvGrpSpPr/>
          <p:nvPr/>
        </p:nvGrpSpPr>
        <p:grpSpPr>
          <a:xfrm>
            <a:off x="3348467" y="1673793"/>
            <a:ext cx="428975" cy="934294"/>
            <a:chOff x="5292080" y="2519550"/>
            <a:chExt cx="428975" cy="934294"/>
          </a:xfrm>
        </p:grpSpPr>
        <p:cxnSp>
          <p:nvCxnSpPr>
            <p:cNvPr id="123" name="Straight Connector 122"/>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29" name="Group 128"/>
          <p:cNvGrpSpPr/>
          <p:nvPr/>
        </p:nvGrpSpPr>
        <p:grpSpPr>
          <a:xfrm>
            <a:off x="3563888" y="2276872"/>
            <a:ext cx="428975" cy="934294"/>
            <a:chOff x="5292080" y="2519550"/>
            <a:chExt cx="428975" cy="934294"/>
          </a:xfrm>
        </p:grpSpPr>
        <p:cxnSp>
          <p:nvCxnSpPr>
            <p:cNvPr id="130" name="Straight Connector 129"/>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36" name="Group 135"/>
          <p:cNvGrpSpPr/>
          <p:nvPr/>
        </p:nvGrpSpPr>
        <p:grpSpPr>
          <a:xfrm>
            <a:off x="3783520" y="1673793"/>
            <a:ext cx="428975" cy="934294"/>
            <a:chOff x="5292080" y="2519550"/>
            <a:chExt cx="428975" cy="934294"/>
          </a:xfrm>
        </p:grpSpPr>
        <p:cxnSp>
          <p:nvCxnSpPr>
            <p:cNvPr id="137" name="Straight Connector 136"/>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43" name="Group 142"/>
          <p:cNvGrpSpPr/>
          <p:nvPr/>
        </p:nvGrpSpPr>
        <p:grpSpPr>
          <a:xfrm>
            <a:off x="2907539" y="2916063"/>
            <a:ext cx="428975" cy="934294"/>
            <a:chOff x="5292080" y="2519550"/>
            <a:chExt cx="428975" cy="934294"/>
          </a:xfrm>
        </p:grpSpPr>
        <p:cxnSp>
          <p:nvCxnSpPr>
            <p:cNvPr id="144" name="Straight Connector 143"/>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9" name="Straight Connector 148"/>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50" name="Group 149"/>
          <p:cNvGrpSpPr/>
          <p:nvPr/>
        </p:nvGrpSpPr>
        <p:grpSpPr>
          <a:xfrm>
            <a:off x="3339526" y="2902745"/>
            <a:ext cx="428975" cy="934294"/>
            <a:chOff x="5292080" y="2519550"/>
            <a:chExt cx="428975" cy="934294"/>
          </a:xfrm>
        </p:grpSpPr>
        <p:cxnSp>
          <p:nvCxnSpPr>
            <p:cNvPr id="151" name="Straight Connector 150"/>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57" name="Group 156"/>
          <p:cNvGrpSpPr/>
          <p:nvPr/>
        </p:nvGrpSpPr>
        <p:grpSpPr>
          <a:xfrm>
            <a:off x="3747651" y="2885406"/>
            <a:ext cx="428975" cy="934294"/>
            <a:chOff x="5292080" y="2519550"/>
            <a:chExt cx="428975" cy="934294"/>
          </a:xfrm>
        </p:grpSpPr>
        <p:cxnSp>
          <p:nvCxnSpPr>
            <p:cNvPr id="158" name="Straight Connector 157"/>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64" name="Group 163"/>
          <p:cNvGrpSpPr/>
          <p:nvPr/>
        </p:nvGrpSpPr>
        <p:grpSpPr>
          <a:xfrm>
            <a:off x="3981590" y="2292291"/>
            <a:ext cx="428975" cy="934294"/>
            <a:chOff x="5292080" y="2519550"/>
            <a:chExt cx="428975" cy="934294"/>
          </a:xfrm>
        </p:grpSpPr>
        <p:cxnSp>
          <p:nvCxnSpPr>
            <p:cNvPr id="165" name="Straight Connector 164"/>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71" name="Group 170"/>
          <p:cNvGrpSpPr/>
          <p:nvPr/>
        </p:nvGrpSpPr>
        <p:grpSpPr>
          <a:xfrm>
            <a:off x="4207082" y="1673793"/>
            <a:ext cx="428975" cy="934294"/>
            <a:chOff x="5292080" y="2519550"/>
            <a:chExt cx="428975" cy="934294"/>
          </a:xfrm>
        </p:grpSpPr>
        <p:cxnSp>
          <p:nvCxnSpPr>
            <p:cNvPr id="172" name="Straight Connector 171"/>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81" name="Group 180"/>
          <p:cNvGrpSpPr/>
          <p:nvPr/>
        </p:nvGrpSpPr>
        <p:grpSpPr>
          <a:xfrm>
            <a:off x="5443844" y="2311194"/>
            <a:ext cx="428975" cy="934294"/>
            <a:chOff x="5292080" y="2519550"/>
            <a:chExt cx="428975" cy="934294"/>
          </a:xfrm>
        </p:grpSpPr>
        <p:cxnSp>
          <p:nvCxnSpPr>
            <p:cNvPr id="238" name="Straight Connector 237"/>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9" name="Straight Connector 238"/>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1" name="Straight Connector 240"/>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42" name="Straight Connector 241"/>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82" name="Group 181"/>
          <p:cNvGrpSpPr/>
          <p:nvPr/>
        </p:nvGrpSpPr>
        <p:grpSpPr>
          <a:xfrm>
            <a:off x="5666591" y="1708114"/>
            <a:ext cx="428975" cy="934294"/>
            <a:chOff x="5292080" y="2519550"/>
            <a:chExt cx="428975" cy="934294"/>
          </a:xfrm>
        </p:grpSpPr>
        <p:cxnSp>
          <p:nvCxnSpPr>
            <p:cNvPr id="232" name="Straight Connector 231"/>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83" name="Group 182"/>
          <p:cNvGrpSpPr/>
          <p:nvPr/>
        </p:nvGrpSpPr>
        <p:grpSpPr>
          <a:xfrm>
            <a:off x="5882012" y="2311193"/>
            <a:ext cx="428975" cy="934294"/>
            <a:chOff x="5292080" y="2519550"/>
            <a:chExt cx="428975" cy="934294"/>
          </a:xfrm>
        </p:grpSpPr>
        <p:cxnSp>
          <p:nvCxnSpPr>
            <p:cNvPr id="226" name="Straight Connector 225"/>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7" name="Straight Connector 226"/>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29" name="Straight Connector 228"/>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1" name="Straight Connector 230"/>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84" name="Group 183"/>
          <p:cNvGrpSpPr/>
          <p:nvPr/>
        </p:nvGrpSpPr>
        <p:grpSpPr>
          <a:xfrm>
            <a:off x="6101644" y="1708114"/>
            <a:ext cx="428975" cy="934294"/>
            <a:chOff x="5292080" y="2519550"/>
            <a:chExt cx="428975" cy="934294"/>
          </a:xfrm>
        </p:grpSpPr>
        <p:cxnSp>
          <p:nvCxnSpPr>
            <p:cNvPr id="220" name="Straight Connector 219"/>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1" name="Straight Connector 220"/>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23" name="Straight Connector 222"/>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5" name="Straight Connector 224"/>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85" name="Group 184"/>
          <p:cNvGrpSpPr/>
          <p:nvPr/>
        </p:nvGrpSpPr>
        <p:grpSpPr>
          <a:xfrm>
            <a:off x="5213306" y="2913313"/>
            <a:ext cx="428975" cy="934294"/>
            <a:chOff x="5292080" y="2519550"/>
            <a:chExt cx="428975" cy="934294"/>
          </a:xfrm>
        </p:grpSpPr>
        <p:cxnSp>
          <p:nvCxnSpPr>
            <p:cNvPr id="214" name="Straight Connector 213"/>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9" name="Straight Connector 218"/>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86" name="Group 185"/>
          <p:cNvGrpSpPr/>
          <p:nvPr/>
        </p:nvGrpSpPr>
        <p:grpSpPr>
          <a:xfrm>
            <a:off x="5632936" y="2912352"/>
            <a:ext cx="428975" cy="934294"/>
            <a:chOff x="5292080" y="2519550"/>
            <a:chExt cx="428975" cy="934294"/>
          </a:xfrm>
        </p:grpSpPr>
        <p:cxnSp>
          <p:nvCxnSpPr>
            <p:cNvPr id="208" name="Straight Connector 207"/>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87" name="Group 186"/>
          <p:cNvGrpSpPr/>
          <p:nvPr/>
        </p:nvGrpSpPr>
        <p:grpSpPr>
          <a:xfrm>
            <a:off x="6065775" y="2958238"/>
            <a:ext cx="428975" cy="934294"/>
            <a:chOff x="5292080" y="2519550"/>
            <a:chExt cx="428975" cy="934294"/>
          </a:xfrm>
        </p:grpSpPr>
        <p:cxnSp>
          <p:nvCxnSpPr>
            <p:cNvPr id="202" name="Straight Connector 201"/>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88" name="Group 187"/>
          <p:cNvGrpSpPr/>
          <p:nvPr/>
        </p:nvGrpSpPr>
        <p:grpSpPr>
          <a:xfrm>
            <a:off x="6299181" y="2350195"/>
            <a:ext cx="428975" cy="934294"/>
            <a:chOff x="5292080" y="2519550"/>
            <a:chExt cx="428975" cy="934294"/>
          </a:xfrm>
        </p:grpSpPr>
        <p:cxnSp>
          <p:nvCxnSpPr>
            <p:cNvPr id="196" name="Straight Connector 195"/>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89" name="Group 188"/>
          <p:cNvGrpSpPr/>
          <p:nvPr/>
        </p:nvGrpSpPr>
        <p:grpSpPr>
          <a:xfrm>
            <a:off x="6525206" y="1708114"/>
            <a:ext cx="428975" cy="934294"/>
            <a:chOff x="5292080" y="2519550"/>
            <a:chExt cx="428975" cy="934294"/>
          </a:xfrm>
        </p:grpSpPr>
        <p:cxnSp>
          <p:nvCxnSpPr>
            <p:cNvPr id="190" name="Straight Connector 189"/>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44" name="Group 243"/>
          <p:cNvGrpSpPr/>
          <p:nvPr/>
        </p:nvGrpSpPr>
        <p:grpSpPr>
          <a:xfrm>
            <a:off x="4982218" y="3535965"/>
            <a:ext cx="428975" cy="934294"/>
            <a:chOff x="5292080" y="2519550"/>
            <a:chExt cx="428975" cy="934294"/>
          </a:xfrm>
        </p:grpSpPr>
        <p:cxnSp>
          <p:nvCxnSpPr>
            <p:cNvPr id="245" name="Straight Connector 244"/>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51" name="Group 250"/>
          <p:cNvGrpSpPr/>
          <p:nvPr/>
        </p:nvGrpSpPr>
        <p:grpSpPr>
          <a:xfrm>
            <a:off x="5401848" y="3535004"/>
            <a:ext cx="428975" cy="934294"/>
            <a:chOff x="5292080" y="2519550"/>
            <a:chExt cx="428975" cy="934294"/>
          </a:xfrm>
        </p:grpSpPr>
        <p:cxnSp>
          <p:nvCxnSpPr>
            <p:cNvPr id="252" name="Straight Connector 251"/>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58" name="Group 257"/>
          <p:cNvGrpSpPr/>
          <p:nvPr/>
        </p:nvGrpSpPr>
        <p:grpSpPr>
          <a:xfrm>
            <a:off x="5834687" y="3542379"/>
            <a:ext cx="428975" cy="934294"/>
            <a:chOff x="5292080" y="2519550"/>
            <a:chExt cx="428975" cy="934294"/>
          </a:xfrm>
        </p:grpSpPr>
        <p:cxnSp>
          <p:nvCxnSpPr>
            <p:cNvPr id="259" name="Straight Connector 258"/>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0" name="Straight Connector 259"/>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65" name="Group 264"/>
          <p:cNvGrpSpPr/>
          <p:nvPr/>
        </p:nvGrpSpPr>
        <p:grpSpPr>
          <a:xfrm>
            <a:off x="6503393" y="2958238"/>
            <a:ext cx="428975" cy="934294"/>
            <a:chOff x="5292080" y="2519550"/>
            <a:chExt cx="428975" cy="934294"/>
          </a:xfrm>
        </p:grpSpPr>
        <p:cxnSp>
          <p:nvCxnSpPr>
            <p:cNvPr id="266" name="Straight Connector 265"/>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8" name="Straight Connector 267"/>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725142" y="2337752"/>
            <a:ext cx="428975" cy="934294"/>
            <a:chOff x="5292080" y="2519550"/>
            <a:chExt cx="428975" cy="934294"/>
          </a:xfrm>
        </p:grpSpPr>
        <p:cxnSp>
          <p:nvCxnSpPr>
            <p:cNvPr id="273" name="Straight Connector 272"/>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6" name="Straight Connector 275"/>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7" name="Straight Connector 276"/>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8" name="Straight Connector 277"/>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79" name="Group 278"/>
          <p:cNvGrpSpPr/>
          <p:nvPr/>
        </p:nvGrpSpPr>
        <p:grpSpPr>
          <a:xfrm>
            <a:off x="6962824" y="1720471"/>
            <a:ext cx="428975" cy="934294"/>
            <a:chOff x="5292080" y="2519550"/>
            <a:chExt cx="428975" cy="934294"/>
          </a:xfrm>
        </p:grpSpPr>
        <p:cxnSp>
          <p:nvCxnSpPr>
            <p:cNvPr id="280" name="Straight Connector 279"/>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81" name="Straight Connector 280"/>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82" name="Straight Connector 281"/>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83" name="Straight Connector 282"/>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84" name="Straight Connector 283"/>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85" name="Straight Connector 284"/>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86" name="Group 285"/>
          <p:cNvGrpSpPr/>
          <p:nvPr/>
        </p:nvGrpSpPr>
        <p:grpSpPr>
          <a:xfrm>
            <a:off x="6272305" y="3542379"/>
            <a:ext cx="428975" cy="934294"/>
            <a:chOff x="5292080" y="2519550"/>
            <a:chExt cx="428975" cy="934294"/>
          </a:xfrm>
        </p:grpSpPr>
        <p:cxnSp>
          <p:nvCxnSpPr>
            <p:cNvPr id="287" name="Straight Connector 286"/>
            <p:cNvCxnSpPr/>
            <p:nvPr/>
          </p:nvCxnSpPr>
          <p:spPr>
            <a:xfrm flipH="1">
              <a:off x="5292080" y="2519550"/>
              <a:ext cx="224328" cy="331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88" name="Straight Connector 287"/>
            <p:cNvCxnSpPr/>
            <p:nvPr/>
          </p:nvCxnSpPr>
          <p:spPr>
            <a:xfrm flipH="1">
              <a:off x="5493128" y="3137379"/>
              <a:ext cx="221604" cy="316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89" name="Straight Connector 288"/>
            <p:cNvCxnSpPr/>
            <p:nvPr/>
          </p:nvCxnSpPr>
          <p:spPr>
            <a:xfrm flipH="1" flipV="1">
              <a:off x="5292080" y="3137379"/>
              <a:ext cx="201048" cy="316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p:nvCxnSpPr>
          <p:spPr>
            <a:xfrm>
              <a:off x="5292080"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1" name="Straight Connector 290"/>
            <p:cNvCxnSpPr/>
            <p:nvPr/>
          </p:nvCxnSpPr>
          <p:spPr>
            <a:xfrm>
              <a:off x="5717893" y="2836015"/>
              <a:ext cx="0" cy="301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p:nvCxnSpPr>
          <p:spPr>
            <a:xfrm>
              <a:off x="5518125" y="2519550"/>
              <a:ext cx="202930" cy="331214"/>
            </a:xfrm>
            <a:prstGeom prst="line">
              <a:avLst/>
            </a:prstGeom>
          </p:spPr>
          <p:style>
            <a:lnRef idx="1">
              <a:schemeClr val="accent1"/>
            </a:lnRef>
            <a:fillRef idx="0">
              <a:schemeClr val="accent1"/>
            </a:fillRef>
            <a:effectRef idx="0">
              <a:schemeClr val="accent1"/>
            </a:effectRef>
            <a:fontRef idx="minor">
              <a:schemeClr val="tx1"/>
            </a:fontRef>
          </p:style>
        </p:cxnSp>
      </p:grpSp>
      <p:sp>
        <p:nvSpPr>
          <p:cNvPr id="293" name="Oval 292"/>
          <p:cNvSpPr/>
          <p:nvPr/>
        </p:nvSpPr>
        <p:spPr>
          <a:xfrm>
            <a:off x="1891011" y="2350195"/>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p:cNvSpPr/>
          <p:nvPr/>
        </p:nvSpPr>
        <p:spPr>
          <a:xfrm>
            <a:off x="2316691" y="2343208"/>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Oval 294"/>
          <p:cNvSpPr/>
          <p:nvPr/>
        </p:nvSpPr>
        <p:spPr>
          <a:xfrm>
            <a:off x="1660406" y="2970818"/>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Oval 295"/>
          <p:cNvSpPr/>
          <p:nvPr/>
        </p:nvSpPr>
        <p:spPr>
          <a:xfrm>
            <a:off x="2103752" y="2948904"/>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Oval 296"/>
          <p:cNvSpPr/>
          <p:nvPr/>
        </p:nvSpPr>
        <p:spPr>
          <a:xfrm>
            <a:off x="3452824" y="2033729"/>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Oval 297"/>
          <p:cNvSpPr/>
          <p:nvPr/>
        </p:nvSpPr>
        <p:spPr>
          <a:xfrm>
            <a:off x="3873032" y="2045883"/>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Oval 298"/>
          <p:cNvSpPr/>
          <p:nvPr/>
        </p:nvSpPr>
        <p:spPr>
          <a:xfrm>
            <a:off x="4305922" y="2045883"/>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Oval 299"/>
          <p:cNvSpPr/>
          <p:nvPr/>
        </p:nvSpPr>
        <p:spPr>
          <a:xfrm>
            <a:off x="3247125" y="2667738"/>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Oval 300"/>
          <p:cNvSpPr/>
          <p:nvPr/>
        </p:nvSpPr>
        <p:spPr>
          <a:xfrm>
            <a:off x="3667333" y="2679892"/>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Oval 301"/>
          <p:cNvSpPr/>
          <p:nvPr/>
        </p:nvSpPr>
        <p:spPr>
          <a:xfrm>
            <a:off x="4100223" y="2679892"/>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Oval 302"/>
          <p:cNvSpPr/>
          <p:nvPr/>
        </p:nvSpPr>
        <p:spPr>
          <a:xfrm>
            <a:off x="3010380" y="3272724"/>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Oval 303"/>
          <p:cNvSpPr/>
          <p:nvPr/>
        </p:nvSpPr>
        <p:spPr>
          <a:xfrm>
            <a:off x="3430588" y="3284878"/>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Oval 304"/>
          <p:cNvSpPr/>
          <p:nvPr/>
        </p:nvSpPr>
        <p:spPr>
          <a:xfrm>
            <a:off x="3863478" y="3284878"/>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Oval 305"/>
          <p:cNvSpPr/>
          <p:nvPr/>
        </p:nvSpPr>
        <p:spPr>
          <a:xfrm>
            <a:off x="5783074" y="2077111"/>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Oval 306"/>
          <p:cNvSpPr/>
          <p:nvPr/>
        </p:nvSpPr>
        <p:spPr>
          <a:xfrm>
            <a:off x="6203282" y="2089265"/>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Oval 307"/>
          <p:cNvSpPr/>
          <p:nvPr/>
        </p:nvSpPr>
        <p:spPr>
          <a:xfrm>
            <a:off x="6636172" y="2089265"/>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Oval 308"/>
          <p:cNvSpPr/>
          <p:nvPr/>
        </p:nvSpPr>
        <p:spPr>
          <a:xfrm>
            <a:off x="7048441" y="2096256"/>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Oval 309"/>
          <p:cNvSpPr/>
          <p:nvPr/>
        </p:nvSpPr>
        <p:spPr>
          <a:xfrm>
            <a:off x="5566510" y="2686617"/>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Oval 310"/>
          <p:cNvSpPr/>
          <p:nvPr/>
        </p:nvSpPr>
        <p:spPr>
          <a:xfrm>
            <a:off x="5986718" y="2698771"/>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Oval 311"/>
          <p:cNvSpPr/>
          <p:nvPr/>
        </p:nvSpPr>
        <p:spPr>
          <a:xfrm>
            <a:off x="6419608" y="2698771"/>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Oval 312"/>
          <p:cNvSpPr/>
          <p:nvPr/>
        </p:nvSpPr>
        <p:spPr>
          <a:xfrm>
            <a:off x="6831877" y="2705762"/>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Oval 317"/>
          <p:cNvSpPr/>
          <p:nvPr/>
        </p:nvSpPr>
        <p:spPr>
          <a:xfrm>
            <a:off x="5349946" y="3270775"/>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Oval 318"/>
          <p:cNvSpPr/>
          <p:nvPr/>
        </p:nvSpPr>
        <p:spPr>
          <a:xfrm>
            <a:off x="5770154" y="3282929"/>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Oval 319"/>
          <p:cNvSpPr/>
          <p:nvPr/>
        </p:nvSpPr>
        <p:spPr>
          <a:xfrm>
            <a:off x="6203044" y="3282929"/>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Oval 320"/>
          <p:cNvSpPr/>
          <p:nvPr/>
        </p:nvSpPr>
        <p:spPr>
          <a:xfrm>
            <a:off x="6615313" y="3289920"/>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Oval 321"/>
          <p:cNvSpPr/>
          <p:nvPr/>
        </p:nvSpPr>
        <p:spPr>
          <a:xfrm>
            <a:off x="5094208" y="3929385"/>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Oval 322"/>
          <p:cNvSpPr/>
          <p:nvPr/>
        </p:nvSpPr>
        <p:spPr>
          <a:xfrm>
            <a:off x="5514416" y="3941539"/>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Oval 323"/>
          <p:cNvSpPr/>
          <p:nvPr/>
        </p:nvSpPr>
        <p:spPr>
          <a:xfrm>
            <a:off x="5947306" y="3941539"/>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Oval 324"/>
          <p:cNvSpPr/>
          <p:nvPr/>
        </p:nvSpPr>
        <p:spPr>
          <a:xfrm>
            <a:off x="6359575" y="3948530"/>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TextBox 326"/>
          <p:cNvSpPr txBox="1"/>
          <p:nvPr/>
        </p:nvSpPr>
        <p:spPr>
          <a:xfrm>
            <a:off x="730088" y="4600666"/>
            <a:ext cx="7799292" cy="1323439"/>
          </a:xfrm>
          <a:prstGeom prst="rect">
            <a:avLst/>
          </a:prstGeom>
          <a:noFill/>
        </p:spPr>
        <p:txBody>
          <a:bodyPr wrap="square" rtlCol="0">
            <a:spAutoFit/>
          </a:bodyPr>
          <a:lstStyle/>
          <a:p>
            <a:pPr algn="just"/>
            <a:r>
              <a:rPr lang="en-US" sz="2000" dirty="0"/>
              <a:t>White uses white token to construct a continuous chain of white tokens connecting white’s edges (top and the bottom of the board) where as Black from left to the right. Two tokens are adjacent in a chain must be in hexagons having a common edge.</a:t>
            </a:r>
          </a:p>
        </p:txBody>
      </p:sp>
    </p:spTree>
    <p:extLst>
      <p:ext uri="{BB962C8B-B14F-4D97-AF65-F5344CB8AC3E}">
        <p14:creationId xmlns:p14="http://schemas.microsoft.com/office/powerpoint/2010/main" val="1024070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Oval 94"/>
          <p:cNvSpPr/>
          <p:nvPr/>
        </p:nvSpPr>
        <p:spPr>
          <a:xfrm>
            <a:off x="2043241" y="657035"/>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2463449" y="669189"/>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p:cNvSpPr/>
          <p:nvPr/>
        </p:nvSpPr>
        <p:spPr>
          <a:xfrm>
            <a:off x="2896339" y="669189"/>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p:cNvSpPr/>
          <p:nvPr/>
        </p:nvSpPr>
        <p:spPr>
          <a:xfrm>
            <a:off x="3308608" y="676180"/>
            <a:ext cx="216564" cy="24314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p:cNvSpPr/>
          <p:nvPr/>
        </p:nvSpPr>
        <p:spPr>
          <a:xfrm>
            <a:off x="1847536" y="1078875"/>
            <a:ext cx="216564" cy="24314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2267744" y="1091029"/>
            <a:ext cx="216564" cy="24314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p:cNvSpPr/>
          <p:nvPr/>
        </p:nvSpPr>
        <p:spPr>
          <a:xfrm>
            <a:off x="2700634" y="1091029"/>
            <a:ext cx="216564" cy="24314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3112903" y="1098020"/>
            <a:ext cx="216564" cy="24314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1649525" y="1503067"/>
            <a:ext cx="216564" cy="24314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p:cNvSpPr/>
          <p:nvPr/>
        </p:nvSpPr>
        <p:spPr>
          <a:xfrm>
            <a:off x="2069733" y="1515221"/>
            <a:ext cx="216564" cy="24314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p:cNvSpPr/>
          <p:nvPr/>
        </p:nvSpPr>
        <p:spPr>
          <a:xfrm>
            <a:off x="2502623" y="1515221"/>
            <a:ext cx="216564" cy="24314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p:cNvSpPr/>
          <p:nvPr/>
        </p:nvSpPr>
        <p:spPr>
          <a:xfrm>
            <a:off x="2914892" y="1522212"/>
            <a:ext cx="216564" cy="24314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p:cNvSpPr/>
          <p:nvPr/>
        </p:nvSpPr>
        <p:spPr>
          <a:xfrm>
            <a:off x="1414646" y="1904678"/>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834854" y="1916832"/>
            <a:ext cx="216564" cy="24314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p:cNvSpPr/>
          <p:nvPr/>
        </p:nvSpPr>
        <p:spPr>
          <a:xfrm>
            <a:off x="2267744" y="1916832"/>
            <a:ext cx="216564" cy="24314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2680013" y="1923823"/>
            <a:ext cx="216564" cy="24314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p:cNvSpPr/>
          <p:nvPr/>
        </p:nvSpPr>
        <p:spPr>
          <a:xfrm>
            <a:off x="3741498" y="676180"/>
            <a:ext cx="216564" cy="24314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p:cNvSpPr/>
          <p:nvPr/>
        </p:nvSpPr>
        <p:spPr>
          <a:xfrm>
            <a:off x="3545793" y="1098020"/>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p:cNvSpPr/>
          <p:nvPr/>
        </p:nvSpPr>
        <p:spPr>
          <a:xfrm>
            <a:off x="3347782" y="1522212"/>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3112903" y="1923823"/>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p:cNvSpPr/>
          <p:nvPr/>
        </p:nvSpPr>
        <p:spPr>
          <a:xfrm>
            <a:off x="1214190" y="2305921"/>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1634398" y="2318075"/>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p:cNvSpPr/>
          <p:nvPr/>
        </p:nvSpPr>
        <p:spPr>
          <a:xfrm>
            <a:off x="2067288" y="2318075"/>
            <a:ext cx="216564" cy="24314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p:cNvSpPr/>
          <p:nvPr/>
        </p:nvSpPr>
        <p:spPr>
          <a:xfrm>
            <a:off x="2479557" y="2325066"/>
            <a:ext cx="216564" cy="24314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p:cNvSpPr/>
          <p:nvPr/>
        </p:nvSpPr>
        <p:spPr>
          <a:xfrm>
            <a:off x="2912447" y="2325066"/>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1" name="Group 120"/>
          <p:cNvGrpSpPr/>
          <p:nvPr/>
        </p:nvGrpSpPr>
        <p:grpSpPr>
          <a:xfrm>
            <a:off x="4499992" y="688196"/>
            <a:ext cx="2743872" cy="1911173"/>
            <a:chOff x="1214190" y="657035"/>
            <a:chExt cx="2743872" cy="1911173"/>
          </a:xfrm>
        </p:grpSpPr>
        <p:sp>
          <p:nvSpPr>
            <p:cNvPr id="122" name="Oval 121"/>
            <p:cNvSpPr/>
            <p:nvPr/>
          </p:nvSpPr>
          <p:spPr>
            <a:xfrm>
              <a:off x="2043241" y="657035"/>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2463449" y="669189"/>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p:cNvSpPr/>
            <p:nvPr/>
          </p:nvSpPr>
          <p:spPr>
            <a:xfrm>
              <a:off x="2896339" y="669189"/>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p:cNvSpPr/>
            <p:nvPr/>
          </p:nvSpPr>
          <p:spPr>
            <a:xfrm>
              <a:off x="3308608" y="676180"/>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p:cNvSpPr/>
            <p:nvPr/>
          </p:nvSpPr>
          <p:spPr>
            <a:xfrm>
              <a:off x="1847536" y="1078875"/>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p:cNvSpPr/>
            <p:nvPr/>
          </p:nvSpPr>
          <p:spPr>
            <a:xfrm>
              <a:off x="2267744" y="1091029"/>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2700634" y="1091029"/>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3112903" y="1098020"/>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1649525" y="1503067"/>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2069733" y="1515221"/>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2502623" y="1515221"/>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2914892" y="1522212"/>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1414646" y="1904678"/>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p:cNvSpPr/>
            <p:nvPr/>
          </p:nvSpPr>
          <p:spPr>
            <a:xfrm>
              <a:off x="1834854" y="1916832"/>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2267744" y="1916832"/>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p:cNvSpPr/>
            <p:nvPr/>
          </p:nvSpPr>
          <p:spPr>
            <a:xfrm>
              <a:off x="2680013" y="1923823"/>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p:cNvSpPr/>
            <p:nvPr/>
          </p:nvSpPr>
          <p:spPr>
            <a:xfrm>
              <a:off x="3741498" y="676180"/>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p:cNvSpPr/>
            <p:nvPr/>
          </p:nvSpPr>
          <p:spPr>
            <a:xfrm>
              <a:off x="3545793" y="1098020"/>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p:cNvSpPr/>
            <p:nvPr/>
          </p:nvSpPr>
          <p:spPr>
            <a:xfrm>
              <a:off x="3347782" y="1522212"/>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p:cNvSpPr/>
            <p:nvPr/>
          </p:nvSpPr>
          <p:spPr>
            <a:xfrm>
              <a:off x="3112903" y="1923823"/>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p:cNvSpPr/>
            <p:nvPr/>
          </p:nvSpPr>
          <p:spPr>
            <a:xfrm>
              <a:off x="1214190" y="2305921"/>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p:cNvSpPr/>
            <p:nvPr/>
          </p:nvSpPr>
          <p:spPr>
            <a:xfrm>
              <a:off x="1634398" y="2318075"/>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2067288" y="2318075"/>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p:cNvSpPr/>
            <p:nvPr/>
          </p:nvSpPr>
          <p:spPr>
            <a:xfrm>
              <a:off x="2479557" y="2325066"/>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p:cNvSpPr/>
            <p:nvPr/>
          </p:nvSpPr>
          <p:spPr>
            <a:xfrm>
              <a:off x="2912447" y="2325066"/>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7" name="TextBox 146"/>
          <p:cNvSpPr txBox="1"/>
          <p:nvPr/>
        </p:nvSpPr>
        <p:spPr>
          <a:xfrm>
            <a:off x="1576688" y="2703773"/>
            <a:ext cx="1197764" cy="369332"/>
          </a:xfrm>
          <a:prstGeom prst="rect">
            <a:avLst/>
          </a:prstGeom>
          <a:noFill/>
        </p:spPr>
        <p:txBody>
          <a:bodyPr wrap="none" rtlCol="0">
            <a:spAutoFit/>
          </a:bodyPr>
          <a:lstStyle/>
          <a:p>
            <a:r>
              <a:rPr lang="en-US" dirty="0"/>
              <a:t>Black Wins</a:t>
            </a:r>
          </a:p>
        </p:txBody>
      </p:sp>
      <p:sp>
        <p:nvSpPr>
          <p:cNvPr id="148" name="TextBox 147"/>
          <p:cNvSpPr txBox="1"/>
          <p:nvPr/>
        </p:nvSpPr>
        <p:spPr>
          <a:xfrm>
            <a:off x="5102949" y="2728670"/>
            <a:ext cx="1065484" cy="369332"/>
          </a:xfrm>
          <a:prstGeom prst="rect">
            <a:avLst/>
          </a:prstGeom>
          <a:noFill/>
        </p:spPr>
        <p:txBody>
          <a:bodyPr wrap="none" rtlCol="0">
            <a:spAutoFit/>
          </a:bodyPr>
          <a:lstStyle/>
          <a:p>
            <a:r>
              <a:rPr lang="en-US" dirty="0"/>
              <a:t>Red Wins</a:t>
            </a:r>
          </a:p>
        </p:txBody>
      </p:sp>
      <p:sp>
        <p:nvSpPr>
          <p:cNvPr id="149" name="Oval 148"/>
          <p:cNvSpPr/>
          <p:nvPr/>
        </p:nvSpPr>
        <p:spPr>
          <a:xfrm>
            <a:off x="5749251" y="707341"/>
            <a:ext cx="216564" cy="24314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a:off x="5137602" y="1118299"/>
            <a:ext cx="216564" cy="24314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p:cNvSpPr/>
          <p:nvPr/>
        </p:nvSpPr>
        <p:spPr>
          <a:xfrm>
            <a:off x="5988482" y="1120772"/>
            <a:ext cx="216564" cy="24314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p:cNvSpPr/>
          <p:nvPr/>
        </p:nvSpPr>
        <p:spPr>
          <a:xfrm>
            <a:off x="5542094" y="1122190"/>
            <a:ext cx="216564" cy="24314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p:cNvSpPr/>
          <p:nvPr/>
        </p:nvSpPr>
        <p:spPr>
          <a:xfrm>
            <a:off x="6205046" y="1544030"/>
            <a:ext cx="216564" cy="24314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p:cNvSpPr/>
          <p:nvPr/>
        </p:nvSpPr>
        <p:spPr>
          <a:xfrm>
            <a:off x="5779195" y="1553373"/>
            <a:ext cx="216564" cy="24314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p:cNvSpPr/>
          <p:nvPr/>
        </p:nvSpPr>
        <p:spPr>
          <a:xfrm>
            <a:off x="5973228" y="1955952"/>
            <a:ext cx="216564" cy="24314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p:cNvSpPr/>
          <p:nvPr/>
        </p:nvSpPr>
        <p:spPr>
          <a:xfrm>
            <a:off x="6633584" y="1553373"/>
            <a:ext cx="216564" cy="24314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p:cNvSpPr/>
          <p:nvPr/>
        </p:nvSpPr>
        <p:spPr>
          <a:xfrm>
            <a:off x="5542809" y="1947993"/>
            <a:ext cx="216564" cy="24314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a:off x="6409253" y="1960504"/>
            <a:ext cx="216564" cy="24314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p:cNvSpPr/>
          <p:nvPr/>
        </p:nvSpPr>
        <p:spPr>
          <a:xfrm>
            <a:off x="5352971" y="2349236"/>
            <a:ext cx="216564" cy="24314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TextBox 160"/>
          <p:cNvSpPr txBox="1"/>
          <p:nvPr/>
        </p:nvSpPr>
        <p:spPr>
          <a:xfrm>
            <a:off x="694638" y="3402190"/>
            <a:ext cx="7827271" cy="369332"/>
          </a:xfrm>
          <a:prstGeom prst="rect">
            <a:avLst/>
          </a:prstGeom>
          <a:noFill/>
        </p:spPr>
        <p:txBody>
          <a:bodyPr wrap="none" rtlCol="0">
            <a:spAutoFit/>
          </a:bodyPr>
          <a:lstStyle/>
          <a:p>
            <a:r>
              <a:rPr lang="en-US" dirty="0"/>
              <a:t>Assuming white moves first, How can white have a winning strategy for 4 x 4 Hex ?</a:t>
            </a:r>
          </a:p>
        </p:txBody>
      </p:sp>
      <p:sp>
        <p:nvSpPr>
          <p:cNvPr id="162" name="TextBox 161"/>
          <p:cNvSpPr txBox="1"/>
          <p:nvPr/>
        </p:nvSpPr>
        <p:spPr>
          <a:xfrm>
            <a:off x="694638" y="4111648"/>
            <a:ext cx="3619389" cy="369332"/>
          </a:xfrm>
          <a:prstGeom prst="rect">
            <a:avLst/>
          </a:prstGeom>
          <a:noFill/>
        </p:spPr>
        <p:txBody>
          <a:bodyPr wrap="none" rtlCol="0">
            <a:spAutoFit/>
          </a:bodyPr>
          <a:lstStyle/>
          <a:p>
            <a:r>
              <a:rPr lang="en-US" dirty="0"/>
              <a:t>Is it possible to have a draw in Hex ? </a:t>
            </a:r>
          </a:p>
        </p:txBody>
      </p:sp>
      <p:sp>
        <p:nvSpPr>
          <p:cNvPr id="163" name="TextBox 162"/>
          <p:cNvSpPr txBox="1"/>
          <p:nvPr/>
        </p:nvSpPr>
        <p:spPr>
          <a:xfrm>
            <a:off x="5228938" y="3756919"/>
            <a:ext cx="3305520" cy="369332"/>
          </a:xfrm>
          <a:prstGeom prst="rect">
            <a:avLst/>
          </a:prstGeom>
          <a:noFill/>
        </p:spPr>
        <p:txBody>
          <a:bodyPr wrap="none" rtlCol="0">
            <a:spAutoFit/>
          </a:bodyPr>
          <a:lstStyle/>
          <a:p>
            <a:r>
              <a:rPr lang="en-US" dirty="0"/>
              <a:t>First move is in principle diagonal</a:t>
            </a:r>
          </a:p>
        </p:txBody>
      </p:sp>
      <p:grpSp>
        <p:nvGrpSpPr>
          <p:cNvPr id="201" name="Group 200"/>
          <p:cNvGrpSpPr/>
          <p:nvPr/>
        </p:nvGrpSpPr>
        <p:grpSpPr>
          <a:xfrm>
            <a:off x="5071845" y="4454816"/>
            <a:ext cx="2110526" cy="1509930"/>
            <a:chOff x="4382066" y="4327175"/>
            <a:chExt cx="2110526" cy="1509930"/>
          </a:xfrm>
        </p:grpSpPr>
        <p:sp>
          <p:nvSpPr>
            <p:cNvPr id="165" name="Oval 164"/>
            <p:cNvSpPr/>
            <p:nvPr/>
          </p:nvSpPr>
          <p:spPr>
            <a:xfrm>
              <a:off x="5010661" y="4327175"/>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p:cNvSpPr/>
            <p:nvPr/>
          </p:nvSpPr>
          <p:spPr>
            <a:xfrm>
              <a:off x="5430869" y="4339329"/>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p:cNvSpPr/>
            <p:nvPr/>
          </p:nvSpPr>
          <p:spPr>
            <a:xfrm>
              <a:off x="5863759" y="4339329"/>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Oval 167"/>
            <p:cNvSpPr/>
            <p:nvPr/>
          </p:nvSpPr>
          <p:spPr>
            <a:xfrm>
              <a:off x="6276028" y="4346320"/>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Oval 168"/>
            <p:cNvSpPr/>
            <p:nvPr/>
          </p:nvSpPr>
          <p:spPr>
            <a:xfrm>
              <a:off x="4814956" y="4749015"/>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Oval 169"/>
            <p:cNvSpPr/>
            <p:nvPr/>
          </p:nvSpPr>
          <p:spPr>
            <a:xfrm>
              <a:off x="5235164" y="4761169"/>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Oval 170"/>
            <p:cNvSpPr/>
            <p:nvPr/>
          </p:nvSpPr>
          <p:spPr>
            <a:xfrm>
              <a:off x="5668054" y="4761169"/>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a:off x="6080323" y="4768160"/>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p:cNvSpPr/>
            <p:nvPr/>
          </p:nvSpPr>
          <p:spPr>
            <a:xfrm>
              <a:off x="4616945" y="5173207"/>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p:cNvSpPr/>
            <p:nvPr/>
          </p:nvSpPr>
          <p:spPr>
            <a:xfrm>
              <a:off x="5037153" y="5185361"/>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p:cNvSpPr/>
            <p:nvPr/>
          </p:nvSpPr>
          <p:spPr>
            <a:xfrm>
              <a:off x="5470043" y="5185361"/>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Oval 175"/>
            <p:cNvSpPr/>
            <p:nvPr/>
          </p:nvSpPr>
          <p:spPr>
            <a:xfrm>
              <a:off x="5882312" y="5192352"/>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Oval 176"/>
            <p:cNvSpPr/>
            <p:nvPr/>
          </p:nvSpPr>
          <p:spPr>
            <a:xfrm>
              <a:off x="4382066" y="5574818"/>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177"/>
            <p:cNvSpPr/>
            <p:nvPr/>
          </p:nvSpPr>
          <p:spPr>
            <a:xfrm>
              <a:off x="4802274" y="5586972"/>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Oval 178"/>
            <p:cNvSpPr/>
            <p:nvPr/>
          </p:nvSpPr>
          <p:spPr>
            <a:xfrm>
              <a:off x="5235164" y="5586972"/>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p:cNvSpPr/>
            <p:nvPr/>
          </p:nvSpPr>
          <p:spPr>
            <a:xfrm>
              <a:off x="5647433" y="5593963"/>
              <a:ext cx="216564" cy="2431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2" name="Oval 191"/>
          <p:cNvSpPr/>
          <p:nvPr/>
        </p:nvSpPr>
        <p:spPr>
          <a:xfrm>
            <a:off x="6126508" y="4475336"/>
            <a:ext cx="216564" cy="24314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Oval 192"/>
          <p:cNvSpPr/>
          <p:nvPr/>
        </p:nvSpPr>
        <p:spPr>
          <a:xfrm>
            <a:off x="5701311" y="4447563"/>
            <a:ext cx="216564" cy="24314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a:off x="5924943" y="4891186"/>
            <a:ext cx="216564" cy="24314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Oval 194"/>
          <p:cNvSpPr/>
          <p:nvPr/>
        </p:nvSpPr>
        <p:spPr>
          <a:xfrm>
            <a:off x="5737243" y="5319822"/>
            <a:ext cx="216564" cy="24314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p:cNvSpPr/>
          <p:nvPr/>
        </p:nvSpPr>
        <p:spPr>
          <a:xfrm>
            <a:off x="5928875" y="5708775"/>
            <a:ext cx="216564" cy="24314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Oval 197"/>
          <p:cNvSpPr/>
          <p:nvPr/>
        </p:nvSpPr>
        <p:spPr>
          <a:xfrm>
            <a:off x="6159822" y="5313002"/>
            <a:ext cx="216564" cy="24314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Oval 198"/>
          <p:cNvSpPr/>
          <p:nvPr/>
        </p:nvSpPr>
        <p:spPr>
          <a:xfrm>
            <a:off x="6337212" y="5717970"/>
            <a:ext cx="216564" cy="24314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TextBox 201"/>
          <p:cNvSpPr txBox="1"/>
          <p:nvPr/>
        </p:nvSpPr>
        <p:spPr>
          <a:xfrm>
            <a:off x="4208083" y="4126251"/>
            <a:ext cx="508473" cy="369332"/>
          </a:xfrm>
          <a:prstGeom prst="rect">
            <a:avLst/>
          </a:prstGeom>
          <a:noFill/>
        </p:spPr>
        <p:txBody>
          <a:bodyPr wrap="none" rtlCol="0">
            <a:spAutoFit/>
          </a:bodyPr>
          <a:lstStyle/>
          <a:p>
            <a:r>
              <a:rPr lang="en-US" dirty="0"/>
              <a:t>No </a:t>
            </a:r>
          </a:p>
        </p:txBody>
      </p:sp>
    </p:spTree>
    <p:extLst>
      <p:ext uri="{BB962C8B-B14F-4D97-AF65-F5344CB8AC3E}">
        <p14:creationId xmlns:p14="http://schemas.microsoft.com/office/powerpoint/2010/main" val="1495041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0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9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9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9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9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9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9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9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6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6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p:bldP spid="149" grpId="0" animBg="1"/>
      <p:bldP spid="150" grpId="0" animBg="1"/>
      <p:bldP spid="151" grpId="0" animBg="1"/>
      <p:bldP spid="152" grpId="0" animBg="1"/>
      <p:bldP spid="153" grpId="0" animBg="1"/>
      <p:bldP spid="154" grpId="0" animBg="1"/>
      <p:bldP spid="155" grpId="0" animBg="1"/>
      <p:bldP spid="156" grpId="0" animBg="1"/>
      <p:bldP spid="157" grpId="0" animBg="1"/>
      <p:bldP spid="158" grpId="0" animBg="1"/>
      <p:bldP spid="159" grpId="0" animBg="1"/>
      <p:bldP spid="161" grpId="0"/>
      <p:bldP spid="162" grpId="0"/>
      <p:bldP spid="163" grpId="0"/>
      <p:bldP spid="192" grpId="0" animBg="1"/>
      <p:bldP spid="193" grpId="0" animBg="1"/>
      <p:bldP spid="194" grpId="0" animBg="1"/>
      <p:bldP spid="195" grpId="0" animBg="1"/>
      <p:bldP spid="196" grpId="0" animBg="1"/>
      <p:bldP spid="198" grpId="0" animBg="1"/>
      <p:bldP spid="199" grpId="0" animBg="1"/>
      <p:bldP spid="20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a:t>
            </a:r>
          </a:p>
        </p:txBody>
      </p:sp>
      <p:sp>
        <p:nvSpPr>
          <p:cNvPr id="3" name="Content Placeholder 2"/>
          <p:cNvSpPr>
            <a:spLocks noGrp="1"/>
          </p:cNvSpPr>
          <p:nvPr>
            <p:ph idx="1"/>
          </p:nvPr>
        </p:nvSpPr>
        <p:spPr/>
        <p:txBody>
          <a:bodyPr>
            <a:normAutofit/>
          </a:bodyPr>
          <a:lstStyle/>
          <a:p>
            <a:pPr marL="514350" indent="-514350" algn="just">
              <a:buFont typeface="+mj-lt"/>
              <a:buAutoNum type="arabicPeriod"/>
            </a:pPr>
            <a:r>
              <a:rPr lang="en-US" sz="2000" dirty="0"/>
              <a:t>Starting with a collection of 27 objects. Two players alternately remove from 1 to 4 objects at a time until all objects have been removed. Each player then counts the total number of objects that he has removed. The player whose total is even wins. Find a winning strategy for the first player.</a:t>
            </a:r>
          </a:p>
          <a:p>
            <a:pPr marL="514350" indent="-514350" algn="just">
              <a:buFont typeface="+mj-lt"/>
              <a:buAutoNum type="arabicPeriod"/>
            </a:pPr>
            <a:endParaRPr lang="en-US" sz="2000" dirty="0"/>
          </a:p>
          <a:p>
            <a:pPr marL="514350" indent="-514350" algn="just">
              <a:buFont typeface="+mj-lt"/>
              <a:buAutoNum type="arabicPeriod"/>
            </a:pPr>
            <a:endParaRPr lang="en-US" sz="2000" dirty="0"/>
          </a:p>
        </p:txBody>
      </p:sp>
      <p:pic>
        <p:nvPicPr>
          <p:cNvPr id="4" name="Picture 3"/>
          <p:cNvPicPr>
            <a:picLocks noChangeAspect="1"/>
          </p:cNvPicPr>
          <p:nvPr/>
        </p:nvPicPr>
        <p:blipFill>
          <a:blip r:embed="rId3"/>
          <a:stretch>
            <a:fillRect/>
          </a:stretch>
        </p:blipFill>
        <p:spPr>
          <a:xfrm>
            <a:off x="1145093" y="3564020"/>
            <a:ext cx="1533525" cy="1381125"/>
          </a:xfrm>
          <a:prstGeom prst="rect">
            <a:avLst/>
          </a:prstGeom>
        </p:spPr>
      </p:pic>
      <p:sp>
        <p:nvSpPr>
          <p:cNvPr id="5" name="TextBox 4"/>
          <p:cNvSpPr txBox="1"/>
          <p:nvPr/>
        </p:nvSpPr>
        <p:spPr>
          <a:xfrm>
            <a:off x="622239" y="3379354"/>
            <a:ext cx="360040" cy="369332"/>
          </a:xfrm>
          <a:prstGeom prst="rect">
            <a:avLst/>
          </a:prstGeom>
          <a:noFill/>
        </p:spPr>
        <p:txBody>
          <a:bodyPr wrap="square" rtlCol="0">
            <a:spAutoFit/>
          </a:bodyPr>
          <a:lstStyle/>
          <a:p>
            <a:r>
              <a:rPr lang="en-US" dirty="0"/>
              <a:t>2.</a:t>
            </a:r>
          </a:p>
        </p:txBody>
      </p:sp>
      <p:sp>
        <p:nvSpPr>
          <p:cNvPr id="6" name="TextBox 5"/>
          <p:cNvSpPr txBox="1"/>
          <p:nvPr/>
        </p:nvSpPr>
        <p:spPr>
          <a:xfrm>
            <a:off x="2782478" y="3344795"/>
            <a:ext cx="5677954" cy="2246769"/>
          </a:xfrm>
          <a:prstGeom prst="rect">
            <a:avLst/>
          </a:prstGeom>
          <a:noFill/>
        </p:spPr>
        <p:txBody>
          <a:bodyPr wrap="square" rtlCol="0">
            <a:spAutoFit/>
          </a:bodyPr>
          <a:lstStyle/>
          <a:p>
            <a:pPr algn="just"/>
            <a:r>
              <a:rPr lang="en-US" sz="2000" dirty="0"/>
              <a:t>As in Tic-Tac-Toe is to place three of your own token in a straight line. However, each player is allowed to put down only three tokens. Thereafter, instead of placing more tokens, each player moves one token along a straight line to an adjacent unoccupied position. Show that both players have non-losing strategies.  </a:t>
            </a:r>
          </a:p>
        </p:txBody>
      </p:sp>
    </p:spTree>
    <p:extLst>
      <p:ext uri="{BB962C8B-B14F-4D97-AF65-F5344CB8AC3E}">
        <p14:creationId xmlns:p14="http://schemas.microsoft.com/office/powerpoint/2010/main" val="1427839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755576" y="620688"/>
                <a:ext cx="7704856" cy="2554545"/>
              </a:xfrm>
              <a:prstGeom prst="rect">
                <a:avLst/>
              </a:prstGeom>
            </p:spPr>
            <p:txBody>
              <a:bodyPr wrap="square">
                <a:spAutoFit/>
              </a:bodyPr>
              <a:lstStyle/>
              <a:p>
                <a:pPr marL="457200" indent="-457200" algn="just"/>
                <a:r>
                  <a:rPr lang="en-US" sz="2000" dirty="0"/>
                  <a:t>3.	Ali and Budi alternately place the positive integers 1,2,3,… into one of the column I and II. Thus Ali places 1 in a column, Budi then must place 2 in a column, Ali must then place 3 in a column, and so on. The loser is the first player to put a number </a:t>
                </a:r>
                <a14:m>
                  <m:oMath xmlns:m="http://schemas.openxmlformats.org/officeDocument/2006/math">
                    <m:r>
                      <a:rPr lang="en-US" sz="2000" i="1" dirty="0" smtClean="0">
                        <a:latin typeface="Cambria Math" panose="02040503050406030204" pitchFamily="18" charset="0"/>
                      </a:rPr>
                      <m:t>𝑤</m:t>
                    </m:r>
                    <m:r>
                      <a:rPr lang="en-US" sz="2000" i="1" dirty="0" smtClean="0">
                        <a:latin typeface="Cambria Math" panose="02040503050406030204" pitchFamily="18" charset="0"/>
                      </a:rPr>
                      <m:t> </m:t>
                    </m:r>
                  </m:oMath>
                </a14:m>
                <a:r>
                  <a:rPr lang="en-US" sz="2000" dirty="0"/>
                  <a:t> into a column already containing two distinct number </a:t>
                </a:r>
                <a14:m>
                  <m:oMath xmlns:m="http://schemas.openxmlformats.org/officeDocument/2006/math">
                    <m:r>
                      <a:rPr lang="en-US" sz="2000" i="1" dirty="0" smtClean="0">
                        <a:latin typeface="Cambria Math" panose="02040503050406030204" pitchFamily="18" charset="0"/>
                      </a:rPr>
                      <m:t>𝑥</m:t>
                    </m:r>
                  </m:oMath>
                </a14:m>
                <a:r>
                  <a:rPr lang="en-US" sz="2000" dirty="0"/>
                  <a:t> and </a:t>
                </a:r>
                <a14:m>
                  <m:oMath xmlns:m="http://schemas.openxmlformats.org/officeDocument/2006/math">
                    <m:r>
                      <a:rPr lang="en-US" sz="2000" i="1" dirty="0" smtClean="0">
                        <a:latin typeface="Cambria Math" panose="02040503050406030204" pitchFamily="18" charset="0"/>
                      </a:rPr>
                      <m:t>𝑦</m:t>
                    </m:r>
                  </m:oMath>
                </a14:m>
                <a:r>
                  <a:rPr lang="en-US" sz="2000" dirty="0"/>
                  <a:t> such that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 + </m:t>
                    </m:r>
                    <m:r>
                      <a:rPr lang="en-US" sz="2000" i="1" dirty="0" smtClean="0">
                        <a:latin typeface="Cambria Math" panose="02040503050406030204" pitchFamily="18" charset="0"/>
                      </a:rPr>
                      <m:t>𝑦</m:t>
                    </m:r>
                    <m:r>
                      <a:rPr lang="en-US" sz="2000" i="1" dirty="0" smtClean="0">
                        <a:latin typeface="Cambria Math" panose="02040503050406030204" pitchFamily="18" charset="0"/>
                      </a:rPr>
                      <m:t> = </m:t>
                    </m:r>
                    <m:r>
                      <a:rPr lang="en-US" sz="2000" i="1" dirty="0" smtClean="0">
                        <a:latin typeface="Cambria Math" panose="02040503050406030204" pitchFamily="18" charset="0"/>
                      </a:rPr>
                      <m:t>𝑤</m:t>
                    </m:r>
                  </m:oMath>
                </a14:m>
                <a:r>
                  <a:rPr lang="en-US" sz="2000" dirty="0"/>
                  <a:t>. In other words, a player must avoid placing a number into a column that already contains two numbers whose sum is the given number. Find winning strategy for one of the players.</a:t>
                </a:r>
              </a:p>
            </p:txBody>
          </p:sp>
        </mc:Choice>
        <mc:Fallback xmlns="">
          <p:sp>
            <p:nvSpPr>
              <p:cNvPr id="4" name="Rectangle 3"/>
              <p:cNvSpPr>
                <a:spLocks noRot="1" noChangeAspect="1" noMove="1" noResize="1" noEditPoints="1" noAdjustHandles="1" noChangeArrowheads="1" noChangeShapeType="1" noTextEdit="1"/>
              </p:cNvSpPr>
              <p:nvPr/>
            </p:nvSpPr>
            <p:spPr>
              <a:xfrm>
                <a:off x="755576" y="620688"/>
                <a:ext cx="7704856" cy="2554545"/>
              </a:xfrm>
              <a:prstGeom prst="rect">
                <a:avLst/>
              </a:prstGeom>
              <a:blipFill>
                <a:blip r:embed="rId2"/>
                <a:stretch>
                  <a:fillRect l="-870" t="-1432" r="-791" b="-3341"/>
                </a:stretch>
              </a:blipFill>
            </p:spPr>
            <p:txBody>
              <a:bodyPr/>
              <a:lstStyle/>
              <a:p>
                <a:r>
                  <a:rPr lang="en-US">
                    <a:noFill/>
                  </a:rPr>
                  <a:t> </a:t>
                </a:r>
              </a:p>
            </p:txBody>
          </p:sp>
        </mc:Fallback>
      </mc:AlternateContent>
      <p:sp>
        <p:nvSpPr>
          <p:cNvPr id="5" name="Rectangle 4"/>
          <p:cNvSpPr/>
          <p:nvPr/>
        </p:nvSpPr>
        <p:spPr>
          <a:xfrm>
            <a:off x="755576" y="3284984"/>
            <a:ext cx="7704856" cy="1323439"/>
          </a:xfrm>
          <a:prstGeom prst="rect">
            <a:avLst/>
          </a:prstGeom>
        </p:spPr>
        <p:txBody>
          <a:bodyPr wrap="square">
            <a:spAutoFit/>
          </a:bodyPr>
          <a:lstStyle/>
          <a:p>
            <a:pPr marL="457200" indent="-457200" algn="just"/>
            <a:r>
              <a:rPr lang="en-US" sz="2000" dirty="0"/>
              <a:t>4.	Consider a tape divided into cells of equal size. Let a move consist of placing a domino on two adjacent cells. No domino is allowed to overlap any previously placed domino. Let us find winning moves (if any ) for the following tape domino positions</a:t>
            </a:r>
          </a:p>
        </p:txBody>
      </p:sp>
      <p:graphicFrame>
        <p:nvGraphicFramePr>
          <p:cNvPr id="7" name="Table 6"/>
          <p:cNvGraphicFramePr>
            <a:graphicFrameLocks noGrp="1"/>
          </p:cNvGraphicFramePr>
          <p:nvPr>
            <p:extLst>
              <p:ext uri="{D42A27DB-BD31-4B8C-83A1-F6EECF244321}">
                <p14:modId xmlns:p14="http://schemas.microsoft.com/office/powerpoint/2010/main" val="4183736397"/>
              </p:ext>
            </p:extLst>
          </p:nvPr>
        </p:nvGraphicFramePr>
        <p:xfrm>
          <a:off x="2327922" y="4797152"/>
          <a:ext cx="4560164" cy="375816"/>
        </p:xfrm>
        <a:graphic>
          <a:graphicData uri="http://schemas.openxmlformats.org/drawingml/2006/table">
            <a:tbl>
              <a:tblPr firstRow="1" bandRow="1">
                <a:tableStyleId>{5C22544A-7EE6-4342-B048-85BDC9FD1C3A}</a:tableStyleId>
              </a:tblPr>
              <a:tblGrid>
                <a:gridCol w="651452">
                  <a:extLst>
                    <a:ext uri="{9D8B030D-6E8A-4147-A177-3AD203B41FA5}">
                      <a16:colId xmlns:a16="http://schemas.microsoft.com/office/drawing/2014/main" val="360391377"/>
                    </a:ext>
                  </a:extLst>
                </a:gridCol>
                <a:gridCol w="651452">
                  <a:extLst>
                    <a:ext uri="{9D8B030D-6E8A-4147-A177-3AD203B41FA5}">
                      <a16:colId xmlns:a16="http://schemas.microsoft.com/office/drawing/2014/main" val="4041785232"/>
                    </a:ext>
                  </a:extLst>
                </a:gridCol>
                <a:gridCol w="651452">
                  <a:extLst>
                    <a:ext uri="{9D8B030D-6E8A-4147-A177-3AD203B41FA5}">
                      <a16:colId xmlns:a16="http://schemas.microsoft.com/office/drawing/2014/main" val="2083205023"/>
                    </a:ext>
                  </a:extLst>
                </a:gridCol>
                <a:gridCol w="651452">
                  <a:extLst>
                    <a:ext uri="{9D8B030D-6E8A-4147-A177-3AD203B41FA5}">
                      <a16:colId xmlns:a16="http://schemas.microsoft.com/office/drawing/2014/main" val="2720298701"/>
                    </a:ext>
                  </a:extLst>
                </a:gridCol>
                <a:gridCol w="651452">
                  <a:extLst>
                    <a:ext uri="{9D8B030D-6E8A-4147-A177-3AD203B41FA5}">
                      <a16:colId xmlns:a16="http://schemas.microsoft.com/office/drawing/2014/main" val="3038795845"/>
                    </a:ext>
                  </a:extLst>
                </a:gridCol>
                <a:gridCol w="651452">
                  <a:extLst>
                    <a:ext uri="{9D8B030D-6E8A-4147-A177-3AD203B41FA5}">
                      <a16:colId xmlns:a16="http://schemas.microsoft.com/office/drawing/2014/main" val="1690481650"/>
                    </a:ext>
                  </a:extLst>
                </a:gridCol>
                <a:gridCol w="651452">
                  <a:extLst>
                    <a:ext uri="{9D8B030D-6E8A-4147-A177-3AD203B41FA5}">
                      <a16:colId xmlns:a16="http://schemas.microsoft.com/office/drawing/2014/main" val="1010019590"/>
                    </a:ext>
                  </a:extLst>
                </a:gridCol>
              </a:tblGrid>
              <a:tr h="37581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3050491"/>
                  </a:ext>
                </a:extLst>
              </a:tr>
            </a:tbl>
          </a:graphicData>
        </a:graphic>
      </p:graphicFrame>
      <p:sp>
        <p:nvSpPr>
          <p:cNvPr id="8" name="TextBox 7"/>
          <p:cNvSpPr txBox="1"/>
          <p:nvPr/>
        </p:nvSpPr>
        <p:spPr>
          <a:xfrm>
            <a:off x="1475656" y="4797152"/>
            <a:ext cx="352982" cy="369332"/>
          </a:xfrm>
          <a:prstGeom prst="rect">
            <a:avLst/>
          </a:prstGeom>
          <a:noFill/>
        </p:spPr>
        <p:txBody>
          <a:bodyPr wrap="none" rtlCol="0">
            <a:spAutoFit/>
          </a:bodyPr>
          <a:lstStyle/>
          <a:p>
            <a:r>
              <a:rPr lang="en-US" dirty="0"/>
              <a:t>a.</a:t>
            </a:r>
          </a:p>
        </p:txBody>
      </p:sp>
      <p:sp>
        <p:nvSpPr>
          <p:cNvPr id="9" name="TextBox 8"/>
          <p:cNvSpPr txBox="1"/>
          <p:nvPr/>
        </p:nvSpPr>
        <p:spPr>
          <a:xfrm>
            <a:off x="1475656" y="5517232"/>
            <a:ext cx="364202" cy="369332"/>
          </a:xfrm>
          <a:prstGeom prst="rect">
            <a:avLst/>
          </a:prstGeom>
          <a:noFill/>
        </p:spPr>
        <p:txBody>
          <a:bodyPr wrap="none" rtlCol="0">
            <a:spAutoFit/>
          </a:bodyPr>
          <a:lstStyle/>
          <a:p>
            <a:r>
              <a:rPr lang="en-US" dirty="0"/>
              <a:t>b.</a:t>
            </a:r>
          </a:p>
        </p:txBody>
      </p:sp>
      <p:graphicFrame>
        <p:nvGraphicFramePr>
          <p:cNvPr id="10" name="Table 9"/>
          <p:cNvGraphicFramePr>
            <a:graphicFrameLocks noGrp="1"/>
          </p:cNvGraphicFramePr>
          <p:nvPr>
            <p:extLst>
              <p:ext uri="{D42A27DB-BD31-4B8C-83A1-F6EECF244321}">
                <p14:modId xmlns:p14="http://schemas.microsoft.com/office/powerpoint/2010/main" val="3956587392"/>
              </p:ext>
            </p:extLst>
          </p:nvPr>
        </p:nvGraphicFramePr>
        <p:xfrm>
          <a:off x="2051720" y="5530521"/>
          <a:ext cx="5760640" cy="37084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val="2870492424"/>
                    </a:ext>
                  </a:extLst>
                </a:gridCol>
                <a:gridCol w="576064">
                  <a:extLst>
                    <a:ext uri="{9D8B030D-6E8A-4147-A177-3AD203B41FA5}">
                      <a16:colId xmlns:a16="http://schemas.microsoft.com/office/drawing/2014/main" val="713187989"/>
                    </a:ext>
                  </a:extLst>
                </a:gridCol>
                <a:gridCol w="576064">
                  <a:extLst>
                    <a:ext uri="{9D8B030D-6E8A-4147-A177-3AD203B41FA5}">
                      <a16:colId xmlns:a16="http://schemas.microsoft.com/office/drawing/2014/main" val="2068208107"/>
                    </a:ext>
                  </a:extLst>
                </a:gridCol>
                <a:gridCol w="576064">
                  <a:extLst>
                    <a:ext uri="{9D8B030D-6E8A-4147-A177-3AD203B41FA5}">
                      <a16:colId xmlns:a16="http://schemas.microsoft.com/office/drawing/2014/main" val="1425308177"/>
                    </a:ext>
                  </a:extLst>
                </a:gridCol>
                <a:gridCol w="576064">
                  <a:extLst>
                    <a:ext uri="{9D8B030D-6E8A-4147-A177-3AD203B41FA5}">
                      <a16:colId xmlns:a16="http://schemas.microsoft.com/office/drawing/2014/main" val="1087862220"/>
                    </a:ext>
                  </a:extLst>
                </a:gridCol>
                <a:gridCol w="576064">
                  <a:extLst>
                    <a:ext uri="{9D8B030D-6E8A-4147-A177-3AD203B41FA5}">
                      <a16:colId xmlns:a16="http://schemas.microsoft.com/office/drawing/2014/main" val="1970038232"/>
                    </a:ext>
                  </a:extLst>
                </a:gridCol>
                <a:gridCol w="576064">
                  <a:extLst>
                    <a:ext uri="{9D8B030D-6E8A-4147-A177-3AD203B41FA5}">
                      <a16:colId xmlns:a16="http://schemas.microsoft.com/office/drawing/2014/main" val="3825789493"/>
                    </a:ext>
                  </a:extLst>
                </a:gridCol>
                <a:gridCol w="576064">
                  <a:extLst>
                    <a:ext uri="{9D8B030D-6E8A-4147-A177-3AD203B41FA5}">
                      <a16:colId xmlns:a16="http://schemas.microsoft.com/office/drawing/2014/main" val="1361886147"/>
                    </a:ext>
                  </a:extLst>
                </a:gridCol>
                <a:gridCol w="576064">
                  <a:extLst>
                    <a:ext uri="{9D8B030D-6E8A-4147-A177-3AD203B41FA5}">
                      <a16:colId xmlns:a16="http://schemas.microsoft.com/office/drawing/2014/main" val="62476373"/>
                    </a:ext>
                  </a:extLst>
                </a:gridCol>
                <a:gridCol w="576064">
                  <a:extLst>
                    <a:ext uri="{9D8B030D-6E8A-4147-A177-3AD203B41FA5}">
                      <a16:colId xmlns:a16="http://schemas.microsoft.com/office/drawing/2014/main" val="2569816492"/>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16298902"/>
                  </a:ext>
                </a:extLst>
              </a:tr>
            </a:tbl>
          </a:graphicData>
        </a:graphic>
      </p:graphicFrame>
    </p:spTree>
    <p:extLst>
      <p:ext uri="{BB962C8B-B14F-4D97-AF65-F5344CB8AC3E}">
        <p14:creationId xmlns:p14="http://schemas.microsoft.com/office/powerpoint/2010/main" val="12467541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7678</TotalTime>
  <Words>1968</Words>
  <Application>Microsoft Office PowerPoint</Application>
  <PresentationFormat>On-screen Show (4:3)</PresentationFormat>
  <Paragraphs>215</Paragraphs>
  <Slides>19</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 Math</vt:lpstr>
      <vt:lpstr>Office Theme</vt:lpstr>
      <vt:lpstr>PowerPoint Presentation</vt:lpstr>
      <vt:lpstr>Definition</vt:lpstr>
      <vt:lpstr>Examples 01</vt:lpstr>
      <vt:lpstr>Strategies in CG </vt:lpstr>
      <vt:lpstr>Tic-Tac-Toe Game</vt:lpstr>
      <vt:lpstr>Removal Games</vt:lpstr>
      <vt:lpstr>Exercises</vt:lpstr>
      <vt:lpstr>PowerPoint Presentation</vt:lpstr>
      <vt:lpstr>Game of Nim / Take</vt:lpstr>
      <vt:lpstr>PowerPoint Presentation</vt:lpstr>
      <vt:lpstr>Analyzing Game using Tree</vt:lpstr>
      <vt:lpstr>Grundy Functions</vt:lpstr>
      <vt:lpstr>Grundy Functions Procedure</vt:lpstr>
      <vt:lpstr>Example 02</vt:lpstr>
      <vt:lpstr>Trick base on Binary decompositions</vt:lpstr>
      <vt:lpstr>Hex Games</vt:lpstr>
      <vt:lpstr>PowerPoint Presentation</vt:lpstr>
      <vt:lpstr>Exercises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lab-tif3</dc:creator>
  <cp:lastModifiedBy>Kie Saputra</cp:lastModifiedBy>
  <cp:revision>407</cp:revision>
  <dcterms:created xsi:type="dcterms:W3CDTF">2013-05-27T02:50:26Z</dcterms:created>
  <dcterms:modified xsi:type="dcterms:W3CDTF">2023-04-18T06:46:12Z</dcterms:modified>
</cp:coreProperties>
</file>
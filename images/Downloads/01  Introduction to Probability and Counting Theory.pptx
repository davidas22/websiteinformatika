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92" r:id="rId3"/>
    <p:sldId id="293" r:id="rId4"/>
    <p:sldId id="294" r:id="rId5"/>
    <p:sldId id="295" r:id="rId6"/>
    <p:sldId id="296" r:id="rId7"/>
    <p:sldId id="297" r:id="rId8"/>
    <p:sldId id="300" r:id="rId9"/>
    <p:sldId id="301" r:id="rId10"/>
    <p:sldId id="302" r:id="rId11"/>
    <p:sldId id="303" r:id="rId12"/>
    <p:sldId id="305" r:id="rId13"/>
    <p:sldId id="306" r:id="rId14"/>
    <p:sldId id="304" r:id="rId15"/>
    <p:sldId id="307" r:id="rId16"/>
    <p:sldId id="30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306D07-5766-4BCD-8FDA-8CA78ACC3D9B}" type="datetimeFigureOut">
              <a:rPr lang="id-ID" smtClean="0"/>
              <a:t>03/01/2018</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242AF-1A37-4556-ACA4-2D555F71B439}" type="slidenum">
              <a:rPr lang="id-ID" smtClean="0"/>
              <a:t>‹#›</a:t>
            </a:fld>
            <a:endParaRPr lang="id-ID"/>
          </a:p>
        </p:txBody>
      </p:sp>
    </p:spTree>
    <p:extLst>
      <p:ext uri="{BB962C8B-B14F-4D97-AF65-F5344CB8AC3E}">
        <p14:creationId xmlns:p14="http://schemas.microsoft.com/office/powerpoint/2010/main" val="24638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13D0C-F68A-4886-99F5-626E46C5968C}" type="slidenum">
              <a:rPr lang="en-US" smtClean="0"/>
              <a:t>5</a:t>
            </a:fld>
            <a:endParaRPr lang="en-US"/>
          </a:p>
        </p:txBody>
      </p:sp>
    </p:spTree>
    <p:extLst>
      <p:ext uri="{BB962C8B-B14F-4D97-AF65-F5344CB8AC3E}">
        <p14:creationId xmlns:p14="http://schemas.microsoft.com/office/powerpoint/2010/main" val="2880358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13D0C-F68A-4886-99F5-626E46C5968C}" type="slidenum">
              <a:rPr lang="en-US" smtClean="0"/>
              <a:t>6</a:t>
            </a:fld>
            <a:endParaRPr lang="en-US"/>
          </a:p>
        </p:txBody>
      </p:sp>
    </p:spTree>
    <p:extLst>
      <p:ext uri="{BB962C8B-B14F-4D97-AF65-F5344CB8AC3E}">
        <p14:creationId xmlns:p14="http://schemas.microsoft.com/office/powerpoint/2010/main" val="2880358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884BEC-4855-421D-AEC2-2574B8FC72FA}" type="datetimeFigureOut">
              <a:rPr lang="en-US" smtClean="0"/>
              <a:pPr/>
              <a:t>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419325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6987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884BEC-4855-421D-AEC2-2574B8FC72FA}" type="datetimeFigureOut">
              <a:rPr lang="en-US" smtClean="0"/>
              <a:pPr/>
              <a:t>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755921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884BEC-4855-421D-AEC2-2574B8FC72FA}" type="datetimeFigureOut">
              <a:rPr lang="en-US" smtClean="0"/>
              <a:pPr/>
              <a:t>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869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884BEC-4855-421D-AEC2-2574B8FC72FA}" type="datetimeFigureOut">
              <a:rPr lang="en-US" smtClean="0"/>
              <a:pPr/>
              <a:t>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38423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884BEC-4855-421D-AEC2-2574B8FC72FA}" type="datetimeFigureOut">
              <a:rPr lang="en-US" smtClean="0"/>
              <a:pPr/>
              <a:t>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54986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84BEC-4855-421D-AEC2-2574B8FC72FA}" type="datetimeFigureOut">
              <a:rPr lang="en-US" smtClean="0"/>
              <a:pPr/>
              <a:t>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7774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227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79039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5077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271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84BEC-4855-421D-AEC2-2574B8FC72FA}" type="datetimeFigureOut">
              <a:rPr lang="en-US" smtClean="0"/>
              <a:pPr/>
              <a:t>1/3/2018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7693F-FEC6-40F4-8925-9F23DA36F8A5}" type="slidenum">
              <a:rPr lang="en-US" smtClean="0"/>
              <a:pPr/>
              <a:t>‹#›</a:t>
            </a:fld>
            <a:endParaRPr lang="en-US"/>
          </a:p>
        </p:txBody>
      </p:sp>
    </p:spTree>
    <p:extLst>
      <p:ext uri="{BB962C8B-B14F-4D97-AF65-F5344CB8AC3E}">
        <p14:creationId xmlns:p14="http://schemas.microsoft.com/office/powerpoint/2010/main" val="680344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9210" y="4546871"/>
            <a:ext cx="930462" cy="830997"/>
          </a:xfrm>
          <a:prstGeom prst="rect">
            <a:avLst/>
          </a:prstGeom>
          <a:solidFill>
            <a:srgbClr val="00B0F0"/>
          </a:solidFill>
        </p:spPr>
        <p:txBody>
          <a:bodyPr wrap="square" rtlCol="0">
            <a:spAutoFit/>
          </a:bodyPr>
          <a:lstStyle/>
          <a:p>
            <a:pPr algn="ctr"/>
            <a:r>
              <a:rPr lang="en-US" sz="4800" dirty="0">
                <a:solidFill>
                  <a:schemeClr val="bg1"/>
                </a:solidFill>
              </a:rPr>
              <a:t>01</a:t>
            </a:r>
          </a:p>
        </p:txBody>
      </p:sp>
      <p:sp>
        <p:nvSpPr>
          <p:cNvPr id="9" name="TextBox 8"/>
          <p:cNvSpPr txBox="1"/>
          <p:nvPr/>
        </p:nvSpPr>
        <p:spPr>
          <a:xfrm>
            <a:off x="2000232" y="4521732"/>
            <a:ext cx="6458162" cy="892552"/>
          </a:xfrm>
          <a:prstGeom prst="rect">
            <a:avLst/>
          </a:prstGeom>
          <a:solidFill>
            <a:srgbClr val="00B0F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3200"/>
              <a:t>Probability </a:t>
            </a:r>
            <a:r>
              <a:rPr lang="en-US" sz="3200" dirty="0"/>
              <a:t>and Counting theory</a:t>
            </a:r>
          </a:p>
          <a:p>
            <a:pPr algn="r"/>
            <a:r>
              <a:rPr lang="id-ID" sz="2000" b="1" dirty="0"/>
              <a:t>Samuel Lukas</a:t>
            </a:r>
            <a:endParaRPr lang="en-US" sz="2000" b="1" dirty="0"/>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500042"/>
            <a:ext cx="7887124" cy="1306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48" y="1857364"/>
            <a:ext cx="3609975"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7818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dirty="0"/>
              <a:t>Definition</a:t>
            </a:r>
          </a:p>
        </p:txBody>
      </p:sp>
      <p:sp>
        <p:nvSpPr>
          <p:cNvPr id="5" name="Rectangle 4"/>
          <p:cNvSpPr/>
          <p:nvPr/>
        </p:nvSpPr>
        <p:spPr>
          <a:xfrm>
            <a:off x="457200" y="1556792"/>
            <a:ext cx="8229600" cy="4785926"/>
          </a:xfrm>
          <a:prstGeom prst="rect">
            <a:avLst/>
          </a:prstGeom>
        </p:spPr>
        <p:txBody>
          <a:bodyPr wrap="square">
            <a:spAutoFit/>
          </a:bodyPr>
          <a:lstStyle/>
          <a:p>
            <a:pPr marL="342900" indent="-342900">
              <a:buFont typeface="Arial" panose="020B0604020202020204" pitchFamily="34" charset="0"/>
              <a:buChar char="•"/>
            </a:pPr>
            <a:r>
              <a:rPr lang="en-US" sz="2400" b="1" dirty="0">
                <a:solidFill>
                  <a:srgbClr val="000000"/>
                </a:solidFill>
                <a:latin typeface="NimbusSanL-Bold"/>
              </a:rPr>
              <a:t>Experiment </a:t>
            </a:r>
          </a:p>
          <a:p>
            <a:pPr marL="339725" indent="-339725">
              <a:spcAft>
                <a:spcPts val="600"/>
              </a:spcAft>
            </a:pPr>
            <a:r>
              <a:rPr lang="en-US" sz="2400" b="1" dirty="0">
                <a:solidFill>
                  <a:srgbClr val="000000"/>
                </a:solidFill>
                <a:latin typeface="NimbusSanL-Bold"/>
              </a:rPr>
              <a:t>	</a:t>
            </a:r>
            <a:r>
              <a:rPr lang="en-US" sz="2000" dirty="0">
                <a:solidFill>
                  <a:srgbClr val="000000"/>
                </a:solidFill>
                <a:latin typeface="NimbusSanL-Regu"/>
              </a:rPr>
              <a:t>Process with a number of possible outcomes</a:t>
            </a:r>
          </a:p>
          <a:p>
            <a:pPr marL="342900" indent="-342900">
              <a:buFont typeface="Arial" panose="020B0604020202020204" pitchFamily="34" charset="0"/>
              <a:buChar char="•"/>
            </a:pPr>
            <a:r>
              <a:rPr lang="en-US" sz="2400" b="1" dirty="0">
                <a:solidFill>
                  <a:srgbClr val="000000"/>
                </a:solidFill>
                <a:latin typeface="NimbusSanL-Bold"/>
              </a:rPr>
              <a:t>Trial </a:t>
            </a:r>
          </a:p>
          <a:p>
            <a:pPr marL="339725" indent="-339725">
              <a:spcAft>
                <a:spcPts val="600"/>
              </a:spcAft>
            </a:pPr>
            <a:r>
              <a:rPr lang="en-US" sz="2400" b="1" dirty="0">
                <a:solidFill>
                  <a:srgbClr val="000000"/>
                </a:solidFill>
                <a:latin typeface="NimbusSanL-Bold"/>
              </a:rPr>
              <a:t>	</a:t>
            </a:r>
            <a:r>
              <a:rPr lang="en-US" sz="2000" dirty="0">
                <a:solidFill>
                  <a:srgbClr val="000000"/>
                </a:solidFill>
                <a:latin typeface="NimbusSanL-Regu"/>
              </a:rPr>
              <a:t>One iteration of an experiment – one outcome occurs</a:t>
            </a:r>
          </a:p>
          <a:p>
            <a:pPr marL="342900" indent="-342900">
              <a:buFont typeface="Arial" panose="020B0604020202020204" pitchFamily="34" charset="0"/>
              <a:buChar char="•"/>
            </a:pPr>
            <a:r>
              <a:rPr lang="en-US" sz="2400" b="1" dirty="0">
                <a:solidFill>
                  <a:srgbClr val="000000"/>
                </a:solidFill>
                <a:latin typeface="NimbusSanL-Bold"/>
              </a:rPr>
              <a:t>Sample space</a:t>
            </a:r>
          </a:p>
          <a:p>
            <a:pPr marL="339725" indent="-339725">
              <a:spcAft>
                <a:spcPts val="600"/>
              </a:spcAft>
            </a:pPr>
            <a:r>
              <a:rPr lang="en-US" sz="2400" dirty="0">
                <a:solidFill>
                  <a:srgbClr val="000000"/>
                </a:solidFill>
                <a:latin typeface="NimbusSanL-Regu"/>
              </a:rPr>
              <a:t>	</a:t>
            </a:r>
            <a:r>
              <a:rPr lang="en-US" sz="2000" dirty="0">
                <a:solidFill>
                  <a:srgbClr val="000000"/>
                </a:solidFill>
                <a:latin typeface="NimbusSanL-Regu"/>
              </a:rPr>
              <a:t>The set of </a:t>
            </a:r>
            <a:r>
              <a:rPr lang="en-US" sz="2000" dirty="0">
                <a:solidFill>
                  <a:srgbClr val="000000"/>
                </a:solidFill>
                <a:latin typeface="NimbusSanL-ReguItal"/>
              </a:rPr>
              <a:t>all </a:t>
            </a:r>
            <a:r>
              <a:rPr lang="en-US" sz="2000" dirty="0">
                <a:solidFill>
                  <a:srgbClr val="000000"/>
                </a:solidFill>
                <a:latin typeface="NimbusSanL-Regu"/>
              </a:rPr>
              <a:t>possible outcomes in one trial of experiment</a:t>
            </a:r>
          </a:p>
          <a:p>
            <a:pPr marL="342900" indent="-342900">
              <a:buFont typeface="Arial" panose="020B0604020202020204" pitchFamily="34" charset="0"/>
              <a:buChar char="•"/>
            </a:pPr>
            <a:r>
              <a:rPr lang="en-US" sz="2400" b="1" dirty="0">
                <a:solidFill>
                  <a:srgbClr val="000000"/>
                </a:solidFill>
                <a:latin typeface="NimbusSanL-Bold"/>
              </a:rPr>
              <a:t>Event</a:t>
            </a:r>
          </a:p>
          <a:p>
            <a:pPr marL="339725" indent="-339725">
              <a:spcAft>
                <a:spcPts val="600"/>
              </a:spcAft>
            </a:pPr>
            <a:r>
              <a:rPr lang="en-US" sz="2400" b="1" dirty="0">
                <a:solidFill>
                  <a:srgbClr val="000000"/>
                </a:solidFill>
                <a:latin typeface="NimbusSanL-Bold"/>
              </a:rPr>
              <a:t>	</a:t>
            </a:r>
            <a:r>
              <a:rPr lang="en-US" sz="2000" dirty="0">
                <a:solidFill>
                  <a:srgbClr val="000000"/>
                </a:solidFill>
                <a:latin typeface="NimbusSanL-Regu"/>
              </a:rPr>
              <a:t>Any subset of sample space. </a:t>
            </a:r>
            <a:endParaRPr lang="en-US" sz="2000" dirty="0">
              <a:solidFill>
                <a:srgbClr val="000000"/>
              </a:solidFill>
              <a:latin typeface="NimbusSanL-ReguItal"/>
            </a:endParaRPr>
          </a:p>
          <a:p>
            <a:pPr marL="342900" indent="-342900">
              <a:buFont typeface="Arial" panose="020B0604020202020204" pitchFamily="34" charset="0"/>
              <a:buChar char="•"/>
            </a:pPr>
            <a:r>
              <a:rPr lang="en-US" sz="2400" b="1" dirty="0">
                <a:solidFill>
                  <a:srgbClr val="000000"/>
                </a:solidFill>
                <a:latin typeface="NimbusSanL-Bold"/>
              </a:rPr>
              <a:t>Discrete sample space</a:t>
            </a:r>
          </a:p>
          <a:p>
            <a:pPr marL="280988">
              <a:spcAft>
                <a:spcPts val="600"/>
              </a:spcAft>
            </a:pPr>
            <a:r>
              <a:rPr lang="en-US" sz="2000" dirty="0">
                <a:solidFill>
                  <a:srgbClr val="000000"/>
                </a:solidFill>
                <a:latin typeface="NimbusSanL-Regu"/>
              </a:rPr>
              <a:t> if it consists of a finite or countably infinite set of simple events</a:t>
            </a:r>
          </a:p>
          <a:p>
            <a:pPr marL="342900" indent="-342900">
              <a:buFont typeface="Arial" panose="020B0604020202020204" pitchFamily="34" charset="0"/>
              <a:buChar char="•"/>
            </a:pPr>
            <a:r>
              <a:rPr lang="en-US" sz="2400" b="1" dirty="0">
                <a:solidFill>
                  <a:srgbClr val="000000"/>
                </a:solidFill>
                <a:latin typeface="NimbusSanL-Bold"/>
              </a:rPr>
              <a:t>Continuous sample space</a:t>
            </a:r>
          </a:p>
          <a:p>
            <a:pPr marL="339725">
              <a:spcAft>
                <a:spcPts val="600"/>
              </a:spcAft>
            </a:pPr>
            <a:r>
              <a:rPr lang="en-US" sz="2000" dirty="0">
                <a:solidFill>
                  <a:srgbClr val="000000"/>
                </a:solidFill>
                <a:latin typeface="NimbusSanL-Regu"/>
              </a:rPr>
              <a:t>if it consists </a:t>
            </a:r>
            <a:r>
              <a:rPr lang="en-US" sz="2000" dirty="0"/>
              <a:t>of an </a:t>
            </a:r>
            <a:r>
              <a:rPr lang="en-US" sz="2000" dirty="0" err="1"/>
              <a:t>uncountably</a:t>
            </a:r>
            <a:r>
              <a:rPr lang="en-US" sz="2000" dirty="0"/>
              <a:t> infinite set of simple events</a:t>
            </a:r>
          </a:p>
        </p:txBody>
      </p:sp>
    </p:spTree>
    <p:extLst>
      <p:ext uri="{BB962C8B-B14F-4D97-AF65-F5344CB8AC3E}">
        <p14:creationId xmlns:p14="http://schemas.microsoft.com/office/powerpoint/2010/main" val="157227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normAutofit/>
          </a:bodyPr>
          <a:lstStyle/>
          <a:p>
            <a:r>
              <a:rPr lang="en-US" dirty="0"/>
              <a:t>Example 01</a:t>
            </a:r>
          </a:p>
        </p:txBody>
      </p:sp>
      <p:sp>
        <p:nvSpPr>
          <p:cNvPr id="3" name="Rectangle 2"/>
          <p:cNvSpPr/>
          <p:nvPr/>
        </p:nvSpPr>
        <p:spPr>
          <a:xfrm>
            <a:off x="432028" y="1556793"/>
            <a:ext cx="8254772" cy="1200329"/>
          </a:xfrm>
          <a:prstGeom prst="rect">
            <a:avLst/>
          </a:prstGeom>
        </p:spPr>
        <p:txBody>
          <a:bodyPr wrap="square">
            <a:spAutoFit/>
          </a:bodyPr>
          <a:lstStyle/>
          <a:p>
            <a:pPr algn="just"/>
            <a:r>
              <a:rPr lang="en-US" sz="2400" dirty="0"/>
              <a:t>A spinner has 4 equal sectors colored yellow, blue, green and red. What are the experiment, possible outcomes, event, sample space. Is it a discrete or continuous sample space ?</a:t>
            </a:r>
          </a:p>
        </p:txBody>
      </p:sp>
      <p:sp>
        <p:nvSpPr>
          <p:cNvPr id="12" name="Rectangle 11"/>
          <p:cNvSpPr/>
          <p:nvPr/>
        </p:nvSpPr>
        <p:spPr>
          <a:xfrm>
            <a:off x="2915816" y="2916666"/>
            <a:ext cx="5257800" cy="461665"/>
          </a:xfrm>
          <a:prstGeom prst="rect">
            <a:avLst/>
          </a:prstGeom>
        </p:spPr>
        <p:txBody>
          <a:bodyPr wrap="square">
            <a:spAutoFit/>
          </a:bodyPr>
          <a:lstStyle/>
          <a:p>
            <a:r>
              <a:rPr lang="en-US" sz="2400" dirty="0"/>
              <a:t>The experiment is spinning the spinner.</a:t>
            </a:r>
          </a:p>
        </p:txBody>
      </p:sp>
      <p:sp>
        <p:nvSpPr>
          <p:cNvPr id="13" name="Rectangle 12"/>
          <p:cNvSpPr/>
          <p:nvPr/>
        </p:nvSpPr>
        <p:spPr>
          <a:xfrm>
            <a:off x="2915816" y="3379722"/>
            <a:ext cx="5105400" cy="830997"/>
          </a:xfrm>
          <a:prstGeom prst="rect">
            <a:avLst/>
          </a:prstGeom>
        </p:spPr>
        <p:txBody>
          <a:bodyPr wrap="square">
            <a:spAutoFit/>
          </a:bodyPr>
          <a:lstStyle/>
          <a:p>
            <a:r>
              <a:rPr lang="en-US" sz="2400" dirty="0"/>
              <a:t>The possible outcomes are landing on yellow, blue, green or red.</a:t>
            </a:r>
          </a:p>
        </p:txBody>
      </p:sp>
      <p:sp>
        <p:nvSpPr>
          <p:cNvPr id="16" name="Rectangle 15"/>
          <p:cNvSpPr/>
          <p:nvPr/>
        </p:nvSpPr>
        <p:spPr>
          <a:xfrm>
            <a:off x="2915816" y="4212110"/>
            <a:ext cx="5105399" cy="830997"/>
          </a:xfrm>
          <a:prstGeom prst="rect">
            <a:avLst/>
          </a:prstGeom>
        </p:spPr>
        <p:txBody>
          <a:bodyPr wrap="square">
            <a:spAutoFit/>
          </a:bodyPr>
          <a:lstStyle/>
          <a:p>
            <a:r>
              <a:rPr lang="en-US" sz="2400" dirty="0"/>
              <a:t>One event of this experiment is landing on blue.</a:t>
            </a:r>
          </a:p>
        </p:txBody>
      </p:sp>
      <p:sp>
        <p:nvSpPr>
          <p:cNvPr id="17" name="Rectangle 16"/>
          <p:cNvSpPr/>
          <p:nvPr/>
        </p:nvSpPr>
        <p:spPr>
          <a:xfrm>
            <a:off x="629816" y="5050307"/>
            <a:ext cx="7543800" cy="461665"/>
          </a:xfrm>
          <a:prstGeom prst="rect">
            <a:avLst/>
          </a:prstGeom>
        </p:spPr>
        <p:txBody>
          <a:bodyPr wrap="square">
            <a:spAutoFit/>
          </a:bodyPr>
          <a:lstStyle/>
          <a:p>
            <a:r>
              <a:rPr lang="en-US" sz="2400" dirty="0"/>
              <a:t>The sample space is = { yellow, blue, green, red }.</a:t>
            </a:r>
          </a:p>
        </p:txBody>
      </p:sp>
      <p:sp>
        <p:nvSpPr>
          <p:cNvPr id="18" name="Rectangle 17"/>
          <p:cNvSpPr/>
          <p:nvPr/>
        </p:nvSpPr>
        <p:spPr>
          <a:xfrm>
            <a:off x="629816" y="5651862"/>
            <a:ext cx="7543800" cy="461665"/>
          </a:xfrm>
          <a:prstGeom prst="rect">
            <a:avLst/>
          </a:prstGeom>
        </p:spPr>
        <p:txBody>
          <a:bodyPr wrap="square">
            <a:spAutoFit/>
          </a:bodyPr>
          <a:lstStyle/>
          <a:p>
            <a:r>
              <a:rPr lang="en-US" sz="2400" dirty="0"/>
              <a:t>It is discrete sample space.</a:t>
            </a:r>
          </a:p>
        </p:txBody>
      </p:sp>
      <p:pic>
        <p:nvPicPr>
          <p:cNvPr id="25" name="Picture 24"/>
          <p:cNvPicPr>
            <a:picLocks noChangeAspect="1"/>
          </p:cNvPicPr>
          <p:nvPr/>
        </p:nvPicPr>
        <p:blipFill>
          <a:blip r:embed="rId2"/>
          <a:stretch>
            <a:fillRect/>
          </a:stretch>
        </p:blipFill>
        <p:spPr>
          <a:xfrm rot="250554">
            <a:off x="454589" y="2827429"/>
            <a:ext cx="2333625" cy="2228850"/>
          </a:xfrm>
          <a:prstGeom prst="rect">
            <a:avLst/>
          </a:prstGeom>
        </p:spPr>
      </p:pic>
      <p:cxnSp>
        <p:nvCxnSpPr>
          <p:cNvPr id="27" name="Straight Arrow Connector 26"/>
          <p:cNvCxnSpPr/>
          <p:nvPr/>
        </p:nvCxnSpPr>
        <p:spPr>
          <a:xfrm flipV="1">
            <a:off x="1547664" y="3264636"/>
            <a:ext cx="0" cy="6477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4084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normAutofit/>
          </a:bodyPr>
          <a:lstStyle/>
          <a:p>
            <a:r>
              <a:rPr lang="en-US" dirty="0"/>
              <a:t>Probability</a:t>
            </a:r>
          </a:p>
        </p:txBody>
      </p:sp>
      <mc:AlternateContent xmlns:mc="http://schemas.openxmlformats.org/markup-compatibility/2006">
        <mc:Choice xmlns:a14="http://schemas.microsoft.com/office/drawing/2010/main" Requires="a14">
          <p:sp>
            <p:nvSpPr>
              <p:cNvPr id="6" name="Rectangle 5"/>
              <p:cNvSpPr/>
              <p:nvPr/>
            </p:nvSpPr>
            <p:spPr>
              <a:xfrm>
                <a:off x="323528" y="1628800"/>
                <a:ext cx="8280920" cy="4893647"/>
              </a:xfrm>
              <a:prstGeom prst="rect">
                <a:avLst/>
              </a:prstGeom>
            </p:spPr>
            <p:txBody>
              <a:bodyPr wrap="square">
                <a:spAutoFit/>
              </a:bodyPr>
              <a:lstStyle/>
              <a:p>
                <a:pPr marL="58738"/>
                <a:r>
                  <a:rPr lang="en-US" sz="2400" b="1" dirty="0">
                    <a:solidFill>
                      <a:srgbClr val="000000"/>
                    </a:solidFill>
                    <a:latin typeface="NimbusSanL-Bold"/>
                  </a:rPr>
                  <a:t>Probability </a:t>
                </a:r>
              </a:p>
              <a:p>
                <a:pPr marL="457200"/>
                <a:r>
                  <a:rPr lang="en-US" sz="2400" dirty="0">
                    <a:solidFill>
                      <a:srgbClr val="000000"/>
                    </a:solidFill>
                    <a:latin typeface="NimbusSanL-Regu"/>
                  </a:rPr>
                  <a:t>Assigns a real number to each event in a sample space labelled as </a:t>
                </a:r>
                <a14:m>
                  <m:oMath xmlns:m="http://schemas.openxmlformats.org/officeDocument/2006/math">
                    <m:r>
                      <a:rPr lang="en-US" sz="2400" i="1" dirty="0" smtClean="0">
                        <a:solidFill>
                          <a:srgbClr val="000000"/>
                        </a:solidFill>
                        <a:latin typeface="Cambria Math" panose="02040503050406030204" pitchFamily="18" charset="0"/>
                      </a:rPr>
                      <m:t>𝑆</m:t>
                    </m:r>
                  </m:oMath>
                </a14:m>
                <a:r>
                  <a:rPr lang="en-US" sz="2400" dirty="0">
                    <a:solidFill>
                      <a:srgbClr val="000000"/>
                    </a:solidFill>
                    <a:latin typeface="NimbusSanL-ReguItal"/>
                  </a:rPr>
                  <a:t>. </a:t>
                </a:r>
              </a:p>
              <a:p>
                <a:pPr marL="457200"/>
                <a:r>
                  <a:rPr lang="en-US" sz="2400" dirty="0">
                    <a:solidFill>
                      <a:srgbClr val="000000"/>
                    </a:solidFill>
                    <a:latin typeface="NimbusSanL-ReguItal"/>
                  </a:rPr>
                  <a:t>Probability of even A is </a:t>
                </a:r>
                <a14:m>
                  <m:oMath xmlns:m="http://schemas.openxmlformats.org/officeDocument/2006/math">
                    <m:r>
                      <a:rPr lang="en-US" sz="2400" i="1" dirty="0" smtClean="0">
                        <a:solidFill>
                          <a:srgbClr val="000000"/>
                        </a:solidFill>
                        <a:latin typeface="Cambria Math" panose="02040503050406030204" pitchFamily="18" charset="0"/>
                      </a:rPr>
                      <m:t>𝑃</m:t>
                    </m:r>
                    <m:r>
                      <a:rPr lang="en-US" sz="2400" i="1" dirty="0" smtClean="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𝐴</m:t>
                    </m:r>
                    <m:r>
                      <a:rPr lang="en-US" sz="2400" i="1" dirty="0">
                        <a:solidFill>
                          <a:srgbClr val="000000"/>
                        </a:solidFill>
                        <a:latin typeface="Cambria Math" panose="02040503050406030204" pitchFamily="18" charset="0"/>
                      </a:rPr>
                      <m:t>) </m:t>
                    </m:r>
                    <m:r>
                      <a:rPr lang="en-US" sz="2400" i="1" dirty="0" smtClean="0">
                        <a:solidFill>
                          <a:srgbClr val="000000"/>
                        </a:solidFill>
                        <a:latin typeface="Cambria Math" panose="02040503050406030204" pitchFamily="18" charset="0"/>
                        <a:ea typeface="Cambria Math" panose="02040503050406030204" pitchFamily="18" charset="0"/>
                      </a:rPr>
                      <m:t>𝜖</m:t>
                    </m:r>
                    <m:r>
                      <a:rPr lang="en-US" sz="2400" i="1" dirty="0">
                        <a:solidFill>
                          <a:srgbClr val="000000"/>
                        </a:solidFill>
                        <a:latin typeface="Cambria Math" panose="02040503050406030204" pitchFamily="18" charset="0"/>
                      </a:rPr>
                      <m:t> </m:t>
                    </m:r>
                    <m:r>
                      <a:rPr lang="en-US" sz="2400" i="1" dirty="0">
                        <a:solidFill>
                          <a:srgbClr val="000000"/>
                        </a:solidFill>
                        <a:latin typeface="Cambria Math" panose="02040503050406030204" pitchFamily="18" charset="0"/>
                      </a:rPr>
                      <m:t>𝑅𝑒𝑎𝑙</m:t>
                    </m:r>
                  </m:oMath>
                </a14:m>
                <a:r>
                  <a:rPr lang="en-US" sz="2400" dirty="0">
                    <a:solidFill>
                      <a:srgbClr val="000000"/>
                    </a:solidFill>
                    <a:latin typeface="MSBM10"/>
                  </a:rPr>
                  <a:t> </a:t>
                </a:r>
                <a:r>
                  <a:rPr lang="en-US" sz="2400" dirty="0">
                    <a:solidFill>
                      <a:srgbClr val="000000"/>
                    </a:solidFill>
                    <a:latin typeface="NimbusSanL-Regu"/>
                  </a:rPr>
                  <a:t>when </a:t>
                </a:r>
                <a14:m>
                  <m:oMath xmlns:m="http://schemas.openxmlformats.org/officeDocument/2006/math">
                    <m:r>
                      <a:rPr lang="en-US" sz="2400" i="1" dirty="0" smtClean="0">
                        <a:solidFill>
                          <a:srgbClr val="000000"/>
                        </a:solidFill>
                        <a:latin typeface="Cambria Math" panose="02040503050406030204" pitchFamily="18" charset="0"/>
                      </a:rPr>
                      <m:t>𝐴</m:t>
                    </m:r>
                    <m:r>
                      <a:rPr lang="en-US" sz="2400" i="1" dirty="0" smtClean="0">
                        <a:solidFill>
                          <a:srgbClr val="000000"/>
                        </a:solidFill>
                        <a:latin typeface="Cambria Math" panose="02040503050406030204" pitchFamily="18" charset="0"/>
                      </a:rPr>
                      <m:t> ⊂ </m:t>
                    </m:r>
                    <m:r>
                      <a:rPr lang="en-US" sz="2400" i="1" dirty="0" smtClean="0">
                        <a:solidFill>
                          <a:srgbClr val="000000"/>
                        </a:solidFill>
                        <a:latin typeface="Cambria Math" panose="02040503050406030204" pitchFamily="18" charset="0"/>
                      </a:rPr>
                      <m:t>𝑆</m:t>
                    </m:r>
                  </m:oMath>
                </a14:m>
                <a:r>
                  <a:rPr lang="en-US" sz="2400" dirty="0">
                    <a:solidFill>
                      <a:srgbClr val="000000"/>
                    </a:solidFill>
                    <a:latin typeface="NimbusSanL-Regu"/>
                  </a:rPr>
                  <a:t>.</a:t>
                </a:r>
              </a:p>
              <a:p>
                <a:r>
                  <a:rPr lang="en-US" sz="2400" dirty="0">
                    <a:solidFill>
                      <a:srgbClr val="3333B3"/>
                    </a:solidFill>
                    <a:latin typeface="CMSY10"/>
                  </a:rPr>
                  <a:t> </a:t>
                </a:r>
              </a:p>
              <a:p>
                <a:r>
                  <a:rPr lang="en-US" sz="2400" dirty="0">
                    <a:solidFill>
                      <a:srgbClr val="000000"/>
                    </a:solidFill>
                    <a:latin typeface="NimbusSanL-Regu"/>
                  </a:rPr>
                  <a:t>So probability, </a:t>
                </a:r>
                <a14:m>
                  <m:oMath xmlns:m="http://schemas.openxmlformats.org/officeDocument/2006/math">
                    <m:r>
                      <a:rPr lang="en-US" sz="2400" i="1" dirty="0" smtClean="0">
                        <a:solidFill>
                          <a:srgbClr val="000000"/>
                        </a:solidFill>
                        <a:latin typeface="Cambria Math" panose="02040503050406030204" pitchFamily="18" charset="0"/>
                      </a:rPr>
                      <m:t>𝑃</m:t>
                    </m:r>
                    <m:r>
                      <a:rPr lang="en-US" sz="2400" b="0" i="1" dirty="0" smtClean="0">
                        <a:solidFill>
                          <a:srgbClr val="000000"/>
                        </a:solidFill>
                        <a:latin typeface="Cambria Math" panose="02040503050406030204" pitchFamily="18" charset="0"/>
                      </a:rPr>
                      <m:t>,</m:t>
                    </m:r>
                  </m:oMath>
                </a14:m>
                <a:r>
                  <a:rPr lang="en-US" sz="2400" dirty="0">
                    <a:solidFill>
                      <a:srgbClr val="000000"/>
                    </a:solidFill>
                    <a:latin typeface="NimbusSanL-ReguItal"/>
                  </a:rPr>
                  <a:t> </a:t>
                </a:r>
                <a:r>
                  <a:rPr lang="en-US" sz="2400" dirty="0">
                    <a:solidFill>
                      <a:srgbClr val="000000"/>
                    </a:solidFill>
                    <a:latin typeface="NimbusSanL-Regu"/>
                  </a:rPr>
                  <a:t>is a function from set, or subsets of </a:t>
                </a:r>
                <a:r>
                  <a:rPr lang="en-US" sz="2400" dirty="0">
                    <a:solidFill>
                      <a:srgbClr val="000000"/>
                    </a:solidFill>
                    <a:latin typeface="NimbusSanL-ReguItal"/>
                  </a:rPr>
                  <a:t>S </a:t>
                </a:r>
                <a:r>
                  <a:rPr lang="en-US" sz="2400" dirty="0">
                    <a:solidFill>
                      <a:srgbClr val="000000"/>
                    </a:solidFill>
                    <a:latin typeface="NimbusSanL-Regu"/>
                  </a:rPr>
                  <a:t>to </a:t>
                </a:r>
                <a:r>
                  <a:rPr lang="en-US" sz="2400" dirty="0">
                    <a:solidFill>
                      <a:srgbClr val="000000"/>
                    </a:solidFill>
                    <a:latin typeface="MSBM10"/>
                  </a:rPr>
                  <a:t>Real number </a:t>
                </a:r>
                <a:r>
                  <a:rPr lang="en-US" sz="2400" dirty="0">
                    <a:solidFill>
                      <a:srgbClr val="000000"/>
                    </a:solidFill>
                    <a:latin typeface="NimbusSanL-Regu"/>
                  </a:rPr>
                  <a:t>which must satisfy :</a:t>
                </a:r>
              </a:p>
              <a:p>
                <a:endParaRPr lang="en-US" sz="2400" dirty="0">
                  <a:solidFill>
                    <a:srgbClr val="000000"/>
                  </a:solidFill>
                  <a:latin typeface="NimbusSanL-Regu"/>
                </a:endParaRPr>
              </a:p>
              <a:p>
                <a:pPr marL="457200" indent="-457200">
                  <a:buFont typeface="+mj-lt"/>
                  <a:buAutoNum type="arabicPeriod"/>
                </a:pPr>
                <a:r>
                  <a:rPr lang="en-US" sz="2400" dirty="0">
                    <a:solidFill>
                      <a:srgbClr val="000000"/>
                    </a:solidFill>
                    <a:latin typeface="NimbusSanL-Regu"/>
                  </a:rPr>
                  <a:t>For all </a:t>
                </a:r>
                <a14:m>
                  <m:oMath xmlns:m="http://schemas.openxmlformats.org/officeDocument/2006/math">
                    <m:r>
                      <a:rPr lang="en-US" sz="2400" i="1" dirty="0">
                        <a:solidFill>
                          <a:srgbClr val="000000"/>
                        </a:solidFill>
                        <a:latin typeface="Cambria Math" panose="02040503050406030204" pitchFamily="18" charset="0"/>
                      </a:rPr>
                      <m:t>𝐴</m:t>
                    </m:r>
                    <m:r>
                      <a:rPr lang="en-US" sz="2400" i="1" dirty="0">
                        <a:solidFill>
                          <a:srgbClr val="000000"/>
                        </a:solidFill>
                        <a:latin typeface="Cambria Math" panose="02040503050406030204" pitchFamily="18" charset="0"/>
                      </a:rPr>
                      <m:t> ⊂ </m:t>
                    </m:r>
                    <m:r>
                      <a:rPr lang="en-US" sz="2400" i="1" dirty="0">
                        <a:solidFill>
                          <a:srgbClr val="000000"/>
                        </a:solidFill>
                        <a:latin typeface="Cambria Math" panose="02040503050406030204" pitchFamily="18" charset="0"/>
                      </a:rPr>
                      <m:t>𝑆</m:t>
                    </m:r>
                  </m:oMath>
                </a14:m>
                <a:r>
                  <a:rPr lang="en-US" sz="2400" dirty="0">
                    <a:solidFill>
                      <a:srgbClr val="000000"/>
                    </a:solidFill>
                    <a:latin typeface="NimbusSanL-Regu"/>
                  </a:rPr>
                  <a:t>, </a:t>
                </a:r>
                <a14:m>
                  <m:oMath xmlns:m="http://schemas.openxmlformats.org/officeDocument/2006/math">
                    <m:r>
                      <a:rPr lang="en-US" sz="2400" i="1" dirty="0" smtClean="0">
                        <a:solidFill>
                          <a:srgbClr val="000000"/>
                        </a:solidFill>
                        <a:latin typeface="Cambria Math" panose="02040503050406030204" pitchFamily="18" charset="0"/>
                      </a:rPr>
                      <m:t>𝑃</m:t>
                    </m:r>
                    <m:d>
                      <m:dPr>
                        <m:ctrlPr>
                          <a:rPr lang="en-US" sz="2400" i="1" dirty="0" smtClean="0">
                            <a:solidFill>
                              <a:srgbClr val="000000"/>
                            </a:solidFill>
                            <a:latin typeface="Cambria Math" panose="02040503050406030204" pitchFamily="18" charset="0"/>
                          </a:rPr>
                        </m:ctrlPr>
                      </m:dPr>
                      <m:e>
                        <m:r>
                          <a:rPr lang="en-US" sz="2400" i="1" dirty="0" smtClean="0">
                            <a:solidFill>
                              <a:srgbClr val="000000"/>
                            </a:solidFill>
                            <a:latin typeface="Cambria Math" panose="02040503050406030204" pitchFamily="18" charset="0"/>
                          </a:rPr>
                          <m:t>𝐴</m:t>
                        </m:r>
                      </m:e>
                    </m:d>
                    <m:r>
                      <a:rPr lang="en-US" sz="2400" i="1" dirty="0" smtClean="0">
                        <a:solidFill>
                          <a:srgbClr val="000000"/>
                        </a:solidFill>
                        <a:latin typeface="Cambria Math" panose="02040503050406030204" pitchFamily="18" charset="0"/>
                        <a:ea typeface="Cambria Math" panose="02040503050406030204" pitchFamily="18" charset="0"/>
                      </a:rPr>
                      <m:t>≥</m:t>
                    </m:r>
                    <m:r>
                      <a:rPr lang="en-US" sz="2400" i="1" dirty="0" smtClean="0">
                        <a:solidFill>
                          <a:srgbClr val="000000"/>
                        </a:solidFill>
                        <a:latin typeface="Cambria Math" panose="02040503050406030204" pitchFamily="18" charset="0"/>
                      </a:rPr>
                      <m:t> 0</m:t>
                    </m:r>
                  </m:oMath>
                </a14:m>
                <a:endParaRPr lang="en-US" sz="2400" i="1" dirty="0">
                  <a:solidFill>
                    <a:srgbClr val="000000"/>
                  </a:solidFill>
                  <a:latin typeface="Cambria Math" panose="02040503050406030204" pitchFamily="18" charset="0"/>
                </a:endParaRPr>
              </a:p>
              <a:p>
                <a:pPr>
                  <a:tabLst>
                    <a:tab pos="457200" algn="l"/>
                  </a:tabLst>
                </a:pPr>
                <a:r>
                  <a:rPr lang="en-US" sz="2400" dirty="0">
                    <a:solidFill>
                      <a:srgbClr val="000000"/>
                    </a:solidFill>
                  </a:rPr>
                  <a:t>2.	</a:t>
                </a:r>
                <a14:m>
                  <m:oMath xmlns:m="http://schemas.openxmlformats.org/officeDocument/2006/math">
                    <m:r>
                      <a:rPr lang="en-US" sz="2400" i="1" dirty="0" smtClean="0">
                        <a:solidFill>
                          <a:srgbClr val="000000"/>
                        </a:solidFill>
                        <a:latin typeface="Cambria Math" panose="02040503050406030204" pitchFamily="18" charset="0"/>
                      </a:rPr>
                      <m:t>𝑃</m:t>
                    </m:r>
                    <m:r>
                      <a:rPr lang="en-US" sz="2400" i="1" dirty="0" smtClean="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𝑆</m:t>
                    </m:r>
                    <m:r>
                      <a:rPr lang="en-US" sz="2400" i="1" dirty="0">
                        <a:solidFill>
                          <a:srgbClr val="000000"/>
                        </a:solidFill>
                        <a:latin typeface="Cambria Math" panose="02040503050406030204" pitchFamily="18" charset="0"/>
                      </a:rPr>
                      <m:t>) = 1</m:t>
                    </m:r>
                  </m:oMath>
                </a14:m>
                <a:endParaRPr lang="en-US" sz="2400" dirty="0">
                  <a:solidFill>
                    <a:srgbClr val="000000"/>
                  </a:solidFill>
                  <a:latin typeface="NimbusSanL-Regu"/>
                </a:endParaRPr>
              </a:p>
              <a:p>
                <a:pPr marL="457200" indent="-457200"/>
                <a:r>
                  <a:rPr lang="en-US" sz="2400" dirty="0">
                    <a:solidFill>
                      <a:srgbClr val="000000"/>
                    </a:solidFill>
                    <a:latin typeface="NimbusSanL-Regu"/>
                  </a:rPr>
                  <a:t>3.	If </a:t>
                </a:r>
                <a14:m>
                  <m:oMath xmlns:m="http://schemas.openxmlformats.org/officeDocument/2006/math">
                    <m:sSub>
                      <m:sSubPr>
                        <m:ctrlPr>
                          <a:rPr lang="en-US" sz="2400" i="1" dirty="0" smtClean="0">
                            <a:solidFill>
                              <a:srgbClr val="000000"/>
                            </a:solidFill>
                            <a:latin typeface="Cambria Math" panose="02040503050406030204" pitchFamily="18" charset="0"/>
                          </a:rPr>
                        </m:ctrlPr>
                      </m:sSubPr>
                      <m:e>
                        <m:r>
                          <a:rPr lang="en-US" sz="2400" b="0" i="1" dirty="0" smtClean="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1</m:t>
                        </m:r>
                      </m:sub>
                    </m:sSub>
                  </m:oMath>
                </a14:m>
                <a:r>
                  <a:rPr lang="en-US" sz="2400" dirty="0">
                    <a:solidFill>
                      <a:srgbClr val="000000"/>
                    </a:solidFill>
                    <a:latin typeface="CMMI10"/>
                  </a:rPr>
                  <a:t>;</a:t>
                </a:r>
                <a:r>
                  <a:rPr lang="en-US" sz="2400" dirty="0">
                    <a:solidFill>
                      <a:srgbClr val="000000"/>
                    </a:solidFill>
                  </a:rPr>
                  <a:t> </a:t>
                </a:r>
                <a14:m>
                  <m:oMath xmlns:m="http://schemas.openxmlformats.org/officeDocument/2006/math">
                    <m:sSub>
                      <m:sSubPr>
                        <m:ctrlPr>
                          <a:rPr lang="en-US" sz="2400" i="1" dirty="0">
                            <a:solidFill>
                              <a:srgbClr val="000000"/>
                            </a:solidFill>
                            <a:latin typeface="Cambria Math" panose="02040503050406030204" pitchFamily="18" charset="0"/>
                          </a:rPr>
                        </m:ctrlPr>
                      </m:sSubPr>
                      <m:e>
                        <m:r>
                          <a:rPr lang="en-US" sz="2400" i="1" dirty="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2</m:t>
                        </m:r>
                      </m:sub>
                    </m:sSub>
                  </m:oMath>
                </a14:m>
                <a:r>
                  <a:rPr lang="en-US" sz="2400" dirty="0">
                    <a:solidFill>
                      <a:srgbClr val="000000"/>
                    </a:solidFill>
                    <a:latin typeface="CMMI10"/>
                  </a:rPr>
                  <a:t>;</a:t>
                </a:r>
                <a:r>
                  <a:rPr lang="en-US" sz="2400" dirty="0">
                    <a:solidFill>
                      <a:srgbClr val="000000"/>
                    </a:solidFill>
                  </a:rPr>
                  <a:t> </a:t>
                </a:r>
                <a14:m>
                  <m:oMath xmlns:m="http://schemas.openxmlformats.org/officeDocument/2006/math">
                    <m:sSub>
                      <m:sSubPr>
                        <m:ctrlPr>
                          <a:rPr lang="en-US" sz="2400" i="1" dirty="0">
                            <a:solidFill>
                              <a:srgbClr val="000000"/>
                            </a:solidFill>
                            <a:latin typeface="Cambria Math" panose="02040503050406030204" pitchFamily="18" charset="0"/>
                          </a:rPr>
                        </m:ctrlPr>
                      </m:sSubPr>
                      <m:e>
                        <m:r>
                          <a:rPr lang="en-US" sz="2400" i="1" dirty="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3</m:t>
                        </m:r>
                      </m:sub>
                    </m:sSub>
                  </m:oMath>
                </a14:m>
                <a:r>
                  <a:rPr lang="en-US" sz="2400" dirty="0">
                    <a:solidFill>
                      <a:srgbClr val="000000"/>
                    </a:solidFill>
                    <a:latin typeface="CMMI10"/>
                  </a:rPr>
                  <a:t>; …; </a:t>
                </a:r>
                <a14:m>
                  <m:oMath xmlns:m="http://schemas.openxmlformats.org/officeDocument/2006/math">
                    <m:sSub>
                      <m:sSubPr>
                        <m:ctrlPr>
                          <a:rPr lang="en-US" sz="2400" i="1" dirty="0">
                            <a:solidFill>
                              <a:srgbClr val="000000"/>
                            </a:solidFill>
                            <a:latin typeface="Cambria Math" panose="02040503050406030204" pitchFamily="18" charset="0"/>
                          </a:rPr>
                        </m:ctrlPr>
                      </m:sSubPr>
                      <m:e>
                        <m:r>
                          <a:rPr lang="en-US" sz="2400" i="1" dirty="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𝑛</m:t>
                        </m:r>
                      </m:sub>
                    </m:sSub>
                  </m:oMath>
                </a14:m>
                <a:r>
                  <a:rPr lang="en-US" sz="2400" dirty="0">
                    <a:solidFill>
                      <a:srgbClr val="000000"/>
                    </a:solidFill>
                    <a:latin typeface="CMMI10"/>
                  </a:rPr>
                  <a:t> </a:t>
                </a:r>
                <a:r>
                  <a:rPr lang="en-US" sz="2400" dirty="0">
                    <a:solidFill>
                      <a:srgbClr val="000000"/>
                    </a:solidFill>
                    <a:latin typeface="NimbusSanL-Regu"/>
                  </a:rPr>
                  <a:t>is a finite or infinite sequence of mutually exclusive events, then</a:t>
                </a:r>
              </a:p>
              <a:p>
                <a:pPr/>
                <a14:m>
                  <m:oMathPara xmlns:m="http://schemas.openxmlformats.org/officeDocument/2006/math">
                    <m:oMathParaPr>
                      <m:jc m:val="centerGroup"/>
                    </m:oMathParaPr>
                    <m:oMath xmlns:m="http://schemas.openxmlformats.org/officeDocument/2006/math">
                      <m:r>
                        <a:rPr lang="pt-BR" sz="2400" i="1" dirty="0" smtClean="0">
                          <a:solidFill>
                            <a:srgbClr val="000000"/>
                          </a:solidFill>
                          <a:latin typeface="Cambria Math" panose="02040503050406030204" pitchFamily="18" charset="0"/>
                        </a:rPr>
                        <m:t>𝑃</m:t>
                      </m:r>
                      <m:d>
                        <m:dPr>
                          <m:ctrlPr>
                            <a:rPr lang="pt-BR" sz="2400" i="1" dirty="0" smtClean="0">
                              <a:solidFill>
                                <a:srgbClr val="000000"/>
                              </a:solidFill>
                              <a:latin typeface="Cambria Math" panose="02040503050406030204" pitchFamily="18" charset="0"/>
                            </a:rPr>
                          </m:ctrlPr>
                        </m:dPr>
                        <m:e>
                          <m:sSub>
                            <m:sSubPr>
                              <m:ctrlPr>
                                <a:rPr lang="pt-BR" sz="2400" i="1" dirty="0" smtClean="0">
                                  <a:solidFill>
                                    <a:srgbClr val="000000"/>
                                  </a:solidFill>
                                  <a:latin typeface="Cambria Math" panose="02040503050406030204" pitchFamily="18" charset="0"/>
                                </a:rPr>
                              </m:ctrlPr>
                            </m:sSubPr>
                            <m:e>
                              <m:r>
                                <a:rPr lang="en-US" sz="2400" b="0" i="1" dirty="0" smtClean="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1</m:t>
                              </m:r>
                            </m:sub>
                          </m:sSub>
                          <m:r>
                            <a:rPr lang="pt-BR" sz="2400" i="1" dirty="0" smtClean="0">
                              <a:solidFill>
                                <a:srgbClr val="000000"/>
                              </a:solidFill>
                              <a:latin typeface="Cambria Math" panose="02040503050406030204" pitchFamily="18" charset="0"/>
                            </a:rPr>
                            <m:t> </m:t>
                          </m:r>
                          <m:r>
                            <a:rPr lang="pt-BR" sz="2400" i="1" dirty="0" smtClean="0">
                              <a:solidFill>
                                <a:srgbClr val="000000"/>
                              </a:solidFill>
                              <a:latin typeface="Cambria Math" panose="02040503050406030204" pitchFamily="18" charset="0"/>
                              <a:ea typeface="Cambria Math" panose="02040503050406030204" pitchFamily="18" charset="0"/>
                            </a:rPr>
                            <m:t>∪</m:t>
                          </m:r>
                          <m:r>
                            <a:rPr lang="pt-BR" sz="2400" i="1" dirty="0" smtClean="0">
                              <a:solidFill>
                                <a:srgbClr val="000000"/>
                              </a:solidFill>
                              <a:latin typeface="Cambria Math" panose="02040503050406030204" pitchFamily="18" charset="0"/>
                            </a:rPr>
                            <m:t> </m:t>
                          </m:r>
                          <m:sSub>
                            <m:sSubPr>
                              <m:ctrlPr>
                                <a:rPr lang="pt-BR" sz="2400" i="1" dirty="0" smtClean="0">
                                  <a:solidFill>
                                    <a:srgbClr val="000000"/>
                                  </a:solidFill>
                                  <a:latin typeface="Cambria Math" panose="02040503050406030204" pitchFamily="18" charset="0"/>
                                </a:rPr>
                              </m:ctrlPr>
                            </m:sSubPr>
                            <m:e>
                              <m:r>
                                <a:rPr lang="en-US" sz="2400" b="0" i="1" dirty="0" smtClean="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2</m:t>
                              </m:r>
                            </m:sub>
                          </m:sSub>
                          <m:r>
                            <a:rPr lang="pt-BR" sz="2400" i="1" dirty="0" smtClean="0">
                              <a:solidFill>
                                <a:srgbClr val="000000"/>
                              </a:solidFill>
                              <a:latin typeface="Cambria Math" panose="02040503050406030204" pitchFamily="18" charset="0"/>
                              <a:ea typeface="Cambria Math" panose="02040503050406030204" pitchFamily="18" charset="0"/>
                            </a:rPr>
                            <m:t>∪</m:t>
                          </m:r>
                          <m:r>
                            <a:rPr lang="en-US" sz="2400" b="0" i="1" dirty="0" smtClean="0">
                              <a:solidFill>
                                <a:srgbClr val="000000"/>
                              </a:solidFill>
                              <a:latin typeface="Cambria Math" panose="02040503050406030204" pitchFamily="18" charset="0"/>
                              <a:ea typeface="Cambria Math" panose="02040503050406030204" pitchFamily="18" charset="0"/>
                            </a:rPr>
                            <m:t>…∪</m:t>
                          </m:r>
                          <m:sSub>
                            <m:sSubPr>
                              <m:ctrlPr>
                                <a:rPr lang="en-US" sz="2400" b="0" i="1" dirty="0" smtClean="0">
                                  <a:solidFill>
                                    <a:srgbClr val="000000"/>
                                  </a:solidFill>
                                  <a:latin typeface="Cambria Math" panose="02040503050406030204" pitchFamily="18" charset="0"/>
                                  <a:ea typeface="Cambria Math" panose="02040503050406030204" pitchFamily="18" charset="0"/>
                                </a:rPr>
                              </m:ctrlPr>
                            </m:sSubPr>
                            <m:e>
                              <m:r>
                                <a:rPr lang="en-US" sz="2400" b="0" i="1" dirty="0" smtClean="0">
                                  <a:solidFill>
                                    <a:srgbClr val="000000"/>
                                  </a:solidFill>
                                  <a:latin typeface="Cambria Math" panose="02040503050406030204" pitchFamily="18" charset="0"/>
                                  <a:ea typeface="Cambria Math" panose="02040503050406030204" pitchFamily="18" charset="0"/>
                                </a:rPr>
                                <m:t>𝐴</m:t>
                              </m:r>
                            </m:e>
                            <m:sub>
                              <m:r>
                                <a:rPr lang="en-US" sz="2400" b="0" i="1" dirty="0" smtClean="0">
                                  <a:solidFill>
                                    <a:srgbClr val="000000"/>
                                  </a:solidFill>
                                  <a:latin typeface="Cambria Math" panose="02040503050406030204" pitchFamily="18" charset="0"/>
                                  <a:ea typeface="Cambria Math" panose="02040503050406030204" pitchFamily="18" charset="0"/>
                                </a:rPr>
                                <m:t>𝑛</m:t>
                              </m:r>
                            </m:sub>
                          </m:sSub>
                          <m:r>
                            <a:rPr lang="pt-BR" sz="2400" i="1" dirty="0" smtClean="0">
                              <a:solidFill>
                                <a:srgbClr val="000000"/>
                              </a:solidFill>
                              <a:latin typeface="Cambria Math" panose="02040503050406030204" pitchFamily="18" charset="0"/>
                            </a:rPr>
                            <m:t> </m:t>
                          </m:r>
                        </m:e>
                      </m:d>
                      <m:r>
                        <a:rPr lang="pt-BR" sz="2400" i="1" dirty="0" smtClean="0">
                          <a:solidFill>
                            <a:srgbClr val="000000"/>
                          </a:solidFill>
                          <a:latin typeface="Cambria Math" panose="02040503050406030204" pitchFamily="18" charset="0"/>
                        </a:rPr>
                        <m:t>= </m:t>
                      </m:r>
                      <m:r>
                        <a:rPr lang="pt-BR" sz="2400" i="1" dirty="0" smtClean="0">
                          <a:solidFill>
                            <a:srgbClr val="000000"/>
                          </a:solidFill>
                          <a:latin typeface="Cambria Math" panose="02040503050406030204" pitchFamily="18" charset="0"/>
                        </a:rPr>
                        <m:t>𝑃</m:t>
                      </m:r>
                      <m:d>
                        <m:dPr>
                          <m:ctrlPr>
                            <a:rPr lang="pt-BR" sz="2400" i="1" dirty="0" smtClean="0">
                              <a:solidFill>
                                <a:srgbClr val="000000"/>
                              </a:solidFill>
                              <a:latin typeface="Cambria Math" panose="02040503050406030204" pitchFamily="18" charset="0"/>
                            </a:rPr>
                          </m:ctrlPr>
                        </m:dPr>
                        <m:e>
                          <m:sSub>
                            <m:sSubPr>
                              <m:ctrlPr>
                                <a:rPr lang="pt-BR" sz="2400" i="1" dirty="0" smtClean="0">
                                  <a:solidFill>
                                    <a:srgbClr val="000000"/>
                                  </a:solidFill>
                                  <a:latin typeface="Cambria Math" panose="02040503050406030204" pitchFamily="18" charset="0"/>
                                </a:rPr>
                              </m:ctrlPr>
                            </m:sSubPr>
                            <m:e>
                              <m:r>
                                <a:rPr lang="en-US" sz="2400" b="0" i="1" dirty="0" smtClean="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1</m:t>
                              </m:r>
                            </m:sub>
                          </m:sSub>
                        </m:e>
                      </m:d>
                      <m:r>
                        <a:rPr lang="pt-BR" sz="2400" i="1" dirty="0" smtClean="0">
                          <a:solidFill>
                            <a:srgbClr val="000000"/>
                          </a:solidFill>
                          <a:latin typeface="Cambria Math" panose="02040503050406030204" pitchFamily="18" charset="0"/>
                        </a:rPr>
                        <m:t>+ </m:t>
                      </m:r>
                      <m:r>
                        <a:rPr lang="pt-BR" sz="2400" i="1" dirty="0" smtClean="0">
                          <a:solidFill>
                            <a:srgbClr val="000000"/>
                          </a:solidFill>
                          <a:latin typeface="Cambria Math" panose="02040503050406030204" pitchFamily="18" charset="0"/>
                        </a:rPr>
                        <m:t>𝑃</m:t>
                      </m:r>
                      <m:d>
                        <m:dPr>
                          <m:ctrlPr>
                            <a:rPr lang="pt-BR" sz="2400" i="1" dirty="0" smtClean="0">
                              <a:solidFill>
                                <a:srgbClr val="000000"/>
                              </a:solidFill>
                              <a:latin typeface="Cambria Math" panose="02040503050406030204" pitchFamily="18" charset="0"/>
                            </a:rPr>
                          </m:ctrlPr>
                        </m:dPr>
                        <m:e>
                          <m:sSub>
                            <m:sSubPr>
                              <m:ctrlPr>
                                <a:rPr lang="pt-BR" sz="2400" i="1" dirty="0" smtClean="0">
                                  <a:solidFill>
                                    <a:srgbClr val="000000"/>
                                  </a:solidFill>
                                  <a:latin typeface="Cambria Math" panose="02040503050406030204" pitchFamily="18" charset="0"/>
                                </a:rPr>
                              </m:ctrlPr>
                            </m:sSubPr>
                            <m:e>
                              <m:r>
                                <a:rPr lang="en-US" sz="2400" b="0" i="1" dirty="0" smtClean="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2</m:t>
                              </m:r>
                            </m:sub>
                          </m:sSub>
                        </m:e>
                      </m:d>
                      <m:r>
                        <a:rPr lang="pt-BR" sz="2400" i="1" dirty="0" smtClean="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m:t>
                      </m:r>
                      <m:r>
                        <a:rPr lang="pt-BR" sz="2400" i="1" dirty="0" smtClean="0">
                          <a:solidFill>
                            <a:srgbClr val="000000"/>
                          </a:solidFill>
                          <a:latin typeface="Cambria Math" panose="02040503050406030204" pitchFamily="18" charset="0"/>
                        </a:rPr>
                        <m:t> </m:t>
                      </m:r>
                      <m:r>
                        <a:rPr lang="pt-BR" sz="2400" i="1" dirty="0" smtClean="0">
                          <a:solidFill>
                            <a:srgbClr val="000000"/>
                          </a:solidFill>
                          <a:latin typeface="Cambria Math" panose="02040503050406030204" pitchFamily="18" charset="0"/>
                        </a:rPr>
                        <m:t>𝑃</m:t>
                      </m:r>
                      <m:r>
                        <a:rPr lang="pt-BR" sz="2400" i="1" dirty="0" smtClean="0">
                          <a:solidFill>
                            <a:srgbClr val="000000"/>
                          </a:solidFill>
                          <a:latin typeface="Cambria Math" panose="02040503050406030204" pitchFamily="18" charset="0"/>
                        </a:rPr>
                        <m:t>(</m:t>
                      </m:r>
                      <m:sSub>
                        <m:sSubPr>
                          <m:ctrlPr>
                            <a:rPr lang="pt-BR" sz="2400" i="1" dirty="0" smtClean="0">
                              <a:solidFill>
                                <a:srgbClr val="000000"/>
                              </a:solidFill>
                              <a:latin typeface="Cambria Math" panose="02040503050406030204" pitchFamily="18" charset="0"/>
                            </a:rPr>
                          </m:ctrlPr>
                        </m:sSubPr>
                        <m:e>
                          <m:r>
                            <a:rPr lang="en-US" sz="2400" b="0" i="1" dirty="0" smtClean="0">
                              <a:solidFill>
                                <a:srgbClr val="000000"/>
                              </a:solidFill>
                              <a:latin typeface="Cambria Math" panose="02040503050406030204" pitchFamily="18" charset="0"/>
                            </a:rPr>
                            <m:t>𝐴</m:t>
                          </m:r>
                        </m:e>
                        <m:sub>
                          <m:r>
                            <a:rPr lang="en-US" sz="2400" b="0" i="1" dirty="0" smtClean="0">
                              <a:solidFill>
                                <a:srgbClr val="000000"/>
                              </a:solidFill>
                              <a:latin typeface="Cambria Math" panose="02040503050406030204" pitchFamily="18" charset="0"/>
                            </a:rPr>
                            <m:t>𝑛</m:t>
                          </m:r>
                        </m:sub>
                      </m:sSub>
                      <m:r>
                        <a:rPr lang="pt-BR" sz="2400" i="1" dirty="0" smtClean="0">
                          <a:solidFill>
                            <a:srgbClr val="000000"/>
                          </a:solidFill>
                          <a:latin typeface="Cambria Math" panose="02040503050406030204" pitchFamily="18" charset="0"/>
                        </a:rPr>
                        <m:t>)</m:t>
                      </m:r>
                    </m:oMath>
                  </m:oMathPara>
                </a14:m>
                <a:endParaRPr lang="en-US" sz="2400" dirty="0"/>
              </a:p>
            </p:txBody>
          </p:sp>
        </mc:Choice>
        <mc:Fallback>
          <p:sp>
            <p:nvSpPr>
              <p:cNvPr id="6" name="Rectangle 5"/>
              <p:cNvSpPr>
                <a:spLocks noRot="1" noChangeAspect="1" noMove="1" noResize="1" noEditPoints="1" noAdjustHandles="1" noChangeArrowheads="1" noChangeShapeType="1" noTextEdit="1"/>
              </p:cNvSpPr>
              <p:nvPr/>
            </p:nvSpPr>
            <p:spPr>
              <a:xfrm>
                <a:off x="323528" y="1628800"/>
                <a:ext cx="8280920" cy="4893647"/>
              </a:xfrm>
              <a:prstGeom prst="rect">
                <a:avLst/>
              </a:prstGeom>
              <a:blipFill>
                <a:blip r:embed="rId2"/>
                <a:stretch>
                  <a:fillRect l="-1105" t="-872" r="-442" b="-747"/>
                </a:stretch>
              </a:blipFill>
            </p:spPr>
            <p:txBody>
              <a:bodyPr/>
              <a:lstStyle/>
              <a:p>
                <a:r>
                  <a:rPr lang="en-US">
                    <a:noFill/>
                  </a:rPr>
                  <a:t> </a:t>
                </a:r>
              </a:p>
            </p:txBody>
          </p:sp>
        </mc:Fallback>
      </mc:AlternateContent>
    </p:spTree>
    <p:extLst>
      <p:ext uri="{BB962C8B-B14F-4D97-AF65-F5344CB8AC3E}">
        <p14:creationId xmlns:p14="http://schemas.microsoft.com/office/powerpoint/2010/main" val="278159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dirty="0"/>
              <a:t>Probability of An Event</a:t>
            </a:r>
          </a:p>
        </p:txBody>
      </p:sp>
      <mc:AlternateContent xmlns:mc="http://schemas.openxmlformats.org/markup-compatibility/2006" xmlns:a14="http://schemas.microsoft.com/office/drawing/2010/main">
        <mc:Choice Requires="a14">
          <p:sp>
            <p:nvSpPr>
              <p:cNvPr id="8" name="Rectangle 7"/>
              <p:cNvSpPr/>
              <p:nvPr/>
            </p:nvSpPr>
            <p:spPr>
              <a:xfrm>
                <a:off x="1066800" y="1603023"/>
                <a:ext cx="7696200" cy="8592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r>
                        <a:rPr lang="en-US" sz="2400" b="0">
                          <a:latin typeface="Cambria Math" panose="02040503050406030204" pitchFamily="18" charset="0"/>
                        </a:rPr>
                        <m:t>(</m:t>
                      </m:r>
                      <m:r>
                        <a:rPr lang="en-US" sz="2400" b="0" i="1">
                          <a:latin typeface="Cambria Math" panose="02040503050406030204" pitchFamily="18" charset="0"/>
                        </a:rPr>
                        <m:t>𝐴</m:t>
                      </m:r>
                      <m:r>
                        <a:rPr lang="en-US" sz="2400" b="0">
                          <a:latin typeface="Cambria Math" panose="02040503050406030204" pitchFamily="18" charset="0"/>
                        </a:rPr>
                        <m:t>)</m:t>
                      </m:r>
                      <m:r>
                        <a:rPr lang="en-US" sz="2400" b="0" i="1">
                          <a:latin typeface="Cambria Math" panose="02040503050406030204" pitchFamily="18" charset="0"/>
                        </a:rPr>
                        <m:t>=</m:t>
                      </m:r>
                      <m:f>
                        <m:fPr>
                          <m:ctrlPr>
                            <a:rPr lang="en-US" sz="2400" i="1">
                              <a:latin typeface="Cambria Math" panose="02040503050406030204" pitchFamily="18" charset="0"/>
                            </a:rPr>
                          </m:ctrlPr>
                        </m:fPr>
                        <m:num>
                          <m:r>
                            <a:rPr lang="en-US" sz="2400" b="0" i="1">
                              <a:latin typeface="Cambria Math" panose="02040503050406030204" pitchFamily="18" charset="0"/>
                            </a:rPr>
                            <m:t>𝑇h𝑒</m:t>
                          </m:r>
                          <m:r>
                            <a:rPr lang="en-US" sz="2400" b="0" i="1">
                              <a:latin typeface="Cambria Math" panose="02040503050406030204" pitchFamily="18" charset="0"/>
                            </a:rPr>
                            <m:t> </m:t>
                          </m:r>
                          <m:r>
                            <a:rPr lang="en-US" sz="2400" b="0" i="1">
                              <a:latin typeface="Cambria Math" panose="02040503050406030204" pitchFamily="18" charset="0"/>
                            </a:rPr>
                            <m:t>𝑁𝑢𝑚𝑏𝑒𝑟</m:t>
                          </m:r>
                          <m:r>
                            <a:rPr lang="en-US" sz="2400" b="0" i="1">
                              <a:latin typeface="Cambria Math" panose="02040503050406030204" pitchFamily="18" charset="0"/>
                            </a:rPr>
                            <m:t> </m:t>
                          </m:r>
                          <m:r>
                            <a:rPr lang="en-US" sz="2400" b="0" i="1">
                              <a:latin typeface="Cambria Math" panose="02040503050406030204" pitchFamily="18" charset="0"/>
                            </a:rPr>
                            <m:t>𝑂𝑓</m:t>
                          </m:r>
                          <m:r>
                            <a:rPr lang="en-US" sz="2400" b="0" i="1">
                              <a:latin typeface="Cambria Math" panose="02040503050406030204" pitchFamily="18" charset="0"/>
                            </a:rPr>
                            <m:t> </m:t>
                          </m:r>
                          <m:r>
                            <a:rPr lang="en-US" sz="2400" b="0" i="1">
                              <a:latin typeface="Cambria Math" panose="02040503050406030204" pitchFamily="18" charset="0"/>
                            </a:rPr>
                            <m:t>𝑊𝑎𝑦𝑠</m:t>
                          </m:r>
                          <m:r>
                            <a:rPr lang="en-US" sz="2400" b="0" i="1">
                              <a:latin typeface="Cambria Math" panose="02040503050406030204" pitchFamily="18" charset="0"/>
                            </a:rPr>
                            <m:t> </m:t>
                          </m:r>
                          <m:r>
                            <a:rPr lang="en-US" sz="2400" b="0" i="1">
                              <a:latin typeface="Cambria Math" panose="02040503050406030204" pitchFamily="18" charset="0"/>
                            </a:rPr>
                            <m:t>𝐸𝑣𝑒𝑛𝑡</m:t>
                          </m:r>
                          <m:r>
                            <a:rPr lang="en-US" sz="2400" b="0" i="1">
                              <a:latin typeface="Cambria Math" panose="02040503050406030204" pitchFamily="18" charset="0"/>
                            </a:rPr>
                            <m:t> </m:t>
                          </m:r>
                          <m:r>
                            <a:rPr lang="en-US" sz="2400" b="0" i="1">
                              <a:latin typeface="Cambria Math" panose="02040503050406030204" pitchFamily="18" charset="0"/>
                            </a:rPr>
                            <m:t>𝐴</m:t>
                          </m:r>
                          <m:r>
                            <a:rPr lang="en-US" sz="2400" b="0" i="1">
                              <a:latin typeface="Cambria Math" panose="02040503050406030204" pitchFamily="18" charset="0"/>
                            </a:rPr>
                            <m:t> </m:t>
                          </m:r>
                          <m:r>
                            <a:rPr lang="en-US" sz="2400" b="0" i="1">
                              <a:latin typeface="Cambria Math" panose="02040503050406030204" pitchFamily="18" charset="0"/>
                            </a:rPr>
                            <m:t>𝐶𝑎𝑛</m:t>
                          </m:r>
                          <m:r>
                            <a:rPr lang="en-US" sz="2400" b="0" i="1">
                              <a:latin typeface="Cambria Math" panose="02040503050406030204" pitchFamily="18" charset="0"/>
                            </a:rPr>
                            <m:t> </m:t>
                          </m:r>
                          <m:r>
                            <a:rPr lang="en-US" sz="2400" b="0" i="1">
                              <a:latin typeface="Cambria Math" panose="02040503050406030204" pitchFamily="18" charset="0"/>
                            </a:rPr>
                            <m:t>𝑂𝑐𝑐𝑢𝑟</m:t>
                          </m:r>
                        </m:num>
                        <m:den>
                          <m:r>
                            <a:rPr lang="en-US" sz="2400" b="0" i="1">
                              <a:latin typeface="Cambria Math" panose="02040503050406030204" pitchFamily="18" charset="0"/>
                            </a:rPr>
                            <m:t>𝑇h𝑒</m:t>
                          </m:r>
                          <m:r>
                            <a:rPr lang="en-US" sz="2400" b="0" i="1">
                              <a:latin typeface="Cambria Math" panose="02040503050406030204" pitchFamily="18" charset="0"/>
                            </a:rPr>
                            <m:t> </m:t>
                          </m:r>
                          <m:r>
                            <a:rPr lang="en-US" sz="2400" b="0" i="1">
                              <a:latin typeface="Cambria Math" panose="02040503050406030204" pitchFamily="18" charset="0"/>
                            </a:rPr>
                            <m:t>𝑡𝑜𝑡𝑎𝑙</m:t>
                          </m:r>
                          <m:r>
                            <a:rPr lang="en-US" sz="2400" b="0" i="1">
                              <a:latin typeface="Cambria Math" panose="02040503050406030204" pitchFamily="18" charset="0"/>
                            </a:rPr>
                            <m:t> </m:t>
                          </m:r>
                          <m:r>
                            <a:rPr lang="en-US" sz="2400" b="0" i="1">
                              <a:latin typeface="Cambria Math" panose="02040503050406030204" pitchFamily="18" charset="0"/>
                            </a:rPr>
                            <m:t>𝑛𝑢𝑚𝑏𝑒𝑟</m:t>
                          </m:r>
                          <m:r>
                            <a:rPr lang="en-US" sz="2400" b="0" i="1">
                              <a:latin typeface="Cambria Math" panose="02040503050406030204" pitchFamily="18" charset="0"/>
                            </a:rPr>
                            <m:t> </m:t>
                          </m:r>
                          <m:r>
                            <a:rPr lang="en-US" sz="2400" b="0" i="1">
                              <a:latin typeface="Cambria Math" panose="02040503050406030204" pitchFamily="18" charset="0"/>
                            </a:rPr>
                            <m:t>𝑂𝑓</m:t>
                          </m:r>
                          <m:r>
                            <a:rPr lang="en-US" sz="2400" b="0" i="1">
                              <a:latin typeface="Cambria Math" panose="02040503050406030204" pitchFamily="18" charset="0"/>
                            </a:rPr>
                            <m:t> </m:t>
                          </m:r>
                          <m:r>
                            <a:rPr lang="en-US" sz="2400" b="0" i="1">
                              <a:latin typeface="Cambria Math" panose="02040503050406030204" pitchFamily="18" charset="0"/>
                            </a:rPr>
                            <m:t>𝑃𝑜𝑠𝑠𝑖𝑏𝑙𝑒</m:t>
                          </m:r>
                          <m:r>
                            <a:rPr lang="en-US" sz="2400" b="0" i="1">
                              <a:latin typeface="Cambria Math" panose="02040503050406030204" pitchFamily="18" charset="0"/>
                            </a:rPr>
                            <m:t> </m:t>
                          </m:r>
                          <m:r>
                            <a:rPr lang="en-US" sz="2400" b="0" i="1">
                              <a:latin typeface="Cambria Math" panose="02040503050406030204" pitchFamily="18" charset="0"/>
                            </a:rPr>
                            <m:t>𝑂𝑢𝑡𝑐𝑜𝑚𝑒𝑠</m:t>
                          </m:r>
                        </m:den>
                      </m:f>
                    </m:oMath>
                  </m:oMathPara>
                </a14:m>
                <a:endParaRPr lang="en-US" sz="2400" dirty="0"/>
              </a:p>
            </p:txBody>
          </p:sp>
        </mc:Choice>
        <mc:Fallback xmlns="">
          <p:sp>
            <p:nvSpPr>
              <p:cNvPr id="8" name="Rectangle 7"/>
              <p:cNvSpPr>
                <a:spLocks noRot="1" noChangeAspect="1" noMove="1" noResize="1" noEditPoints="1" noAdjustHandles="1" noChangeArrowheads="1" noChangeShapeType="1" noTextEdit="1"/>
              </p:cNvSpPr>
              <p:nvPr/>
            </p:nvSpPr>
            <p:spPr>
              <a:xfrm>
                <a:off x="1066800" y="1603023"/>
                <a:ext cx="7696200" cy="85921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33401" y="3314129"/>
                <a:ext cx="2133600" cy="7838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P</m:t>
                      </m:r>
                      <m:r>
                        <a:rPr lang="en-US" sz="2400" smtClean="0">
                          <a:latin typeface="Cambria Math" panose="02040503050406030204" pitchFamily="18" charset="0"/>
                        </a:rPr>
                        <m:t>(</m:t>
                      </m:r>
                      <m:r>
                        <m:rPr>
                          <m:sty m:val="p"/>
                        </m:rPr>
                        <a:rPr lang="en-US" sz="2400" b="0" i="0" smtClean="0">
                          <a:latin typeface="Cambria Math"/>
                        </a:rPr>
                        <m:t>Yellow</m:t>
                      </m:r>
                      <m:r>
                        <a:rPr lang="en-US" sz="240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u="sng" smtClean="0">
                              <a:latin typeface="Cambria Math"/>
                            </a:rPr>
                            <m:t>1</m:t>
                          </m:r>
                        </m:num>
                        <m:den>
                          <m:r>
                            <a:rPr lang="en-US" sz="2400" b="0" i="1" smtClean="0">
                              <a:latin typeface="Cambria Math"/>
                            </a:rPr>
                            <m:t>4</m:t>
                          </m:r>
                        </m:den>
                      </m:f>
                    </m:oMath>
                  </m:oMathPara>
                </a14:m>
                <a:endParaRPr lang="en-US" sz="2400" dirty="0"/>
              </a:p>
            </p:txBody>
          </p:sp>
        </mc:Choice>
        <mc:Fallback xmlns="">
          <p:sp>
            <p:nvSpPr>
              <p:cNvPr id="9" name="Rectangle 8"/>
              <p:cNvSpPr>
                <a:spLocks noRot="1" noChangeAspect="1" noMove="1" noResize="1" noEditPoints="1" noAdjustHandles="1" noChangeArrowheads="1" noChangeShapeType="1" noTextEdit="1"/>
              </p:cNvSpPr>
              <p:nvPr/>
            </p:nvSpPr>
            <p:spPr>
              <a:xfrm>
                <a:off x="533401" y="3314129"/>
                <a:ext cx="2133600" cy="783804"/>
              </a:xfrm>
              <a:prstGeom prst="rect">
                <a:avLst/>
              </a:prstGeom>
              <a:blipFill>
                <a:blip r:embed="rId4"/>
                <a:stretch>
                  <a:fillRect/>
                </a:stretch>
              </a:blipFill>
            </p:spPr>
            <p:txBody>
              <a:bodyPr/>
              <a:lstStyle/>
              <a:p>
                <a:r>
                  <a:rPr lang="en-US">
                    <a:noFill/>
                  </a:rPr>
                  <a:t> </a:t>
                </a:r>
              </a:p>
            </p:txBody>
          </p:sp>
        </mc:Fallback>
      </mc:AlternateContent>
      <p:sp>
        <p:nvSpPr>
          <p:cNvPr id="10" name="TextBox 9"/>
          <p:cNvSpPr txBox="1"/>
          <p:nvPr/>
        </p:nvSpPr>
        <p:spPr>
          <a:xfrm>
            <a:off x="948059" y="2606997"/>
            <a:ext cx="7247882" cy="461665"/>
          </a:xfrm>
          <a:prstGeom prst="rect">
            <a:avLst/>
          </a:prstGeom>
          <a:noFill/>
        </p:spPr>
        <p:txBody>
          <a:bodyPr wrap="none" rtlCol="0">
            <a:spAutoFit/>
          </a:bodyPr>
          <a:lstStyle/>
          <a:p>
            <a:r>
              <a:rPr lang="en-US" sz="2400" dirty="0"/>
              <a:t>Previous example : Outcomes = {Yellow, Blue, Red, green}</a:t>
            </a:r>
          </a:p>
        </p:txBody>
      </p:sp>
      <mc:AlternateContent xmlns:mc="http://schemas.openxmlformats.org/markup-compatibility/2006" xmlns:a14="http://schemas.microsoft.com/office/drawing/2010/main">
        <mc:Choice Requires="a14">
          <p:sp>
            <p:nvSpPr>
              <p:cNvPr id="11" name="Rectangle 10"/>
              <p:cNvSpPr/>
              <p:nvPr/>
            </p:nvSpPr>
            <p:spPr>
              <a:xfrm>
                <a:off x="2799645" y="3303746"/>
                <a:ext cx="1886656" cy="7838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P</m:t>
                      </m:r>
                      <m:r>
                        <a:rPr lang="en-US" sz="2400" smtClean="0">
                          <a:latin typeface="Cambria Math" panose="02040503050406030204" pitchFamily="18" charset="0"/>
                        </a:rPr>
                        <m:t>(</m:t>
                      </m:r>
                      <m:r>
                        <m:rPr>
                          <m:sty m:val="p"/>
                        </m:rPr>
                        <a:rPr lang="en-US" sz="2400" b="0" i="0" smtClean="0">
                          <a:latin typeface="Cambria Math"/>
                        </a:rPr>
                        <m:t>Blue</m:t>
                      </m:r>
                      <m:r>
                        <a:rPr lang="en-US" sz="240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u="sng" smtClean="0">
                              <a:latin typeface="Cambria Math"/>
                            </a:rPr>
                            <m:t>1</m:t>
                          </m:r>
                        </m:num>
                        <m:den>
                          <m:r>
                            <a:rPr lang="en-US" sz="2400" b="0" i="1" smtClean="0">
                              <a:latin typeface="Cambria Math"/>
                            </a:rPr>
                            <m:t>4</m:t>
                          </m:r>
                        </m:den>
                      </m:f>
                    </m:oMath>
                  </m:oMathPara>
                </a14:m>
                <a:endParaRPr lang="en-US" sz="2400" dirty="0"/>
              </a:p>
            </p:txBody>
          </p:sp>
        </mc:Choice>
        <mc:Fallback xmlns="">
          <p:sp>
            <p:nvSpPr>
              <p:cNvPr id="11" name="Rectangle 10"/>
              <p:cNvSpPr>
                <a:spLocks noRot="1" noChangeAspect="1" noMove="1" noResize="1" noEditPoints="1" noAdjustHandles="1" noChangeArrowheads="1" noChangeShapeType="1" noTextEdit="1"/>
              </p:cNvSpPr>
              <p:nvPr/>
            </p:nvSpPr>
            <p:spPr>
              <a:xfrm>
                <a:off x="2799645" y="3303746"/>
                <a:ext cx="1886656" cy="7838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4811889" y="3303746"/>
                <a:ext cx="1828800" cy="78380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smtClean="0">
                          <a:latin typeface="Cambria Math" panose="02040503050406030204" pitchFamily="18" charset="0"/>
                        </a:rPr>
                        <m:t>P</m:t>
                      </m:r>
                      <m:r>
                        <a:rPr lang="en-US" sz="2400" smtClean="0">
                          <a:latin typeface="Cambria Math" panose="02040503050406030204" pitchFamily="18" charset="0"/>
                        </a:rPr>
                        <m:t>(</m:t>
                      </m:r>
                      <m:r>
                        <m:rPr>
                          <m:sty m:val="p"/>
                        </m:rPr>
                        <a:rPr lang="en-US" sz="2400" b="0" i="0" smtClean="0">
                          <a:latin typeface="Cambria Math"/>
                        </a:rPr>
                        <m:t>Red</m:t>
                      </m:r>
                      <m:r>
                        <a:rPr lang="en-US" sz="240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u="sng" smtClean="0">
                              <a:latin typeface="Cambria Math"/>
                            </a:rPr>
                            <m:t>1</m:t>
                          </m:r>
                        </m:num>
                        <m:den>
                          <m:r>
                            <a:rPr lang="en-US" sz="2400" b="0" i="1" smtClean="0">
                              <a:latin typeface="Cambria Math"/>
                            </a:rPr>
                            <m:t>4</m:t>
                          </m:r>
                        </m:den>
                      </m:f>
                    </m:oMath>
                  </m:oMathPara>
                </a14:m>
                <a:endParaRPr lang="en-US" sz="2400" dirty="0"/>
              </a:p>
            </p:txBody>
          </p:sp>
        </mc:Choice>
        <mc:Fallback xmlns="">
          <p:sp>
            <p:nvSpPr>
              <p:cNvPr id="12" name="Rectangle 11"/>
              <p:cNvSpPr>
                <a:spLocks noRot="1" noChangeAspect="1" noMove="1" noResize="1" noEditPoints="1" noAdjustHandles="1" noChangeArrowheads="1" noChangeShapeType="1" noTextEdit="1"/>
              </p:cNvSpPr>
              <p:nvPr/>
            </p:nvSpPr>
            <p:spPr>
              <a:xfrm>
                <a:off x="4811889" y="3303746"/>
                <a:ext cx="1828800" cy="78380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6781801" y="3303746"/>
                <a:ext cx="1992488" cy="7838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P</m:t>
                      </m:r>
                      <m:r>
                        <a:rPr lang="en-US" sz="2400" smtClean="0">
                          <a:latin typeface="Cambria Math" panose="02040503050406030204" pitchFamily="18" charset="0"/>
                        </a:rPr>
                        <m:t>(</m:t>
                      </m:r>
                      <m:r>
                        <m:rPr>
                          <m:sty m:val="p"/>
                        </m:rPr>
                        <a:rPr lang="en-US" sz="2400" b="0" i="0" smtClean="0">
                          <a:latin typeface="Cambria Math"/>
                        </a:rPr>
                        <m:t>Green</m:t>
                      </m:r>
                      <m:r>
                        <a:rPr lang="en-US" sz="240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u="sng" smtClean="0">
                              <a:latin typeface="Cambria Math"/>
                            </a:rPr>
                            <m:t>1</m:t>
                          </m:r>
                        </m:num>
                        <m:den>
                          <m:r>
                            <a:rPr lang="en-US" sz="2400" b="0" i="1" smtClean="0">
                              <a:latin typeface="Cambria Math"/>
                            </a:rPr>
                            <m:t>4</m:t>
                          </m:r>
                        </m:den>
                      </m:f>
                    </m:oMath>
                  </m:oMathPara>
                </a14:m>
                <a:endParaRPr lang="en-US" sz="2400" dirty="0"/>
              </a:p>
            </p:txBody>
          </p:sp>
        </mc:Choice>
        <mc:Fallback xmlns="">
          <p:sp>
            <p:nvSpPr>
              <p:cNvPr id="13" name="Rectangle 12"/>
              <p:cNvSpPr>
                <a:spLocks noRot="1" noChangeAspect="1" noMove="1" noResize="1" noEditPoints="1" noAdjustHandles="1" noChangeArrowheads="1" noChangeShapeType="1" noTextEdit="1"/>
              </p:cNvSpPr>
              <p:nvPr/>
            </p:nvSpPr>
            <p:spPr>
              <a:xfrm>
                <a:off x="6781801" y="3303746"/>
                <a:ext cx="1992488" cy="783804"/>
              </a:xfrm>
              <a:prstGeom prst="rect">
                <a:avLst/>
              </a:prstGeom>
              <a:blipFill>
                <a:blip r:embed="rId7"/>
                <a:stretch>
                  <a:fillRect/>
                </a:stretch>
              </a:blipFill>
            </p:spPr>
            <p:txBody>
              <a:bodyPr/>
              <a:lstStyle/>
              <a:p>
                <a:r>
                  <a:rPr lang="en-US">
                    <a:noFill/>
                  </a:rPr>
                  <a:t> </a:t>
                </a:r>
              </a:p>
            </p:txBody>
          </p:sp>
        </mc:Fallback>
      </mc:AlternateContent>
      <p:sp>
        <p:nvSpPr>
          <p:cNvPr id="14" name="Rectangle 13"/>
          <p:cNvSpPr/>
          <p:nvPr/>
        </p:nvSpPr>
        <p:spPr>
          <a:xfrm>
            <a:off x="609600" y="4343400"/>
            <a:ext cx="8164688" cy="830997"/>
          </a:xfrm>
          <a:prstGeom prst="rect">
            <a:avLst/>
          </a:prstGeom>
        </p:spPr>
        <p:txBody>
          <a:bodyPr wrap="square">
            <a:spAutoFit/>
          </a:bodyPr>
          <a:lstStyle/>
          <a:p>
            <a:r>
              <a:rPr lang="en-US" sz="2400" dirty="0"/>
              <a:t>The probability of landing on each color of the spinner is always one fourth</a:t>
            </a:r>
          </a:p>
        </p:txBody>
      </p:sp>
      <p:sp>
        <p:nvSpPr>
          <p:cNvPr id="15" name="Rectangle 14"/>
          <p:cNvSpPr/>
          <p:nvPr/>
        </p:nvSpPr>
        <p:spPr>
          <a:xfrm>
            <a:off x="609600" y="5334000"/>
            <a:ext cx="6015501" cy="461665"/>
          </a:xfrm>
          <a:prstGeom prst="rect">
            <a:avLst/>
          </a:prstGeom>
        </p:spPr>
        <p:txBody>
          <a:bodyPr wrap="square">
            <a:spAutoFit/>
          </a:bodyPr>
          <a:lstStyle/>
          <a:p>
            <a:r>
              <a:rPr lang="en-US" sz="2400" dirty="0"/>
              <a:t>Then the outcomes are equally likely to occur.</a:t>
            </a:r>
          </a:p>
        </p:txBody>
      </p:sp>
    </p:spTree>
    <p:extLst>
      <p:ext uri="{BB962C8B-B14F-4D97-AF65-F5344CB8AC3E}">
        <p14:creationId xmlns:p14="http://schemas.microsoft.com/office/powerpoint/2010/main" val="211288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dirty="0"/>
              <a:t>Exercises 01</a:t>
            </a:r>
          </a:p>
        </p:txBody>
      </p:sp>
      <p:sp>
        <p:nvSpPr>
          <p:cNvPr id="3" name="Rectangle 2"/>
          <p:cNvSpPr/>
          <p:nvPr/>
        </p:nvSpPr>
        <p:spPr>
          <a:xfrm>
            <a:off x="460688" y="1457150"/>
            <a:ext cx="8226112" cy="1631216"/>
          </a:xfrm>
          <a:prstGeom prst="rect">
            <a:avLst/>
          </a:prstGeom>
        </p:spPr>
        <p:txBody>
          <a:bodyPr wrap="square">
            <a:spAutoFit/>
          </a:bodyPr>
          <a:lstStyle/>
          <a:p>
            <a:pPr marL="514350" indent="-514350">
              <a:buFont typeface="+mj-lt"/>
              <a:buAutoNum type="arabicPeriod"/>
            </a:pPr>
            <a:r>
              <a:rPr lang="en-US" sz="2000" dirty="0"/>
              <a:t>Which of the following is an experiment?</a:t>
            </a:r>
          </a:p>
          <a:p>
            <a:pPr marL="1139825" indent="-563563">
              <a:buNone/>
            </a:pPr>
            <a:r>
              <a:rPr lang="en-US" sz="2000" dirty="0"/>
              <a:t>A.	Tossing a coin.</a:t>
            </a:r>
          </a:p>
          <a:p>
            <a:pPr marL="1139825" indent="-563563">
              <a:buNone/>
            </a:pPr>
            <a:r>
              <a:rPr lang="en-US" sz="2000" dirty="0"/>
              <a:t>B.	Rolling a single 6-sided die.</a:t>
            </a:r>
          </a:p>
          <a:p>
            <a:pPr marL="1139825" indent="-563563">
              <a:buNone/>
            </a:pPr>
            <a:r>
              <a:rPr lang="en-US" sz="2000" dirty="0"/>
              <a:t>C.	Choosing a marble from a jar.</a:t>
            </a:r>
          </a:p>
          <a:p>
            <a:pPr marL="1139825" indent="-563563">
              <a:buNone/>
            </a:pPr>
            <a:r>
              <a:rPr lang="en-US" sz="2000" dirty="0"/>
              <a:t>D.	All of the above.</a:t>
            </a:r>
          </a:p>
        </p:txBody>
      </p:sp>
      <p:sp>
        <p:nvSpPr>
          <p:cNvPr id="5" name="Rectangle 4"/>
          <p:cNvSpPr/>
          <p:nvPr/>
        </p:nvSpPr>
        <p:spPr>
          <a:xfrm>
            <a:off x="436392" y="3109679"/>
            <a:ext cx="8250407" cy="1631216"/>
          </a:xfrm>
          <a:prstGeom prst="rect">
            <a:avLst/>
          </a:prstGeom>
        </p:spPr>
        <p:txBody>
          <a:bodyPr wrap="square">
            <a:spAutoFit/>
          </a:bodyPr>
          <a:lstStyle/>
          <a:p>
            <a:pPr marL="576263" indent="-576263">
              <a:buNone/>
            </a:pPr>
            <a:r>
              <a:rPr lang="en-US" sz="2000" dirty="0"/>
              <a:t>2.	Which of the following is an outcome?</a:t>
            </a:r>
          </a:p>
          <a:p>
            <a:pPr marL="1139825" indent="-563563">
              <a:buNone/>
            </a:pPr>
            <a:r>
              <a:rPr lang="en-US" sz="2000" dirty="0"/>
              <a:t>A.	Rolling a pair of dice.</a:t>
            </a:r>
          </a:p>
          <a:p>
            <a:pPr marL="1139825" indent="-563563">
              <a:buNone/>
            </a:pPr>
            <a:r>
              <a:rPr lang="en-US" sz="2000" dirty="0"/>
              <a:t>B.	Landing on red.</a:t>
            </a:r>
          </a:p>
          <a:p>
            <a:pPr marL="1139825" indent="-563563">
              <a:buNone/>
            </a:pPr>
            <a:r>
              <a:rPr lang="en-US" sz="2000" dirty="0"/>
              <a:t>C.	Choosing 2 marbles from a jar.</a:t>
            </a:r>
          </a:p>
          <a:p>
            <a:pPr marL="1139825" indent="-563563">
              <a:buNone/>
            </a:pPr>
            <a:r>
              <a:rPr lang="en-US" sz="2000" dirty="0"/>
              <a:t>D.	None of the above.</a:t>
            </a:r>
          </a:p>
        </p:txBody>
      </p:sp>
      <p:sp>
        <p:nvSpPr>
          <p:cNvPr id="7" name="Rectangle 6"/>
          <p:cNvSpPr/>
          <p:nvPr/>
        </p:nvSpPr>
        <p:spPr>
          <a:xfrm>
            <a:off x="413831" y="4708691"/>
            <a:ext cx="8229598" cy="1938992"/>
          </a:xfrm>
          <a:prstGeom prst="rect">
            <a:avLst/>
          </a:prstGeom>
        </p:spPr>
        <p:txBody>
          <a:bodyPr wrap="square">
            <a:spAutoFit/>
          </a:bodyPr>
          <a:lstStyle/>
          <a:p>
            <a:pPr marL="576263" indent="-576263">
              <a:buAutoNum type="arabicPeriod" startAt="3"/>
            </a:pPr>
            <a:r>
              <a:rPr lang="en-US" sz="2000" dirty="0"/>
              <a:t>Which of the following experiments </a:t>
            </a:r>
            <a:r>
              <a:rPr lang="en-US" sz="2000" b="1" dirty="0"/>
              <a:t>does NOT have</a:t>
            </a:r>
            <a:r>
              <a:rPr lang="en-US" sz="2000" dirty="0"/>
              <a:t> equally likely outcomes?</a:t>
            </a:r>
          </a:p>
          <a:p>
            <a:pPr marL="1139825" indent="-563563">
              <a:buNone/>
            </a:pPr>
            <a:r>
              <a:rPr lang="en-US" sz="2000" dirty="0"/>
              <a:t>A. 	Choose a number at random from 1 to 7.</a:t>
            </a:r>
          </a:p>
          <a:p>
            <a:pPr marL="1139825" indent="-563563">
              <a:buAutoNum type="alphaUcPeriod" startAt="2"/>
            </a:pPr>
            <a:r>
              <a:rPr lang="en-US" sz="2000" dirty="0"/>
              <a:t>Toss a coin.</a:t>
            </a:r>
          </a:p>
          <a:p>
            <a:pPr marL="1139825" indent="-563563">
              <a:buAutoNum type="alphaUcPeriod" startAt="2"/>
            </a:pPr>
            <a:r>
              <a:rPr lang="en-US" sz="2000" dirty="0"/>
              <a:t>Choose a letter at random from the word SCHOOL.</a:t>
            </a:r>
          </a:p>
          <a:p>
            <a:pPr marL="1139825" indent="-563563">
              <a:buAutoNum type="alphaUcPeriod" startAt="2"/>
            </a:pPr>
            <a:r>
              <a:rPr lang="en-US" sz="2000" dirty="0"/>
              <a:t>None of the above.</a:t>
            </a:r>
          </a:p>
        </p:txBody>
      </p:sp>
      <p:sp>
        <p:nvSpPr>
          <p:cNvPr id="9" name="Rectangle 8"/>
          <p:cNvSpPr/>
          <p:nvPr/>
        </p:nvSpPr>
        <p:spPr>
          <a:xfrm>
            <a:off x="971600" y="5921900"/>
            <a:ext cx="5976664" cy="400110"/>
          </a:xfrm>
          <a:prstGeom prst="rect">
            <a:avLst/>
          </a:prstGeom>
        </p:spPr>
        <p:txBody>
          <a:bodyPr wrap="square">
            <a:spAutoFit/>
          </a:bodyPr>
          <a:lstStyle/>
          <a:p>
            <a:pPr marL="576262"/>
            <a:r>
              <a:rPr lang="en-US" sz="2000" dirty="0">
                <a:solidFill>
                  <a:srgbClr val="FF0000"/>
                </a:solidFill>
              </a:rPr>
              <a:t>Choose a letter at random from the word SCHOOL.</a:t>
            </a:r>
          </a:p>
        </p:txBody>
      </p:sp>
      <p:sp>
        <p:nvSpPr>
          <p:cNvPr id="10" name="Rectangle 9"/>
          <p:cNvSpPr/>
          <p:nvPr/>
        </p:nvSpPr>
        <p:spPr>
          <a:xfrm>
            <a:off x="1002870" y="3710484"/>
            <a:ext cx="2378664" cy="400110"/>
          </a:xfrm>
          <a:prstGeom prst="rect">
            <a:avLst/>
          </a:prstGeom>
        </p:spPr>
        <p:txBody>
          <a:bodyPr wrap="none">
            <a:spAutoFit/>
          </a:bodyPr>
          <a:lstStyle/>
          <a:p>
            <a:pPr marL="1139825" indent="-563563">
              <a:buNone/>
            </a:pPr>
            <a:r>
              <a:rPr lang="en-US" sz="2000" dirty="0">
                <a:solidFill>
                  <a:srgbClr val="FF0000"/>
                </a:solidFill>
              </a:rPr>
              <a:t>Landing on red.</a:t>
            </a:r>
          </a:p>
        </p:txBody>
      </p:sp>
      <p:sp>
        <p:nvSpPr>
          <p:cNvPr id="11" name="Rectangle 10"/>
          <p:cNvSpPr/>
          <p:nvPr/>
        </p:nvSpPr>
        <p:spPr>
          <a:xfrm>
            <a:off x="1601904" y="2673508"/>
            <a:ext cx="1885003" cy="400110"/>
          </a:xfrm>
          <a:prstGeom prst="rect">
            <a:avLst/>
          </a:prstGeom>
        </p:spPr>
        <p:txBody>
          <a:bodyPr wrap="none">
            <a:spAutoFit/>
          </a:bodyPr>
          <a:lstStyle/>
          <a:p>
            <a:r>
              <a:rPr lang="en-US" sz="2000" dirty="0">
                <a:solidFill>
                  <a:srgbClr val="FF0000"/>
                </a:solidFill>
              </a:rPr>
              <a:t>All of the above.</a:t>
            </a:r>
          </a:p>
        </p:txBody>
      </p:sp>
    </p:spTree>
    <p:extLst>
      <p:ext uri="{BB962C8B-B14F-4D97-AF65-F5344CB8AC3E}">
        <p14:creationId xmlns:p14="http://schemas.microsoft.com/office/powerpoint/2010/main" val="347506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dirty="0"/>
              <a:t>Exercises 02</a:t>
            </a:r>
          </a:p>
        </p:txBody>
      </p:sp>
      <p:sp>
        <p:nvSpPr>
          <p:cNvPr id="3" name="Rectangle 2"/>
          <p:cNvSpPr/>
          <p:nvPr/>
        </p:nvSpPr>
        <p:spPr>
          <a:xfrm>
            <a:off x="457200" y="1438808"/>
            <a:ext cx="8229600" cy="1015663"/>
          </a:xfrm>
          <a:prstGeom prst="rect">
            <a:avLst/>
          </a:prstGeom>
        </p:spPr>
        <p:txBody>
          <a:bodyPr wrap="square">
            <a:spAutoFit/>
          </a:bodyPr>
          <a:lstStyle/>
          <a:p>
            <a:pPr marL="576263" indent="-576263">
              <a:buNone/>
            </a:pPr>
            <a:r>
              <a:rPr lang="en-US" sz="2000" dirty="0"/>
              <a:t>4.	What is the probability of choosing a vowel from the alphabet?</a:t>
            </a:r>
          </a:p>
          <a:p>
            <a:pPr marL="1139825" indent="-563563">
              <a:buNone/>
            </a:pPr>
            <a:r>
              <a:rPr lang="en-US" sz="2000" dirty="0"/>
              <a:t>A. 	21/26.		B.  5/26.</a:t>
            </a:r>
          </a:p>
          <a:p>
            <a:pPr marL="576262"/>
            <a:r>
              <a:rPr lang="en-US" sz="2000" dirty="0"/>
              <a:t>C.	      1/21.		D.  None of the above.</a:t>
            </a:r>
          </a:p>
        </p:txBody>
      </p:sp>
      <p:sp>
        <p:nvSpPr>
          <p:cNvPr id="4" name="Rectangle 3"/>
          <p:cNvSpPr/>
          <p:nvPr/>
        </p:nvSpPr>
        <p:spPr>
          <a:xfrm>
            <a:off x="2945312" y="1741080"/>
            <a:ext cx="1319272" cy="400110"/>
          </a:xfrm>
          <a:prstGeom prst="rect">
            <a:avLst/>
          </a:prstGeom>
        </p:spPr>
        <p:txBody>
          <a:bodyPr wrap="none">
            <a:spAutoFit/>
          </a:bodyPr>
          <a:lstStyle/>
          <a:p>
            <a:pPr marL="576262"/>
            <a:r>
              <a:rPr lang="en-US" sz="2000" dirty="0">
                <a:solidFill>
                  <a:srgbClr val="FF0000"/>
                </a:solidFill>
              </a:rPr>
              <a:t>5/26.</a:t>
            </a:r>
          </a:p>
        </p:txBody>
      </p:sp>
      <p:sp>
        <p:nvSpPr>
          <p:cNvPr id="5" name="Rectangle 4"/>
          <p:cNvSpPr/>
          <p:nvPr/>
        </p:nvSpPr>
        <p:spPr>
          <a:xfrm>
            <a:off x="440738" y="2645971"/>
            <a:ext cx="8163710" cy="1015663"/>
          </a:xfrm>
          <a:prstGeom prst="rect">
            <a:avLst/>
          </a:prstGeom>
        </p:spPr>
        <p:txBody>
          <a:bodyPr wrap="square">
            <a:spAutoFit/>
          </a:bodyPr>
          <a:lstStyle/>
          <a:p>
            <a:pPr marL="576263" indent="-576263">
              <a:buNone/>
            </a:pPr>
            <a:r>
              <a:rPr lang="en-US" sz="2000" dirty="0"/>
              <a:t>5.	A number from 1 to 11 is chosen at random. What is the probability of choosing an odd number?</a:t>
            </a:r>
          </a:p>
          <a:p>
            <a:pPr marL="1139825" indent="-563563">
              <a:buNone/>
              <a:tabLst>
                <a:tab pos="2109788" algn="l"/>
                <a:tab pos="3775075" algn="l"/>
                <a:tab pos="5146675" algn="l"/>
              </a:tabLst>
            </a:pPr>
            <a:r>
              <a:rPr lang="en-US" sz="2000" dirty="0"/>
              <a:t>A. 	1/11.	B.   5/11.	C. 6/11.	D. None of the above.</a:t>
            </a:r>
          </a:p>
        </p:txBody>
      </p:sp>
      <p:sp>
        <p:nvSpPr>
          <p:cNvPr id="6" name="Rectangle 5"/>
          <p:cNvSpPr/>
          <p:nvPr/>
        </p:nvSpPr>
        <p:spPr>
          <a:xfrm>
            <a:off x="3897616" y="3261524"/>
            <a:ext cx="1319272" cy="400110"/>
          </a:xfrm>
          <a:prstGeom prst="rect">
            <a:avLst/>
          </a:prstGeom>
        </p:spPr>
        <p:txBody>
          <a:bodyPr wrap="none">
            <a:spAutoFit/>
          </a:bodyPr>
          <a:lstStyle/>
          <a:p>
            <a:pPr marL="576262"/>
            <a:r>
              <a:rPr lang="en-US" sz="2000" dirty="0">
                <a:solidFill>
                  <a:srgbClr val="FF0000"/>
                </a:solidFill>
              </a:rPr>
              <a:t>6/11.</a:t>
            </a:r>
          </a:p>
        </p:txBody>
      </p:sp>
      <p:sp>
        <p:nvSpPr>
          <p:cNvPr id="7" name="Rectangle 6"/>
          <p:cNvSpPr/>
          <p:nvPr/>
        </p:nvSpPr>
        <p:spPr>
          <a:xfrm>
            <a:off x="440738" y="3853134"/>
            <a:ext cx="8507288" cy="2246769"/>
          </a:xfrm>
          <a:prstGeom prst="rect">
            <a:avLst/>
          </a:prstGeom>
        </p:spPr>
        <p:txBody>
          <a:bodyPr wrap="square">
            <a:spAutoFit/>
          </a:bodyPr>
          <a:lstStyle/>
          <a:p>
            <a:pPr marL="576263" indent="-576263">
              <a:buNone/>
            </a:pPr>
            <a:r>
              <a:rPr lang="en-US" sz="2000" dirty="0"/>
              <a:t>6.	A glass jar contains 5 red, 3 blue and 2 green jelly beans. If a jelly bean is chosen at random from the jar, then which of the following is an impossible event?</a:t>
            </a:r>
          </a:p>
          <a:p>
            <a:pPr marL="1139825" indent="-563563">
              <a:buNone/>
            </a:pPr>
            <a:r>
              <a:rPr lang="en-US" sz="2000" dirty="0"/>
              <a:t>A. 	Choosing a red jelly bean.</a:t>
            </a:r>
          </a:p>
          <a:p>
            <a:pPr marL="1139825" indent="-563563">
              <a:buAutoNum type="alphaUcPeriod" startAt="2"/>
            </a:pPr>
            <a:r>
              <a:rPr lang="en-US" sz="2000" dirty="0"/>
              <a:t>Choosing a blue jelly bean.</a:t>
            </a:r>
          </a:p>
          <a:p>
            <a:pPr marL="1139825" indent="-563563">
              <a:buAutoNum type="alphaUcPeriod" startAt="2"/>
            </a:pPr>
            <a:r>
              <a:rPr lang="en-US" sz="2000" dirty="0"/>
              <a:t>Choosing a yellow jelly bean.</a:t>
            </a:r>
          </a:p>
          <a:p>
            <a:pPr marL="1139825" indent="-563563">
              <a:buAutoNum type="alphaUcPeriod" startAt="2"/>
            </a:pPr>
            <a:r>
              <a:rPr lang="en-US" sz="2000" dirty="0"/>
              <a:t>None of the above.</a:t>
            </a:r>
          </a:p>
        </p:txBody>
      </p:sp>
      <p:sp>
        <p:nvSpPr>
          <p:cNvPr id="8" name="Rectangle 7"/>
          <p:cNvSpPr/>
          <p:nvPr/>
        </p:nvSpPr>
        <p:spPr>
          <a:xfrm>
            <a:off x="1575226" y="5373216"/>
            <a:ext cx="3113994" cy="400110"/>
          </a:xfrm>
          <a:prstGeom prst="rect">
            <a:avLst/>
          </a:prstGeom>
        </p:spPr>
        <p:txBody>
          <a:bodyPr wrap="none">
            <a:spAutoFit/>
          </a:bodyPr>
          <a:lstStyle/>
          <a:p>
            <a:r>
              <a:rPr lang="en-US" sz="2000" dirty="0">
                <a:solidFill>
                  <a:srgbClr val="FF0000"/>
                </a:solidFill>
              </a:rPr>
              <a:t>Choosing a yellow jelly bean</a:t>
            </a:r>
          </a:p>
        </p:txBody>
      </p:sp>
    </p:spTree>
    <p:extLst>
      <p:ext uri="{BB962C8B-B14F-4D97-AF65-F5344CB8AC3E}">
        <p14:creationId xmlns:p14="http://schemas.microsoft.com/office/powerpoint/2010/main" val="56466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a:solidFill>
            <a:schemeClr val="accent5">
              <a:lumMod val="20000"/>
              <a:lumOff val="80000"/>
            </a:schemeClr>
          </a:solidFill>
        </p:spPr>
        <p:txBody>
          <a:bodyPr/>
          <a:lstStyle/>
          <a:p>
            <a:r>
              <a:rPr lang="en-US" dirty="0"/>
              <a:t>Exercises 03</a:t>
            </a:r>
          </a:p>
        </p:txBody>
      </p:sp>
      <p:sp>
        <p:nvSpPr>
          <p:cNvPr id="3" name="Rectangle 2"/>
          <p:cNvSpPr/>
          <p:nvPr/>
        </p:nvSpPr>
        <p:spPr>
          <a:xfrm>
            <a:off x="390364" y="1563090"/>
            <a:ext cx="8363272" cy="1938992"/>
          </a:xfrm>
          <a:prstGeom prst="rect">
            <a:avLst/>
          </a:prstGeom>
        </p:spPr>
        <p:txBody>
          <a:bodyPr wrap="square">
            <a:spAutoFit/>
          </a:bodyPr>
          <a:lstStyle/>
          <a:p>
            <a:pPr marL="576263" indent="-576263">
              <a:buNone/>
            </a:pPr>
            <a:r>
              <a:rPr lang="en-US" sz="2000" dirty="0"/>
              <a:t>7.	A spinner has 7 equal sectors numbered 1 to 7. If you spin the spinner, then which of the following is a certain event?</a:t>
            </a:r>
          </a:p>
          <a:p>
            <a:pPr marL="1139825" indent="-563563">
              <a:buNone/>
            </a:pPr>
            <a:r>
              <a:rPr lang="en-US" sz="2000" dirty="0"/>
              <a:t>A. 	Landing on a number less than 7.</a:t>
            </a:r>
          </a:p>
          <a:p>
            <a:pPr marL="1139825" indent="-563563">
              <a:buAutoNum type="alphaUcPeriod" startAt="2"/>
            </a:pPr>
            <a:r>
              <a:rPr lang="en-US" sz="2000" dirty="0"/>
              <a:t>Landing on a number less than 8.</a:t>
            </a:r>
          </a:p>
          <a:p>
            <a:pPr marL="1139825" indent="-563563">
              <a:buAutoNum type="alphaUcPeriod" startAt="2"/>
            </a:pPr>
            <a:r>
              <a:rPr lang="en-US" sz="2000" dirty="0"/>
              <a:t>Landing on a number greater than 1.</a:t>
            </a:r>
          </a:p>
          <a:p>
            <a:pPr marL="1139825" indent="-563563">
              <a:buAutoNum type="alphaUcPeriod" startAt="2"/>
            </a:pPr>
            <a:r>
              <a:rPr lang="en-US" sz="2000" dirty="0"/>
              <a:t>None of the above.</a:t>
            </a:r>
          </a:p>
        </p:txBody>
      </p:sp>
      <p:sp>
        <p:nvSpPr>
          <p:cNvPr id="5" name="Rectangle 4"/>
          <p:cNvSpPr/>
          <p:nvPr/>
        </p:nvSpPr>
        <p:spPr>
          <a:xfrm>
            <a:off x="953412" y="2471441"/>
            <a:ext cx="4209486" cy="400110"/>
          </a:xfrm>
          <a:prstGeom prst="rect">
            <a:avLst/>
          </a:prstGeom>
        </p:spPr>
        <p:txBody>
          <a:bodyPr wrap="none">
            <a:spAutoFit/>
          </a:bodyPr>
          <a:lstStyle/>
          <a:p>
            <a:pPr marL="576262"/>
            <a:r>
              <a:rPr lang="en-US" sz="2000" dirty="0">
                <a:solidFill>
                  <a:srgbClr val="FF0000"/>
                </a:solidFill>
              </a:rPr>
              <a:t>Landing on a number less than 8.</a:t>
            </a:r>
          </a:p>
        </p:txBody>
      </p:sp>
      <p:sp>
        <p:nvSpPr>
          <p:cNvPr id="6" name="Rectangle 5"/>
          <p:cNvSpPr/>
          <p:nvPr/>
        </p:nvSpPr>
        <p:spPr>
          <a:xfrm>
            <a:off x="410314" y="3674957"/>
            <a:ext cx="8276486" cy="1938992"/>
          </a:xfrm>
          <a:prstGeom prst="rect">
            <a:avLst/>
          </a:prstGeom>
        </p:spPr>
        <p:txBody>
          <a:bodyPr wrap="square">
            <a:spAutoFit/>
          </a:bodyPr>
          <a:lstStyle/>
          <a:p>
            <a:pPr marL="576263" indent="-576263">
              <a:buNone/>
            </a:pPr>
            <a:r>
              <a:rPr lang="en-US" sz="2000" dirty="0"/>
              <a:t>8.	If a single 6-sided die is rolled, then which of the following events is neither certain nor impossible?</a:t>
            </a:r>
          </a:p>
          <a:p>
            <a:pPr marL="1139825" indent="-563563">
              <a:buNone/>
            </a:pPr>
            <a:r>
              <a:rPr lang="en-US" sz="2000" dirty="0"/>
              <a:t>A. 	Landing on a number less than 7.</a:t>
            </a:r>
          </a:p>
          <a:p>
            <a:pPr marL="1139825" indent="-563563">
              <a:buAutoNum type="alphaUcPeriod" startAt="2"/>
            </a:pPr>
            <a:r>
              <a:rPr lang="en-US" sz="2000" dirty="0"/>
              <a:t>Landing on an even number.</a:t>
            </a:r>
          </a:p>
          <a:p>
            <a:pPr marL="1139825" indent="-563563">
              <a:buAutoNum type="alphaUcPeriod" startAt="2"/>
            </a:pPr>
            <a:r>
              <a:rPr lang="en-US" sz="2000" dirty="0"/>
              <a:t>Landing on a zero.</a:t>
            </a:r>
          </a:p>
          <a:p>
            <a:pPr marL="1139825" indent="-563563">
              <a:buAutoNum type="alphaUcPeriod" startAt="2"/>
            </a:pPr>
            <a:r>
              <a:rPr lang="en-US" sz="2000" dirty="0"/>
              <a:t>None of the above.</a:t>
            </a:r>
          </a:p>
        </p:txBody>
      </p:sp>
      <p:sp>
        <p:nvSpPr>
          <p:cNvPr id="7" name="Rectangle 6"/>
          <p:cNvSpPr/>
          <p:nvPr/>
        </p:nvSpPr>
        <p:spPr>
          <a:xfrm>
            <a:off x="968160" y="4580681"/>
            <a:ext cx="3707040" cy="400110"/>
          </a:xfrm>
          <a:prstGeom prst="rect">
            <a:avLst/>
          </a:prstGeom>
        </p:spPr>
        <p:txBody>
          <a:bodyPr wrap="none">
            <a:spAutoFit/>
          </a:bodyPr>
          <a:lstStyle/>
          <a:p>
            <a:pPr marL="576262"/>
            <a:r>
              <a:rPr lang="en-US" sz="2000" dirty="0">
                <a:solidFill>
                  <a:srgbClr val="FF0000"/>
                </a:solidFill>
              </a:rPr>
              <a:t>Landing on an even number.</a:t>
            </a:r>
          </a:p>
        </p:txBody>
      </p:sp>
    </p:spTree>
    <p:extLst>
      <p:ext uri="{BB962C8B-B14F-4D97-AF65-F5344CB8AC3E}">
        <p14:creationId xmlns:p14="http://schemas.microsoft.com/office/powerpoint/2010/main" val="264853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dirty="0"/>
              <a:t>Permutation</a:t>
            </a:r>
          </a:p>
        </p:txBody>
      </p:sp>
      <mc:AlternateContent xmlns:mc="http://schemas.openxmlformats.org/markup-compatibility/2006" xmlns:a14="http://schemas.microsoft.com/office/drawing/2010/main">
        <mc:Choice Requires="a14">
          <p:sp>
            <p:nvSpPr>
              <p:cNvPr id="3" name="Rectangle 2"/>
              <p:cNvSpPr/>
              <p:nvPr/>
            </p:nvSpPr>
            <p:spPr>
              <a:xfrm>
                <a:off x="457200" y="1628800"/>
                <a:ext cx="8229600" cy="1200329"/>
              </a:xfrm>
              <a:prstGeom prst="rect">
                <a:avLst/>
              </a:prstGeom>
            </p:spPr>
            <p:txBody>
              <a:bodyPr wrap="square">
                <a:spAutoFit/>
              </a:bodyPr>
              <a:lstStyle/>
              <a:p>
                <a:pPr algn="just"/>
                <a:r>
                  <a:rPr lang="en-US" sz="2400" dirty="0">
                    <a:latin typeface="NimbusSanL-Regu"/>
                  </a:rPr>
                  <a:t>The number of distinct subsets, or combinations, of size </a:t>
                </a:r>
                <a14:m>
                  <m:oMath xmlns:m="http://schemas.openxmlformats.org/officeDocument/2006/math">
                    <m:r>
                      <a:rPr lang="en-US" sz="2400" b="0" i="1" dirty="0" smtClean="0">
                        <a:latin typeface="Cambria Math" panose="02040503050406030204" pitchFamily="18" charset="0"/>
                      </a:rPr>
                      <m:t>𝑘</m:t>
                    </m:r>
                  </m:oMath>
                </a14:m>
                <a:r>
                  <a:rPr lang="en-US" sz="2400" dirty="0">
                    <a:latin typeface="NimbusSanL-ReguItal"/>
                  </a:rPr>
                  <a:t> </a:t>
                </a:r>
                <a:r>
                  <a:rPr lang="en-US" sz="2400" dirty="0">
                    <a:latin typeface="NimbusSanL-Regu"/>
                  </a:rPr>
                  <a:t>that can be selected from </a:t>
                </a:r>
                <a14:m>
                  <m:oMath xmlns:m="http://schemas.openxmlformats.org/officeDocument/2006/math">
                    <m:r>
                      <a:rPr lang="en-US" sz="2400" i="1" dirty="0" smtClean="0">
                        <a:latin typeface="Cambria Math" panose="02040503050406030204" pitchFamily="18" charset="0"/>
                      </a:rPr>
                      <m:t>𝑛</m:t>
                    </m:r>
                  </m:oMath>
                </a14:m>
                <a:r>
                  <a:rPr lang="en-US" sz="2400" dirty="0">
                    <a:latin typeface="NimbusSanL-ReguItal"/>
                  </a:rPr>
                  <a:t> </a:t>
                </a:r>
                <a:r>
                  <a:rPr lang="en-US" sz="2400" dirty="0">
                    <a:latin typeface="NimbusSanL-Regu"/>
                  </a:rPr>
                  <a:t>distinct objects </a:t>
                </a:r>
                <a:r>
                  <a:rPr lang="en-US" sz="2400" dirty="0">
                    <a:latin typeface="CMSS10"/>
                  </a:rPr>
                  <a:t>(</a:t>
                </a:r>
                <a14:m>
                  <m:oMath xmlns:m="http://schemas.openxmlformats.org/officeDocument/2006/math">
                    <m:r>
                      <a:rPr lang="en-US" sz="2400" i="1" dirty="0" smtClean="0">
                        <a:latin typeface="Cambria Math" panose="02040503050406030204" pitchFamily="18" charset="0"/>
                      </a:rPr>
                      <m:t>𝑛</m:t>
                    </m:r>
                    <m:r>
                      <a:rPr lang="en-US" sz="2400" b="0" i="1" dirty="0" smtClean="0">
                        <a:latin typeface="Cambria Math" panose="02040503050406030204" pitchFamily="18" charset="0"/>
                      </a:rPr>
                      <m:t> </m:t>
                    </m:r>
                    <m:r>
                      <a:rPr lang="en-US" sz="2400" b="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 </m:t>
                    </m:r>
                    <m:r>
                      <a:rPr lang="en-US" sz="2400" b="0" i="1" dirty="0" smtClean="0">
                        <a:latin typeface="Cambria Math" panose="02040503050406030204" pitchFamily="18" charset="0"/>
                      </a:rPr>
                      <m:t>𝑘</m:t>
                    </m:r>
                    <m:r>
                      <a:rPr lang="en-US" sz="2400" i="1" dirty="0" smtClean="0">
                        <a:latin typeface="Cambria Math" panose="02040503050406030204" pitchFamily="18" charset="0"/>
                      </a:rPr>
                      <m:t> </m:t>
                    </m:r>
                  </m:oMath>
                </a14:m>
                <a:r>
                  <a:rPr lang="en-US" sz="2400" dirty="0">
                    <a:latin typeface="CMSS10"/>
                  </a:rPr>
                  <a:t>)</a:t>
                </a:r>
                <a:r>
                  <a:rPr lang="en-US" sz="2400" dirty="0">
                    <a:latin typeface="NimbusSanL-Regu"/>
                  </a:rPr>
                  <a:t>, where </a:t>
                </a:r>
                <a14:m>
                  <m:oMath xmlns:m="http://schemas.openxmlformats.org/officeDocument/2006/math">
                    <m:r>
                      <a:rPr lang="en-US" sz="2400" b="0" i="1" dirty="0" smtClean="0">
                        <a:latin typeface="Cambria Math" panose="02040503050406030204" pitchFamily="18" charset="0"/>
                      </a:rPr>
                      <m:t>𝑘</m:t>
                    </m:r>
                  </m:oMath>
                </a14:m>
                <a:r>
                  <a:rPr lang="en-US" sz="2400" dirty="0">
                    <a:latin typeface="NimbusSanL-ReguItal"/>
                  </a:rPr>
                  <a:t>, </a:t>
                </a:r>
                <a:r>
                  <a:rPr lang="en-US" sz="2400" dirty="0">
                    <a:latin typeface="NimbusSanL-Regu"/>
                  </a:rPr>
                  <a:t>and </a:t>
                </a:r>
                <a14:m>
                  <m:oMath xmlns:m="http://schemas.openxmlformats.org/officeDocument/2006/math">
                    <m:r>
                      <a:rPr lang="en-US" sz="2400" i="1" dirty="0" smtClean="0">
                        <a:latin typeface="Cambria Math" panose="02040503050406030204" pitchFamily="18" charset="0"/>
                      </a:rPr>
                      <m:t>𝑛</m:t>
                    </m:r>
                  </m:oMath>
                </a14:m>
                <a:r>
                  <a:rPr lang="en-US" sz="2400" dirty="0">
                    <a:latin typeface="NimbusSanL-ReguItal"/>
                  </a:rPr>
                  <a:t> </a:t>
                </a:r>
                <a:r>
                  <a:rPr lang="en-US" sz="2400" dirty="0">
                    <a:latin typeface="NimbusSanL-Regu"/>
                  </a:rPr>
                  <a:t>both non-negative integers and </a:t>
                </a:r>
              </a:p>
            </p:txBody>
          </p:sp>
        </mc:Choice>
        <mc:Fallback xmlns="">
          <p:sp>
            <p:nvSpPr>
              <p:cNvPr id="3" name="Rectangle 2"/>
              <p:cNvSpPr>
                <a:spLocks noRot="1" noChangeAspect="1" noMove="1" noResize="1" noEditPoints="1" noAdjustHandles="1" noChangeArrowheads="1" noChangeShapeType="1" noTextEdit="1"/>
              </p:cNvSpPr>
              <p:nvPr/>
            </p:nvSpPr>
            <p:spPr>
              <a:xfrm>
                <a:off x="457200" y="1628800"/>
                <a:ext cx="8229600" cy="1200329"/>
              </a:xfrm>
              <a:prstGeom prst="rect">
                <a:avLst/>
              </a:prstGeom>
              <a:blipFill>
                <a:blip r:embed="rId2"/>
                <a:stretch>
                  <a:fillRect l="-1111" t="-3553" r="-1111" b="-11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57200" y="3024247"/>
                <a:ext cx="7784843" cy="1031564"/>
              </a:xfrm>
              <a:prstGeom prst="rect">
                <a:avLst/>
              </a:prstGeom>
            </p:spPr>
            <p:txBody>
              <a:bodyPr wrap="square">
                <a:spAutoFit/>
              </a:bodyPr>
              <a:lstStyle/>
              <a:p>
                <a:r>
                  <a:rPr lang="en-US" sz="2400" dirty="0">
                    <a:latin typeface="NimbusSanL-Regu"/>
                  </a:rPr>
                  <a:t>order of sequence is important is permutation</a:t>
                </a:r>
              </a:p>
              <a:p>
                <a:r>
                  <a:rPr lang="en-US" sz="2400" b="0" dirty="0"/>
                  <a:t>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𝑝</m:t>
                        </m:r>
                      </m:e>
                      <m:sub>
                        <m:r>
                          <a:rPr lang="en-US" sz="2400" b="0" i="1" smtClean="0">
                            <a:latin typeface="Cambria Math" panose="02040503050406030204" pitchFamily="18" charset="0"/>
                          </a:rPr>
                          <m:t>𝑘</m:t>
                        </m:r>
                      </m:sub>
                      <m:sup>
                        <m:r>
                          <a:rPr lang="en-US" sz="2400" b="0" i="1" smtClean="0">
                            <a:latin typeface="Cambria Math" panose="02040503050406030204" pitchFamily="18" charset="0"/>
                          </a:rPr>
                          <m:t>𝑛</m:t>
                        </m:r>
                      </m:sup>
                    </m:sSubSup>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−2</m:t>
                        </m:r>
                      </m:e>
                    </m:d>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+1</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𝑛</m:t>
                        </m:r>
                        <m:r>
                          <a:rPr lang="en-US" sz="2400" i="1">
                            <a:latin typeface="Cambria Math" panose="02040503050406030204" pitchFamily="18" charset="0"/>
                          </a:rPr>
                          <m:t>!</m:t>
                        </m:r>
                      </m:num>
                      <m:den>
                        <m:d>
                          <m:dPr>
                            <m:ctrlPr>
                              <a:rPr lang="en-US" sz="2400" i="1">
                                <a:latin typeface="Cambria Math" panose="02040503050406030204" pitchFamily="18" charset="0"/>
                              </a:rPr>
                            </m:ctrlPr>
                          </m:dPr>
                          <m:e>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𝑘</m:t>
                            </m:r>
                          </m:e>
                        </m:d>
                        <m:r>
                          <a:rPr lang="en-US" sz="2400" i="1">
                            <a:latin typeface="Cambria Math" panose="02040503050406030204" pitchFamily="18" charset="0"/>
                          </a:rPr>
                          <m:t>!</m:t>
                        </m:r>
                      </m:den>
                    </m:f>
                  </m:oMath>
                </a14:m>
                <a:endParaRPr lang="en-US" sz="2400" dirty="0"/>
              </a:p>
            </p:txBody>
          </p:sp>
        </mc:Choice>
        <mc:Fallback xmlns="">
          <p:sp>
            <p:nvSpPr>
              <p:cNvPr id="8" name="Rectangle 7"/>
              <p:cNvSpPr>
                <a:spLocks noRot="1" noChangeAspect="1" noMove="1" noResize="1" noEditPoints="1" noAdjustHandles="1" noChangeArrowheads="1" noChangeShapeType="1" noTextEdit="1"/>
              </p:cNvSpPr>
              <p:nvPr/>
            </p:nvSpPr>
            <p:spPr>
              <a:xfrm>
                <a:off x="457200" y="3024247"/>
                <a:ext cx="7784843" cy="1031564"/>
              </a:xfrm>
              <a:prstGeom prst="rect">
                <a:avLst/>
              </a:prstGeom>
              <a:blipFill>
                <a:blip r:embed="rId3"/>
                <a:stretch>
                  <a:fillRect l="-1175" t="-41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57201" y="4062004"/>
                <a:ext cx="8177258" cy="1050031"/>
              </a:xfrm>
              <a:prstGeom prst="rect">
                <a:avLst/>
              </a:prstGeom>
            </p:spPr>
            <p:txBody>
              <a:bodyPr wrap="square">
                <a:spAutoFit/>
              </a:bodyPr>
              <a:lstStyle/>
              <a:p>
                <a:r>
                  <a:rPr lang="en-US" sz="2400" dirty="0">
                    <a:latin typeface="NimbusSanL-Regu"/>
                  </a:rPr>
                  <a:t>order of sequence is not important is combination</a:t>
                </a:r>
              </a:p>
              <a:p>
                <a:r>
                  <a:rPr lang="en-US" sz="2400" b="0" dirty="0"/>
                  <a:t>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𝐶</m:t>
                        </m:r>
                      </m:e>
                      <m:sub>
                        <m:r>
                          <a:rPr lang="en-US" sz="2400" b="0" i="1" smtClean="0">
                            <a:latin typeface="Cambria Math" panose="02040503050406030204" pitchFamily="18" charset="0"/>
                          </a:rPr>
                          <m:t>𝑘</m:t>
                        </m:r>
                      </m:sub>
                      <m:sup>
                        <m:r>
                          <a:rPr lang="en-US" sz="2400" b="0" i="1" smtClean="0">
                            <a:latin typeface="Cambria Math" panose="02040503050406030204" pitchFamily="18" charset="0"/>
                          </a:rPr>
                          <m:t>𝑛</m:t>
                        </m:r>
                      </m:sup>
                    </m:sSub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−1</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−2</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+1</m:t>
                            </m:r>
                          </m:e>
                        </m:d>
                      </m:num>
                      <m:den>
                        <m:r>
                          <a:rPr lang="en-US" sz="2400" b="0" i="1" smtClean="0">
                            <a:latin typeface="Cambria Math" panose="02040503050406030204" pitchFamily="18" charset="0"/>
                          </a:rPr>
                          <m:t>𝑘</m:t>
                        </m:r>
                        <m:r>
                          <a:rPr lang="en-US" sz="2400" b="0" i="1" smtClean="0">
                            <a:latin typeface="Cambria Math" panose="02040503050406030204" pitchFamily="18" charset="0"/>
                          </a:rPr>
                          <m:t>!</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𝑛</m:t>
                        </m:r>
                        <m:r>
                          <a:rPr lang="en-US" sz="2400" i="1">
                            <a:latin typeface="Cambria Math" panose="02040503050406030204" pitchFamily="18" charset="0"/>
                          </a:rPr>
                          <m:t>!</m:t>
                        </m:r>
                      </m:num>
                      <m:den>
                        <m:d>
                          <m:dPr>
                            <m:ctrlPr>
                              <a:rPr lang="en-US" sz="2400" i="1">
                                <a:latin typeface="Cambria Math" panose="02040503050406030204" pitchFamily="18" charset="0"/>
                              </a:rPr>
                            </m:ctrlPr>
                          </m:dPr>
                          <m:e>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𝑘</m:t>
                            </m:r>
                          </m:e>
                        </m:d>
                        <m:r>
                          <a:rPr lang="en-US" sz="2400" i="1">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m:t>
                        </m:r>
                      </m:den>
                    </m:f>
                  </m:oMath>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457201" y="4062004"/>
                <a:ext cx="8177258" cy="1050031"/>
              </a:xfrm>
              <a:prstGeom prst="rect">
                <a:avLst/>
              </a:prstGeom>
              <a:blipFill>
                <a:blip r:embed="rId4"/>
                <a:stretch>
                  <a:fillRect l="-1119" t="-4046"/>
                </a:stretch>
              </a:blipFill>
            </p:spPr>
            <p:txBody>
              <a:bodyPr/>
              <a:lstStyle/>
              <a:p>
                <a:r>
                  <a:rPr lang="en-US">
                    <a:noFill/>
                  </a:rPr>
                  <a:t> </a:t>
                </a:r>
              </a:p>
            </p:txBody>
          </p:sp>
        </mc:Fallback>
      </mc:AlternateContent>
    </p:spTree>
    <p:extLst>
      <p:ext uri="{BB962C8B-B14F-4D97-AF65-F5344CB8AC3E}">
        <p14:creationId xmlns:p14="http://schemas.microsoft.com/office/powerpoint/2010/main" val="3265023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a:solidFill>
            <a:schemeClr val="accent5">
              <a:lumMod val="20000"/>
              <a:lumOff val="80000"/>
            </a:schemeClr>
          </a:solidFill>
        </p:spPr>
        <p:txBody>
          <a:bodyPr/>
          <a:lstStyle/>
          <a:p>
            <a:r>
              <a:rPr lang="en-US" dirty="0"/>
              <a:t>Examples 02</a:t>
            </a:r>
          </a:p>
        </p:txBody>
      </p:sp>
      <p:sp>
        <p:nvSpPr>
          <p:cNvPr id="5" name="TextBox 4"/>
          <p:cNvSpPr txBox="1"/>
          <p:nvPr/>
        </p:nvSpPr>
        <p:spPr>
          <a:xfrm>
            <a:off x="457200" y="1556792"/>
            <a:ext cx="8229600" cy="2308324"/>
          </a:xfrm>
          <a:prstGeom prst="rect">
            <a:avLst/>
          </a:prstGeom>
          <a:solidFill>
            <a:schemeClr val="accent1">
              <a:lumMod val="40000"/>
              <a:lumOff val="60000"/>
            </a:schemeClr>
          </a:solidFill>
        </p:spPr>
        <p:txBody>
          <a:bodyPr wrap="square" rtlCol="0">
            <a:spAutoFit/>
          </a:bodyPr>
          <a:lstStyle/>
          <a:p>
            <a:pPr marL="457200" indent="-457200" algn="just">
              <a:buAutoNum type="arabicPeriod"/>
            </a:pPr>
            <a:r>
              <a:rPr lang="en-US" sz="2400" dirty="0"/>
              <a:t>If repetitions are not permitted, </a:t>
            </a:r>
          </a:p>
          <a:p>
            <a:pPr marL="914400" indent="-457200" algn="just">
              <a:buAutoNum type="alphaLcPeriod"/>
            </a:pPr>
            <a:r>
              <a:rPr lang="en-US" sz="2400" dirty="0"/>
              <a:t>how many 3 digit numbers can be formed from 2,3,5,6,7 and 9?. </a:t>
            </a:r>
          </a:p>
          <a:p>
            <a:pPr marL="914400" indent="-457200" algn="just">
              <a:buAutoNum type="alphaLcPeriod"/>
            </a:pPr>
            <a:r>
              <a:rPr lang="en-US" sz="2400" dirty="0"/>
              <a:t>How many are less then 400? </a:t>
            </a:r>
          </a:p>
          <a:p>
            <a:pPr marL="914400" indent="-457200" algn="just">
              <a:buAutoNum type="alphaLcPeriod"/>
            </a:pPr>
            <a:r>
              <a:rPr lang="en-US" sz="2400" dirty="0"/>
              <a:t>How many are even </a:t>
            </a:r>
          </a:p>
          <a:p>
            <a:pPr marL="914400" indent="-457200" algn="just">
              <a:buAutoNum type="alphaLcPeriod"/>
            </a:pPr>
            <a:r>
              <a:rPr lang="en-US" sz="2400"/>
              <a:t>how many are </a:t>
            </a:r>
            <a:r>
              <a:rPr lang="en-US" sz="2400" dirty="0"/>
              <a:t>multiples of 5?</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792946" y="4062924"/>
                <a:ext cx="8075240" cy="461665"/>
              </a:xfrm>
              <a:prstGeom prst="rect">
                <a:avLst/>
              </a:prstGeom>
            </p:spPr>
            <p:txBody>
              <a:bodyPr wrap="square">
                <a:spAutoFit/>
              </a:bodyPr>
              <a:lstStyle/>
              <a:p>
                <a:r>
                  <a:rPr lang="en-US" sz="2400" dirty="0"/>
                  <a:t> </a:t>
                </a:r>
                <a14:m>
                  <m:oMath xmlns:m="http://schemas.openxmlformats.org/officeDocument/2006/math">
                    <m:r>
                      <m:rPr>
                        <m:sty m:val="p"/>
                      </m:rPr>
                      <a:rPr lang="en-US" sz="2400" i="1" dirty="0">
                        <a:latin typeface="Cambria Math" panose="02040503050406030204" pitchFamily="18" charset="0"/>
                      </a:rPr>
                      <m:t>a</m:t>
                    </m:r>
                    <m:r>
                      <a:rPr lang="en-US" sz="2400" b="0" i="1" dirty="0" smtClean="0">
                        <a:latin typeface="Cambria Math" panose="02040503050406030204" pitchFamily="18" charset="0"/>
                      </a:rPr>
                      <m:t>.     </m:t>
                    </m:r>
                    <m:r>
                      <a:rPr lang="en-US" sz="2400" b="0" i="1" smtClean="0">
                        <a:latin typeface="Cambria Math" panose="02040503050406030204" pitchFamily="18" charset="0"/>
                      </a:rPr>
                      <m:t>𝑥</m:t>
                    </m:r>
                    <m:r>
                      <a:rPr lang="en-US" sz="2400" b="0" i="1" smtClean="0">
                        <a:latin typeface="Cambria Math" panose="02040503050406030204" pitchFamily="18" charset="0"/>
                      </a:rPr>
                      <m:t>=6⋅5⋅4=120</m:t>
                    </m:r>
                  </m:oMath>
                </a14:m>
                <a:r>
                  <a:rPr lang="en-US" sz="2400" dirty="0"/>
                  <a:t> numbers</a:t>
                </a:r>
              </a:p>
            </p:txBody>
          </p:sp>
        </mc:Choice>
        <mc:Fallback xmlns="">
          <p:sp>
            <p:nvSpPr>
              <p:cNvPr id="6" name="Rectangle 5"/>
              <p:cNvSpPr>
                <a:spLocks noRot="1" noChangeAspect="1" noMove="1" noResize="1" noEditPoints="1" noAdjustHandles="1" noChangeArrowheads="1" noChangeShapeType="1" noTextEdit="1"/>
              </p:cNvSpPr>
              <p:nvPr/>
            </p:nvSpPr>
            <p:spPr>
              <a:xfrm>
                <a:off x="792946" y="4062924"/>
                <a:ext cx="8075240" cy="461665"/>
              </a:xfrm>
              <a:prstGeom prst="rect">
                <a:avLst/>
              </a:prstGeom>
              <a:blipFill>
                <a:blip r:embed="rId2"/>
                <a:stretch>
                  <a:fillRect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815446" y="4533759"/>
                <a:ext cx="8052740" cy="461665"/>
              </a:xfrm>
              <a:prstGeom prst="rect">
                <a:avLst/>
              </a:prstGeom>
            </p:spPr>
            <p:txBody>
              <a:bodyPr wrap="square">
                <a:spAutoFit/>
              </a:bodyPr>
              <a:lstStyle/>
              <a:p>
                <a:r>
                  <a:rPr lang="en-US" sz="2400" dirty="0"/>
                  <a:t> b. </a:t>
                </a:r>
                <a14:m>
                  <m:oMath xmlns:m="http://schemas.openxmlformats.org/officeDocument/2006/math">
                    <m:r>
                      <a:rPr lang="en-US" sz="2400" b="0" i="0" smtClean="0">
                        <a:latin typeface="Cambria Math" panose="02040503050406030204" pitchFamily="18" charset="0"/>
                      </a:rPr>
                      <m:t>   </m:t>
                    </m:r>
                    <m:r>
                      <a:rPr lang="en-US" sz="2400" i="1" smtClean="0">
                        <a:latin typeface="Cambria Math" panose="02040503050406030204" pitchFamily="18" charset="0"/>
                      </a:rPr>
                      <m:t>𝑥</m:t>
                    </m:r>
                    <m:r>
                      <a:rPr lang="en-US" sz="2400" i="1">
                        <a:latin typeface="Cambria Math" panose="02040503050406030204" pitchFamily="18" charset="0"/>
                      </a:rPr>
                      <m:t>=</m:t>
                    </m:r>
                    <m:r>
                      <a:rPr lang="en-US" sz="2400" b="0" i="1" smtClean="0">
                        <a:latin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5</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m:t>
                    </m:r>
                    <m:r>
                      <a:rPr lang="en-US" sz="2400" i="1">
                        <a:latin typeface="Cambria Math" panose="02040503050406030204" pitchFamily="18" charset="0"/>
                      </a:rPr>
                      <m:t>=</m:t>
                    </m:r>
                    <m:r>
                      <a:rPr lang="en-US" sz="2400" b="0" i="1" smtClean="0">
                        <a:latin typeface="Cambria Math" panose="02040503050406030204" pitchFamily="18" charset="0"/>
                      </a:rPr>
                      <m:t>40</m:t>
                    </m:r>
                  </m:oMath>
                </a14:m>
                <a:r>
                  <a:rPr lang="en-US" sz="2400" dirty="0"/>
                  <a:t>   numbers</a:t>
                </a:r>
              </a:p>
            </p:txBody>
          </p:sp>
        </mc:Choice>
        <mc:Fallback xmlns="">
          <p:sp>
            <p:nvSpPr>
              <p:cNvPr id="14" name="Rectangle 13"/>
              <p:cNvSpPr>
                <a:spLocks noRot="1" noChangeAspect="1" noMove="1" noResize="1" noEditPoints="1" noAdjustHandles="1" noChangeArrowheads="1" noChangeShapeType="1" noTextEdit="1"/>
              </p:cNvSpPr>
              <p:nvPr/>
            </p:nvSpPr>
            <p:spPr>
              <a:xfrm>
                <a:off x="815446" y="4533759"/>
                <a:ext cx="8052740" cy="461665"/>
              </a:xfrm>
              <a:prstGeom prst="rect">
                <a:avLst/>
              </a:prstGeom>
              <a:blipFill>
                <a:blip r:embed="rId3"/>
                <a:stretch>
                  <a:fillRect l="-379"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815446" y="4995424"/>
                <a:ext cx="8052740" cy="461665"/>
              </a:xfrm>
              <a:prstGeom prst="rect">
                <a:avLst/>
              </a:prstGeom>
            </p:spPr>
            <p:txBody>
              <a:bodyPr wrap="square">
                <a:spAutoFit/>
              </a:bodyPr>
              <a:lstStyle/>
              <a:p>
                <a:r>
                  <a:rPr lang="en-US" sz="2400" dirty="0"/>
                  <a:t> c. </a:t>
                </a:r>
                <a14:m>
                  <m:oMath xmlns:m="http://schemas.openxmlformats.org/officeDocument/2006/math">
                    <m:r>
                      <a:rPr lang="en-US" sz="2400" b="0" i="0" smtClean="0">
                        <a:latin typeface="Cambria Math" panose="02040503050406030204" pitchFamily="18" charset="0"/>
                      </a:rPr>
                      <m:t>    </m:t>
                    </m:r>
                    <m:r>
                      <a:rPr lang="en-US" sz="2400" i="1" smtClean="0">
                        <a:latin typeface="Cambria Math" panose="02040503050406030204" pitchFamily="18" charset="0"/>
                      </a:rPr>
                      <m:t>𝑥</m:t>
                    </m:r>
                    <m:r>
                      <a:rPr lang="en-US" sz="2400" i="1">
                        <a:latin typeface="Cambria Math" panose="02040503050406030204" pitchFamily="18" charset="0"/>
                      </a:rPr>
                      <m:t>=</m:t>
                    </m:r>
                    <m:r>
                      <a:rPr lang="en-US" sz="2400" b="0" i="1" smtClean="0">
                        <a:latin typeface="Cambria Math" panose="02040503050406030204" pitchFamily="18" charset="0"/>
                      </a:rPr>
                      <m:t>5</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rPr>
                      <m:t>=</m:t>
                    </m:r>
                    <m:r>
                      <a:rPr lang="en-US" sz="2400" b="0" i="1" smtClean="0">
                        <a:latin typeface="Cambria Math" panose="02040503050406030204" pitchFamily="18" charset="0"/>
                      </a:rPr>
                      <m:t>40</m:t>
                    </m:r>
                  </m:oMath>
                </a14:m>
                <a:r>
                  <a:rPr lang="en-US" sz="2400" dirty="0"/>
                  <a:t>   numbers</a:t>
                </a:r>
              </a:p>
            </p:txBody>
          </p:sp>
        </mc:Choice>
        <mc:Fallback xmlns="">
          <p:sp>
            <p:nvSpPr>
              <p:cNvPr id="15" name="Rectangle 14"/>
              <p:cNvSpPr>
                <a:spLocks noRot="1" noChangeAspect="1" noMove="1" noResize="1" noEditPoints="1" noAdjustHandles="1" noChangeArrowheads="1" noChangeShapeType="1" noTextEdit="1"/>
              </p:cNvSpPr>
              <p:nvPr/>
            </p:nvSpPr>
            <p:spPr>
              <a:xfrm>
                <a:off x="815446" y="4995424"/>
                <a:ext cx="8052740" cy="461665"/>
              </a:xfrm>
              <a:prstGeom prst="rect">
                <a:avLst/>
              </a:prstGeom>
              <a:blipFill>
                <a:blip r:embed="rId4"/>
                <a:stretch>
                  <a:fillRect l="-379"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827584" y="5480965"/>
                <a:ext cx="8052740" cy="461665"/>
              </a:xfrm>
              <a:prstGeom prst="rect">
                <a:avLst/>
              </a:prstGeom>
            </p:spPr>
            <p:txBody>
              <a:bodyPr wrap="square">
                <a:spAutoFit/>
              </a:bodyPr>
              <a:lstStyle/>
              <a:p>
                <a:r>
                  <a:rPr lang="en-US" sz="2400" dirty="0"/>
                  <a:t> d. </a:t>
                </a:r>
                <a14:m>
                  <m:oMath xmlns:m="http://schemas.openxmlformats.org/officeDocument/2006/math">
                    <m:r>
                      <a:rPr lang="en-US" sz="2400" b="0" i="0" smtClean="0">
                        <a:latin typeface="Cambria Math" panose="02040503050406030204" pitchFamily="18" charset="0"/>
                      </a:rPr>
                      <m:t>   </m:t>
                    </m:r>
                    <m:r>
                      <a:rPr lang="en-US" sz="2400" i="1" smtClean="0">
                        <a:latin typeface="Cambria Math" panose="02040503050406030204" pitchFamily="18" charset="0"/>
                      </a:rPr>
                      <m:t>𝑥</m:t>
                    </m:r>
                    <m:r>
                      <a:rPr lang="en-US" sz="2400" i="1">
                        <a:latin typeface="Cambria Math" panose="02040503050406030204" pitchFamily="18" charset="0"/>
                      </a:rPr>
                      <m:t>=</m:t>
                    </m:r>
                    <m:r>
                      <a:rPr lang="en-US" sz="2400" b="0" i="1" smtClean="0">
                        <a:latin typeface="Cambria Math" panose="02040503050406030204" pitchFamily="18" charset="0"/>
                      </a:rPr>
                      <m:t>5</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rPr>
                      <m:t>=</m:t>
                    </m:r>
                    <m:r>
                      <a:rPr lang="en-US" sz="2400" b="0" i="1" smtClean="0">
                        <a:latin typeface="Cambria Math" panose="02040503050406030204" pitchFamily="18" charset="0"/>
                      </a:rPr>
                      <m:t>20</m:t>
                    </m:r>
                  </m:oMath>
                </a14:m>
                <a:r>
                  <a:rPr lang="en-US" sz="2400" dirty="0"/>
                  <a:t>   numbers</a:t>
                </a:r>
              </a:p>
            </p:txBody>
          </p:sp>
        </mc:Choice>
        <mc:Fallback xmlns="">
          <p:sp>
            <p:nvSpPr>
              <p:cNvPr id="16" name="Rectangle 15"/>
              <p:cNvSpPr>
                <a:spLocks noRot="1" noChangeAspect="1" noMove="1" noResize="1" noEditPoints="1" noAdjustHandles="1" noChangeArrowheads="1" noChangeShapeType="1" noTextEdit="1"/>
              </p:cNvSpPr>
              <p:nvPr/>
            </p:nvSpPr>
            <p:spPr>
              <a:xfrm>
                <a:off x="827584" y="5480965"/>
                <a:ext cx="8052740" cy="461665"/>
              </a:xfrm>
              <a:prstGeom prst="rect">
                <a:avLst/>
              </a:prstGeom>
              <a:blipFill>
                <a:blip r:embed="rId5"/>
                <a:stretch>
                  <a:fillRect l="-379"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307516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3528" y="404664"/>
            <a:ext cx="8229600" cy="1938992"/>
          </a:xfrm>
          <a:prstGeom prst="rect">
            <a:avLst/>
          </a:prstGeom>
          <a:solidFill>
            <a:schemeClr val="accent1">
              <a:lumMod val="40000"/>
              <a:lumOff val="60000"/>
            </a:schemeClr>
          </a:solidFill>
        </p:spPr>
        <p:txBody>
          <a:bodyPr wrap="square" rtlCol="0">
            <a:spAutoFit/>
          </a:bodyPr>
          <a:lstStyle/>
          <a:p>
            <a:pPr algn="just">
              <a:tabLst>
                <a:tab pos="457200" algn="l"/>
              </a:tabLst>
            </a:pPr>
            <a:r>
              <a:rPr lang="en-US" sz="2400" dirty="0"/>
              <a:t>2.	a. In how many ways can 3 boys and 2 girls sit in a row ? </a:t>
            </a:r>
          </a:p>
          <a:p>
            <a:pPr marL="738188" indent="-280988" algn="just"/>
            <a:r>
              <a:rPr lang="en-US" sz="2400" dirty="0"/>
              <a:t>b. In how many ways can they sit in a row if the boys and girls are each to sit together ?</a:t>
            </a:r>
          </a:p>
          <a:p>
            <a:pPr marL="738188" indent="-280988" algn="just"/>
            <a:r>
              <a:rPr lang="en-US" sz="2400" dirty="0"/>
              <a:t>c. In how many ways can they sit in a row if just the girls are to sit together ? </a:t>
            </a:r>
          </a:p>
        </p:txBody>
      </p:sp>
      <mc:AlternateContent xmlns:mc="http://schemas.openxmlformats.org/markup-compatibility/2006" xmlns:a14="http://schemas.microsoft.com/office/drawing/2010/main">
        <mc:Choice Requires="a14">
          <p:sp>
            <p:nvSpPr>
              <p:cNvPr id="8" name="Rectangle 7"/>
              <p:cNvSpPr/>
              <p:nvPr/>
            </p:nvSpPr>
            <p:spPr>
              <a:xfrm>
                <a:off x="659274" y="2631810"/>
                <a:ext cx="8075240" cy="461665"/>
              </a:xfrm>
              <a:prstGeom prst="rect">
                <a:avLst/>
              </a:prstGeom>
            </p:spPr>
            <p:txBody>
              <a:bodyPr wrap="square">
                <a:spAutoFit/>
              </a:bodyPr>
              <a:lstStyle/>
              <a:p>
                <a:r>
                  <a:rPr lang="en-US" sz="2400" dirty="0"/>
                  <a:t> </a:t>
                </a:r>
                <a14:m>
                  <m:oMath xmlns:m="http://schemas.openxmlformats.org/officeDocument/2006/math">
                    <m:r>
                      <m:rPr>
                        <m:sty m:val="p"/>
                      </m:rPr>
                      <a:rPr lang="en-US" sz="2400" i="1" dirty="0">
                        <a:latin typeface="Cambria Math" panose="02040503050406030204" pitchFamily="18" charset="0"/>
                      </a:rPr>
                      <m:t>a</m:t>
                    </m:r>
                    <m:r>
                      <a:rPr lang="en-US" sz="2400" b="0" i="1" dirty="0" smtClean="0">
                        <a:latin typeface="Cambria Math" panose="02040503050406030204" pitchFamily="18" charset="0"/>
                      </a:rPr>
                      <m:t>.     </m:t>
                    </m:r>
                    <m:r>
                      <a:rPr lang="en-US" sz="2400" b="0" i="1" smtClean="0">
                        <a:latin typeface="Cambria Math" panose="02040503050406030204" pitchFamily="18" charset="0"/>
                      </a:rPr>
                      <m:t>𝑥</m:t>
                    </m:r>
                    <m:r>
                      <a:rPr lang="en-US" sz="2400" b="0" i="1" smtClean="0">
                        <a:latin typeface="Cambria Math" panose="02040503050406030204" pitchFamily="18" charset="0"/>
                      </a:rPr>
                      <m:t>=5⋅4⋅3⋅2⋅1=120</m:t>
                    </m:r>
                  </m:oMath>
                </a14:m>
                <a:r>
                  <a:rPr lang="en-US" sz="2400" dirty="0"/>
                  <a:t>   ways</a:t>
                </a:r>
              </a:p>
            </p:txBody>
          </p:sp>
        </mc:Choice>
        <mc:Fallback xmlns="">
          <p:sp>
            <p:nvSpPr>
              <p:cNvPr id="8" name="Rectangle 7"/>
              <p:cNvSpPr>
                <a:spLocks noRot="1" noChangeAspect="1" noMove="1" noResize="1" noEditPoints="1" noAdjustHandles="1" noChangeArrowheads="1" noChangeShapeType="1" noTextEdit="1"/>
              </p:cNvSpPr>
              <p:nvPr/>
            </p:nvSpPr>
            <p:spPr>
              <a:xfrm>
                <a:off x="659274" y="2631810"/>
                <a:ext cx="8075240" cy="461665"/>
              </a:xfrm>
              <a:prstGeom prst="rect">
                <a:avLst/>
              </a:prstGeom>
              <a:blipFill>
                <a:blip r:embed="rId2"/>
                <a:stretch>
                  <a:fillRect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81774" y="3237553"/>
                <a:ext cx="8052740" cy="830997"/>
              </a:xfrm>
              <a:prstGeom prst="rect">
                <a:avLst/>
              </a:prstGeom>
            </p:spPr>
            <p:txBody>
              <a:bodyPr wrap="square">
                <a:spAutoFit/>
              </a:bodyPr>
              <a:lstStyle/>
              <a:p>
                <a:r>
                  <a:rPr lang="en-US" sz="2400" dirty="0"/>
                  <a:t> b.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𝐵𝐵𝐵𝐺𝐺</m:t>
                    </m:r>
                    <m:r>
                      <a:rPr lang="en-US" sz="2400" b="0" i="1" smtClean="0">
                        <a:latin typeface="Cambria Math" panose="02040503050406030204" pitchFamily="18" charset="0"/>
                      </a:rPr>
                      <m:t>,  </m:t>
                    </m:r>
                    <m:r>
                      <a:rPr lang="en-US" sz="2400" b="0" i="1" smtClean="0">
                        <a:latin typeface="Cambria Math" panose="02040503050406030204" pitchFamily="18" charset="0"/>
                      </a:rPr>
                      <m:t>𝐺𝐺𝐵𝐵𝐵</m:t>
                    </m:r>
                    <m:r>
                      <a:rPr lang="en-US" sz="2400" b="0" i="1" smtClean="0">
                        <a:latin typeface="Cambria Math" panose="02040503050406030204" pitchFamily="18" charset="0"/>
                      </a:rPr>
                      <m:t>   </m:t>
                    </m:r>
                  </m:oMath>
                </a14:m>
                <a:endParaRPr lang="en-US" sz="2400" b="0" i="1" dirty="0">
                  <a:latin typeface="Cambria Math" panose="02040503050406030204" pitchFamily="18" charset="0"/>
                </a:endParaRPr>
              </a:p>
              <a:p>
                <a:pPr marL="574675" indent="-574675"/>
                <a:r>
                  <a:rPr lang="en-US" sz="2400" dirty="0"/>
                  <a:t>	</a:t>
                </a:r>
                <a14:m>
                  <m:oMath xmlns:m="http://schemas.openxmlformats.org/officeDocument/2006/math">
                    <m:r>
                      <a:rPr lang="en-US" sz="2400" i="1" smtClean="0">
                        <a:latin typeface="Cambria Math" panose="02040503050406030204" pitchFamily="18" charset="0"/>
                      </a:rPr>
                      <m:t>𝑥</m:t>
                    </m:r>
                    <m:r>
                      <a:rPr lang="en-US" sz="2400" i="1">
                        <a:latin typeface="Cambria Math" panose="02040503050406030204" pitchFamily="18" charset="0"/>
                      </a:rPr>
                      <m:t>=</m:t>
                    </m:r>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3</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1)⋅(2⋅1)</m:t>
                    </m:r>
                    <m:r>
                      <a:rPr lang="en-US" sz="2400" i="1">
                        <a:latin typeface="Cambria Math" panose="02040503050406030204" pitchFamily="18" charset="0"/>
                      </a:rPr>
                      <m:t>=</m:t>
                    </m:r>
                    <m:r>
                      <a:rPr lang="en-US" sz="2400" b="0" i="1" smtClean="0">
                        <a:latin typeface="Cambria Math" panose="02040503050406030204" pitchFamily="18" charset="0"/>
                      </a:rPr>
                      <m:t>24</m:t>
                    </m:r>
                  </m:oMath>
                </a14:m>
                <a:r>
                  <a:rPr lang="en-US" sz="2400" dirty="0"/>
                  <a:t>   ways</a:t>
                </a:r>
              </a:p>
            </p:txBody>
          </p:sp>
        </mc:Choice>
        <mc:Fallback xmlns="">
          <p:sp>
            <p:nvSpPr>
              <p:cNvPr id="9" name="Rectangle 8"/>
              <p:cNvSpPr>
                <a:spLocks noRot="1" noChangeAspect="1" noMove="1" noResize="1" noEditPoints="1" noAdjustHandles="1" noChangeArrowheads="1" noChangeShapeType="1" noTextEdit="1"/>
              </p:cNvSpPr>
              <p:nvPr/>
            </p:nvSpPr>
            <p:spPr>
              <a:xfrm>
                <a:off x="681774" y="3237553"/>
                <a:ext cx="8052740" cy="830997"/>
              </a:xfrm>
              <a:prstGeom prst="rect">
                <a:avLst/>
              </a:prstGeom>
              <a:blipFill>
                <a:blip r:embed="rId3"/>
                <a:stretch>
                  <a:fillRect l="-379" t="-588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93953" y="4095894"/>
                <a:ext cx="8052740" cy="830997"/>
              </a:xfrm>
              <a:prstGeom prst="rect">
                <a:avLst/>
              </a:prstGeom>
            </p:spPr>
            <p:txBody>
              <a:bodyPr wrap="square">
                <a:spAutoFit/>
              </a:bodyPr>
              <a:lstStyle/>
              <a:p>
                <a:r>
                  <a:rPr lang="en-US" sz="2400" dirty="0"/>
                  <a:t> c.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𝐺𝐺𝐵𝐵𝐵</m:t>
                    </m:r>
                    <m:r>
                      <a:rPr lang="en-US" sz="2400" b="0" i="1" smtClean="0">
                        <a:latin typeface="Cambria Math" panose="02040503050406030204" pitchFamily="18" charset="0"/>
                      </a:rPr>
                      <m:t>, </m:t>
                    </m:r>
                    <m:r>
                      <a:rPr lang="en-US" sz="2400" b="0" i="1" smtClean="0">
                        <a:latin typeface="Cambria Math" panose="02040503050406030204" pitchFamily="18" charset="0"/>
                      </a:rPr>
                      <m:t>𝐵𝐺𝐺𝐵𝐵</m:t>
                    </m:r>
                    <m:r>
                      <a:rPr lang="en-US" sz="2400" b="0" i="1" smtClean="0">
                        <a:latin typeface="Cambria Math" panose="02040503050406030204" pitchFamily="18" charset="0"/>
                      </a:rPr>
                      <m:t>, </m:t>
                    </m:r>
                    <m:r>
                      <a:rPr lang="en-US" sz="2400" b="0" i="1" smtClean="0">
                        <a:latin typeface="Cambria Math" panose="02040503050406030204" pitchFamily="18" charset="0"/>
                      </a:rPr>
                      <m:t>𝐵𝐵𝐺𝐺𝐵</m:t>
                    </m:r>
                    <m:r>
                      <a:rPr lang="en-US" sz="2400" b="0" i="1" smtClean="0">
                        <a:latin typeface="Cambria Math" panose="02040503050406030204" pitchFamily="18" charset="0"/>
                      </a:rPr>
                      <m:t>, </m:t>
                    </m:r>
                    <m:r>
                      <a:rPr lang="en-US" sz="2400" b="0" i="1" smtClean="0">
                        <a:latin typeface="Cambria Math" panose="02040503050406030204" pitchFamily="18" charset="0"/>
                      </a:rPr>
                      <m:t>𝐵𝐵𝐵𝐺𝐺</m:t>
                    </m:r>
                  </m:oMath>
                </a14:m>
                <a:endParaRPr lang="en-US" sz="2400" b="0" i="1" dirty="0">
                  <a:latin typeface="Cambria Math" panose="02040503050406030204" pitchFamily="18" charset="0"/>
                </a:endParaRPr>
              </a:p>
              <a:p>
                <a:pPr marL="574675" indent="-574675"/>
                <a:r>
                  <a:rPr lang="en-US" sz="2400" dirty="0"/>
                  <a:t>	</a:t>
                </a:r>
                <a14:m>
                  <m:oMath xmlns:m="http://schemas.openxmlformats.org/officeDocument/2006/math">
                    <m:r>
                      <a:rPr lang="en-US" sz="2400" i="1" smtClean="0">
                        <a:latin typeface="Cambria Math" panose="02040503050406030204" pitchFamily="18" charset="0"/>
                      </a:rPr>
                      <m:t>𝑥</m:t>
                    </m:r>
                    <m:r>
                      <a:rPr lang="en-US" sz="2400" i="1">
                        <a:latin typeface="Cambria Math" panose="02040503050406030204" pitchFamily="18" charset="0"/>
                      </a:rPr>
                      <m:t>=</m:t>
                    </m:r>
                    <m:r>
                      <a:rPr lang="en-US" sz="2400" b="0" i="1" smtClean="0">
                        <a:latin typeface="Cambria Math" panose="02040503050406030204" pitchFamily="18" charset="0"/>
                      </a:rPr>
                      <m:t>4</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(3⋅2⋅1)⋅(2</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rPr>
                      <m:t>=</m:t>
                    </m:r>
                    <m:r>
                      <a:rPr lang="en-US" sz="2400" b="0" i="1" smtClean="0">
                        <a:latin typeface="Cambria Math" panose="02040503050406030204" pitchFamily="18" charset="0"/>
                      </a:rPr>
                      <m:t>48</m:t>
                    </m:r>
                  </m:oMath>
                </a14:m>
                <a:r>
                  <a:rPr lang="en-US" sz="2400" dirty="0"/>
                  <a:t>   ways</a:t>
                </a:r>
              </a:p>
            </p:txBody>
          </p:sp>
        </mc:Choice>
        <mc:Fallback xmlns="">
          <p:sp>
            <p:nvSpPr>
              <p:cNvPr id="10" name="Rectangle 9"/>
              <p:cNvSpPr>
                <a:spLocks noRot="1" noChangeAspect="1" noMove="1" noResize="1" noEditPoints="1" noAdjustHandles="1" noChangeArrowheads="1" noChangeShapeType="1" noTextEdit="1"/>
              </p:cNvSpPr>
              <p:nvPr/>
            </p:nvSpPr>
            <p:spPr>
              <a:xfrm>
                <a:off x="693953" y="4095894"/>
                <a:ext cx="8052740" cy="830997"/>
              </a:xfrm>
              <a:prstGeom prst="rect">
                <a:avLst/>
              </a:prstGeom>
              <a:blipFill>
                <a:blip r:embed="rId4"/>
                <a:stretch>
                  <a:fillRect l="-379" t="-5882" b="-16176"/>
                </a:stretch>
              </a:blipFill>
            </p:spPr>
            <p:txBody>
              <a:bodyPr/>
              <a:lstStyle/>
              <a:p>
                <a:r>
                  <a:rPr lang="en-US">
                    <a:noFill/>
                  </a:rPr>
                  <a:t> </a:t>
                </a:r>
              </a:p>
            </p:txBody>
          </p:sp>
        </mc:Fallback>
      </mc:AlternateContent>
    </p:spTree>
    <p:extLst>
      <p:ext uri="{BB962C8B-B14F-4D97-AF65-F5344CB8AC3E}">
        <p14:creationId xmlns:p14="http://schemas.microsoft.com/office/powerpoint/2010/main" val="3535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48888" y="404664"/>
            <a:ext cx="7904239" cy="3046988"/>
          </a:xfrm>
          <a:prstGeom prst="rect">
            <a:avLst/>
          </a:prstGeom>
          <a:solidFill>
            <a:schemeClr val="accent1">
              <a:lumMod val="40000"/>
              <a:lumOff val="60000"/>
            </a:schemeClr>
          </a:solidFill>
        </p:spPr>
        <p:txBody>
          <a:bodyPr wrap="square" rtlCol="0">
            <a:spAutoFit/>
          </a:bodyPr>
          <a:lstStyle/>
          <a:p>
            <a:pPr marL="457200" indent="-457200" algn="just">
              <a:buAutoNum type="arabicPeriod" startAt="3"/>
              <a:tabLst>
                <a:tab pos="457200" algn="l"/>
              </a:tabLst>
            </a:pPr>
            <a:r>
              <a:rPr lang="en-US" sz="2400" dirty="0"/>
              <a:t>A delegation of 4 students is selected each year from a collage to attend the National Union. </a:t>
            </a:r>
          </a:p>
          <a:p>
            <a:pPr marL="457200" indent="-457200" algn="just">
              <a:buAutoNum type="alphaLcPeriod"/>
            </a:pPr>
            <a:r>
              <a:rPr lang="en-US" sz="2400" dirty="0"/>
              <a:t>In how many ways can the delegation be chosen if there are 12 eligible students. </a:t>
            </a:r>
          </a:p>
          <a:p>
            <a:pPr marL="457200" indent="-457200" algn="just">
              <a:buFontTx/>
              <a:buAutoNum type="alphaLcPeriod"/>
            </a:pPr>
            <a:r>
              <a:rPr lang="en-US" sz="2400" dirty="0"/>
              <a:t>In how many ways if two of the eligible students will not attend the meeting together?</a:t>
            </a:r>
          </a:p>
          <a:p>
            <a:pPr marL="457200" indent="-457200" algn="just">
              <a:buFontTx/>
              <a:buAutoNum type="alphaLcPeriod"/>
            </a:pPr>
            <a:r>
              <a:rPr lang="en-US" sz="2400" dirty="0"/>
              <a:t>In how many ways if two of the eligible students are married and will only attend the meeting together?</a:t>
            </a:r>
          </a:p>
        </p:txBody>
      </p:sp>
      <mc:AlternateContent xmlns:mc="http://schemas.openxmlformats.org/markup-compatibility/2006" xmlns:a14="http://schemas.microsoft.com/office/drawing/2010/main">
        <mc:Choice Requires="a14">
          <p:sp>
            <p:nvSpPr>
              <p:cNvPr id="6" name="Rectangle 5"/>
              <p:cNvSpPr/>
              <p:nvPr/>
            </p:nvSpPr>
            <p:spPr>
              <a:xfrm>
                <a:off x="654070" y="3426101"/>
                <a:ext cx="8075240" cy="622286"/>
              </a:xfrm>
              <a:prstGeom prst="rect">
                <a:avLst/>
              </a:prstGeom>
            </p:spPr>
            <p:txBody>
              <a:bodyPr wrap="square">
                <a:spAutoFit/>
              </a:bodyPr>
              <a:lstStyle/>
              <a:p>
                <a:r>
                  <a:rPr lang="en-US" sz="2400" dirty="0"/>
                  <a:t> </a:t>
                </a:r>
                <a14:m>
                  <m:oMath xmlns:m="http://schemas.openxmlformats.org/officeDocument/2006/math">
                    <m:r>
                      <m:rPr>
                        <m:sty m:val="p"/>
                      </m:rPr>
                      <a:rPr lang="en-US" sz="2400" i="1" dirty="0">
                        <a:latin typeface="Cambria Math" panose="02040503050406030204" pitchFamily="18" charset="0"/>
                      </a:rPr>
                      <m:t>a</m:t>
                    </m:r>
                    <m:r>
                      <a:rPr lang="en-US" sz="2400" b="0" i="1" dirty="0" smtClean="0">
                        <a:latin typeface="Cambria Math" panose="02040503050406030204" pitchFamily="18" charset="0"/>
                      </a:rPr>
                      <m:t>.     </m:t>
                    </m:r>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𝐶</m:t>
                        </m:r>
                      </m:e>
                      <m:sub>
                        <m:r>
                          <a:rPr lang="en-US" sz="2400" b="0" i="1" dirty="0" smtClean="0">
                            <a:latin typeface="Cambria Math" panose="02040503050406030204" pitchFamily="18" charset="0"/>
                          </a:rPr>
                          <m:t>4</m:t>
                        </m:r>
                      </m:sub>
                      <m:sup>
                        <m:r>
                          <a:rPr lang="en-US" sz="2400" b="0" i="1" dirty="0" smtClean="0">
                            <a:latin typeface="Cambria Math" panose="02040503050406030204" pitchFamily="18" charset="0"/>
                          </a:rPr>
                          <m:t>12</m:t>
                        </m:r>
                      </m:sup>
                    </m:sSub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12!</m:t>
                        </m:r>
                      </m:num>
                      <m:den>
                        <m:r>
                          <a:rPr lang="en-US" sz="2400" b="0" i="1" smtClean="0">
                            <a:latin typeface="Cambria Math" panose="02040503050406030204" pitchFamily="18" charset="0"/>
                          </a:rPr>
                          <m:t>8!</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4!</m:t>
                        </m:r>
                      </m:den>
                    </m:f>
                    <m:r>
                      <a:rPr lang="en-US" sz="2400" i="1">
                        <a:latin typeface="Cambria Math" panose="02040503050406030204" pitchFamily="18" charset="0"/>
                      </a:rPr>
                      <m:t>=</m:t>
                    </m:r>
                    <m:r>
                      <a:rPr lang="en-US" sz="2400" b="0" i="1" smtClean="0">
                        <a:latin typeface="Cambria Math" panose="02040503050406030204" pitchFamily="18" charset="0"/>
                      </a:rPr>
                      <m:t>495</m:t>
                    </m:r>
                  </m:oMath>
                </a14:m>
                <a:r>
                  <a:rPr lang="en-US" sz="2400" dirty="0"/>
                  <a:t>   ways</a:t>
                </a:r>
              </a:p>
            </p:txBody>
          </p:sp>
        </mc:Choice>
        <mc:Fallback xmlns="">
          <p:sp>
            <p:nvSpPr>
              <p:cNvPr id="6" name="Rectangle 5"/>
              <p:cNvSpPr>
                <a:spLocks noRot="1" noChangeAspect="1" noMove="1" noResize="1" noEditPoints="1" noAdjustHandles="1" noChangeArrowheads="1" noChangeShapeType="1" noTextEdit="1"/>
              </p:cNvSpPr>
              <p:nvPr/>
            </p:nvSpPr>
            <p:spPr>
              <a:xfrm>
                <a:off x="654070" y="3426101"/>
                <a:ext cx="8075240" cy="622286"/>
              </a:xfrm>
              <a:prstGeom prst="rect">
                <a:avLst/>
              </a:prstGeom>
              <a:blipFill>
                <a:blip r:embed="rId2"/>
                <a:stretch>
                  <a:fillRect b="-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76570" y="4031844"/>
                <a:ext cx="8052740" cy="1584601"/>
              </a:xfrm>
              <a:prstGeom prst="rect">
                <a:avLst/>
              </a:prstGeom>
            </p:spPr>
            <p:txBody>
              <a:bodyPr wrap="square">
                <a:spAutoFit/>
              </a:bodyPr>
              <a:lstStyle/>
              <a:p>
                <a:r>
                  <a:rPr lang="en-US" sz="2400" dirty="0"/>
                  <a:t> b.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𝑆𝑢𝑝𝑝𝑜𝑠𝑒</m:t>
                    </m:r>
                    <m:r>
                      <a:rPr lang="en-US" sz="2400" b="0" i="1" smtClean="0">
                        <a:latin typeface="Cambria Math" panose="02040503050406030204" pitchFamily="18" charset="0"/>
                      </a:rPr>
                      <m:t> </m:t>
                    </m:r>
                    <m:r>
                      <a:rPr lang="en-US" sz="2400" b="0" i="1" smtClean="0">
                        <a:latin typeface="Cambria Math" panose="02040503050406030204" pitchFamily="18" charset="0"/>
                      </a:rPr>
                      <m:t>𝑡h𝑒</m:t>
                    </m:r>
                    <m:r>
                      <a:rPr lang="en-US" sz="2400" b="0" i="1" smtClean="0">
                        <a:latin typeface="Cambria Math" panose="02040503050406030204" pitchFamily="18" charset="0"/>
                      </a:rPr>
                      <m:t> </m:t>
                    </m:r>
                    <m:r>
                      <a:rPr lang="en-US" sz="2400" b="0" i="1" smtClean="0">
                        <a:latin typeface="Cambria Math" panose="02040503050406030204" pitchFamily="18" charset="0"/>
                      </a:rPr>
                      <m:t>𝑡𝑤𝑜</m:t>
                    </m:r>
                    <m:r>
                      <a:rPr lang="en-US" sz="2400" b="0" i="1" smtClean="0">
                        <a:latin typeface="Cambria Math" panose="02040503050406030204" pitchFamily="18" charset="0"/>
                      </a:rPr>
                      <m:t> </m:t>
                    </m:r>
                    <m:r>
                      <a:rPr lang="en-US" sz="2400" b="0" i="1" smtClean="0">
                        <a:latin typeface="Cambria Math" panose="02040503050406030204" pitchFamily="18" charset="0"/>
                      </a:rPr>
                      <m:t>𝑒𝑙𝑖𝑔𝑖𝑏𝑙𝑒</m:t>
                    </m:r>
                    <m:r>
                      <a:rPr lang="en-US" sz="2400" b="0" i="1" smtClean="0">
                        <a:latin typeface="Cambria Math" panose="02040503050406030204" pitchFamily="18" charset="0"/>
                      </a:rPr>
                      <m:t> </m:t>
                    </m:r>
                    <m:r>
                      <a:rPr lang="en-US" sz="2400" b="0" i="1" smtClean="0">
                        <a:latin typeface="Cambria Math" panose="02040503050406030204" pitchFamily="18" charset="0"/>
                      </a:rPr>
                      <m:t>𝑠𝑡𝑢𝑑𝑒𝑛𝑡𝑠</m:t>
                    </m:r>
                    <m:r>
                      <a:rPr lang="en-US" sz="2400" b="0" i="1" smtClean="0">
                        <a:latin typeface="Cambria Math" panose="02040503050406030204" pitchFamily="18" charset="0"/>
                      </a:rPr>
                      <m:t> </m:t>
                    </m:r>
                    <m:r>
                      <a:rPr lang="en-US" sz="2400" b="0" i="1" smtClean="0">
                        <a:latin typeface="Cambria Math" panose="02040503050406030204" pitchFamily="18" charset="0"/>
                      </a:rPr>
                      <m:t>𝑎𝑟𝑒</m:t>
                    </m:r>
                    <m:r>
                      <a:rPr lang="en-US" sz="2400" b="0" i="1" smtClean="0">
                        <a:latin typeface="Cambria Math" panose="02040503050406030204" pitchFamily="18" charset="0"/>
                      </a:rPr>
                      <m:t> </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𝑎𝑛𝑑</m:t>
                    </m:r>
                    <m:r>
                      <a:rPr lang="en-US" sz="2400" b="0" i="1" smtClean="0">
                        <a:latin typeface="Cambria Math" panose="02040503050406030204" pitchFamily="18" charset="0"/>
                      </a:rPr>
                      <m:t> </m:t>
                    </m:r>
                    <m:r>
                      <a:rPr lang="en-US" sz="2400" b="0" i="1" smtClean="0">
                        <a:latin typeface="Cambria Math" panose="02040503050406030204" pitchFamily="18" charset="0"/>
                      </a:rPr>
                      <m:t>𝐵</m:t>
                    </m:r>
                    <m:r>
                      <a:rPr lang="en-US" sz="2400" b="0" i="1" smtClean="0">
                        <a:latin typeface="Cambria Math" panose="02040503050406030204" pitchFamily="18" charset="0"/>
                      </a:rPr>
                      <m:t> </m:t>
                    </m:r>
                  </m:oMath>
                </a14:m>
                <a:endParaRPr lang="en-US" sz="2400" b="0" i="1" dirty="0">
                  <a:latin typeface="Cambria Math" panose="02040503050406030204" pitchFamily="18" charset="0"/>
                </a:endParaRPr>
              </a:p>
              <a:p>
                <a:pPr marL="574675" indent="-574675"/>
                <a:r>
                  <a:rPr lang="en-US" sz="2400" dirty="0"/>
                  <a:t>	</a:t>
                </a:r>
                <a14:m>
                  <m:oMath xmlns:m="http://schemas.openxmlformats.org/officeDocument/2006/math">
                    <m:r>
                      <m:rPr>
                        <m:sty m:val="p"/>
                      </m:rPr>
                      <a:rPr lang="en-US" sz="2400" b="0" i="0" smtClean="0">
                        <a:latin typeface="Cambria Math" panose="02040503050406030204" pitchFamily="18" charset="0"/>
                      </a:rPr>
                      <m:t>Both</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are</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not</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included</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then</m:t>
                    </m:r>
                    <m:r>
                      <a:rPr lang="en-US" sz="2400" b="0" i="0" smtClean="0">
                        <a:latin typeface="Cambria Math" panose="02040503050406030204" pitchFamily="18" charset="0"/>
                      </a:rPr>
                      <m:t>  </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𝐶</m:t>
                        </m:r>
                      </m:e>
                      <m:sub>
                        <m:r>
                          <a:rPr lang="en-US" sz="2400" i="1" dirty="0">
                            <a:latin typeface="Cambria Math" panose="02040503050406030204" pitchFamily="18" charset="0"/>
                          </a:rPr>
                          <m:t>4</m:t>
                        </m:r>
                      </m:sub>
                      <m:sup>
                        <m:r>
                          <a:rPr lang="en-US" sz="2400" i="1" dirty="0">
                            <a:latin typeface="Cambria Math" panose="02040503050406030204" pitchFamily="18" charset="0"/>
                          </a:rPr>
                          <m:t>1</m:t>
                        </m:r>
                        <m:r>
                          <a:rPr lang="en-US" sz="2400" b="0" i="1" dirty="0" smtClean="0">
                            <a:latin typeface="Cambria Math" panose="02040503050406030204" pitchFamily="18" charset="0"/>
                          </a:rPr>
                          <m:t>0</m:t>
                        </m:r>
                      </m:sup>
                    </m:sSubSup>
                    <m:r>
                      <a:rPr lang="en-US" sz="2400" i="1">
                        <a:latin typeface="Cambria Math" panose="02040503050406030204" pitchFamily="18" charset="0"/>
                      </a:rPr>
                      <m:t>=</m:t>
                    </m:r>
                    <m:r>
                      <a:rPr lang="en-US" sz="2400" b="0" i="1" smtClean="0">
                        <a:latin typeface="Cambria Math" panose="02040503050406030204" pitchFamily="18" charset="0"/>
                      </a:rPr>
                      <m:t>210 </m:t>
                    </m:r>
                  </m:oMath>
                </a14:m>
                <a:r>
                  <a:rPr lang="en-US" sz="2400" dirty="0"/>
                  <a:t>ways</a:t>
                </a:r>
              </a:p>
              <a:p>
                <a:pPr marL="574675" indent="-574675"/>
                <a:r>
                  <a:rPr lang="en-US" sz="2400" dirty="0"/>
                  <a:t>         </a:t>
                </a:r>
                <a14:m>
                  <m:oMath xmlns:m="http://schemas.openxmlformats.org/officeDocument/2006/math">
                    <m:r>
                      <m:rPr>
                        <m:sty m:val="p"/>
                      </m:rPr>
                      <a:rPr lang="en-US" sz="2400" b="0" i="0" smtClean="0">
                        <a:latin typeface="Cambria Math" panose="02040503050406030204" pitchFamily="18" charset="0"/>
                      </a:rPr>
                      <m:t>either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one</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of</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them</m:t>
                    </m:r>
                    <m:r>
                      <a:rPr lang="en-US" sz="2400" b="0" i="0" smtClean="0">
                        <a:latin typeface="Cambria Math" panose="02040503050406030204" pitchFamily="18" charset="0"/>
                      </a:rPr>
                      <m:t> </m:t>
                    </m:r>
                    <m:r>
                      <m:rPr>
                        <m:sty m:val="p"/>
                      </m:rPr>
                      <a:rPr lang="en-US" sz="2400">
                        <a:latin typeface="Cambria Math" panose="02040503050406030204" pitchFamily="18" charset="0"/>
                      </a:rPr>
                      <m:t>then</m:t>
                    </m:r>
                    <m:r>
                      <a:rPr lang="en-US" sz="2400">
                        <a:latin typeface="Cambria Math" panose="02040503050406030204" pitchFamily="18" charset="0"/>
                      </a:rPr>
                      <m:t>  2</m:t>
                    </m:r>
                    <m:r>
                      <a:rPr lang="en-US" sz="2400" b="0" i="1" smtClean="0">
                        <a:latin typeface="Cambria Math" panose="02040503050406030204" pitchFamily="18" charset="0"/>
                        <a:ea typeface="Cambria Math" panose="02040503050406030204" pitchFamily="18" charset="0"/>
                      </a:rPr>
                      <m:t>⋅</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𝐶</m:t>
                        </m:r>
                      </m:e>
                      <m:sub>
                        <m:r>
                          <a:rPr lang="en-US" sz="2400" b="0" i="1" dirty="0" smtClean="0">
                            <a:latin typeface="Cambria Math" panose="02040503050406030204" pitchFamily="18" charset="0"/>
                          </a:rPr>
                          <m:t>3</m:t>
                        </m:r>
                      </m:sub>
                      <m:sup>
                        <m:r>
                          <a:rPr lang="en-US" sz="2400" i="1" dirty="0">
                            <a:latin typeface="Cambria Math" panose="02040503050406030204" pitchFamily="18" charset="0"/>
                          </a:rPr>
                          <m:t>10</m:t>
                        </m:r>
                      </m:sup>
                    </m:sSubSup>
                    <m:r>
                      <a:rPr lang="en-US" sz="2400" i="1">
                        <a:latin typeface="Cambria Math" panose="02040503050406030204" pitchFamily="18" charset="0"/>
                      </a:rPr>
                      <m:t>=2</m:t>
                    </m:r>
                    <m:r>
                      <a:rPr lang="en-US" sz="2400" b="0" i="1" smtClean="0">
                        <a:latin typeface="Cambria Math" panose="02040503050406030204" pitchFamily="18" charset="0"/>
                      </a:rPr>
                      <m:t>4</m:t>
                    </m:r>
                    <m:r>
                      <a:rPr lang="en-US" sz="2400" i="1">
                        <a:latin typeface="Cambria Math" panose="02040503050406030204" pitchFamily="18" charset="0"/>
                      </a:rPr>
                      <m:t>0 </m:t>
                    </m:r>
                  </m:oMath>
                </a14:m>
                <a:r>
                  <a:rPr lang="en-US" sz="2400" dirty="0"/>
                  <a:t>ways</a:t>
                </a:r>
              </a:p>
              <a:p>
                <a:pPr marL="574675" indent="-574675"/>
                <a:r>
                  <a:rPr lang="en-US" sz="2400" dirty="0"/>
                  <a:t>	So total is 450 ways</a:t>
                </a:r>
              </a:p>
            </p:txBody>
          </p:sp>
        </mc:Choice>
        <mc:Fallback xmlns="">
          <p:sp>
            <p:nvSpPr>
              <p:cNvPr id="11" name="Rectangle 10"/>
              <p:cNvSpPr>
                <a:spLocks noRot="1" noChangeAspect="1" noMove="1" noResize="1" noEditPoints="1" noAdjustHandles="1" noChangeArrowheads="1" noChangeShapeType="1" noTextEdit="1"/>
              </p:cNvSpPr>
              <p:nvPr/>
            </p:nvSpPr>
            <p:spPr>
              <a:xfrm>
                <a:off x="676570" y="4031844"/>
                <a:ext cx="8052740" cy="1584601"/>
              </a:xfrm>
              <a:prstGeom prst="rect">
                <a:avLst/>
              </a:prstGeom>
              <a:blipFill>
                <a:blip r:embed="rId3"/>
                <a:stretch>
                  <a:fillRect l="-379" t="-3077"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76570" y="5606995"/>
                <a:ext cx="8052740" cy="468975"/>
              </a:xfrm>
              <a:prstGeom prst="rect">
                <a:avLst/>
              </a:prstGeom>
            </p:spPr>
            <p:txBody>
              <a:bodyPr wrap="square">
                <a:spAutoFit/>
              </a:bodyPr>
              <a:lstStyle/>
              <a:p>
                <a:r>
                  <a:rPr lang="en-US" sz="2400" dirty="0"/>
                  <a:t> c.</a:t>
                </a:r>
                <a14:m>
                  <m:oMath xmlns:m="http://schemas.openxmlformats.org/officeDocument/2006/math">
                    <m:sSubSup>
                      <m:sSubSupPr>
                        <m:ctrlPr>
                          <a:rPr lang="en-US" sz="2400" i="1" dirty="0">
                            <a:latin typeface="Cambria Math" panose="02040503050406030204" pitchFamily="18" charset="0"/>
                          </a:rPr>
                        </m:ctrlPr>
                      </m:sSubSupPr>
                      <m:e>
                        <m:r>
                          <a:rPr lang="en-US" sz="2400" b="0" i="1" dirty="0" smtClean="0">
                            <a:latin typeface="Cambria Math" panose="02040503050406030204" pitchFamily="18" charset="0"/>
                          </a:rPr>
                          <m:t>     </m:t>
                        </m:r>
                        <m:r>
                          <a:rPr lang="en-US" sz="2400" i="1" dirty="0">
                            <a:latin typeface="Cambria Math" panose="02040503050406030204" pitchFamily="18" charset="0"/>
                          </a:rPr>
                          <m:t>𝐶</m:t>
                        </m:r>
                      </m:e>
                      <m:sub>
                        <m:r>
                          <a:rPr lang="en-US" sz="2400" i="1" dirty="0">
                            <a:latin typeface="Cambria Math" panose="02040503050406030204" pitchFamily="18" charset="0"/>
                          </a:rPr>
                          <m:t>4</m:t>
                        </m:r>
                      </m:sub>
                      <m:sup>
                        <m:r>
                          <a:rPr lang="en-US" sz="2400" i="1" dirty="0">
                            <a:latin typeface="Cambria Math" panose="02040503050406030204" pitchFamily="18" charset="0"/>
                          </a:rPr>
                          <m:t>10</m:t>
                        </m:r>
                      </m:sup>
                    </m:sSubSup>
                    <m:r>
                      <a:rPr lang="en-US" sz="2400" b="0" i="1" dirty="0" smtClean="0">
                        <a:latin typeface="Cambria Math" panose="02040503050406030204" pitchFamily="18" charset="0"/>
                      </a:rPr>
                      <m:t>+</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𝐶</m:t>
                        </m:r>
                      </m:e>
                      <m:sub>
                        <m:r>
                          <a:rPr lang="en-US" sz="2400" b="0" i="1" dirty="0" smtClean="0">
                            <a:latin typeface="Cambria Math" panose="02040503050406030204" pitchFamily="18" charset="0"/>
                          </a:rPr>
                          <m:t>2</m:t>
                        </m:r>
                      </m:sub>
                      <m:sup>
                        <m:r>
                          <a:rPr lang="en-US" sz="2400" i="1" dirty="0">
                            <a:latin typeface="Cambria Math" panose="02040503050406030204" pitchFamily="18" charset="0"/>
                          </a:rPr>
                          <m:t>10</m:t>
                        </m:r>
                      </m:sup>
                    </m:sSubSup>
                    <m:r>
                      <a:rPr lang="en-US" sz="2400" b="0" i="1" dirty="0" smtClean="0">
                        <a:latin typeface="Cambria Math" panose="02040503050406030204" pitchFamily="18" charset="0"/>
                      </a:rPr>
                      <m:t>=255 </m:t>
                    </m:r>
                    <m:r>
                      <a:rPr lang="en-US" sz="2400" b="0" i="1" dirty="0" smtClean="0">
                        <a:latin typeface="Cambria Math" panose="02040503050406030204" pitchFamily="18" charset="0"/>
                      </a:rPr>
                      <m:t>𝑤𝑎𝑦𝑠</m:t>
                    </m:r>
                  </m:oMath>
                </a14:m>
                <a:endParaRPr lang="en-US" sz="2400" b="0" i="1" dirty="0">
                  <a:latin typeface="Cambria Math" panose="02040503050406030204"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676570" y="5606995"/>
                <a:ext cx="8052740" cy="468975"/>
              </a:xfrm>
              <a:prstGeom prst="rect">
                <a:avLst/>
              </a:prstGeom>
              <a:blipFill>
                <a:blip r:embed="rId4"/>
                <a:stretch>
                  <a:fillRect l="-379" t="-9091" b="-28571"/>
                </a:stretch>
              </a:blipFill>
            </p:spPr>
            <p:txBody>
              <a:bodyPr/>
              <a:lstStyle/>
              <a:p>
                <a:r>
                  <a:rPr lang="en-US">
                    <a:noFill/>
                  </a:rPr>
                  <a:t> </a:t>
                </a:r>
              </a:p>
            </p:txBody>
          </p:sp>
        </mc:Fallback>
      </mc:AlternateContent>
    </p:spTree>
    <p:extLst>
      <p:ext uri="{BB962C8B-B14F-4D97-AF65-F5344CB8AC3E}">
        <p14:creationId xmlns:p14="http://schemas.microsoft.com/office/powerpoint/2010/main" val="360427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48888" y="404664"/>
            <a:ext cx="7904239" cy="1200329"/>
          </a:xfrm>
          <a:prstGeom prst="rect">
            <a:avLst/>
          </a:prstGeom>
          <a:solidFill>
            <a:schemeClr val="accent1">
              <a:lumMod val="40000"/>
              <a:lumOff val="60000"/>
            </a:schemeClr>
          </a:solidFill>
        </p:spPr>
        <p:txBody>
          <a:bodyPr wrap="square" rtlCol="0">
            <a:spAutoFit/>
          </a:bodyPr>
          <a:lstStyle/>
          <a:p>
            <a:pPr marL="457200" indent="-457200" algn="just">
              <a:tabLst>
                <a:tab pos="457200" algn="l"/>
              </a:tabLst>
            </a:pPr>
            <a:r>
              <a:rPr lang="en-US" sz="2400" dirty="0"/>
              <a:t>4.	In how many ways can 7 toys be divided among 3 children if the youngest gets 3 toys and each of the others get 2 toys?</a:t>
            </a:r>
          </a:p>
        </p:txBody>
      </p:sp>
      <mc:AlternateContent xmlns:mc="http://schemas.openxmlformats.org/markup-compatibility/2006" xmlns:a14="http://schemas.microsoft.com/office/drawing/2010/main">
        <mc:Choice Requires="a14">
          <p:sp>
            <p:nvSpPr>
              <p:cNvPr id="6" name="Rectangle 5"/>
              <p:cNvSpPr/>
              <p:nvPr/>
            </p:nvSpPr>
            <p:spPr>
              <a:xfrm>
                <a:off x="1065272" y="1700808"/>
                <a:ext cx="8075240" cy="622286"/>
              </a:xfrm>
              <a:prstGeom prst="rect">
                <a:avLst/>
              </a:prstGeom>
            </p:spPr>
            <p:txBody>
              <a:bodyPr wrap="square">
                <a:spAutoFit/>
              </a:bodyPr>
              <a:lstStyle/>
              <a:p>
                <a14:m>
                  <m:oMath xmlns:m="http://schemas.openxmlformats.org/officeDocument/2006/math">
                    <m:r>
                      <a:rPr lang="en-US" sz="2400" b="0" i="1" dirty="0" smtClean="0">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7!</m:t>
                        </m:r>
                      </m:num>
                      <m:den>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⋅2!</m:t>
                        </m:r>
                      </m:den>
                    </m:f>
                    <m:r>
                      <a:rPr lang="en-US" sz="2400" i="1">
                        <a:latin typeface="Cambria Math" panose="02040503050406030204" pitchFamily="18" charset="0"/>
                      </a:rPr>
                      <m:t>=</m:t>
                    </m:r>
                    <m:r>
                      <a:rPr lang="en-US" sz="2400" b="0" i="1" smtClean="0">
                        <a:latin typeface="Cambria Math" panose="02040503050406030204" pitchFamily="18" charset="0"/>
                      </a:rPr>
                      <m:t>210</m:t>
                    </m:r>
                  </m:oMath>
                </a14:m>
                <a:r>
                  <a:rPr lang="en-US" sz="2400" dirty="0"/>
                  <a:t>   ways</a:t>
                </a:r>
              </a:p>
            </p:txBody>
          </p:sp>
        </mc:Choice>
        <mc:Fallback xmlns="">
          <p:sp>
            <p:nvSpPr>
              <p:cNvPr id="6" name="Rectangle 5"/>
              <p:cNvSpPr>
                <a:spLocks noRot="1" noChangeAspect="1" noMove="1" noResize="1" noEditPoints="1" noAdjustHandles="1" noChangeArrowheads="1" noChangeShapeType="1" noTextEdit="1"/>
              </p:cNvSpPr>
              <p:nvPr/>
            </p:nvSpPr>
            <p:spPr>
              <a:xfrm>
                <a:off x="1065272" y="1700808"/>
                <a:ext cx="8075240" cy="622286"/>
              </a:xfrm>
              <a:prstGeom prst="rect">
                <a:avLst/>
              </a:prstGeom>
              <a:blipFill>
                <a:blip r:embed="rId2"/>
                <a:stretch>
                  <a:fillRect b="-9804"/>
                </a:stretch>
              </a:blipFill>
            </p:spPr>
            <p:txBody>
              <a:bodyPr/>
              <a:lstStyle/>
              <a:p>
                <a:r>
                  <a:rPr lang="en-US">
                    <a:noFill/>
                  </a:rPr>
                  <a:t> </a:t>
                </a:r>
              </a:p>
            </p:txBody>
          </p:sp>
        </mc:Fallback>
      </mc:AlternateContent>
      <p:sp>
        <p:nvSpPr>
          <p:cNvPr id="9" name="TextBox 8"/>
          <p:cNvSpPr txBox="1"/>
          <p:nvPr/>
        </p:nvSpPr>
        <p:spPr>
          <a:xfrm>
            <a:off x="642829" y="2497261"/>
            <a:ext cx="7904239" cy="830997"/>
          </a:xfrm>
          <a:prstGeom prst="rect">
            <a:avLst/>
          </a:prstGeom>
          <a:solidFill>
            <a:schemeClr val="accent1">
              <a:lumMod val="40000"/>
              <a:lumOff val="60000"/>
            </a:schemeClr>
          </a:solidFill>
        </p:spPr>
        <p:txBody>
          <a:bodyPr wrap="square" rtlCol="0">
            <a:spAutoFit/>
          </a:bodyPr>
          <a:lstStyle/>
          <a:p>
            <a:pPr marL="457200" indent="-457200" algn="just">
              <a:tabLst>
                <a:tab pos="457200" algn="l"/>
              </a:tabLst>
            </a:pPr>
            <a:r>
              <a:rPr lang="en-US" sz="2400" dirty="0"/>
              <a:t>5.	In how many ways can 12 students be partitioned among 3 teams so that each team has 3, 4 and 5 students?</a:t>
            </a:r>
          </a:p>
        </p:txBody>
      </p:sp>
      <mc:AlternateContent xmlns:mc="http://schemas.openxmlformats.org/markup-compatibility/2006" xmlns:a14="http://schemas.microsoft.com/office/drawing/2010/main">
        <mc:Choice Requires="a14">
          <p:sp>
            <p:nvSpPr>
              <p:cNvPr id="10" name="Rectangle 9"/>
              <p:cNvSpPr/>
              <p:nvPr/>
            </p:nvSpPr>
            <p:spPr>
              <a:xfrm>
                <a:off x="1065272" y="3368908"/>
                <a:ext cx="8075240" cy="671915"/>
              </a:xfrm>
              <a:prstGeom prst="rect">
                <a:avLst/>
              </a:prstGeom>
            </p:spPr>
            <p:txBody>
              <a:bodyPr wrap="square">
                <a:spAutoFit/>
              </a:bodyPr>
              <a:lstStyle/>
              <a:p>
                <a14:m>
                  <m:oMath xmlns:m="http://schemas.openxmlformats.org/officeDocument/2006/math">
                    <m:r>
                      <a:rPr lang="en-US" sz="2400" b="0" i="1" dirty="0" smtClean="0">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12!</m:t>
                        </m:r>
                      </m:num>
                      <m:den>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rPr>
                      <m:t>=</m:t>
                    </m:r>
                    <m:r>
                      <a:rPr lang="en-US" sz="2400" b="0" i="1" smtClean="0">
                        <a:latin typeface="Cambria Math" panose="02040503050406030204" pitchFamily="18" charset="0"/>
                      </a:rPr>
                      <m:t>4620</m:t>
                    </m:r>
                  </m:oMath>
                </a14:m>
                <a:r>
                  <a:rPr lang="en-US" sz="2400" dirty="0"/>
                  <a:t>   ways</a:t>
                </a:r>
              </a:p>
            </p:txBody>
          </p:sp>
        </mc:Choice>
        <mc:Fallback xmlns="">
          <p:sp>
            <p:nvSpPr>
              <p:cNvPr id="10" name="Rectangle 9"/>
              <p:cNvSpPr>
                <a:spLocks noRot="1" noChangeAspect="1" noMove="1" noResize="1" noEditPoints="1" noAdjustHandles="1" noChangeArrowheads="1" noChangeShapeType="1" noTextEdit="1"/>
              </p:cNvSpPr>
              <p:nvPr/>
            </p:nvSpPr>
            <p:spPr>
              <a:xfrm>
                <a:off x="1065272" y="3368908"/>
                <a:ext cx="8075240" cy="671915"/>
              </a:xfrm>
              <a:prstGeom prst="rect">
                <a:avLst/>
              </a:prstGeom>
              <a:blipFill>
                <a:blip r:embed="rId3"/>
                <a:stretch>
                  <a:fillRect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35036" y="4237762"/>
                <a:ext cx="7904239" cy="1229952"/>
              </a:xfrm>
              <a:prstGeom prst="rect">
                <a:avLst/>
              </a:prstGeom>
              <a:solidFill>
                <a:schemeClr val="accent1">
                  <a:lumMod val="40000"/>
                  <a:lumOff val="60000"/>
                </a:schemeClr>
              </a:solidFill>
            </p:spPr>
            <p:txBody>
              <a:bodyPr wrap="square" rtlCol="0">
                <a:spAutoFit/>
              </a:bodyPr>
              <a:lstStyle/>
              <a:p>
                <a:pPr marL="457200" indent="-457200" algn="just">
                  <a:tabLst>
                    <a:tab pos="457200" algn="l"/>
                  </a:tabLst>
                </a:pPr>
                <a:r>
                  <a:rPr lang="en-US" sz="2400" dirty="0"/>
                  <a:t>6.	Given </a:t>
                </a:r>
                <a14:m>
                  <m:oMath xmlns:m="http://schemas.openxmlformats.org/officeDocument/2006/math">
                    <m:r>
                      <a:rPr lang="en-US" sz="2400" i="1" dirty="0" smtClean="0">
                        <a:latin typeface="Cambria Math" panose="02040503050406030204" pitchFamily="18" charset="0"/>
                      </a:rPr>
                      <m:t>𝑛</m:t>
                    </m:r>
                  </m:oMath>
                </a14:m>
                <a:r>
                  <a:rPr lang="en-US" sz="2400" dirty="0"/>
                  <a:t> elements being placed in the </a:t>
                </a:r>
                <a14:m>
                  <m:oMath xmlns:m="http://schemas.openxmlformats.org/officeDocument/2006/math">
                    <m:r>
                      <a:rPr lang="en-US" sz="2400" i="1" dirty="0" smtClean="0">
                        <a:latin typeface="Cambria Math" panose="02040503050406030204" pitchFamily="18" charset="0"/>
                      </a:rPr>
                      <m:t>𝑘</m:t>
                    </m:r>
                  </m:oMath>
                </a14:m>
                <a:r>
                  <a:rPr lang="en-US" sz="2400" dirty="0"/>
                  <a:t> boxes and </a:t>
                </a:r>
                <a14:m>
                  <m:oMath xmlns:m="http://schemas.openxmlformats.org/officeDocument/2006/math">
                    <m:r>
                      <a:rPr lang="en-US" sz="2400" i="1" dirty="0" smtClean="0">
                        <a:latin typeface="Cambria Math" panose="02040503050406030204" pitchFamily="18" charset="0"/>
                      </a:rPr>
                      <m:t>𝑖</m:t>
                    </m:r>
                    <m:r>
                      <a:rPr lang="en-US" sz="2400" i="1" baseline="30000" dirty="0" err="1" smtClean="0">
                        <a:latin typeface="Cambria Math" panose="02040503050406030204" pitchFamily="18" charset="0"/>
                      </a:rPr>
                      <m:t>𝑡h</m:t>
                    </m:r>
                  </m:oMath>
                </a14:m>
                <a:r>
                  <a:rPr lang="en-US" sz="2400" dirty="0"/>
                  <a:t> box can have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𝑟</m:t>
                        </m:r>
                      </m:e>
                      <m:sub>
                        <m:r>
                          <a:rPr lang="en-US" sz="2400" b="0" i="1" dirty="0" smtClean="0">
                            <a:latin typeface="Cambria Math" panose="02040503050406030204" pitchFamily="18" charset="0"/>
                          </a:rPr>
                          <m:t>𝑖</m:t>
                        </m:r>
                      </m:sub>
                    </m:sSub>
                  </m:oMath>
                </a14:m>
                <a:r>
                  <a:rPr lang="en-US" sz="2400" dirty="0"/>
                  <a:t> elements so that </a:t>
                </a:r>
                <a14:m>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e>
                    </m:nary>
                  </m:oMath>
                </a14:m>
                <a:r>
                  <a:rPr lang="en-US" sz="2400" dirty="0"/>
                  <a:t> Prove that the number of ordered partitions is</a:t>
                </a:r>
              </a:p>
            </p:txBody>
          </p:sp>
        </mc:Choice>
        <mc:Fallback xmlns="">
          <p:sp>
            <p:nvSpPr>
              <p:cNvPr id="13" name="TextBox 12"/>
              <p:cNvSpPr txBox="1">
                <a:spLocks noRot="1" noChangeAspect="1" noMove="1" noResize="1" noEditPoints="1" noAdjustHandles="1" noChangeArrowheads="1" noChangeShapeType="1" noTextEdit="1"/>
              </p:cNvSpPr>
              <p:nvPr/>
            </p:nvSpPr>
            <p:spPr>
              <a:xfrm>
                <a:off x="635036" y="4237762"/>
                <a:ext cx="7904239" cy="1229952"/>
              </a:xfrm>
              <a:prstGeom prst="rect">
                <a:avLst/>
              </a:prstGeom>
              <a:blipFill>
                <a:blip r:embed="rId4"/>
                <a:stretch>
                  <a:fillRect l="-1157" t="-3960" r="-1157" b="-103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187624" y="5489019"/>
                <a:ext cx="6264696" cy="844205"/>
              </a:xfrm>
              <a:prstGeom prst="rect">
                <a:avLst/>
              </a:prstGeom>
            </p:spPr>
            <p:txBody>
              <a:bodyPr wrap="square">
                <a:spAutoFit/>
              </a:bodyPr>
              <a:lstStyle/>
              <a:p>
                <a:pPr/>
                <a14:m>
                  <m:oMathPara xmlns:m="http://schemas.openxmlformats.org/officeDocument/2006/math">
                    <m:oMathParaPr>
                      <m:jc m:val="center"/>
                    </m:oMathParaPr>
                    <m:oMath xmlns:m="http://schemas.openxmlformats.org/officeDocument/2006/math">
                      <m:r>
                        <a:rPr lang="en-US" sz="2400" b="0" i="1" dirty="0" smtClean="0">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𝑛</m:t>
                              </m:r>
                            </m:e>
                            <m:sub>
                              <m:r>
                                <a:rPr lang="en-US" sz="2400" b="0" i="1" smtClean="0">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𝑛</m:t>
                              </m:r>
                            </m:e>
                            <m:sub>
                              <m:r>
                                <a:rPr lang="en-US" sz="2400" b="0" i="1" smtClean="0">
                                  <a:latin typeface="Cambria Math" panose="02040503050406030204" pitchFamily="18" charset="0"/>
                                  <a:ea typeface="Cambria Math" panose="02040503050406030204" pitchFamily="18" charset="0"/>
                                </a:rPr>
                                <m:t>𝑟</m:t>
                              </m:r>
                            </m:sub>
                          </m:sSub>
                          <m:r>
                            <a:rPr lang="en-US" sz="2400" b="0" i="1" smtClean="0">
                              <a:latin typeface="Cambria Math" panose="02040503050406030204" pitchFamily="18" charset="0"/>
                              <a:ea typeface="Cambria Math" panose="02040503050406030204" pitchFamily="18" charset="0"/>
                            </a:rPr>
                            <m:t>!</m:t>
                          </m:r>
                        </m:den>
                      </m:f>
                    </m:oMath>
                  </m:oMathPara>
                </a14:m>
                <a:endParaRPr lang="en-US" sz="2400" dirty="0"/>
              </a:p>
            </p:txBody>
          </p:sp>
        </mc:Choice>
        <mc:Fallback xmlns="">
          <p:sp>
            <p:nvSpPr>
              <p:cNvPr id="14" name="Rectangle 13"/>
              <p:cNvSpPr>
                <a:spLocks noRot="1" noChangeAspect="1" noMove="1" noResize="1" noEditPoints="1" noAdjustHandles="1" noChangeArrowheads="1" noChangeShapeType="1" noTextEdit="1"/>
              </p:cNvSpPr>
              <p:nvPr/>
            </p:nvSpPr>
            <p:spPr>
              <a:xfrm>
                <a:off x="1187624" y="5489019"/>
                <a:ext cx="6264696" cy="84420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5720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dirty="0"/>
              <a:t>Exercises  </a:t>
            </a:r>
          </a:p>
        </p:txBody>
      </p:sp>
      <mc:AlternateContent xmlns:mc="http://schemas.openxmlformats.org/markup-compatibility/2006">
        <mc:Choice xmlns:a14="http://schemas.microsoft.com/office/drawing/2010/main" Requires="a14">
          <p:sp>
            <p:nvSpPr>
              <p:cNvPr id="3" name="Rectangle 2"/>
              <p:cNvSpPr/>
              <p:nvPr/>
            </p:nvSpPr>
            <p:spPr>
              <a:xfrm>
                <a:off x="457200" y="1556792"/>
                <a:ext cx="8229600" cy="1200329"/>
              </a:xfrm>
              <a:prstGeom prst="rect">
                <a:avLst/>
              </a:prstGeom>
            </p:spPr>
            <p:txBody>
              <a:bodyPr wrap="square">
                <a:spAutoFit/>
              </a:bodyPr>
              <a:lstStyle/>
              <a:p>
                <a:pPr marL="457200" indent="-457200" algn="just"/>
                <a:r>
                  <a:rPr lang="en-US" dirty="0">
                    <a:solidFill>
                      <a:srgbClr val="231F20"/>
                    </a:solidFill>
                    <a:latin typeface="Times-Roman"/>
                  </a:rPr>
                  <a:t>1. 	Consider a circuit with three relays(See figure). Let </a:t>
                </a:r>
                <a14:m>
                  <m:oMath xmlns:m="http://schemas.openxmlformats.org/officeDocument/2006/math">
                    <m:sSub>
                      <m:sSubPr>
                        <m:ctrlPr>
                          <a:rPr lang="en-US" i="1" dirty="0" smtClean="0">
                            <a:solidFill>
                              <a:srgbClr val="231F20"/>
                            </a:solidFill>
                            <a:latin typeface="Cambria Math" panose="02040503050406030204" pitchFamily="18" charset="0"/>
                          </a:rPr>
                        </m:ctrlPr>
                      </m:sSubPr>
                      <m:e>
                        <m:r>
                          <a:rPr lang="en-US" b="0" i="1" dirty="0" smtClean="0">
                            <a:solidFill>
                              <a:srgbClr val="231F20"/>
                            </a:solidFill>
                            <a:latin typeface="Cambria Math" panose="02040503050406030204" pitchFamily="18" charset="0"/>
                          </a:rPr>
                          <m:t>𝐴</m:t>
                        </m:r>
                      </m:e>
                      <m:sub>
                        <m:r>
                          <a:rPr lang="en-US" b="0" i="1" dirty="0" smtClean="0">
                            <a:solidFill>
                              <a:srgbClr val="231F20"/>
                            </a:solidFill>
                            <a:latin typeface="Cambria Math" panose="02040503050406030204" pitchFamily="18" charset="0"/>
                          </a:rPr>
                          <m:t>𝑖</m:t>
                        </m:r>
                      </m:sub>
                    </m:sSub>
                  </m:oMath>
                </a14:m>
                <a:r>
                  <a:rPr lang="en-US" i="1" dirty="0">
                    <a:solidFill>
                      <a:srgbClr val="231F20"/>
                    </a:solidFill>
                    <a:latin typeface="Times-Italic"/>
                  </a:rPr>
                  <a:t> </a:t>
                </a:r>
                <a:r>
                  <a:rPr lang="en-US" dirty="0">
                    <a:solidFill>
                      <a:srgbClr val="231F20"/>
                    </a:solidFill>
                    <a:latin typeface="Times-Roman"/>
                  </a:rPr>
                  <a:t>denote the event that the </a:t>
                </a:r>
                <a14:m>
                  <m:oMath xmlns:m="http://schemas.openxmlformats.org/officeDocument/2006/math">
                    <m:r>
                      <a:rPr lang="en-US" i="1" dirty="0" smtClean="0">
                        <a:solidFill>
                          <a:srgbClr val="231F20"/>
                        </a:solidFill>
                        <a:latin typeface="Cambria Math" panose="02040503050406030204" pitchFamily="18" charset="0"/>
                      </a:rPr>
                      <m:t>𝑖</m:t>
                    </m:r>
                  </m:oMath>
                </a14:m>
                <a:r>
                  <a:rPr lang="en-US" i="1" dirty="0">
                    <a:solidFill>
                      <a:srgbClr val="231F20"/>
                    </a:solidFill>
                    <a:latin typeface="Times-Italic"/>
                  </a:rPr>
                  <a:t> </a:t>
                </a:r>
                <a:r>
                  <a:rPr lang="en-US" dirty="0" err="1">
                    <a:solidFill>
                      <a:srgbClr val="231F20"/>
                    </a:solidFill>
                    <a:latin typeface="Times-Roman"/>
                  </a:rPr>
                  <a:t>th</a:t>
                </a:r>
                <a:r>
                  <a:rPr lang="en-US" dirty="0">
                    <a:solidFill>
                      <a:srgbClr val="231F20"/>
                    </a:solidFill>
                    <a:latin typeface="Times-Roman"/>
                  </a:rPr>
                  <a:t> relay works, and assume that </a:t>
                </a:r>
                <a14:m>
                  <m:oMath xmlns:m="http://schemas.openxmlformats.org/officeDocument/2006/math">
                    <m:r>
                      <a:rPr lang="en-US" i="1" dirty="0" smtClean="0">
                        <a:solidFill>
                          <a:srgbClr val="231F20"/>
                        </a:solidFill>
                        <a:latin typeface="Cambria Math" panose="02040503050406030204" pitchFamily="18" charset="0"/>
                      </a:rPr>
                      <m:t>𝑃</m:t>
                    </m:r>
                    <m:d>
                      <m:dPr>
                        <m:ctrlPr>
                          <a:rPr lang="en-US" i="1" dirty="0" smtClean="0">
                            <a:solidFill>
                              <a:srgbClr val="231F20"/>
                            </a:solidFill>
                            <a:latin typeface="Cambria Math" panose="02040503050406030204" pitchFamily="18" charset="0"/>
                          </a:rPr>
                        </m:ctrlPr>
                      </m:dPr>
                      <m:e>
                        <m:sSub>
                          <m:sSubPr>
                            <m:ctrlPr>
                              <a:rPr lang="en-US" i="1" dirty="0" smtClean="0">
                                <a:solidFill>
                                  <a:srgbClr val="231F20"/>
                                </a:solidFill>
                                <a:latin typeface="Cambria Math" panose="02040503050406030204" pitchFamily="18" charset="0"/>
                              </a:rPr>
                            </m:ctrlPr>
                          </m:sSubPr>
                          <m:e>
                            <m:r>
                              <a:rPr lang="en-US" b="0" i="1" dirty="0" smtClean="0">
                                <a:solidFill>
                                  <a:srgbClr val="231F20"/>
                                </a:solidFill>
                                <a:latin typeface="Cambria Math" panose="02040503050406030204" pitchFamily="18" charset="0"/>
                              </a:rPr>
                              <m:t>𝐴</m:t>
                            </m:r>
                          </m:e>
                          <m:sub>
                            <m:r>
                              <a:rPr lang="en-US" b="0" i="1" dirty="0" smtClean="0">
                                <a:solidFill>
                                  <a:srgbClr val="231F20"/>
                                </a:solidFill>
                                <a:latin typeface="Cambria Math" panose="02040503050406030204" pitchFamily="18" charset="0"/>
                              </a:rPr>
                              <m:t>𝑖</m:t>
                            </m:r>
                          </m:sub>
                        </m:sSub>
                      </m:e>
                    </m:d>
                    <m:r>
                      <a:rPr lang="en-US" b="0" i="1" dirty="0" smtClean="0">
                        <a:solidFill>
                          <a:srgbClr val="231F20"/>
                        </a:solidFill>
                        <a:latin typeface="Cambria Math" panose="02040503050406030204" pitchFamily="18" charset="0"/>
                      </a:rPr>
                      <m:t>=</m:t>
                    </m:r>
                    <m:r>
                      <a:rPr lang="en-US" b="0" i="1" dirty="0" smtClean="0">
                        <a:solidFill>
                          <a:srgbClr val="231F20"/>
                        </a:solidFill>
                        <a:latin typeface="Cambria Math" panose="02040503050406030204" pitchFamily="18" charset="0"/>
                      </a:rPr>
                      <m:t>𝑝</m:t>
                    </m:r>
                  </m:oMath>
                </a14:m>
                <a:r>
                  <a:rPr lang="en-US" i="1" dirty="0">
                    <a:solidFill>
                      <a:srgbClr val="231F20"/>
                    </a:solidFill>
                    <a:latin typeface="Times-Italic"/>
                  </a:rPr>
                  <a:t> </a:t>
                </a:r>
                <a:r>
                  <a:rPr lang="en-US" dirty="0">
                    <a:solidFill>
                      <a:srgbClr val="231F20"/>
                    </a:solidFill>
                    <a:latin typeface="Times-Roman"/>
                  </a:rPr>
                  <a:t>and that the relays are mutually independent. If </a:t>
                </a:r>
                <a:r>
                  <a:rPr lang="en-US" i="1" dirty="0">
                    <a:solidFill>
                      <a:srgbClr val="231F20"/>
                    </a:solidFill>
                    <a:latin typeface="Times-Italic"/>
                  </a:rPr>
                  <a:t>F </a:t>
                </a:r>
                <a:r>
                  <a:rPr lang="en-US" dirty="0">
                    <a:solidFill>
                      <a:srgbClr val="231F20"/>
                    </a:solidFill>
                    <a:latin typeface="Times-Roman"/>
                  </a:rPr>
                  <a:t>denotes the event that current flows through the circuit, then </a:t>
                </a:r>
                <a14:m>
                  <m:oMath xmlns:m="http://schemas.openxmlformats.org/officeDocument/2006/math">
                    <m:r>
                      <a:rPr lang="en-US" i="1" dirty="0" smtClean="0">
                        <a:solidFill>
                          <a:srgbClr val="231F20"/>
                        </a:solidFill>
                        <a:latin typeface="Cambria Math" panose="02040503050406030204" pitchFamily="18" charset="0"/>
                      </a:rPr>
                      <m:t>𝐹</m:t>
                    </m:r>
                    <m:r>
                      <a:rPr lang="en-US" i="1" dirty="0" smtClean="0">
                        <a:solidFill>
                          <a:srgbClr val="231F20"/>
                        </a:solidFill>
                        <a:latin typeface="Cambria Math" panose="02040503050406030204" pitchFamily="18" charset="0"/>
                      </a:rPr>
                      <m:t> = </m:t>
                    </m:r>
                    <m:sSub>
                      <m:sSubPr>
                        <m:ctrlPr>
                          <a:rPr lang="en-US" i="1" dirty="0" smtClean="0">
                            <a:solidFill>
                              <a:srgbClr val="231F20"/>
                            </a:solidFill>
                            <a:latin typeface="Cambria Math" panose="02040503050406030204" pitchFamily="18" charset="0"/>
                          </a:rPr>
                        </m:ctrlPr>
                      </m:sSubPr>
                      <m:e>
                        <m:r>
                          <a:rPr lang="en-US" b="0" i="1" dirty="0" smtClean="0">
                            <a:solidFill>
                              <a:srgbClr val="231F20"/>
                            </a:solidFill>
                            <a:latin typeface="Cambria Math" panose="02040503050406030204" pitchFamily="18" charset="0"/>
                          </a:rPr>
                          <m:t>𝐴</m:t>
                        </m:r>
                      </m:e>
                      <m:sub>
                        <m:r>
                          <a:rPr lang="en-US" b="0" i="1" dirty="0" smtClean="0">
                            <a:solidFill>
                              <a:srgbClr val="231F20"/>
                            </a:solidFill>
                            <a:latin typeface="Cambria Math" panose="02040503050406030204" pitchFamily="18" charset="0"/>
                          </a:rPr>
                          <m:t>3</m:t>
                        </m:r>
                      </m:sub>
                    </m:sSub>
                    <m:r>
                      <a:rPr lang="en-US" i="1" dirty="0" smtClean="0">
                        <a:solidFill>
                          <a:srgbClr val="231F20"/>
                        </a:solidFill>
                        <a:latin typeface="Cambria Math" panose="02040503050406030204" pitchFamily="18" charset="0"/>
                      </a:rPr>
                      <m:t> ∪(</m:t>
                    </m:r>
                    <m:sSub>
                      <m:sSubPr>
                        <m:ctrlPr>
                          <a:rPr lang="en-US" i="1" dirty="0" smtClean="0">
                            <a:solidFill>
                              <a:srgbClr val="231F20"/>
                            </a:solidFill>
                            <a:latin typeface="Cambria Math" panose="02040503050406030204" pitchFamily="18" charset="0"/>
                          </a:rPr>
                        </m:ctrlPr>
                      </m:sSubPr>
                      <m:e>
                        <m:r>
                          <a:rPr lang="en-US" b="0" i="1" dirty="0" smtClean="0">
                            <a:solidFill>
                              <a:srgbClr val="231F20"/>
                            </a:solidFill>
                            <a:latin typeface="Cambria Math" panose="02040503050406030204" pitchFamily="18" charset="0"/>
                          </a:rPr>
                          <m:t>𝐴</m:t>
                        </m:r>
                      </m:e>
                      <m:sub>
                        <m:r>
                          <a:rPr lang="en-US" b="0" i="1" dirty="0" smtClean="0">
                            <a:solidFill>
                              <a:srgbClr val="231F20"/>
                            </a:solidFill>
                            <a:latin typeface="Cambria Math" panose="02040503050406030204" pitchFamily="18" charset="0"/>
                          </a:rPr>
                          <m:t>1</m:t>
                        </m:r>
                      </m:sub>
                    </m:sSub>
                    <m:r>
                      <a:rPr lang="en-US" i="1" dirty="0" smtClean="0">
                        <a:solidFill>
                          <a:srgbClr val="231F20"/>
                        </a:solidFill>
                        <a:latin typeface="Cambria Math" panose="02040503050406030204" pitchFamily="18" charset="0"/>
                      </a:rPr>
                      <m:t> ∩ </m:t>
                    </m:r>
                    <m:sSub>
                      <m:sSubPr>
                        <m:ctrlPr>
                          <a:rPr lang="en-US" i="1" dirty="0" smtClean="0">
                            <a:solidFill>
                              <a:srgbClr val="231F20"/>
                            </a:solidFill>
                            <a:latin typeface="Cambria Math" panose="02040503050406030204" pitchFamily="18" charset="0"/>
                          </a:rPr>
                        </m:ctrlPr>
                      </m:sSubPr>
                      <m:e>
                        <m:r>
                          <a:rPr lang="en-US" b="0" i="1" dirty="0" smtClean="0">
                            <a:solidFill>
                              <a:srgbClr val="231F20"/>
                            </a:solidFill>
                            <a:latin typeface="Cambria Math" panose="02040503050406030204" pitchFamily="18" charset="0"/>
                          </a:rPr>
                          <m:t>𝐴</m:t>
                        </m:r>
                      </m:e>
                      <m:sub>
                        <m:r>
                          <a:rPr lang="en-US" b="0" i="1" dirty="0" smtClean="0">
                            <a:solidFill>
                              <a:srgbClr val="231F20"/>
                            </a:solidFill>
                            <a:latin typeface="Cambria Math" panose="02040503050406030204" pitchFamily="18" charset="0"/>
                          </a:rPr>
                          <m:t>2</m:t>
                        </m:r>
                      </m:sub>
                    </m:sSub>
                    <m:r>
                      <a:rPr lang="en-US" i="1" dirty="0" smtClean="0">
                        <a:solidFill>
                          <a:srgbClr val="231F20"/>
                        </a:solidFill>
                        <a:latin typeface="Cambria Math" panose="02040503050406030204" pitchFamily="18" charset="0"/>
                      </a:rPr>
                      <m:t>)</m:t>
                    </m:r>
                  </m:oMath>
                </a14:m>
                <a:r>
                  <a:rPr lang="en-US" i="1" dirty="0">
                    <a:solidFill>
                      <a:srgbClr val="231F20"/>
                    </a:solidFill>
                    <a:latin typeface="RMTMI"/>
                  </a:rPr>
                  <a:t>. Find the probability of F </a:t>
                </a:r>
              </a:p>
            </p:txBody>
          </p:sp>
        </mc:Choice>
        <mc:Fallback>
          <p:sp>
            <p:nvSpPr>
              <p:cNvPr id="3" name="Rectangle 2"/>
              <p:cNvSpPr>
                <a:spLocks noRot="1" noChangeAspect="1" noMove="1" noResize="1" noEditPoints="1" noAdjustHandles="1" noChangeArrowheads="1" noChangeShapeType="1" noTextEdit="1"/>
              </p:cNvSpPr>
              <p:nvPr/>
            </p:nvSpPr>
            <p:spPr>
              <a:xfrm>
                <a:off x="457200" y="1556792"/>
                <a:ext cx="8229600" cy="1200329"/>
              </a:xfrm>
              <a:prstGeom prst="rect">
                <a:avLst/>
              </a:prstGeom>
              <a:blipFill>
                <a:blip r:embed="rId2"/>
                <a:stretch>
                  <a:fillRect l="-593" t="-2538" r="-593" b="-7107"/>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1187624" y="2921008"/>
            <a:ext cx="3562350" cy="914400"/>
          </a:xfrm>
          <a:prstGeom prst="rect">
            <a:avLst/>
          </a:prstGeom>
        </p:spPr>
      </p:pic>
      <p:sp>
        <p:nvSpPr>
          <p:cNvPr id="5" name="Rectangle 4"/>
          <p:cNvSpPr/>
          <p:nvPr/>
        </p:nvSpPr>
        <p:spPr>
          <a:xfrm>
            <a:off x="457200" y="3999295"/>
            <a:ext cx="8229600" cy="646331"/>
          </a:xfrm>
          <a:prstGeom prst="rect">
            <a:avLst/>
          </a:prstGeom>
        </p:spPr>
        <p:txBody>
          <a:bodyPr wrap="square">
            <a:spAutoFit/>
          </a:bodyPr>
          <a:lstStyle/>
          <a:p>
            <a:pPr marL="457200" indent="-457200"/>
            <a:r>
              <a:rPr lang="en-US" dirty="0">
                <a:solidFill>
                  <a:srgbClr val="231F20"/>
                </a:solidFill>
                <a:latin typeface="Times-Roman"/>
              </a:rPr>
              <a:t>2.	How many different letter arrangements can be obtained from the letters of the word </a:t>
            </a:r>
            <a:r>
              <a:rPr lang="en-US" i="1" dirty="0">
                <a:solidFill>
                  <a:srgbClr val="231F20"/>
                </a:solidFill>
                <a:latin typeface="Times-Italic"/>
              </a:rPr>
              <a:t>statistically</a:t>
            </a:r>
            <a:r>
              <a:rPr lang="en-US" dirty="0">
                <a:solidFill>
                  <a:srgbClr val="231F20"/>
                </a:solidFill>
                <a:latin typeface="Times-Roman"/>
              </a:rPr>
              <a:t>, using all the letters?</a:t>
            </a:r>
            <a:endParaRPr lang="en-US" dirty="0"/>
          </a:p>
        </p:txBody>
      </p:sp>
      <mc:AlternateContent xmlns:mc="http://schemas.openxmlformats.org/markup-compatibility/2006">
        <mc:Choice xmlns:a14="http://schemas.microsoft.com/office/drawing/2010/main" Requires="a14">
          <p:sp>
            <p:nvSpPr>
              <p:cNvPr id="6" name="Rectangle 5"/>
              <p:cNvSpPr/>
              <p:nvPr/>
            </p:nvSpPr>
            <p:spPr>
              <a:xfrm>
                <a:off x="457200" y="4951986"/>
                <a:ext cx="8229600" cy="1200329"/>
              </a:xfrm>
              <a:prstGeom prst="rect">
                <a:avLst/>
              </a:prstGeom>
            </p:spPr>
            <p:txBody>
              <a:bodyPr wrap="square">
                <a:spAutoFit/>
              </a:bodyPr>
              <a:lstStyle/>
              <a:p>
                <a:pPr marL="457200" indent="-457200" algn="just"/>
                <a:r>
                  <a:rPr lang="en-US" dirty="0">
                    <a:solidFill>
                      <a:srgbClr val="231F20"/>
                    </a:solidFill>
                    <a:latin typeface="Times-Roman"/>
                  </a:rPr>
                  <a:t>3. 	A lot of </a:t>
                </a:r>
                <a14:m>
                  <m:oMath xmlns:m="http://schemas.openxmlformats.org/officeDocument/2006/math">
                    <m:r>
                      <a:rPr lang="en-US" i="1" dirty="0" smtClean="0">
                        <a:solidFill>
                          <a:srgbClr val="231F20"/>
                        </a:solidFill>
                        <a:latin typeface="Cambria Math" panose="02040503050406030204" pitchFamily="18" charset="0"/>
                      </a:rPr>
                      <m:t>𝑛</m:t>
                    </m:r>
                  </m:oMath>
                </a14:m>
                <a:r>
                  <a:rPr lang="en-US" i="1" dirty="0">
                    <a:solidFill>
                      <a:srgbClr val="231F20"/>
                    </a:solidFill>
                    <a:latin typeface="Times-Italic"/>
                  </a:rPr>
                  <a:t> </a:t>
                </a:r>
                <a:r>
                  <a:rPr lang="en-US" dirty="0">
                    <a:solidFill>
                      <a:srgbClr val="231F20"/>
                    </a:solidFill>
                    <a:latin typeface="Times-Roman"/>
                  </a:rPr>
                  <a:t>items contains </a:t>
                </a:r>
                <a14:m>
                  <m:oMath xmlns:m="http://schemas.openxmlformats.org/officeDocument/2006/math">
                    <m:r>
                      <a:rPr lang="en-US" i="1" dirty="0" smtClean="0">
                        <a:solidFill>
                          <a:srgbClr val="231F20"/>
                        </a:solidFill>
                        <a:latin typeface="Cambria Math" panose="02040503050406030204" pitchFamily="18" charset="0"/>
                      </a:rPr>
                      <m:t>𝑘</m:t>
                    </m:r>
                  </m:oMath>
                </a14:m>
                <a:r>
                  <a:rPr lang="en-US" i="1" dirty="0">
                    <a:solidFill>
                      <a:srgbClr val="231F20"/>
                    </a:solidFill>
                    <a:latin typeface="Times-Italic"/>
                  </a:rPr>
                  <a:t> </a:t>
                </a:r>
                <a:r>
                  <a:rPr lang="en-US" dirty="0">
                    <a:solidFill>
                      <a:srgbClr val="231F20"/>
                    </a:solidFill>
                    <a:latin typeface="Times-Roman"/>
                  </a:rPr>
                  <a:t>defectives, and </a:t>
                </a:r>
                <a14:m>
                  <m:oMath xmlns:m="http://schemas.openxmlformats.org/officeDocument/2006/math">
                    <m:r>
                      <a:rPr lang="en-US" i="1" dirty="0" smtClean="0">
                        <a:solidFill>
                          <a:srgbClr val="231F20"/>
                        </a:solidFill>
                        <a:latin typeface="Cambria Math" panose="02040503050406030204" pitchFamily="18" charset="0"/>
                      </a:rPr>
                      <m:t>𝑚</m:t>
                    </m:r>
                  </m:oMath>
                </a14:m>
                <a:r>
                  <a:rPr lang="en-US" i="1" dirty="0">
                    <a:solidFill>
                      <a:srgbClr val="231F20"/>
                    </a:solidFill>
                    <a:latin typeface="Times-Italic"/>
                  </a:rPr>
                  <a:t> </a:t>
                </a:r>
                <a:r>
                  <a:rPr lang="en-US" dirty="0">
                    <a:solidFill>
                      <a:srgbClr val="231F20"/>
                    </a:solidFill>
                    <a:latin typeface="Times-Roman"/>
                  </a:rPr>
                  <a:t>are selected randomly and inspected. How should the value of </a:t>
                </a:r>
                <a14:m>
                  <m:oMath xmlns:m="http://schemas.openxmlformats.org/officeDocument/2006/math">
                    <m:r>
                      <a:rPr lang="en-US" i="1" dirty="0" smtClean="0">
                        <a:solidFill>
                          <a:srgbClr val="231F20"/>
                        </a:solidFill>
                        <a:latin typeface="Cambria Math" panose="02040503050406030204" pitchFamily="18" charset="0"/>
                      </a:rPr>
                      <m:t>𝑚</m:t>
                    </m:r>
                  </m:oMath>
                </a14:m>
                <a:r>
                  <a:rPr lang="en-US" i="1" dirty="0">
                    <a:solidFill>
                      <a:srgbClr val="231F20"/>
                    </a:solidFill>
                    <a:latin typeface="Times-Italic"/>
                  </a:rPr>
                  <a:t> </a:t>
                </a:r>
                <a:r>
                  <a:rPr lang="en-US" dirty="0">
                    <a:solidFill>
                      <a:srgbClr val="231F20"/>
                    </a:solidFill>
                    <a:latin typeface="Times-Roman"/>
                  </a:rPr>
                  <a:t>be chosen so that the probability that at least one defective item turns up is .90? Apply your answer to </a:t>
                </a:r>
                <a14:m>
                  <m:oMath xmlns:m="http://schemas.openxmlformats.org/officeDocument/2006/math">
                    <m:r>
                      <a:rPr lang="en-US" i="1" dirty="0" smtClean="0">
                        <a:solidFill>
                          <a:srgbClr val="231F20"/>
                        </a:solidFill>
                        <a:latin typeface="Cambria Math" panose="02040503050406030204" pitchFamily="18" charset="0"/>
                      </a:rPr>
                      <m:t>(</m:t>
                    </m:r>
                    <m:r>
                      <a:rPr lang="en-US" i="1" dirty="0" smtClean="0">
                        <a:solidFill>
                          <a:srgbClr val="231F20"/>
                        </a:solidFill>
                        <a:latin typeface="Cambria Math" panose="02040503050406030204" pitchFamily="18" charset="0"/>
                      </a:rPr>
                      <m:t>𝑎</m:t>
                    </m:r>
                    <m:r>
                      <a:rPr lang="en-US" i="1" dirty="0" smtClean="0">
                        <a:solidFill>
                          <a:srgbClr val="231F20"/>
                        </a:solidFill>
                        <a:latin typeface="Cambria Math" panose="02040503050406030204" pitchFamily="18" charset="0"/>
                      </a:rPr>
                      <m:t>) </m:t>
                    </m:r>
                    <m:r>
                      <a:rPr lang="en-US" i="1" dirty="0" smtClean="0">
                        <a:solidFill>
                          <a:srgbClr val="231F20"/>
                        </a:solidFill>
                        <a:latin typeface="Cambria Math" panose="02040503050406030204" pitchFamily="18" charset="0"/>
                      </a:rPr>
                      <m:t>𝑛</m:t>
                    </m:r>
                    <m:r>
                      <a:rPr lang="en-US" i="1" dirty="0" smtClean="0">
                        <a:solidFill>
                          <a:srgbClr val="231F20"/>
                        </a:solidFill>
                        <a:latin typeface="Cambria Math" panose="02040503050406030204" pitchFamily="18" charset="0"/>
                      </a:rPr>
                      <m:t> = 1000, </m:t>
                    </m:r>
                    <m:r>
                      <a:rPr lang="en-US" i="1" dirty="0" smtClean="0">
                        <a:solidFill>
                          <a:srgbClr val="231F20"/>
                        </a:solidFill>
                        <a:latin typeface="Cambria Math" panose="02040503050406030204" pitchFamily="18" charset="0"/>
                      </a:rPr>
                      <m:t>𝑘</m:t>
                    </m:r>
                    <m:r>
                      <a:rPr lang="en-US" i="1" dirty="0" smtClean="0">
                        <a:solidFill>
                          <a:srgbClr val="231F20"/>
                        </a:solidFill>
                        <a:latin typeface="Cambria Math" panose="02040503050406030204" pitchFamily="18" charset="0"/>
                      </a:rPr>
                      <m:t> = 10,</m:t>
                    </m:r>
                  </m:oMath>
                </a14:m>
                <a:r>
                  <a:rPr lang="en-US" dirty="0">
                    <a:solidFill>
                      <a:srgbClr val="231F20"/>
                    </a:solidFill>
                    <a:latin typeface="Times-Roman"/>
                  </a:rPr>
                  <a:t> and </a:t>
                </a:r>
                <a14:m>
                  <m:oMath xmlns:m="http://schemas.openxmlformats.org/officeDocument/2006/math">
                    <m:r>
                      <a:rPr lang="pt-BR" i="1" dirty="0" smtClean="0">
                        <a:solidFill>
                          <a:srgbClr val="231F20"/>
                        </a:solidFill>
                        <a:latin typeface="Cambria Math" panose="02040503050406030204" pitchFamily="18" charset="0"/>
                      </a:rPr>
                      <m:t>(</m:t>
                    </m:r>
                    <m:r>
                      <a:rPr lang="pt-BR" i="1" dirty="0" smtClean="0">
                        <a:solidFill>
                          <a:srgbClr val="231F20"/>
                        </a:solidFill>
                        <a:latin typeface="Cambria Math" panose="02040503050406030204" pitchFamily="18" charset="0"/>
                      </a:rPr>
                      <m:t>𝑏</m:t>
                    </m:r>
                    <m:r>
                      <a:rPr lang="pt-BR" i="1" dirty="0" smtClean="0">
                        <a:solidFill>
                          <a:srgbClr val="231F20"/>
                        </a:solidFill>
                        <a:latin typeface="Cambria Math" panose="02040503050406030204" pitchFamily="18" charset="0"/>
                      </a:rPr>
                      <m:t>) </m:t>
                    </m:r>
                    <m:r>
                      <a:rPr lang="pt-BR" i="1" dirty="0" smtClean="0">
                        <a:solidFill>
                          <a:srgbClr val="231F20"/>
                        </a:solidFill>
                        <a:latin typeface="Cambria Math" panose="02040503050406030204" pitchFamily="18" charset="0"/>
                      </a:rPr>
                      <m:t>𝑛</m:t>
                    </m:r>
                    <m:r>
                      <a:rPr lang="pt-BR" i="1" dirty="0" smtClean="0">
                        <a:solidFill>
                          <a:srgbClr val="231F20"/>
                        </a:solidFill>
                        <a:latin typeface="Cambria Math" panose="02040503050406030204" pitchFamily="18" charset="0"/>
                      </a:rPr>
                      <m:t> = 10,000, </m:t>
                    </m:r>
                    <m:r>
                      <a:rPr lang="pt-BR" i="1" dirty="0" smtClean="0">
                        <a:solidFill>
                          <a:srgbClr val="231F20"/>
                        </a:solidFill>
                        <a:latin typeface="Cambria Math" panose="02040503050406030204" pitchFamily="18" charset="0"/>
                      </a:rPr>
                      <m:t>𝑘</m:t>
                    </m:r>
                    <m:r>
                      <a:rPr lang="pt-BR" i="1" dirty="0" smtClean="0">
                        <a:solidFill>
                          <a:srgbClr val="231F20"/>
                        </a:solidFill>
                        <a:latin typeface="Cambria Math" panose="02040503050406030204" pitchFamily="18" charset="0"/>
                      </a:rPr>
                      <m:t> = 100.</m:t>
                    </m:r>
                  </m:oMath>
                </a14:m>
                <a:endParaRPr lang="en-US" dirty="0"/>
              </a:p>
            </p:txBody>
          </p:sp>
        </mc:Choice>
        <mc:Fallback>
          <p:sp>
            <p:nvSpPr>
              <p:cNvPr id="6" name="Rectangle 5"/>
              <p:cNvSpPr>
                <a:spLocks noRot="1" noChangeAspect="1" noMove="1" noResize="1" noEditPoints="1" noAdjustHandles="1" noChangeArrowheads="1" noChangeShapeType="1" noTextEdit="1"/>
              </p:cNvSpPr>
              <p:nvPr/>
            </p:nvSpPr>
            <p:spPr>
              <a:xfrm>
                <a:off x="457200" y="4951986"/>
                <a:ext cx="8229600" cy="1200329"/>
              </a:xfrm>
              <a:prstGeom prst="rect">
                <a:avLst/>
              </a:prstGeom>
              <a:blipFill>
                <a:blip r:embed="rId4"/>
                <a:stretch>
                  <a:fillRect l="-593" t="-2538" r="-593" b="-659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6674552" y="3239708"/>
                <a:ext cx="2008820" cy="276999"/>
              </a:xfrm>
              <a:prstGeom prst="rect">
                <a:avLst/>
              </a:prstGeom>
              <a:solidFill>
                <a:schemeClr val="accent2"/>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3</m:t>
                          </m:r>
                        </m:sup>
                      </m:sSup>
                    </m:oMath>
                  </m:oMathPara>
                </a14:m>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6674552" y="3239708"/>
                <a:ext cx="2008820" cy="276999"/>
              </a:xfrm>
              <a:prstGeom prst="rect">
                <a:avLst/>
              </a:prstGeom>
              <a:blipFill>
                <a:blip r:embed="rId5"/>
                <a:stretch>
                  <a:fillRect l="-2432" t="-4348" r="-304"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6554334" y="4385426"/>
                <a:ext cx="2093522" cy="520399"/>
              </a:xfrm>
              <a:prstGeom prst="rect">
                <a:avLst/>
              </a:prstGeom>
              <a:solidFill>
                <a:schemeClr val="accent2"/>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13!</m:t>
                          </m:r>
                        </m:num>
                        <m:den>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×3!×2!×2!×2!</m:t>
                          </m:r>
                        </m:den>
                      </m:f>
                    </m:oMath>
                  </m:oMathPara>
                </a14:m>
                <a:endParaRPr lang="en-US" dirty="0"/>
              </a:p>
            </p:txBody>
          </p:sp>
        </mc:Choice>
        <mc:Fallback>
          <p:sp>
            <p:nvSpPr>
              <p:cNvPr id="8" name="TextBox 7"/>
              <p:cNvSpPr txBox="1">
                <a:spLocks noRot="1" noChangeAspect="1" noMove="1" noResize="1" noEditPoints="1" noAdjustHandles="1" noChangeArrowheads="1" noChangeShapeType="1" noTextEdit="1"/>
              </p:cNvSpPr>
              <p:nvPr/>
            </p:nvSpPr>
            <p:spPr>
              <a:xfrm>
                <a:off x="6554334" y="4385426"/>
                <a:ext cx="2093522" cy="52039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37088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476672"/>
            <a:ext cx="7704856" cy="646331"/>
          </a:xfrm>
          <a:prstGeom prst="rect">
            <a:avLst/>
          </a:prstGeom>
        </p:spPr>
        <p:txBody>
          <a:bodyPr wrap="square">
            <a:spAutoFit/>
          </a:bodyPr>
          <a:lstStyle/>
          <a:p>
            <a:pPr marL="457200" indent="-457200" algn="just"/>
            <a:r>
              <a:rPr lang="en-US" dirty="0">
                <a:solidFill>
                  <a:srgbClr val="231F20"/>
                </a:solidFill>
                <a:latin typeface="Times-Roman"/>
              </a:rPr>
              <a:t>4.	A committee consists of five Chicanos, two Asians, three African Americans, and two Caucasians.</a:t>
            </a:r>
          </a:p>
        </p:txBody>
      </p:sp>
      <p:sp>
        <p:nvSpPr>
          <p:cNvPr id="5" name="Rectangle 4"/>
          <p:cNvSpPr/>
          <p:nvPr/>
        </p:nvSpPr>
        <p:spPr>
          <a:xfrm>
            <a:off x="1259632" y="1123003"/>
            <a:ext cx="7056784" cy="1477328"/>
          </a:xfrm>
          <a:prstGeom prst="rect">
            <a:avLst/>
          </a:prstGeom>
        </p:spPr>
        <p:txBody>
          <a:bodyPr wrap="square">
            <a:spAutoFit/>
          </a:bodyPr>
          <a:lstStyle/>
          <a:p>
            <a:pPr marL="457200" indent="-457200" algn="just"/>
            <a:r>
              <a:rPr lang="en-US" b="1" dirty="0">
                <a:solidFill>
                  <a:srgbClr val="231F20"/>
                </a:solidFill>
                <a:latin typeface="Times-Bold"/>
              </a:rPr>
              <a:t>a. 	</a:t>
            </a:r>
            <a:r>
              <a:rPr lang="en-US" dirty="0">
                <a:solidFill>
                  <a:srgbClr val="231F20"/>
                </a:solidFill>
                <a:latin typeface="Times-Roman"/>
              </a:rPr>
              <a:t>A subcommittee of four is chosen at random. What is the probability that all the ethnic groups are represented on the subcommittee?</a:t>
            </a:r>
          </a:p>
          <a:p>
            <a:pPr marL="457200" indent="-457200" algn="just"/>
            <a:r>
              <a:rPr lang="en-US" b="1" dirty="0">
                <a:solidFill>
                  <a:srgbClr val="231F20"/>
                </a:solidFill>
                <a:latin typeface="Times-Bold"/>
              </a:rPr>
              <a:t>b. 	</a:t>
            </a:r>
            <a:r>
              <a:rPr lang="en-US" dirty="0">
                <a:solidFill>
                  <a:srgbClr val="231F20"/>
                </a:solidFill>
                <a:latin typeface="Times-Roman"/>
              </a:rPr>
              <a:t>Answer the question for part (a) if a subcommittee of five is chosen.</a:t>
            </a:r>
            <a:endParaRPr lang="en-US" dirty="0"/>
          </a:p>
        </p:txBody>
      </p:sp>
      <p:sp>
        <p:nvSpPr>
          <p:cNvPr id="6" name="Rectangle 5"/>
          <p:cNvSpPr/>
          <p:nvPr/>
        </p:nvSpPr>
        <p:spPr>
          <a:xfrm>
            <a:off x="755576" y="2690336"/>
            <a:ext cx="7560840" cy="923330"/>
          </a:xfrm>
          <a:prstGeom prst="rect">
            <a:avLst/>
          </a:prstGeom>
        </p:spPr>
        <p:txBody>
          <a:bodyPr wrap="square">
            <a:spAutoFit/>
          </a:bodyPr>
          <a:lstStyle/>
          <a:p>
            <a:pPr marL="457200" indent="-457200" algn="just"/>
            <a:r>
              <a:rPr lang="en-US" dirty="0">
                <a:solidFill>
                  <a:srgbClr val="231F20"/>
                </a:solidFill>
                <a:latin typeface="Times-Roman"/>
              </a:rPr>
              <a:t>5.	A poker player is dealt three spades and two hearts. He discards the two hearts and draws two more cards. What is the probability that he draws two more spades?</a:t>
            </a:r>
            <a:endParaRPr lang="en-US" dirty="0"/>
          </a:p>
        </p:txBody>
      </p:sp>
      <p:sp>
        <p:nvSpPr>
          <p:cNvPr id="7" name="Rectangle 6"/>
          <p:cNvSpPr/>
          <p:nvPr/>
        </p:nvSpPr>
        <p:spPr>
          <a:xfrm>
            <a:off x="755576" y="3718878"/>
            <a:ext cx="7560840" cy="923330"/>
          </a:xfrm>
          <a:prstGeom prst="rect">
            <a:avLst/>
          </a:prstGeom>
        </p:spPr>
        <p:txBody>
          <a:bodyPr wrap="square">
            <a:spAutoFit/>
          </a:bodyPr>
          <a:lstStyle/>
          <a:p>
            <a:pPr marL="457200" indent="-457200" algn="just"/>
            <a:r>
              <a:rPr lang="en-US" dirty="0">
                <a:solidFill>
                  <a:srgbClr val="231F20"/>
                </a:solidFill>
                <a:latin typeface="Times-Roman"/>
              </a:rPr>
              <a:t>6.	Six male and six female dancers perform the Virginia reel. This dance requires that they form a line consisting of six male/female pairs. How many such arrangements are there?</a:t>
            </a:r>
            <a:endParaRPr lang="en-US" dirty="0"/>
          </a:p>
        </p:txBody>
      </p:sp>
      <mc:AlternateContent xmlns:mc="http://schemas.openxmlformats.org/markup-compatibility/2006">
        <mc:Choice xmlns:a14="http://schemas.microsoft.com/office/drawing/2010/main" Requires="a14">
          <p:sp>
            <p:nvSpPr>
              <p:cNvPr id="8" name="TextBox 7"/>
              <p:cNvSpPr txBox="1"/>
              <p:nvPr/>
            </p:nvSpPr>
            <p:spPr>
              <a:xfrm>
                <a:off x="5185394" y="5030259"/>
                <a:ext cx="2516395" cy="276999"/>
              </a:xfrm>
              <a:prstGeom prst="rect">
                <a:avLst/>
              </a:prstGeom>
              <a:solidFill>
                <a:schemeClr val="accent2"/>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6.   6</m:t>
                          </m:r>
                        </m:e>
                        <m:sup>
                          <m:r>
                            <a:rPr lang="en-US" b="0" i="1" smtClean="0">
                              <a:latin typeface="Cambria Math" panose="02040503050406030204" pitchFamily="18" charset="0"/>
                            </a:rPr>
                            <m:t>2</m:t>
                          </m:r>
                        </m:sup>
                      </m:sSup>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5</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4</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3</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e>
                        <m:sup>
                          <m:r>
                            <a:rPr lang="en-US" b="0" i="1" smtClean="0">
                              <a:latin typeface="Cambria Math" panose="02040503050406030204" pitchFamily="18" charset="0"/>
                            </a:rPr>
                            <m:t>2</m:t>
                          </m:r>
                        </m:sup>
                      </m:sSup>
                    </m:oMath>
                  </m:oMathPara>
                </a14:m>
                <a:endParaRPr lang="en-US" dirty="0"/>
              </a:p>
            </p:txBody>
          </p:sp>
        </mc:Choice>
        <mc:Fallback>
          <p:sp>
            <p:nvSpPr>
              <p:cNvPr id="8" name="TextBox 7"/>
              <p:cNvSpPr txBox="1">
                <a:spLocks noRot="1" noChangeAspect="1" noMove="1" noResize="1" noEditPoints="1" noAdjustHandles="1" noChangeArrowheads="1" noChangeShapeType="1" noTextEdit="1"/>
              </p:cNvSpPr>
              <p:nvPr/>
            </p:nvSpPr>
            <p:spPr>
              <a:xfrm>
                <a:off x="5185394" y="5030259"/>
                <a:ext cx="2516395" cy="276999"/>
              </a:xfrm>
              <a:prstGeom prst="rect">
                <a:avLst/>
              </a:prstGeom>
              <a:blipFill>
                <a:blip r:embed="rId2"/>
                <a:stretch>
                  <a:fillRect l="-1942" t="-4348" r="-485" b="-65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853126" y="5016502"/>
                <a:ext cx="1584176" cy="600229"/>
              </a:xfrm>
              <a:prstGeom prst="rect">
                <a:avLst/>
              </a:prstGeom>
              <a:solidFill>
                <a:schemeClr val="accent2"/>
              </a:solidFill>
            </p:spPr>
            <p:txBody>
              <a:bodyPr wrap="square" lIns="0" tIns="0" rIns="0" bIns="0" rtlCol="0">
                <a:spAutoFit/>
              </a:bodyPr>
              <a:lstStyle/>
              <a:p>
                <a:r>
                  <a:rPr lang="en-US" sz="2000" b="0" dirty="0">
                    <a:ea typeface="Cambria Math" panose="02040503050406030204" pitchFamily="18" charset="0"/>
                  </a:rPr>
                  <a:t>4a.   </a:t>
                </a:r>
                <a14:m>
                  <m:oMath xmlns:m="http://schemas.openxmlformats.org/officeDocument/2006/math">
                    <m:f>
                      <m:fPr>
                        <m:ctrlPr>
                          <a:rPr lang="en-US" sz="2000" b="0" i="1" smtClean="0">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rPr>
                          <m:t>5</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3</m:t>
                        </m:r>
                        <m:r>
                          <a:rPr lang="en-US" sz="2000" i="1">
                            <a:latin typeface="Cambria Math" panose="02040503050406030204" pitchFamily="18" charset="0"/>
                            <a:ea typeface="Cambria Math" panose="02040503050406030204" pitchFamily="18" charset="0"/>
                          </a:rPr>
                          <m:t>×2</m:t>
                        </m:r>
                      </m:num>
                      <m:den>
                        <m:d>
                          <m:dPr>
                            <m:ctrlPr>
                              <a:rPr lang="en-US" sz="20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000" b="0" i="1" smtClean="0">
                                    <a:latin typeface="Cambria Math" panose="02040503050406030204" pitchFamily="18" charset="0"/>
                                    <a:ea typeface="Cambria Math" panose="02040503050406030204" pitchFamily="18" charset="0"/>
                                  </a:rPr>
                                </m:ctrlPr>
                              </m:mPr>
                              <m:mr>
                                <m:e>
                                  <m:r>
                                    <m:rPr>
                                      <m:brk m:alnAt="7"/>
                                    </m:rPr>
                                    <a:rPr lang="en-US" sz="2000" b="0" i="1" smtClean="0">
                                      <a:latin typeface="Cambria Math" panose="02040503050406030204" pitchFamily="18" charset="0"/>
                                      <a:ea typeface="Cambria Math" panose="02040503050406030204" pitchFamily="18" charset="0"/>
                                    </a:rPr>
                                    <m:t>12</m:t>
                                  </m:r>
                                </m:e>
                              </m:mr>
                              <m:mr>
                                <m:e>
                                  <m:r>
                                    <a:rPr lang="en-US" sz="2000" b="0" i="1" smtClean="0">
                                      <a:latin typeface="Cambria Math" panose="02040503050406030204" pitchFamily="18" charset="0"/>
                                      <a:ea typeface="Cambria Math" panose="02040503050406030204" pitchFamily="18" charset="0"/>
                                    </a:rPr>
                                    <m:t>4</m:t>
                                  </m:r>
                                </m:e>
                              </m:mr>
                            </m:m>
                          </m:e>
                        </m:d>
                      </m:den>
                    </m:f>
                  </m:oMath>
                </a14:m>
                <a:endParaRPr lang="en-US" sz="2000" dirty="0"/>
              </a:p>
            </p:txBody>
          </p:sp>
        </mc:Choice>
        <mc:Fallback>
          <p:sp>
            <p:nvSpPr>
              <p:cNvPr id="9" name="TextBox 8"/>
              <p:cNvSpPr txBox="1">
                <a:spLocks noRot="1" noChangeAspect="1" noMove="1" noResize="1" noEditPoints="1" noAdjustHandles="1" noChangeArrowheads="1" noChangeShapeType="1" noTextEdit="1"/>
              </p:cNvSpPr>
              <p:nvPr/>
            </p:nvSpPr>
            <p:spPr>
              <a:xfrm>
                <a:off x="853126" y="5016502"/>
                <a:ext cx="1584176" cy="600229"/>
              </a:xfrm>
              <a:prstGeom prst="rect">
                <a:avLst/>
              </a:prstGeom>
              <a:blipFill>
                <a:blip r:embed="rId3"/>
                <a:stretch>
                  <a:fillRect l="-10000" t="-20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2546640" y="5016502"/>
                <a:ext cx="1584176" cy="600229"/>
              </a:xfrm>
              <a:prstGeom prst="rect">
                <a:avLst/>
              </a:prstGeom>
              <a:solidFill>
                <a:schemeClr val="accent2"/>
              </a:solidFill>
            </p:spPr>
            <p:txBody>
              <a:bodyPr wrap="square" lIns="0" tIns="0" rIns="0" bIns="0" rtlCol="0">
                <a:spAutoFit/>
              </a:bodyPr>
              <a:lstStyle/>
              <a:p>
                <a:r>
                  <a:rPr lang="en-US" sz="2000" b="0" dirty="0">
                    <a:ea typeface="Cambria Math" panose="02040503050406030204" pitchFamily="18" charset="0"/>
                  </a:rPr>
                  <a:t>4b.   </a:t>
                </a:r>
                <a14:m>
                  <m:oMath xmlns:m="http://schemas.openxmlformats.org/officeDocument/2006/math">
                    <m:f>
                      <m:fPr>
                        <m:ctrlPr>
                          <a:rPr lang="en-US" sz="2000" b="0" i="1" smtClean="0">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rPr>
                          <m:t>5</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3</m:t>
                        </m:r>
                        <m:r>
                          <a:rPr lang="en-US" sz="2000" i="1">
                            <a:latin typeface="Cambria Math" panose="02040503050406030204" pitchFamily="18" charset="0"/>
                            <a:ea typeface="Cambria Math" panose="02040503050406030204" pitchFamily="18" charset="0"/>
                          </a:rPr>
                          <m:t>×2</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8</m:t>
                        </m:r>
                      </m:num>
                      <m:den>
                        <m:d>
                          <m:dPr>
                            <m:ctrlPr>
                              <a:rPr lang="en-US" sz="20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000" b="0" i="1" smtClean="0">
                                    <a:latin typeface="Cambria Math" panose="02040503050406030204" pitchFamily="18" charset="0"/>
                                    <a:ea typeface="Cambria Math" panose="02040503050406030204" pitchFamily="18" charset="0"/>
                                  </a:rPr>
                                </m:ctrlPr>
                              </m:mPr>
                              <m:mr>
                                <m:e>
                                  <m:r>
                                    <m:rPr>
                                      <m:brk m:alnAt="7"/>
                                    </m:rPr>
                                    <a:rPr lang="en-US" sz="2000" b="0" i="1" smtClean="0">
                                      <a:latin typeface="Cambria Math" panose="02040503050406030204" pitchFamily="18" charset="0"/>
                                      <a:ea typeface="Cambria Math" panose="02040503050406030204" pitchFamily="18" charset="0"/>
                                    </a:rPr>
                                    <m:t>12</m:t>
                                  </m:r>
                                </m:e>
                              </m:mr>
                              <m:mr>
                                <m:e>
                                  <m:r>
                                    <a:rPr lang="en-US" sz="2000" b="0" i="1" smtClean="0">
                                      <a:latin typeface="Cambria Math" panose="02040503050406030204" pitchFamily="18" charset="0"/>
                                      <a:ea typeface="Cambria Math" panose="02040503050406030204" pitchFamily="18" charset="0"/>
                                    </a:rPr>
                                    <m:t>5</m:t>
                                  </m:r>
                                </m:e>
                              </m:mr>
                            </m:m>
                          </m:e>
                        </m:d>
                      </m:den>
                    </m:f>
                  </m:oMath>
                </a14:m>
                <a:endParaRPr lang="en-US" sz="2000" dirty="0"/>
              </a:p>
            </p:txBody>
          </p:sp>
        </mc:Choice>
        <mc:Fallback>
          <p:sp>
            <p:nvSpPr>
              <p:cNvPr id="10" name="TextBox 9"/>
              <p:cNvSpPr txBox="1">
                <a:spLocks noRot="1" noChangeAspect="1" noMove="1" noResize="1" noEditPoints="1" noAdjustHandles="1" noChangeArrowheads="1" noChangeShapeType="1" noTextEdit="1"/>
              </p:cNvSpPr>
              <p:nvPr/>
            </p:nvSpPr>
            <p:spPr>
              <a:xfrm>
                <a:off x="2546640" y="5016502"/>
                <a:ext cx="1584176" cy="600229"/>
              </a:xfrm>
              <a:prstGeom prst="rect">
                <a:avLst/>
              </a:prstGeom>
              <a:blipFill>
                <a:blip r:embed="rId4"/>
                <a:stretch>
                  <a:fillRect l="-10000" t="-20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4240154" y="5014982"/>
                <a:ext cx="835902" cy="608821"/>
              </a:xfrm>
              <a:prstGeom prst="rect">
                <a:avLst/>
              </a:prstGeom>
              <a:solidFill>
                <a:schemeClr val="accent2"/>
              </a:solidFill>
            </p:spPr>
            <p:txBody>
              <a:bodyPr wrap="square" lIns="0" tIns="0" rIns="0" bIns="0" rtlCol="0">
                <a:spAutoFit/>
              </a:bodyPr>
              <a:lstStyle/>
              <a:p>
                <a:r>
                  <a:rPr lang="en-US" sz="1600" b="0" dirty="0">
                    <a:ea typeface="Cambria Math" panose="02040503050406030204" pitchFamily="18" charset="0"/>
                  </a:rPr>
                  <a:t>5.     </a:t>
                </a:r>
                <a14:m>
                  <m:oMath xmlns:m="http://schemas.openxmlformats.org/officeDocument/2006/math">
                    <m:f>
                      <m:fPr>
                        <m:ctrlPr>
                          <a:rPr lang="en-US" sz="1600" b="0" i="1" smtClean="0">
                            <a:latin typeface="Cambria Math" panose="02040503050406030204" pitchFamily="18" charset="0"/>
                            <a:ea typeface="Cambria Math" panose="02040503050406030204" pitchFamily="18" charset="0"/>
                          </a:rPr>
                        </m:ctrlPr>
                      </m:fPr>
                      <m:num>
                        <m:d>
                          <m:dPr>
                            <m:ctrlPr>
                              <a:rPr lang="en-US" sz="1600" i="1">
                                <a:latin typeface="Cambria Math" panose="02040503050406030204" pitchFamily="18" charset="0"/>
                                <a:ea typeface="Cambria Math" panose="02040503050406030204" pitchFamily="18" charset="0"/>
                              </a:rPr>
                            </m:ctrlPr>
                          </m:dPr>
                          <m:e>
                            <m:m>
                              <m:mPr>
                                <m:mcs>
                                  <m:mc>
                                    <m:mcPr>
                                      <m:count m:val="1"/>
                                      <m:mcJc m:val="center"/>
                                    </m:mcPr>
                                  </m:mc>
                                </m:mcs>
                                <m:ctrlPr>
                                  <a:rPr lang="en-US" sz="1600" i="1">
                                    <a:latin typeface="Cambria Math" panose="02040503050406030204" pitchFamily="18" charset="0"/>
                                    <a:ea typeface="Cambria Math" panose="02040503050406030204" pitchFamily="18" charset="0"/>
                                  </a:rPr>
                                </m:ctrlPr>
                              </m:mPr>
                              <m:mr>
                                <m:e>
                                  <m:r>
                                    <m:rPr>
                                      <m:brk m:alnAt="7"/>
                                    </m:rPr>
                                    <a:rPr lang="en-US" sz="1600" i="1">
                                      <a:latin typeface="Cambria Math" panose="02040503050406030204" pitchFamily="18" charset="0"/>
                                      <a:ea typeface="Cambria Math" panose="02040503050406030204" pitchFamily="18" charset="0"/>
                                    </a:rPr>
                                    <m:t>1</m:t>
                                  </m:r>
                                  <m:r>
                                    <a:rPr lang="en-US" sz="1600" i="1">
                                      <a:latin typeface="Cambria Math" panose="02040503050406030204" pitchFamily="18" charset="0"/>
                                      <a:ea typeface="Cambria Math" panose="02040503050406030204" pitchFamily="18" charset="0"/>
                                    </a:rPr>
                                    <m:t>0</m:t>
                                  </m:r>
                                </m:e>
                              </m:mr>
                              <m:mr>
                                <m:e>
                                  <m:r>
                                    <a:rPr lang="en-US" sz="1600" i="1">
                                      <a:latin typeface="Cambria Math" panose="02040503050406030204" pitchFamily="18" charset="0"/>
                                      <a:ea typeface="Cambria Math" panose="02040503050406030204" pitchFamily="18" charset="0"/>
                                    </a:rPr>
                                    <m:t>2</m:t>
                                  </m:r>
                                </m:e>
                              </m:mr>
                            </m:m>
                          </m:e>
                        </m:d>
                      </m:num>
                      <m:den>
                        <m:d>
                          <m:dPr>
                            <m:ctrlPr>
                              <a:rPr lang="en-US" sz="1600" i="1">
                                <a:latin typeface="Cambria Math" panose="02040503050406030204" pitchFamily="18" charset="0"/>
                                <a:ea typeface="Cambria Math" panose="02040503050406030204" pitchFamily="18" charset="0"/>
                              </a:rPr>
                            </m:ctrlPr>
                          </m:dPr>
                          <m:e>
                            <m:m>
                              <m:mPr>
                                <m:mcs>
                                  <m:mc>
                                    <m:mcPr>
                                      <m:count m:val="1"/>
                                      <m:mcJc m:val="center"/>
                                    </m:mcPr>
                                  </m:mc>
                                </m:mcs>
                                <m:ctrlPr>
                                  <a:rPr lang="en-US" sz="1600" i="1">
                                    <a:latin typeface="Cambria Math" panose="02040503050406030204" pitchFamily="18" charset="0"/>
                                    <a:ea typeface="Cambria Math" panose="02040503050406030204" pitchFamily="18" charset="0"/>
                                  </a:rPr>
                                </m:ctrlPr>
                              </m:mPr>
                              <m:mr>
                                <m:e>
                                  <m:r>
                                    <a:rPr lang="en-US" sz="1600" i="1">
                                      <a:latin typeface="Cambria Math" panose="02040503050406030204" pitchFamily="18" charset="0"/>
                                      <a:ea typeface="Cambria Math" panose="02040503050406030204" pitchFamily="18" charset="0"/>
                                    </a:rPr>
                                    <m:t>47</m:t>
                                  </m:r>
                                </m:e>
                              </m:mr>
                              <m:mr>
                                <m:e>
                                  <m:r>
                                    <a:rPr lang="en-US" sz="1600" i="1">
                                      <a:latin typeface="Cambria Math" panose="02040503050406030204" pitchFamily="18" charset="0"/>
                                      <a:ea typeface="Cambria Math" panose="02040503050406030204" pitchFamily="18" charset="0"/>
                                    </a:rPr>
                                    <m:t>2</m:t>
                                  </m:r>
                                </m:e>
                              </m:mr>
                            </m:m>
                          </m:e>
                        </m:d>
                      </m:den>
                    </m:f>
                  </m:oMath>
                </a14:m>
                <a:endParaRPr lang="en-US" sz="1600" dirty="0"/>
              </a:p>
            </p:txBody>
          </p:sp>
        </mc:Choice>
        <mc:Fallback>
          <p:sp>
            <p:nvSpPr>
              <p:cNvPr id="11" name="TextBox 10"/>
              <p:cNvSpPr txBox="1">
                <a:spLocks noRot="1" noChangeAspect="1" noMove="1" noResize="1" noEditPoints="1" noAdjustHandles="1" noChangeArrowheads="1" noChangeShapeType="1" noTextEdit="1"/>
              </p:cNvSpPr>
              <p:nvPr/>
            </p:nvSpPr>
            <p:spPr>
              <a:xfrm>
                <a:off x="4240154" y="5014982"/>
                <a:ext cx="835902" cy="608821"/>
              </a:xfrm>
              <a:prstGeom prst="rect">
                <a:avLst/>
              </a:prstGeom>
              <a:blipFill>
                <a:blip r:embed="rId5"/>
                <a:stretch>
                  <a:fillRect l="-15328"/>
                </a:stretch>
              </a:blipFill>
            </p:spPr>
            <p:txBody>
              <a:bodyPr/>
              <a:lstStyle/>
              <a:p>
                <a:r>
                  <a:rPr lang="en-US">
                    <a:noFill/>
                  </a:rPr>
                  <a:t> </a:t>
                </a:r>
              </a:p>
            </p:txBody>
          </p:sp>
        </mc:Fallback>
      </mc:AlternateContent>
    </p:spTree>
    <p:extLst>
      <p:ext uri="{BB962C8B-B14F-4D97-AF65-F5344CB8AC3E}">
        <p14:creationId xmlns:p14="http://schemas.microsoft.com/office/powerpoint/2010/main" val="59668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3568" y="548680"/>
            <a:ext cx="7920880" cy="1200329"/>
          </a:xfrm>
          <a:prstGeom prst="rect">
            <a:avLst/>
          </a:prstGeom>
        </p:spPr>
        <p:txBody>
          <a:bodyPr wrap="square">
            <a:spAutoFit/>
          </a:bodyPr>
          <a:lstStyle/>
          <a:p>
            <a:pPr marL="457200" indent="-457200" algn="just"/>
            <a:r>
              <a:rPr lang="en-US" dirty="0">
                <a:solidFill>
                  <a:srgbClr val="231F20"/>
                </a:solidFill>
                <a:latin typeface="Times-Roman"/>
              </a:rPr>
              <a:t>7.	A software development company has three jobs to do. Two of the jobs require three programmers, and the other requires four. If the company employs ten programmers, how many different ways are there to assign them to the jobs?</a:t>
            </a:r>
            <a:endParaRPr lang="en-US" dirty="0"/>
          </a:p>
        </p:txBody>
      </p:sp>
      <mc:AlternateContent xmlns:mc="http://schemas.openxmlformats.org/markup-compatibility/2006">
        <mc:Choice xmlns:a14="http://schemas.microsoft.com/office/drawing/2010/main" Requires="a14">
          <p:sp>
            <p:nvSpPr>
              <p:cNvPr id="5" name="TextBox 4"/>
              <p:cNvSpPr txBox="1"/>
              <p:nvPr/>
            </p:nvSpPr>
            <p:spPr>
              <a:xfrm>
                <a:off x="7459337" y="1589463"/>
                <a:ext cx="1117294" cy="398892"/>
              </a:xfrm>
              <a:prstGeom prst="rect">
                <a:avLst/>
              </a:prstGeom>
              <a:solidFill>
                <a:schemeClr val="accent2"/>
              </a:solidFill>
            </p:spPr>
            <p:txBody>
              <a:bodyPr wrap="none" lIns="0" tIns="0" rIns="0" bIns="0" rtlCol="0">
                <a:spAutoFit/>
              </a:bodyPr>
              <a:lstStyle/>
              <a:p>
                <a:r>
                  <a:rPr lang="en-US" dirty="0"/>
                  <a:t>7.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×3!×4!</m:t>
                        </m:r>
                      </m:den>
                    </m:f>
                  </m:oMath>
                </a14:m>
                <a:r>
                  <a:rPr lang="en-US" dirty="0"/>
                  <a:t>  </a:t>
                </a:r>
              </a:p>
            </p:txBody>
          </p:sp>
        </mc:Choice>
        <mc:Fallback>
          <p:sp>
            <p:nvSpPr>
              <p:cNvPr id="5" name="TextBox 4"/>
              <p:cNvSpPr txBox="1">
                <a:spLocks noRot="1" noChangeAspect="1" noMove="1" noResize="1" noEditPoints="1" noAdjustHandles="1" noChangeArrowheads="1" noChangeShapeType="1" noTextEdit="1"/>
              </p:cNvSpPr>
              <p:nvPr/>
            </p:nvSpPr>
            <p:spPr>
              <a:xfrm>
                <a:off x="7459337" y="1589463"/>
                <a:ext cx="1117294" cy="398892"/>
              </a:xfrm>
              <a:prstGeom prst="rect">
                <a:avLst/>
              </a:prstGeom>
              <a:blipFill>
                <a:blip r:embed="rId2"/>
                <a:stretch>
                  <a:fillRect l="-13115" t="-3077" b="-21538"/>
                </a:stretch>
              </a:blipFill>
            </p:spPr>
            <p:txBody>
              <a:bodyPr/>
              <a:lstStyle/>
              <a:p>
                <a:r>
                  <a:rPr lang="en-US">
                    <a:noFill/>
                  </a:rPr>
                  <a:t> </a:t>
                </a:r>
              </a:p>
            </p:txBody>
          </p:sp>
        </mc:Fallback>
      </mc:AlternateContent>
      <p:sp>
        <p:nvSpPr>
          <p:cNvPr id="6" name="Rectangle 5"/>
          <p:cNvSpPr/>
          <p:nvPr/>
        </p:nvSpPr>
        <p:spPr>
          <a:xfrm>
            <a:off x="691421" y="2039687"/>
            <a:ext cx="7913028" cy="923330"/>
          </a:xfrm>
          <a:prstGeom prst="rect">
            <a:avLst/>
          </a:prstGeom>
        </p:spPr>
        <p:txBody>
          <a:bodyPr wrap="square">
            <a:spAutoFit/>
          </a:bodyPr>
          <a:lstStyle/>
          <a:p>
            <a:pPr marL="457200" indent="-457200" algn="just"/>
            <a:r>
              <a:rPr lang="en-US" dirty="0">
                <a:solidFill>
                  <a:srgbClr val="231F20"/>
                </a:solidFill>
                <a:latin typeface="Times-Roman"/>
              </a:rPr>
              <a:t>8.	A system has </a:t>
            </a:r>
            <a:r>
              <a:rPr lang="en-US" i="1" dirty="0">
                <a:solidFill>
                  <a:srgbClr val="231F20"/>
                </a:solidFill>
                <a:latin typeface="Times-Italic"/>
              </a:rPr>
              <a:t>n </a:t>
            </a:r>
            <a:r>
              <a:rPr lang="en-US" dirty="0">
                <a:solidFill>
                  <a:srgbClr val="231F20"/>
                </a:solidFill>
                <a:latin typeface="Times-Roman"/>
              </a:rPr>
              <a:t>independent units, each of which fails with probability </a:t>
            </a:r>
            <a:r>
              <a:rPr lang="en-US" i="1" dirty="0">
                <a:solidFill>
                  <a:srgbClr val="231F20"/>
                </a:solidFill>
                <a:latin typeface="Times-Italic"/>
              </a:rPr>
              <a:t>p</a:t>
            </a:r>
            <a:r>
              <a:rPr lang="en-US" dirty="0">
                <a:solidFill>
                  <a:srgbClr val="231F20"/>
                </a:solidFill>
                <a:latin typeface="Times-Roman"/>
              </a:rPr>
              <a:t>. The system fails only if </a:t>
            </a:r>
            <a:r>
              <a:rPr lang="en-US" i="1" dirty="0">
                <a:solidFill>
                  <a:srgbClr val="231F20"/>
                </a:solidFill>
                <a:latin typeface="Times-Italic"/>
              </a:rPr>
              <a:t>k </a:t>
            </a:r>
            <a:r>
              <a:rPr lang="en-US" dirty="0">
                <a:solidFill>
                  <a:srgbClr val="231F20"/>
                </a:solidFill>
                <a:latin typeface="Times-Roman"/>
              </a:rPr>
              <a:t>or more of the units fail. What is the probability that the system fails?</a:t>
            </a:r>
            <a:endParaRPr lang="en-US" dirty="0"/>
          </a:p>
        </p:txBody>
      </p:sp>
      <mc:AlternateContent xmlns:mc="http://schemas.openxmlformats.org/markup-compatibility/2006">
        <mc:Choice xmlns:a14="http://schemas.microsoft.com/office/drawing/2010/main" Requires="a14">
          <p:sp>
            <p:nvSpPr>
              <p:cNvPr id="7" name="TextBox 6"/>
              <p:cNvSpPr txBox="1"/>
              <p:nvPr/>
            </p:nvSpPr>
            <p:spPr>
              <a:xfrm>
                <a:off x="5769961" y="2852061"/>
                <a:ext cx="2786660" cy="324576"/>
              </a:xfrm>
              <a:prstGeom prst="rect">
                <a:avLst/>
              </a:prstGeom>
              <a:solidFill>
                <a:schemeClr val="accent2"/>
              </a:solidFill>
            </p:spPr>
            <p:txBody>
              <a:bodyPr wrap="none" lIns="0" tIns="0" rIns="0" bIns="0" rtlCol="0">
                <a:spAutoFit/>
              </a:bodyPr>
              <a:lstStyle/>
              <a:p>
                <a:r>
                  <a:rPr lang="en-US" dirty="0"/>
                  <a:t>8. </a:t>
                </a:r>
                <a14:m>
                  <m:oMath xmlns:m="http://schemas.openxmlformats.org/officeDocument/2006/math">
                    <m:r>
                      <m:rPr>
                        <m:sty m:val="p"/>
                      </m:rPr>
                      <a:rPr lang="en-US" b="0" i="0" smtClean="0">
                        <a:latin typeface="Cambria Math" panose="02040503050406030204" pitchFamily="18" charset="0"/>
                      </a:rPr>
                      <m:t>P</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X</m:t>
                        </m:r>
                      </m:e>
                    </m:d>
                    <m:r>
                      <a:rPr lang="en-US" b="0" i="0" smtClean="0">
                        <a:latin typeface="Cambria Math" panose="02040503050406030204" pitchFamily="18" charset="0"/>
                      </a:rPr>
                      <m:t>=</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𝑗</m:t>
                            </m:r>
                          </m:sup>
                        </m:sSup>
                        <m:sSup>
                          <m:sSupPr>
                            <m:ctrlPr>
                              <a:rPr lang="en-US" b="0" i="1" smtClean="0">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𝑝</m:t>
                            </m:r>
                            <m:r>
                              <a:rPr lang="en-US" i="1">
                                <a:latin typeface="Cambria Math" panose="02040503050406030204" pitchFamily="18" charset="0"/>
                              </a:rPr>
                              <m:t>)</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𝑗</m:t>
                            </m:r>
                          </m:sup>
                        </m:sSup>
                      </m:e>
                    </m:nary>
                  </m:oMath>
                </a14:m>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5769961" y="2852061"/>
                <a:ext cx="2786660" cy="324576"/>
              </a:xfrm>
              <a:prstGeom prst="rect">
                <a:avLst/>
              </a:prstGeom>
              <a:blipFill>
                <a:blip r:embed="rId3"/>
                <a:stretch>
                  <a:fillRect l="-5252" t="-147170" r="-1532" b="-216981"/>
                </a:stretch>
              </a:blipFill>
            </p:spPr>
            <p:txBody>
              <a:bodyPr/>
              <a:lstStyle/>
              <a:p>
                <a:r>
                  <a:rPr lang="en-US">
                    <a:noFill/>
                  </a:rPr>
                  <a:t> </a:t>
                </a:r>
              </a:p>
            </p:txBody>
          </p:sp>
        </mc:Fallback>
      </mc:AlternateContent>
      <p:sp>
        <p:nvSpPr>
          <p:cNvPr id="8" name="Rectangle 7"/>
          <p:cNvSpPr/>
          <p:nvPr/>
        </p:nvSpPr>
        <p:spPr>
          <a:xfrm>
            <a:off x="604530" y="3359836"/>
            <a:ext cx="7952091" cy="1754326"/>
          </a:xfrm>
          <a:prstGeom prst="rect">
            <a:avLst/>
          </a:prstGeom>
        </p:spPr>
        <p:txBody>
          <a:bodyPr wrap="square">
            <a:spAutoFit/>
          </a:bodyPr>
          <a:lstStyle/>
          <a:p>
            <a:pPr marL="457200" indent="-457200" algn="just"/>
            <a:r>
              <a:rPr lang="en-US" dirty="0">
                <a:solidFill>
                  <a:srgbClr val="231F20"/>
                </a:solidFill>
                <a:latin typeface="Times-Roman"/>
              </a:rPr>
              <a:t>9.	This problem deals with an elementary aspect of a simple branching process. A population starts with one member; at time </a:t>
            </a:r>
            <a:r>
              <a:rPr lang="en-US" i="1" dirty="0">
                <a:solidFill>
                  <a:srgbClr val="231F20"/>
                </a:solidFill>
                <a:latin typeface="Times-Italic"/>
              </a:rPr>
              <a:t>t </a:t>
            </a:r>
            <a:r>
              <a:rPr lang="en-US" dirty="0">
                <a:solidFill>
                  <a:srgbClr val="231F20"/>
                </a:solidFill>
                <a:latin typeface="MTSY"/>
              </a:rPr>
              <a:t>= </a:t>
            </a:r>
            <a:r>
              <a:rPr lang="en-US" dirty="0">
                <a:solidFill>
                  <a:srgbClr val="231F20"/>
                </a:solidFill>
                <a:latin typeface="Times-Roman"/>
              </a:rPr>
              <a:t>1, it either divides with probability </a:t>
            </a:r>
            <a:r>
              <a:rPr lang="en-US" i="1" dirty="0">
                <a:solidFill>
                  <a:srgbClr val="231F20"/>
                </a:solidFill>
                <a:latin typeface="Times-Italic"/>
              </a:rPr>
              <a:t>p </a:t>
            </a:r>
            <a:r>
              <a:rPr lang="en-US" dirty="0">
                <a:solidFill>
                  <a:srgbClr val="231F20"/>
                </a:solidFill>
                <a:latin typeface="Times-Roman"/>
              </a:rPr>
              <a:t>or dies with probability 1 </a:t>
            </a:r>
            <a:r>
              <a:rPr lang="en-US" dirty="0">
                <a:solidFill>
                  <a:srgbClr val="231F20"/>
                </a:solidFill>
                <a:latin typeface="MTSY"/>
              </a:rPr>
              <a:t>− </a:t>
            </a:r>
            <a:r>
              <a:rPr lang="en-US" i="1" dirty="0">
                <a:solidFill>
                  <a:srgbClr val="231F20"/>
                </a:solidFill>
                <a:latin typeface="Times-Italic"/>
              </a:rPr>
              <a:t>p</a:t>
            </a:r>
            <a:r>
              <a:rPr lang="en-US" dirty="0">
                <a:solidFill>
                  <a:srgbClr val="231F20"/>
                </a:solidFill>
                <a:latin typeface="Times-Roman"/>
              </a:rPr>
              <a:t>. If it divides, then both of its children behave independently with the same two alternatives at time </a:t>
            </a:r>
            <a:r>
              <a:rPr lang="en-US" i="1" dirty="0">
                <a:solidFill>
                  <a:srgbClr val="231F20"/>
                </a:solidFill>
                <a:latin typeface="Times-Italic"/>
              </a:rPr>
              <a:t>t </a:t>
            </a:r>
            <a:r>
              <a:rPr lang="en-US" dirty="0">
                <a:solidFill>
                  <a:srgbClr val="231F20"/>
                </a:solidFill>
                <a:latin typeface="MTSY"/>
              </a:rPr>
              <a:t>= </a:t>
            </a:r>
            <a:r>
              <a:rPr lang="en-US" dirty="0">
                <a:solidFill>
                  <a:srgbClr val="231F20"/>
                </a:solidFill>
                <a:latin typeface="Times-Roman"/>
              </a:rPr>
              <a:t>2. What is the probability that there are no members in the third generation? For what value of </a:t>
            </a:r>
            <a:r>
              <a:rPr lang="en-US" i="1" dirty="0">
                <a:solidFill>
                  <a:srgbClr val="231F20"/>
                </a:solidFill>
                <a:latin typeface="Times-Italic"/>
              </a:rPr>
              <a:t>p </a:t>
            </a:r>
            <a:r>
              <a:rPr lang="en-US" dirty="0">
                <a:solidFill>
                  <a:srgbClr val="231F20"/>
                </a:solidFill>
                <a:latin typeface="Times-Roman"/>
              </a:rPr>
              <a:t>is this probability equal to .5?</a:t>
            </a:r>
            <a:endParaRPr lang="en-US" dirty="0"/>
          </a:p>
        </p:txBody>
      </p:sp>
      <mc:AlternateContent xmlns:mc="http://schemas.openxmlformats.org/markup-compatibility/2006">
        <mc:Choice xmlns:a14="http://schemas.microsoft.com/office/drawing/2010/main" Requires="a14">
          <p:sp>
            <p:nvSpPr>
              <p:cNvPr id="9" name="TextBox 8"/>
              <p:cNvSpPr txBox="1"/>
              <p:nvPr/>
            </p:nvSpPr>
            <p:spPr>
              <a:xfrm>
                <a:off x="1187624" y="5317859"/>
                <a:ext cx="2383281" cy="276999"/>
              </a:xfrm>
              <a:prstGeom prst="rect">
                <a:avLst/>
              </a:prstGeom>
              <a:solidFill>
                <a:schemeClr val="accent2"/>
              </a:solidFill>
            </p:spPr>
            <p:txBody>
              <a:bodyPr wrap="none" lIns="0" tIns="0" rIns="0" bIns="0" rtlCol="0">
                <a:spAutoFit/>
              </a:bodyPr>
              <a:lstStyle/>
              <a:p>
                <a:r>
                  <a:rPr lang="en-US" dirty="0"/>
                  <a:t>9a. </a:t>
                </a:r>
                <a14:m>
                  <m:oMath xmlns:m="http://schemas.openxmlformats.org/officeDocument/2006/math">
                    <m:r>
                      <m:rPr>
                        <m:sty m:val="p"/>
                      </m:rPr>
                      <a:rPr lang="en-US" b="0" i="0" smtClean="0">
                        <a:latin typeface="Cambria Math" panose="02040503050406030204" pitchFamily="18" charset="0"/>
                      </a:rPr>
                      <m:t>P</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X</m:t>
                        </m:r>
                      </m:e>
                    </m:d>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3</m:t>
                        </m:r>
                      </m:sup>
                    </m:sSup>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+1</m:t>
                    </m:r>
                  </m:oMath>
                </a14:m>
                <a:endParaRPr lang="en-US" dirty="0"/>
              </a:p>
            </p:txBody>
          </p:sp>
        </mc:Choice>
        <mc:Fallback>
          <p:sp>
            <p:nvSpPr>
              <p:cNvPr id="9" name="TextBox 8"/>
              <p:cNvSpPr txBox="1">
                <a:spLocks noRot="1" noChangeAspect="1" noMove="1" noResize="1" noEditPoints="1" noAdjustHandles="1" noChangeArrowheads="1" noChangeShapeType="1" noTextEdit="1"/>
              </p:cNvSpPr>
              <p:nvPr/>
            </p:nvSpPr>
            <p:spPr>
              <a:xfrm>
                <a:off x="1187624" y="5317859"/>
                <a:ext cx="2383281" cy="276999"/>
              </a:xfrm>
              <a:prstGeom prst="rect">
                <a:avLst/>
              </a:prstGeom>
              <a:blipFill>
                <a:blip r:embed="rId4"/>
                <a:stretch>
                  <a:fillRect l="-6138" t="-28261" r="-2302" b="-5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3909109" y="5343489"/>
                <a:ext cx="1342932" cy="276999"/>
              </a:xfrm>
              <a:prstGeom prst="rect">
                <a:avLst/>
              </a:prstGeom>
              <a:solidFill>
                <a:schemeClr val="accent2"/>
              </a:solidFill>
            </p:spPr>
            <p:txBody>
              <a:bodyPr wrap="none" lIns="0" tIns="0" rIns="0" bIns="0" rtlCol="0">
                <a:spAutoFit/>
              </a:bodyPr>
              <a:lstStyle/>
              <a:p>
                <a:r>
                  <a:rPr lang="en-US" dirty="0"/>
                  <a:t>9b.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=0.597</m:t>
                    </m:r>
                  </m:oMath>
                </a14:m>
                <a:endParaRPr lang="en-US" dirty="0"/>
              </a:p>
            </p:txBody>
          </p:sp>
        </mc:Choice>
        <mc:Fallback>
          <p:sp>
            <p:nvSpPr>
              <p:cNvPr id="10" name="TextBox 9"/>
              <p:cNvSpPr txBox="1">
                <a:spLocks noRot="1" noChangeAspect="1" noMove="1" noResize="1" noEditPoints="1" noAdjustHandles="1" noChangeArrowheads="1" noChangeShapeType="1" noTextEdit="1"/>
              </p:cNvSpPr>
              <p:nvPr/>
            </p:nvSpPr>
            <p:spPr>
              <a:xfrm>
                <a:off x="3909109" y="5343489"/>
                <a:ext cx="1342932" cy="276999"/>
              </a:xfrm>
              <a:prstGeom prst="rect">
                <a:avLst/>
              </a:prstGeom>
              <a:blipFill>
                <a:blip r:embed="rId5"/>
                <a:stretch>
                  <a:fillRect l="-10407" t="-28889" r="-5430" b="-51111"/>
                </a:stretch>
              </a:blipFill>
            </p:spPr>
            <p:txBody>
              <a:bodyPr/>
              <a:lstStyle/>
              <a:p>
                <a:r>
                  <a:rPr lang="en-US">
                    <a:noFill/>
                  </a:rPr>
                  <a:t> </a:t>
                </a:r>
              </a:p>
            </p:txBody>
          </p:sp>
        </mc:Fallback>
      </mc:AlternateContent>
    </p:spTree>
    <p:extLst>
      <p:ext uri="{BB962C8B-B14F-4D97-AF65-F5344CB8AC3E}">
        <p14:creationId xmlns:p14="http://schemas.microsoft.com/office/powerpoint/2010/main" val="15522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3089</TotalTime>
  <Words>678</Words>
  <Application>Microsoft Office PowerPoint</Application>
  <PresentationFormat>On-screen Show (4:3)</PresentationFormat>
  <Paragraphs>153</Paragraphs>
  <Slides>16</Slides>
  <Notes>2</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16</vt:i4>
      </vt:variant>
    </vt:vector>
  </HeadingPairs>
  <TitlesOfParts>
    <vt:vector size="32" baseType="lpstr">
      <vt:lpstr>Arial</vt:lpstr>
      <vt:lpstr>Calibri</vt:lpstr>
      <vt:lpstr>Cambria Math</vt:lpstr>
      <vt:lpstr>CMMI10</vt:lpstr>
      <vt:lpstr>CMSS10</vt:lpstr>
      <vt:lpstr>CMSY10</vt:lpstr>
      <vt:lpstr>MSBM10</vt:lpstr>
      <vt:lpstr>MTSY</vt:lpstr>
      <vt:lpstr>NimbusSanL-Bold</vt:lpstr>
      <vt:lpstr>NimbusSanL-Regu</vt:lpstr>
      <vt:lpstr>NimbusSanL-ReguItal</vt:lpstr>
      <vt:lpstr>RMTMI</vt:lpstr>
      <vt:lpstr>Times-Bold</vt:lpstr>
      <vt:lpstr>Times-Italic</vt:lpstr>
      <vt:lpstr>Times-Roman</vt:lpstr>
      <vt:lpstr>Office Theme</vt:lpstr>
      <vt:lpstr>PowerPoint Presentation</vt:lpstr>
      <vt:lpstr>Definition</vt:lpstr>
      <vt:lpstr>Example 01</vt:lpstr>
      <vt:lpstr>Probability</vt:lpstr>
      <vt:lpstr>Probability of An Event</vt:lpstr>
      <vt:lpstr>Exercises 01</vt:lpstr>
      <vt:lpstr>Exercises 02</vt:lpstr>
      <vt:lpstr>Exercises 03</vt:lpstr>
      <vt:lpstr>Permutation</vt:lpstr>
      <vt:lpstr>Examples 02</vt:lpstr>
      <vt:lpstr>PowerPoint Presentation</vt:lpstr>
      <vt:lpstr>PowerPoint Presentation</vt:lpstr>
      <vt:lpstr>PowerPoint Presentation</vt:lpstr>
      <vt:lpstr>Exercises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lab-tif3</dc:creator>
  <cp:lastModifiedBy>lab-tif3</cp:lastModifiedBy>
  <cp:revision>288</cp:revision>
  <dcterms:created xsi:type="dcterms:W3CDTF">2013-05-27T02:50:26Z</dcterms:created>
  <dcterms:modified xsi:type="dcterms:W3CDTF">2018-01-03T08:48:51Z</dcterms:modified>
</cp:coreProperties>
</file>
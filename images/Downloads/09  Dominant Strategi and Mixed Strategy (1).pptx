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323" r:id="rId3"/>
    <p:sldId id="322" r:id="rId4"/>
    <p:sldId id="327" r:id="rId5"/>
    <p:sldId id="330" r:id="rId6"/>
    <p:sldId id="328" r:id="rId7"/>
    <p:sldId id="329" r:id="rId8"/>
    <p:sldId id="331" r:id="rId9"/>
    <p:sldId id="332" r:id="rId10"/>
    <p:sldId id="333" r:id="rId11"/>
    <p:sldId id="334" r:id="rId12"/>
    <p:sldId id="335" r:id="rId13"/>
    <p:sldId id="336" r:id="rId14"/>
    <p:sldId id="337" r:id="rId15"/>
    <p:sldId id="338" r:id="rId16"/>
    <p:sldId id="339"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452" y="6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9306D07-5766-4BCD-8FDA-8CA78ACC3D9B}" type="datetimeFigureOut">
              <a:rPr lang="id-ID" smtClean="0"/>
              <a:t>18/03/2019</a:t>
            </a:fld>
            <a:endParaRPr lang="id-ID"/>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EC242AF-1A37-4556-ACA4-2D555F71B439}" type="slidenum">
              <a:rPr lang="id-ID" smtClean="0"/>
              <a:t>‹#›</a:t>
            </a:fld>
            <a:endParaRPr lang="id-ID"/>
          </a:p>
        </p:txBody>
      </p:sp>
    </p:spTree>
    <p:extLst>
      <p:ext uri="{BB962C8B-B14F-4D97-AF65-F5344CB8AC3E}">
        <p14:creationId xmlns:p14="http://schemas.microsoft.com/office/powerpoint/2010/main" val="24638229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C884BEC-4855-421D-AEC2-2574B8FC72FA}" type="datetimeFigureOut">
              <a:rPr lang="en-US" smtClean="0"/>
              <a:pPr/>
              <a:t>3/18/2019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41932519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1560" y="274638"/>
            <a:ext cx="7848872" cy="1143000"/>
          </a:xfrm>
          <a:solidFill>
            <a:schemeClr val="accent5">
              <a:lumMod val="20000"/>
              <a:lumOff val="80000"/>
            </a:schemeClr>
          </a:solidFill>
        </p:spPr>
        <p:txBody>
          <a:bodyPr/>
          <a:lstStyle/>
          <a:p>
            <a:r>
              <a:rPr lang="en-US"/>
              <a:t>Click to edit Master title style</a:t>
            </a:r>
          </a:p>
        </p:txBody>
      </p:sp>
      <p:sp>
        <p:nvSpPr>
          <p:cNvPr id="3" name="Content Placeholder 2"/>
          <p:cNvSpPr>
            <a:spLocks noGrp="1"/>
          </p:cNvSpPr>
          <p:nvPr>
            <p:ph idx="1"/>
          </p:nvPr>
        </p:nvSpPr>
        <p:spPr>
          <a:xfrm>
            <a:off x="611560" y="1600200"/>
            <a:ext cx="7848872"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698706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C884BEC-4855-421D-AEC2-2574B8FC72FA}" type="datetimeFigureOut">
              <a:rPr lang="en-US" smtClean="0"/>
              <a:pPr/>
              <a:t>3/18/2019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17559213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C884BEC-4855-421D-AEC2-2574B8FC72FA}" type="datetimeFigureOut">
              <a:rPr lang="en-US" smtClean="0"/>
              <a:pPr/>
              <a:t>3/18/2019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86978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C884BEC-4855-421D-AEC2-2574B8FC72FA}" type="datetimeFigureOut">
              <a:rPr lang="en-US" smtClean="0"/>
              <a:pPr/>
              <a:t>3/18/2019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2384232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C884BEC-4855-421D-AEC2-2574B8FC72FA}" type="datetimeFigureOut">
              <a:rPr lang="en-US" smtClean="0"/>
              <a:pPr/>
              <a:t>3/18/2019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5498662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884BEC-4855-421D-AEC2-2574B8FC72FA}" type="datetimeFigureOut">
              <a:rPr lang="en-US" smtClean="0"/>
              <a:pPr/>
              <a:t>3/18/2019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7774786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884BEC-4855-421D-AEC2-2574B8FC72FA}" type="datetimeFigureOut">
              <a:rPr lang="en-US" smtClean="0"/>
              <a:pPr/>
              <a:t>3/18/2019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3622703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884BEC-4855-421D-AEC2-2574B8FC72FA}" type="datetimeFigureOut">
              <a:rPr lang="en-US" smtClean="0"/>
              <a:pPr/>
              <a:t>3/18/2019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3790398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C884BEC-4855-421D-AEC2-2574B8FC72FA}" type="datetimeFigureOut">
              <a:rPr lang="en-US" smtClean="0"/>
              <a:pPr/>
              <a:t>3/18/2019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2507721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C884BEC-4855-421D-AEC2-2574B8FC72FA}" type="datetimeFigureOut">
              <a:rPr lang="en-US" smtClean="0"/>
              <a:pPr/>
              <a:t>3/18/2019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1271838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884BEC-4855-421D-AEC2-2574B8FC72FA}" type="datetimeFigureOut">
              <a:rPr lang="en-US" smtClean="0"/>
              <a:pPr/>
              <a:t>3/18/2019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37693F-FEC6-40F4-8925-9F23DA36F8A5}" type="slidenum">
              <a:rPr lang="en-US" smtClean="0"/>
              <a:pPr/>
              <a:t>‹#›</a:t>
            </a:fld>
            <a:endParaRPr lang="en-US"/>
          </a:p>
        </p:txBody>
      </p:sp>
    </p:spTree>
    <p:extLst>
      <p:ext uri="{BB962C8B-B14F-4D97-AF65-F5344CB8AC3E}">
        <p14:creationId xmlns:p14="http://schemas.microsoft.com/office/powerpoint/2010/main" val="6803444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10.png"/><Relationship Id="rId7"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10.png"/><Relationship Id="rId2" Type="http://schemas.openxmlformats.org/officeDocument/2006/relationships/image" Target="../media/image510.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78.png"/></Relationships>
</file>

<file path=ppt/slides/_rels/slide11.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pn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32.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 Id="rId14" Type="http://schemas.openxmlformats.org/officeDocument/2006/relationships/image" Target="../media/image34.png"/></Relationships>
</file>

<file path=ppt/slides/_rels/slide12.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3.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53.png"/><Relationship Id="rId3" Type="http://schemas.openxmlformats.org/officeDocument/2006/relationships/image" Target="../media/image43.png"/><Relationship Id="rId7" Type="http://schemas.openxmlformats.org/officeDocument/2006/relationships/image" Target="../media/image47.png"/><Relationship Id="rId12" Type="http://schemas.openxmlformats.org/officeDocument/2006/relationships/image" Target="../media/image52.pn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46.png"/><Relationship Id="rId11" Type="http://schemas.openxmlformats.org/officeDocument/2006/relationships/image" Target="../media/image51.png"/><Relationship Id="rId5" Type="http://schemas.openxmlformats.org/officeDocument/2006/relationships/image" Target="../media/image45.png"/><Relationship Id="rId15" Type="http://schemas.openxmlformats.org/officeDocument/2006/relationships/image" Target="../media/image55.png"/><Relationship Id="rId10" Type="http://schemas.openxmlformats.org/officeDocument/2006/relationships/image" Target="../media/image50.png"/><Relationship Id="rId4" Type="http://schemas.openxmlformats.org/officeDocument/2006/relationships/image" Target="../media/image44.png"/><Relationship Id="rId9" Type="http://schemas.openxmlformats.org/officeDocument/2006/relationships/image" Target="../media/image49.png"/><Relationship Id="rId14" Type="http://schemas.openxmlformats.org/officeDocument/2006/relationships/image" Target="../media/image54.png"/></Relationships>
</file>

<file path=ppt/slides/_rels/slide14.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60.png"/><Relationship Id="rId11" Type="http://schemas.openxmlformats.org/officeDocument/2006/relationships/image" Target="../media/image65.png"/><Relationship Id="rId5" Type="http://schemas.openxmlformats.org/officeDocument/2006/relationships/image" Target="../media/image59.png"/><Relationship Id="rId10" Type="http://schemas.openxmlformats.org/officeDocument/2006/relationships/image" Target="../media/image64.png"/><Relationship Id="rId4" Type="http://schemas.openxmlformats.org/officeDocument/2006/relationships/image" Target="../media/image58.png"/><Relationship Id="rId9" Type="http://schemas.openxmlformats.org/officeDocument/2006/relationships/image" Target="../media/image63.png"/></Relationships>
</file>

<file path=ppt/slides/_rels/slide15.xml.rels><?xml version="1.0" encoding="UTF-8" standalone="yes"?>
<Relationships xmlns="http://schemas.openxmlformats.org/package/2006/relationships"><Relationship Id="rId3" Type="http://schemas.openxmlformats.org/officeDocument/2006/relationships/image" Target="../media/image67.png"/><Relationship Id="rId7" Type="http://schemas.openxmlformats.org/officeDocument/2006/relationships/image" Target="../media/image71.png"/><Relationship Id="rId2" Type="http://schemas.openxmlformats.org/officeDocument/2006/relationships/image" Target="../media/image66.png"/><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16.xml.rels><?xml version="1.0" encoding="UTF-8" standalone="yes"?>
<Relationships xmlns="http://schemas.openxmlformats.org/package/2006/relationships"><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image" Target="../media/image72.png"/><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749027" y="3948543"/>
            <a:ext cx="930462" cy="830997"/>
          </a:xfrm>
          <a:prstGeom prst="rect">
            <a:avLst/>
          </a:prstGeom>
          <a:solidFill>
            <a:srgbClr val="00B0F0"/>
          </a:solidFill>
        </p:spPr>
        <p:txBody>
          <a:bodyPr wrap="square" rtlCol="0">
            <a:spAutoFit/>
          </a:bodyPr>
          <a:lstStyle/>
          <a:p>
            <a:pPr algn="ctr"/>
            <a:r>
              <a:rPr lang="en-US" sz="4800" dirty="0">
                <a:solidFill>
                  <a:schemeClr val="bg1"/>
                </a:solidFill>
              </a:rPr>
              <a:t>07</a:t>
            </a:r>
          </a:p>
        </p:txBody>
      </p:sp>
      <p:sp>
        <p:nvSpPr>
          <p:cNvPr id="9" name="TextBox 8"/>
          <p:cNvSpPr txBox="1"/>
          <p:nvPr/>
        </p:nvSpPr>
        <p:spPr>
          <a:xfrm>
            <a:off x="2060049" y="3923404"/>
            <a:ext cx="6458162" cy="892552"/>
          </a:xfrm>
          <a:prstGeom prst="rect">
            <a:avLst/>
          </a:prstGeom>
          <a:solidFill>
            <a:srgbClr val="00B0F0"/>
          </a:solid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3200" dirty="0"/>
              <a:t>Dominant and Mix Strategy</a:t>
            </a:r>
          </a:p>
          <a:p>
            <a:pPr algn="r"/>
            <a:r>
              <a:rPr lang="id-ID" sz="2000" b="1" dirty="0"/>
              <a:t>Samuel Lukas</a:t>
            </a:r>
            <a:endParaRPr lang="en-US" sz="2000" b="1" dirty="0"/>
          </a:p>
        </p:txBody>
      </p:sp>
      <p:pic>
        <p:nvPicPr>
          <p:cNvPr id="10"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910" y="500042"/>
            <a:ext cx="7887124" cy="13066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348" y="1857364"/>
            <a:ext cx="3609975" cy="1123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2060049" y="4840729"/>
            <a:ext cx="6469985" cy="369332"/>
          </a:xfrm>
          <a:prstGeom prst="rect">
            <a:avLst/>
          </a:prstGeom>
          <a:solidFill>
            <a:schemeClr val="accent2">
              <a:lumMod val="40000"/>
              <a:lumOff val="60000"/>
            </a:schemeClr>
          </a:solidFill>
        </p:spPr>
        <p:txBody>
          <a:bodyPr wrap="square">
            <a:spAutoFit/>
          </a:bodyPr>
          <a:lstStyle/>
          <a:p>
            <a:pPr algn="r"/>
            <a:r>
              <a:rPr lang="en-US" dirty="0"/>
              <a:t>A Guide to Game Theory by Fiona Carmichael,  Prentice Hall, 2005</a:t>
            </a:r>
          </a:p>
        </p:txBody>
      </p:sp>
      <p:sp>
        <p:nvSpPr>
          <p:cNvPr id="3" name="Rectangle 2"/>
          <p:cNvSpPr/>
          <p:nvPr/>
        </p:nvSpPr>
        <p:spPr>
          <a:xfrm>
            <a:off x="2060050" y="5210061"/>
            <a:ext cx="6458162" cy="646331"/>
          </a:xfrm>
          <a:prstGeom prst="rect">
            <a:avLst/>
          </a:prstGeom>
          <a:solidFill>
            <a:schemeClr val="accent2">
              <a:lumMod val="60000"/>
              <a:lumOff val="40000"/>
            </a:schemeClr>
          </a:solidFill>
        </p:spPr>
        <p:txBody>
          <a:bodyPr wrap="square">
            <a:spAutoFit/>
          </a:bodyPr>
          <a:lstStyle/>
          <a:p>
            <a:pPr algn="r"/>
            <a:r>
              <a:rPr lang="en-US" dirty="0"/>
              <a:t>Introduction Game Theory and Its Applications</a:t>
            </a:r>
          </a:p>
          <a:p>
            <a:pPr algn="r"/>
            <a:r>
              <a:rPr lang="en-US" dirty="0"/>
              <a:t> Elliott Mendelson, CRC Press Company, Washington DC.2004</a:t>
            </a:r>
          </a:p>
        </p:txBody>
      </p:sp>
    </p:spTree>
    <p:extLst>
      <p:ext uri="{BB962C8B-B14F-4D97-AF65-F5344CB8AC3E}">
        <p14:creationId xmlns:p14="http://schemas.microsoft.com/office/powerpoint/2010/main" val="18278185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Dominance Strategy</a:t>
            </a:r>
          </a:p>
        </p:txBody>
      </p:sp>
      <mc:AlternateContent xmlns:mc="http://schemas.openxmlformats.org/markup-compatibility/2006">
        <mc:Choice xmlns:a14="http://schemas.microsoft.com/office/drawing/2010/main" Requires="a14">
          <p:graphicFrame>
            <p:nvGraphicFramePr>
              <p:cNvPr id="5" name="Table 4"/>
              <p:cNvGraphicFramePr>
                <a:graphicFrameLocks noGrp="1"/>
              </p:cNvGraphicFramePr>
              <p:nvPr>
                <p:extLst>
                  <p:ext uri="{D42A27DB-BD31-4B8C-83A1-F6EECF244321}">
                    <p14:modId xmlns:p14="http://schemas.microsoft.com/office/powerpoint/2010/main" val="2395604667"/>
                  </p:ext>
                </p:extLst>
              </p:nvPr>
            </p:nvGraphicFramePr>
            <p:xfrm>
              <a:off x="665383" y="3310665"/>
              <a:ext cx="2346767" cy="1483360"/>
            </p:xfrm>
            <a:graphic>
              <a:graphicData uri="http://schemas.openxmlformats.org/drawingml/2006/table">
                <a:tbl>
                  <a:tblPr firstRow="1" bandRow="1">
                    <a:tableStyleId>{5C22544A-7EE6-4342-B048-85BDC9FD1C3A}</a:tableStyleId>
                  </a:tblPr>
                  <a:tblGrid>
                    <a:gridCol w="586692">
                      <a:extLst>
                        <a:ext uri="{9D8B030D-6E8A-4147-A177-3AD203B41FA5}">
                          <a16:colId xmlns:a16="http://schemas.microsoft.com/office/drawing/2014/main" val="3674457306"/>
                        </a:ext>
                      </a:extLst>
                    </a:gridCol>
                    <a:gridCol w="573186">
                      <a:extLst>
                        <a:ext uri="{9D8B030D-6E8A-4147-A177-3AD203B41FA5}">
                          <a16:colId xmlns:a16="http://schemas.microsoft.com/office/drawing/2014/main" val="1803891986"/>
                        </a:ext>
                      </a:extLst>
                    </a:gridCol>
                    <a:gridCol w="527507">
                      <a:extLst>
                        <a:ext uri="{9D8B030D-6E8A-4147-A177-3AD203B41FA5}">
                          <a16:colId xmlns:a16="http://schemas.microsoft.com/office/drawing/2014/main" val="151236578"/>
                        </a:ext>
                      </a:extLst>
                    </a:gridCol>
                    <a:gridCol w="659382">
                      <a:extLst>
                        <a:ext uri="{9D8B030D-6E8A-4147-A177-3AD203B41FA5}">
                          <a16:colId xmlns:a16="http://schemas.microsoft.com/office/drawing/2014/main" val="2948986950"/>
                        </a:ext>
                      </a:extLst>
                    </a:gridCol>
                  </a:tblGrid>
                  <a:tr h="370840">
                    <a:tc>
                      <a:txBody>
                        <a:bodyPr/>
                        <a:lstStyle/>
                        <a:p>
                          <a:pPr algn="ctr"/>
                          <a:r>
                            <a:rPr lang="en-US" sz="1800" dirty="0"/>
                            <a:t>A\B</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1" i="1" dirty="0" smtClean="0">
                                        <a:latin typeface="Cambria Math" panose="02040503050406030204" pitchFamily="18" charset="0"/>
                                      </a:rPr>
                                      <m:t>𝑩</m:t>
                                    </m:r>
                                  </m:e>
                                  <m:sub>
                                    <m:r>
                                      <a:rPr lang="en-US" sz="1800" b="1" i="1" dirty="0" smtClean="0">
                                        <a:latin typeface="Cambria Math" panose="02040503050406030204" pitchFamily="18" charset="0"/>
                                      </a:rPr>
                                      <m:t>𝟏</m:t>
                                    </m:r>
                                  </m:sub>
                                </m:sSub>
                              </m:oMath>
                            </m:oMathPara>
                          </a14:m>
                          <a:endParaRPr lang="en-US" sz="18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1" i="1" dirty="0" smtClean="0">
                                        <a:latin typeface="Cambria Math" panose="02040503050406030204" pitchFamily="18" charset="0"/>
                                      </a:rPr>
                                      <m:t>𝑩</m:t>
                                    </m:r>
                                  </m:e>
                                  <m:sub>
                                    <m:r>
                                      <a:rPr lang="en-US" sz="1800" b="1" i="1" dirty="0" smtClean="0">
                                        <a:latin typeface="Cambria Math" panose="02040503050406030204" pitchFamily="18" charset="0"/>
                                      </a:rPr>
                                      <m:t>𝟐</m:t>
                                    </m:r>
                                  </m:sub>
                                </m:sSub>
                              </m:oMath>
                            </m:oMathPara>
                          </a14:m>
                          <a:endParaRPr lang="en-US" sz="18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1" i="1" dirty="0" smtClean="0">
                                        <a:latin typeface="Cambria Math" panose="02040503050406030204" pitchFamily="18" charset="0"/>
                                      </a:rPr>
                                      <m:t>𝑩</m:t>
                                    </m:r>
                                  </m:e>
                                  <m:sub>
                                    <m:r>
                                      <a:rPr lang="en-US" sz="1800" b="1" i="1" dirty="0" smtClean="0">
                                        <a:latin typeface="Cambria Math" panose="02040503050406030204" pitchFamily="18" charset="0"/>
                                      </a:rPr>
                                      <m:t>𝟑</m:t>
                                    </m:r>
                                  </m:sub>
                                </m:sSub>
                              </m:oMath>
                            </m:oMathPara>
                          </a14:m>
                          <a:endParaRPr lang="en-US" sz="1800" dirty="0"/>
                        </a:p>
                      </a:txBody>
                      <a:tcPr/>
                    </a:tc>
                    <a:extLst>
                      <a:ext uri="{0D108BD9-81ED-4DB2-BD59-A6C34878D82A}">
                        <a16:rowId xmlns:a16="http://schemas.microsoft.com/office/drawing/2014/main" val="2219917028"/>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1" i="1" dirty="0" smtClean="0">
                                        <a:latin typeface="Cambria Math" panose="02040503050406030204" pitchFamily="18" charset="0"/>
                                      </a:rPr>
                                      <m:t>𝑨</m:t>
                                    </m:r>
                                  </m:e>
                                  <m:sub>
                                    <m:r>
                                      <a:rPr lang="en-US" sz="1800" b="1" i="1" dirty="0" smtClean="0">
                                        <a:latin typeface="Cambria Math" panose="02040503050406030204" pitchFamily="18" charset="0"/>
                                      </a:rPr>
                                      <m:t>𝟏</m:t>
                                    </m:r>
                                  </m:sub>
                                </m:sSub>
                              </m:oMath>
                            </m:oMathPara>
                          </a14:m>
                          <a:endParaRPr lang="en-US" sz="1800" dirty="0"/>
                        </a:p>
                      </a:txBody>
                      <a:tcPr/>
                    </a:tc>
                    <a:tc>
                      <a:txBody>
                        <a:bodyPr/>
                        <a:lstStyle/>
                        <a:p>
                          <a:pPr algn="ctr"/>
                          <a:r>
                            <a:rPr lang="en-US" sz="1800" dirty="0"/>
                            <a:t>3</a:t>
                          </a:r>
                        </a:p>
                      </a:txBody>
                      <a:tcPr/>
                    </a:tc>
                    <a:tc>
                      <a:txBody>
                        <a:bodyPr/>
                        <a:lstStyle/>
                        <a:p>
                          <a:pPr algn="ctr"/>
                          <a:r>
                            <a:rPr lang="en-US" sz="1800" dirty="0"/>
                            <a:t>2</a:t>
                          </a:r>
                        </a:p>
                      </a:txBody>
                      <a:tcPr/>
                    </a:tc>
                    <a:tc>
                      <a:txBody>
                        <a:bodyPr/>
                        <a:lstStyle/>
                        <a:p>
                          <a:pPr algn="ctr"/>
                          <a:r>
                            <a:rPr lang="en-US" sz="1800" dirty="0"/>
                            <a:t>3</a:t>
                          </a:r>
                        </a:p>
                      </a:txBody>
                      <a:tcPr/>
                    </a:tc>
                    <a:extLst>
                      <a:ext uri="{0D108BD9-81ED-4DB2-BD59-A6C34878D82A}">
                        <a16:rowId xmlns:a16="http://schemas.microsoft.com/office/drawing/2014/main" val="782027294"/>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1" i="1" dirty="0" smtClean="0">
                                        <a:latin typeface="Cambria Math" panose="02040503050406030204" pitchFamily="18" charset="0"/>
                                      </a:rPr>
                                      <m:t>𝑨</m:t>
                                    </m:r>
                                  </m:e>
                                  <m:sub>
                                    <m:r>
                                      <a:rPr lang="en-US" sz="1800" b="1" i="1" dirty="0" smtClean="0">
                                        <a:latin typeface="Cambria Math" panose="02040503050406030204" pitchFamily="18" charset="0"/>
                                      </a:rPr>
                                      <m:t>𝟐</m:t>
                                    </m:r>
                                  </m:sub>
                                </m:sSub>
                              </m:oMath>
                            </m:oMathPara>
                          </a14:m>
                          <a:endParaRPr lang="en-US" sz="1800" dirty="0"/>
                        </a:p>
                      </a:txBody>
                      <a:tcPr/>
                    </a:tc>
                    <a:tc>
                      <a:txBody>
                        <a:bodyPr/>
                        <a:lstStyle/>
                        <a:p>
                          <a:pPr algn="ctr"/>
                          <a:r>
                            <a:rPr lang="en-US" sz="1800" dirty="0"/>
                            <a:t>1</a:t>
                          </a:r>
                        </a:p>
                      </a:txBody>
                      <a:tcPr/>
                    </a:tc>
                    <a:tc>
                      <a:txBody>
                        <a:bodyPr/>
                        <a:lstStyle/>
                        <a:p>
                          <a:pPr algn="ctr"/>
                          <a:r>
                            <a:rPr lang="en-US" sz="1800" dirty="0"/>
                            <a:t>4</a:t>
                          </a:r>
                        </a:p>
                      </a:txBody>
                      <a:tcPr/>
                    </a:tc>
                    <a:tc>
                      <a:txBody>
                        <a:bodyPr/>
                        <a:lstStyle/>
                        <a:p>
                          <a:pPr algn="ctr"/>
                          <a:r>
                            <a:rPr lang="en-US" sz="1800" dirty="0"/>
                            <a:t>1</a:t>
                          </a:r>
                        </a:p>
                      </a:txBody>
                      <a:tcPr/>
                    </a:tc>
                    <a:extLst>
                      <a:ext uri="{0D108BD9-81ED-4DB2-BD59-A6C34878D82A}">
                        <a16:rowId xmlns:a16="http://schemas.microsoft.com/office/drawing/2014/main" val="2721898754"/>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1" i="1" dirty="0" smtClean="0">
                                        <a:latin typeface="Cambria Math" panose="02040503050406030204" pitchFamily="18" charset="0"/>
                                      </a:rPr>
                                      <m:t>𝑨</m:t>
                                    </m:r>
                                  </m:e>
                                  <m:sub>
                                    <m:r>
                                      <a:rPr lang="en-US" sz="1800" b="1" i="1" dirty="0" smtClean="0">
                                        <a:latin typeface="Cambria Math" panose="02040503050406030204" pitchFamily="18" charset="0"/>
                                      </a:rPr>
                                      <m:t>𝟑</m:t>
                                    </m:r>
                                  </m:sub>
                                </m:sSub>
                              </m:oMath>
                            </m:oMathPara>
                          </a14:m>
                          <a:endParaRPr lang="en-US" sz="1800" dirty="0"/>
                        </a:p>
                      </a:txBody>
                      <a:tcPr/>
                    </a:tc>
                    <a:tc>
                      <a:txBody>
                        <a:bodyPr/>
                        <a:lstStyle/>
                        <a:p>
                          <a:pPr algn="ctr"/>
                          <a:r>
                            <a:rPr lang="en-US" sz="1800" dirty="0"/>
                            <a:t>3</a:t>
                          </a:r>
                        </a:p>
                      </a:txBody>
                      <a:tcPr/>
                    </a:tc>
                    <a:tc>
                      <a:txBody>
                        <a:bodyPr/>
                        <a:lstStyle/>
                        <a:p>
                          <a:pPr algn="ctr"/>
                          <a:r>
                            <a:rPr lang="en-US" sz="1800" dirty="0"/>
                            <a:t>3</a:t>
                          </a:r>
                        </a:p>
                      </a:txBody>
                      <a:tcPr/>
                    </a:tc>
                    <a:tc>
                      <a:txBody>
                        <a:bodyPr/>
                        <a:lstStyle/>
                        <a:p>
                          <a:pPr algn="ctr"/>
                          <a:r>
                            <a:rPr lang="en-US" sz="1800" dirty="0"/>
                            <a:t>2</a:t>
                          </a:r>
                        </a:p>
                      </a:txBody>
                      <a:tcPr/>
                    </a:tc>
                    <a:extLst>
                      <a:ext uri="{0D108BD9-81ED-4DB2-BD59-A6C34878D82A}">
                        <a16:rowId xmlns:a16="http://schemas.microsoft.com/office/drawing/2014/main" val="1563903342"/>
                      </a:ext>
                    </a:extLst>
                  </a:tr>
                </a:tbl>
              </a:graphicData>
            </a:graphic>
          </p:graphicFrame>
        </mc:Choice>
        <mc:Fallback>
          <p:graphicFrame>
            <p:nvGraphicFramePr>
              <p:cNvPr id="5" name="Table 4"/>
              <p:cNvGraphicFramePr>
                <a:graphicFrameLocks noGrp="1"/>
              </p:cNvGraphicFramePr>
              <p:nvPr>
                <p:extLst>
                  <p:ext uri="{D42A27DB-BD31-4B8C-83A1-F6EECF244321}">
                    <p14:modId xmlns:p14="http://schemas.microsoft.com/office/powerpoint/2010/main" val="2395604667"/>
                  </p:ext>
                </p:extLst>
              </p:nvPr>
            </p:nvGraphicFramePr>
            <p:xfrm>
              <a:off x="665383" y="3310665"/>
              <a:ext cx="2346767" cy="1483360"/>
            </p:xfrm>
            <a:graphic>
              <a:graphicData uri="http://schemas.openxmlformats.org/drawingml/2006/table">
                <a:tbl>
                  <a:tblPr firstRow="1" bandRow="1">
                    <a:tableStyleId>{5C22544A-7EE6-4342-B048-85BDC9FD1C3A}</a:tableStyleId>
                  </a:tblPr>
                  <a:tblGrid>
                    <a:gridCol w="586692">
                      <a:extLst>
                        <a:ext uri="{9D8B030D-6E8A-4147-A177-3AD203B41FA5}">
                          <a16:colId xmlns:a16="http://schemas.microsoft.com/office/drawing/2014/main" val="3674457306"/>
                        </a:ext>
                      </a:extLst>
                    </a:gridCol>
                    <a:gridCol w="573186">
                      <a:extLst>
                        <a:ext uri="{9D8B030D-6E8A-4147-A177-3AD203B41FA5}">
                          <a16:colId xmlns:a16="http://schemas.microsoft.com/office/drawing/2014/main" val="1803891986"/>
                        </a:ext>
                      </a:extLst>
                    </a:gridCol>
                    <a:gridCol w="527507">
                      <a:extLst>
                        <a:ext uri="{9D8B030D-6E8A-4147-A177-3AD203B41FA5}">
                          <a16:colId xmlns:a16="http://schemas.microsoft.com/office/drawing/2014/main" val="151236578"/>
                        </a:ext>
                      </a:extLst>
                    </a:gridCol>
                    <a:gridCol w="659382">
                      <a:extLst>
                        <a:ext uri="{9D8B030D-6E8A-4147-A177-3AD203B41FA5}">
                          <a16:colId xmlns:a16="http://schemas.microsoft.com/office/drawing/2014/main" val="2948986950"/>
                        </a:ext>
                      </a:extLst>
                    </a:gridCol>
                  </a:tblGrid>
                  <a:tr h="370840">
                    <a:tc>
                      <a:txBody>
                        <a:bodyPr/>
                        <a:lstStyle/>
                        <a:p>
                          <a:pPr algn="ctr"/>
                          <a:r>
                            <a:rPr lang="en-US" sz="1800" dirty="0"/>
                            <a:t>A\B</a:t>
                          </a:r>
                        </a:p>
                      </a:txBody>
                      <a:tcPr/>
                    </a:tc>
                    <a:tc>
                      <a:txBody>
                        <a:bodyPr/>
                        <a:lstStyle/>
                        <a:p>
                          <a:endParaRPr lang="en-US"/>
                        </a:p>
                      </a:txBody>
                      <a:tcPr>
                        <a:blipFill>
                          <a:blip r:embed="rId2"/>
                          <a:stretch>
                            <a:fillRect l="-104255" t="-8197" r="-211702" b="-324590"/>
                          </a:stretch>
                        </a:blipFill>
                      </a:tcPr>
                    </a:tc>
                    <a:tc>
                      <a:txBody>
                        <a:bodyPr/>
                        <a:lstStyle/>
                        <a:p>
                          <a:endParaRPr lang="en-US"/>
                        </a:p>
                      </a:txBody>
                      <a:tcPr>
                        <a:blipFill>
                          <a:blip r:embed="rId2"/>
                          <a:stretch>
                            <a:fillRect l="-220690" t="-8197" r="-128736" b="-324590"/>
                          </a:stretch>
                        </a:blipFill>
                      </a:tcPr>
                    </a:tc>
                    <a:tc>
                      <a:txBody>
                        <a:bodyPr/>
                        <a:lstStyle/>
                        <a:p>
                          <a:endParaRPr lang="en-US"/>
                        </a:p>
                      </a:txBody>
                      <a:tcPr>
                        <a:blipFill>
                          <a:blip r:embed="rId2"/>
                          <a:stretch>
                            <a:fillRect l="-258333" t="-8197" r="-3704" b="-324590"/>
                          </a:stretch>
                        </a:blipFill>
                      </a:tcPr>
                    </a:tc>
                    <a:extLst>
                      <a:ext uri="{0D108BD9-81ED-4DB2-BD59-A6C34878D82A}">
                        <a16:rowId xmlns:a16="http://schemas.microsoft.com/office/drawing/2014/main" val="2219917028"/>
                      </a:ext>
                    </a:extLst>
                  </a:tr>
                  <a:tr h="370840">
                    <a:tc>
                      <a:txBody>
                        <a:bodyPr/>
                        <a:lstStyle/>
                        <a:p>
                          <a:endParaRPr lang="en-US"/>
                        </a:p>
                      </a:txBody>
                      <a:tcPr>
                        <a:blipFill>
                          <a:blip r:embed="rId2"/>
                          <a:stretch>
                            <a:fillRect l="-1031" t="-108197" r="-302062" b="-224590"/>
                          </a:stretch>
                        </a:blipFill>
                      </a:tcPr>
                    </a:tc>
                    <a:tc>
                      <a:txBody>
                        <a:bodyPr/>
                        <a:lstStyle/>
                        <a:p>
                          <a:pPr algn="ctr"/>
                          <a:r>
                            <a:rPr lang="en-US" sz="1800" dirty="0"/>
                            <a:t>3</a:t>
                          </a:r>
                        </a:p>
                      </a:txBody>
                      <a:tcPr/>
                    </a:tc>
                    <a:tc>
                      <a:txBody>
                        <a:bodyPr/>
                        <a:lstStyle/>
                        <a:p>
                          <a:pPr algn="ctr"/>
                          <a:r>
                            <a:rPr lang="en-US" sz="1800" dirty="0"/>
                            <a:t>2</a:t>
                          </a:r>
                        </a:p>
                      </a:txBody>
                      <a:tcPr/>
                    </a:tc>
                    <a:tc>
                      <a:txBody>
                        <a:bodyPr/>
                        <a:lstStyle/>
                        <a:p>
                          <a:pPr algn="ctr"/>
                          <a:r>
                            <a:rPr lang="en-US" sz="1800" dirty="0"/>
                            <a:t>3</a:t>
                          </a:r>
                        </a:p>
                      </a:txBody>
                      <a:tcPr/>
                    </a:tc>
                    <a:extLst>
                      <a:ext uri="{0D108BD9-81ED-4DB2-BD59-A6C34878D82A}">
                        <a16:rowId xmlns:a16="http://schemas.microsoft.com/office/drawing/2014/main" val="782027294"/>
                      </a:ext>
                    </a:extLst>
                  </a:tr>
                  <a:tr h="370840">
                    <a:tc>
                      <a:txBody>
                        <a:bodyPr/>
                        <a:lstStyle/>
                        <a:p>
                          <a:endParaRPr lang="en-US"/>
                        </a:p>
                      </a:txBody>
                      <a:tcPr>
                        <a:blipFill>
                          <a:blip r:embed="rId2"/>
                          <a:stretch>
                            <a:fillRect l="-1031" t="-208197" r="-302062" b="-124590"/>
                          </a:stretch>
                        </a:blipFill>
                      </a:tcPr>
                    </a:tc>
                    <a:tc>
                      <a:txBody>
                        <a:bodyPr/>
                        <a:lstStyle/>
                        <a:p>
                          <a:pPr algn="ctr"/>
                          <a:r>
                            <a:rPr lang="en-US" sz="1800" dirty="0"/>
                            <a:t>1</a:t>
                          </a:r>
                        </a:p>
                      </a:txBody>
                      <a:tcPr/>
                    </a:tc>
                    <a:tc>
                      <a:txBody>
                        <a:bodyPr/>
                        <a:lstStyle/>
                        <a:p>
                          <a:pPr algn="ctr"/>
                          <a:r>
                            <a:rPr lang="en-US" sz="1800" dirty="0"/>
                            <a:t>4</a:t>
                          </a:r>
                        </a:p>
                      </a:txBody>
                      <a:tcPr/>
                    </a:tc>
                    <a:tc>
                      <a:txBody>
                        <a:bodyPr/>
                        <a:lstStyle/>
                        <a:p>
                          <a:pPr algn="ctr"/>
                          <a:r>
                            <a:rPr lang="en-US" sz="1800" dirty="0"/>
                            <a:t>1</a:t>
                          </a:r>
                        </a:p>
                      </a:txBody>
                      <a:tcPr/>
                    </a:tc>
                    <a:extLst>
                      <a:ext uri="{0D108BD9-81ED-4DB2-BD59-A6C34878D82A}">
                        <a16:rowId xmlns:a16="http://schemas.microsoft.com/office/drawing/2014/main" val="2721898754"/>
                      </a:ext>
                    </a:extLst>
                  </a:tr>
                  <a:tr h="370840">
                    <a:tc>
                      <a:txBody>
                        <a:bodyPr/>
                        <a:lstStyle/>
                        <a:p>
                          <a:endParaRPr lang="en-US"/>
                        </a:p>
                      </a:txBody>
                      <a:tcPr>
                        <a:blipFill>
                          <a:blip r:embed="rId2"/>
                          <a:stretch>
                            <a:fillRect l="-1031" t="-308197" r="-302062" b="-24590"/>
                          </a:stretch>
                        </a:blipFill>
                      </a:tcPr>
                    </a:tc>
                    <a:tc>
                      <a:txBody>
                        <a:bodyPr/>
                        <a:lstStyle/>
                        <a:p>
                          <a:pPr algn="ctr"/>
                          <a:r>
                            <a:rPr lang="en-US" sz="1800" dirty="0"/>
                            <a:t>3</a:t>
                          </a:r>
                        </a:p>
                      </a:txBody>
                      <a:tcPr/>
                    </a:tc>
                    <a:tc>
                      <a:txBody>
                        <a:bodyPr/>
                        <a:lstStyle/>
                        <a:p>
                          <a:pPr algn="ctr"/>
                          <a:r>
                            <a:rPr lang="en-US" sz="1800" dirty="0"/>
                            <a:t>3</a:t>
                          </a:r>
                        </a:p>
                      </a:txBody>
                      <a:tcPr/>
                    </a:tc>
                    <a:tc>
                      <a:txBody>
                        <a:bodyPr/>
                        <a:lstStyle/>
                        <a:p>
                          <a:pPr algn="ctr"/>
                          <a:r>
                            <a:rPr lang="en-US" sz="1800" dirty="0"/>
                            <a:t>2</a:t>
                          </a:r>
                        </a:p>
                      </a:txBody>
                      <a:tcPr/>
                    </a:tc>
                    <a:extLst>
                      <a:ext uri="{0D108BD9-81ED-4DB2-BD59-A6C34878D82A}">
                        <a16:rowId xmlns:a16="http://schemas.microsoft.com/office/drawing/2014/main" val="1563903342"/>
                      </a:ext>
                    </a:extLst>
                  </a:tr>
                </a:tbl>
              </a:graphicData>
            </a:graphic>
          </p:graphicFrame>
        </mc:Fallback>
      </mc:AlternateContent>
      <mc:AlternateContent xmlns:mc="http://schemas.openxmlformats.org/markup-compatibility/2006" xmlns:a14="http://schemas.microsoft.com/office/drawing/2010/main">
        <mc:Choice Requires="a14">
          <p:sp>
            <p:nvSpPr>
              <p:cNvPr id="7" name="Rectangle 6"/>
              <p:cNvSpPr/>
              <p:nvPr/>
            </p:nvSpPr>
            <p:spPr>
              <a:xfrm>
                <a:off x="611560" y="1556792"/>
                <a:ext cx="7848872" cy="1631216"/>
              </a:xfrm>
              <a:prstGeom prst="rect">
                <a:avLst/>
              </a:prstGeom>
            </p:spPr>
            <p:txBody>
              <a:bodyPr wrap="square">
                <a:spAutoFit/>
              </a:bodyPr>
              <a:lstStyle/>
              <a:p>
                <a:pPr algn="just"/>
                <a:r>
                  <a:rPr lang="en-US" sz="2000" dirty="0"/>
                  <a:t>If each entry of one row </a:t>
                </a:r>
                <a14:m>
                  <m:oMath xmlns:m="http://schemas.openxmlformats.org/officeDocument/2006/math">
                    <m:r>
                      <a:rPr lang="en-US" sz="2000" i="1" dirty="0">
                        <a:latin typeface="Cambria Math" panose="02040503050406030204" pitchFamily="18" charset="0"/>
                      </a:rPr>
                      <m:t>𝑋</m:t>
                    </m:r>
                  </m:oMath>
                </a14:m>
                <a:r>
                  <a:rPr lang="en-US" sz="2000" dirty="0"/>
                  <a:t> of the matrix of a game is greater than or equal to the entry in the same column of a row </a:t>
                </a:r>
                <a14:m>
                  <m:oMath xmlns:m="http://schemas.openxmlformats.org/officeDocument/2006/math">
                    <m:r>
                      <a:rPr lang="en-US" sz="2000" i="1" dirty="0">
                        <a:latin typeface="Cambria Math" panose="02040503050406030204" pitchFamily="18" charset="0"/>
                      </a:rPr>
                      <m:t>𝑌</m:t>
                    </m:r>
                  </m:oMath>
                </a14:m>
                <a:r>
                  <a:rPr lang="en-US" sz="2000" dirty="0"/>
                  <a:t>, then row </a:t>
                </a:r>
                <a14:m>
                  <m:oMath xmlns:m="http://schemas.openxmlformats.org/officeDocument/2006/math">
                    <m:r>
                      <a:rPr lang="en-US" sz="2000" i="1" dirty="0">
                        <a:latin typeface="Cambria Math" panose="02040503050406030204" pitchFamily="18" charset="0"/>
                      </a:rPr>
                      <m:t>𝑋</m:t>
                    </m:r>
                  </m:oMath>
                </a14:m>
                <a:r>
                  <a:rPr lang="en-US" sz="2000" dirty="0"/>
                  <a:t> is said  to dominate row </a:t>
                </a:r>
                <a14:m>
                  <m:oMath xmlns:m="http://schemas.openxmlformats.org/officeDocument/2006/math">
                    <m:r>
                      <a:rPr lang="en-US" sz="2000" i="1" dirty="0">
                        <a:latin typeface="Cambria Math" panose="02040503050406030204" pitchFamily="18" charset="0"/>
                      </a:rPr>
                      <m:t>𝑌</m:t>
                    </m:r>
                  </m:oMath>
                </a14:m>
                <a:r>
                  <a:rPr lang="en-US" sz="2000" dirty="0"/>
                  <a:t>. Similarly, if each entry of a column </a:t>
                </a:r>
                <a14:m>
                  <m:oMath xmlns:m="http://schemas.openxmlformats.org/officeDocument/2006/math">
                    <m:r>
                      <a:rPr lang="en-US" sz="2000" i="1" dirty="0" smtClean="0">
                        <a:latin typeface="Cambria Math" panose="02040503050406030204" pitchFamily="18" charset="0"/>
                      </a:rPr>
                      <m:t>𝑉</m:t>
                    </m:r>
                  </m:oMath>
                </a14:m>
                <a:r>
                  <a:rPr lang="en-US" sz="2000" dirty="0"/>
                  <a:t> is less than or equal to the entry in the same row of a column </a:t>
                </a:r>
                <a14:m>
                  <m:oMath xmlns:m="http://schemas.openxmlformats.org/officeDocument/2006/math">
                    <m:r>
                      <a:rPr lang="en-US" sz="2000" b="0" i="1" dirty="0" smtClean="0">
                        <a:latin typeface="Cambria Math" panose="02040503050406030204" pitchFamily="18" charset="0"/>
                      </a:rPr>
                      <m:t>𝑊</m:t>
                    </m:r>
                  </m:oMath>
                </a14:m>
                <a:r>
                  <a:rPr lang="en-US" sz="2000" dirty="0"/>
                  <a:t>, then column </a:t>
                </a:r>
                <a14:m>
                  <m:oMath xmlns:m="http://schemas.openxmlformats.org/officeDocument/2006/math">
                    <m:r>
                      <a:rPr lang="en-US" sz="2000" b="0" i="1" dirty="0" smtClean="0">
                        <a:latin typeface="Cambria Math" panose="02040503050406030204" pitchFamily="18" charset="0"/>
                      </a:rPr>
                      <m:t>𝑉</m:t>
                    </m:r>
                  </m:oMath>
                </a14:m>
                <a:r>
                  <a:rPr lang="en-US" sz="2000" dirty="0"/>
                  <a:t> is said  to dominate column </a:t>
                </a:r>
                <a14:m>
                  <m:oMath xmlns:m="http://schemas.openxmlformats.org/officeDocument/2006/math">
                    <m:r>
                      <a:rPr lang="en-US" sz="2000" b="0" i="1" dirty="0" smtClean="0">
                        <a:latin typeface="Cambria Math" panose="02040503050406030204" pitchFamily="18" charset="0"/>
                      </a:rPr>
                      <m:t>𝑊</m:t>
                    </m:r>
                  </m:oMath>
                </a14:m>
                <a:r>
                  <a:rPr lang="en-US" sz="2000" dirty="0"/>
                  <a:t>.  </a:t>
                </a:r>
              </a:p>
            </p:txBody>
          </p:sp>
        </mc:Choice>
        <mc:Fallback xmlns="">
          <p:sp>
            <p:nvSpPr>
              <p:cNvPr id="7" name="Rectangle 6"/>
              <p:cNvSpPr>
                <a:spLocks noRot="1" noChangeAspect="1" noMove="1" noResize="1" noEditPoints="1" noAdjustHandles="1" noChangeArrowheads="1" noChangeShapeType="1" noTextEdit="1"/>
              </p:cNvSpPr>
              <p:nvPr/>
            </p:nvSpPr>
            <p:spPr>
              <a:xfrm>
                <a:off x="611560" y="1556792"/>
                <a:ext cx="7848872" cy="1631216"/>
              </a:xfrm>
              <a:prstGeom prst="rect">
                <a:avLst/>
              </a:prstGeom>
              <a:blipFill>
                <a:blip r:embed="rId3"/>
                <a:stretch>
                  <a:fillRect l="-776" t="-1866" r="-776" b="-5597"/>
                </a:stretch>
              </a:blipFill>
            </p:spPr>
            <p:txBody>
              <a:bodyPr/>
              <a:lstStyle/>
              <a:p>
                <a:r>
                  <a:rPr lang="en-US">
                    <a:noFill/>
                  </a:rPr>
                  <a:t> </a:t>
                </a:r>
              </a:p>
            </p:txBody>
          </p:sp>
        </mc:Fallback>
      </mc:AlternateContent>
      <p:sp>
        <p:nvSpPr>
          <p:cNvPr id="8" name="Rectangle 7"/>
          <p:cNvSpPr/>
          <p:nvPr/>
        </p:nvSpPr>
        <p:spPr>
          <a:xfrm>
            <a:off x="3221668" y="3188008"/>
            <a:ext cx="4824536" cy="646331"/>
          </a:xfrm>
          <a:prstGeom prst="rect">
            <a:avLst/>
          </a:prstGeom>
        </p:spPr>
        <p:txBody>
          <a:bodyPr wrap="square">
            <a:spAutoFit/>
          </a:bodyPr>
          <a:lstStyle/>
          <a:p>
            <a:pPr algn="just"/>
            <a:r>
              <a:rPr lang="en-US" dirty="0"/>
              <a:t>There is no row dominates other rows however there is column 1 dominates column 3</a:t>
            </a:r>
          </a:p>
        </p:txBody>
      </p:sp>
      <mc:AlternateContent xmlns:mc="http://schemas.openxmlformats.org/markup-compatibility/2006">
        <mc:Choice xmlns:a14="http://schemas.microsoft.com/office/drawing/2010/main" Requires="a14">
          <p:graphicFrame>
            <p:nvGraphicFramePr>
              <p:cNvPr id="9" name="Table 8"/>
              <p:cNvGraphicFramePr>
                <a:graphicFrameLocks noGrp="1"/>
              </p:cNvGraphicFramePr>
              <p:nvPr>
                <p:extLst>
                  <p:ext uri="{D42A27DB-BD31-4B8C-83A1-F6EECF244321}">
                    <p14:modId xmlns:p14="http://schemas.microsoft.com/office/powerpoint/2010/main" val="193940101"/>
                  </p:ext>
                </p:extLst>
              </p:nvPr>
            </p:nvGraphicFramePr>
            <p:xfrm>
              <a:off x="3287279" y="3812595"/>
              <a:ext cx="1728191" cy="1483360"/>
            </p:xfrm>
            <a:graphic>
              <a:graphicData uri="http://schemas.openxmlformats.org/drawingml/2006/table">
                <a:tbl>
                  <a:tblPr firstRow="1" bandRow="1">
                    <a:tableStyleId>{5C22544A-7EE6-4342-B048-85BDC9FD1C3A}</a:tableStyleId>
                  </a:tblPr>
                  <a:tblGrid>
                    <a:gridCol w="600880">
                      <a:extLst>
                        <a:ext uri="{9D8B030D-6E8A-4147-A177-3AD203B41FA5}">
                          <a16:colId xmlns:a16="http://schemas.microsoft.com/office/drawing/2014/main" val="3208932065"/>
                        </a:ext>
                      </a:extLst>
                    </a:gridCol>
                    <a:gridCol w="587048">
                      <a:extLst>
                        <a:ext uri="{9D8B030D-6E8A-4147-A177-3AD203B41FA5}">
                          <a16:colId xmlns:a16="http://schemas.microsoft.com/office/drawing/2014/main" val="1734098818"/>
                        </a:ext>
                      </a:extLst>
                    </a:gridCol>
                    <a:gridCol w="540263">
                      <a:extLst>
                        <a:ext uri="{9D8B030D-6E8A-4147-A177-3AD203B41FA5}">
                          <a16:colId xmlns:a16="http://schemas.microsoft.com/office/drawing/2014/main" val="3674593458"/>
                        </a:ext>
                      </a:extLst>
                    </a:gridCol>
                  </a:tblGrid>
                  <a:tr h="370840">
                    <a:tc>
                      <a:txBody>
                        <a:bodyPr/>
                        <a:lstStyle/>
                        <a:p>
                          <a:pPr algn="ctr"/>
                          <a:r>
                            <a:rPr lang="en-US" sz="1800" dirty="0"/>
                            <a:t>A\B</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1" i="1" dirty="0" smtClean="0">
                                        <a:latin typeface="Cambria Math" panose="02040503050406030204" pitchFamily="18" charset="0"/>
                                      </a:rPr>
                                      <m:t>𝑩</m:t>
                                    </m:r>
                                  </m:e>
                                  <m:sub>
                                    <m:r>
                                      <a:rPr lang="en-US" sz="1800" b="1" i="1" dirty="0" smtClean="0">
                                        <a:latin typeface="Cambria Math" panose="02040503050406030204" pitchFamily="18" charset="0"/>
                                      </a:rPr>
                                      <m:t>𝟏</m:t>
                                    </m:r>
                                  </m:sub>
                                </m:sSub>
                              </m:oMath>
                            </m:oMathPara>
                          </a14:m>
                          <a:endParaRPr lang="en-US" sz="18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1" i="1" dirty="0" smtClean="0">
                                        <a:latin typeface="Cambria Math" panose="02040503050406030204" pitchFamily="18" charset="0"/>
                                      </a:rPr>
                                      <m:t>𝑩</m:t>
                                    </m:r>
                                  </m:e>
                                  <m:sub>
                                    <m:r>
                                      <a:rPr lang="en-US" sz="1800" b="1" i="1" dirty="0" smtClean="0">
                                        <a:latin typeface="Cambria Math" panose="02040503050406030204" pitchFamily="18" charset="0"/>
                                      </a:rPr>
                                      <m:t>𝟐</m:t>
                                    </m:r>
                                  </m:sub>
                                </m:sSub>
                              </m:oMath>
                            </m:oMathPara>
                          </a14:m>
                          <a:endParaRPr lang="en-US" sz="1800" dirty="0"/>
                        </a:p>
                      </a:txBody>
                      <a:tcPr/>
                    </a:tc>
                    <a:extLst>
                      <a:ext uri="{0D108BD9-81ED-4DB2-BD59-A6C34878D82A}">
                        <a16:rowId xmlns:a16="http://schemas.microsoft.com/office/drawing/2014/main" val="2798370162"/>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1" i="1" dirty="0" smtClean="0">
                                        <a:latin typeface="Cambria Math" panose="02040503050406030204" pitchFamily="18" charset="0"/>
                                      </a:rPr>
                                      <m:t>𝑨</m:t>
                                    </m:r>
                                  </m:e>
                                  <m:sub>
                                    <m:r>
                                      <a:rPr lang="en-US" sz="1800" b="1" i="1" dirty="0" smtClean="0">
                                        <a:latin typeface="Cambria Math" panose="02040503050406030204" pitchFamily="18" charset="0"/>
                                      </a:rPr>
                                      <m:t>𝟏</m:t>
                                    </m:r>
                                  </m:sub>
                                </m:sSub>
                              </m:oMath>
                            </m:oMathPara>
                          </a14:m>
                          <a:endParaRPr lang="en-US" sz="1800" dirty="0"/>
                        </a:p>
                      </a:txBody>
                      <a:tcPr/>
                    </a:tc>
                    <a:tc>
                      <a:txBody>
                        <a:bodyPr/>
                        <a:lstStyle/>
                        <a:p>
                          <a:pPr algn="ctr"/>
                          <a:r>
                            <a:rPr lang="en-US" sz="1800" dirty="0"/>
                            <a:t>3</a:t>
                          </a:r>
                        </a:p>
                      </a:txBody>
                      <a:tcPr/>
                    </a:tc>
                    <a:tc>
                      <a:txBody>
                        <a:bodyPr/>
                        <a:lstStyle/>
                        <a:p>
                          <a:pPr algn="ctr"/>
                          <a:r>
                            <a:rPr lang="en-US" sz="1800" dirty="0"/>
                            <a:t>2</a:t>
                          </a:r>
                        </a:p>
                      </a:txBody>
                      <a:tcPr/>
                    </a:tc>
                    <a:extLst>
                      <a:ext uri="{0D108BD9-81ED-4DB2-BD59-A6C34878D82A}">
                        <a16:rowId xmlns:a16="http://schemas.microsoft.com/office/drawing/2014/main" val="2888494904"/>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1" i="1" dirty="0" smtClean="0">
                                        <a:latin typeface="Cambria Math" panose="02040503050406030204" pitchFamily="18" charset="0"/>
                                      </a:rPr>
                                      <m:t>𝑨</m:t>
                                    </m:r>
                                  </m:e>
                                  <m:sub>
                                    <m:r>
                                      <a:rPr lang="en-US" sz="1800" b="1" i="1" dirty="0" smtClean="0">
                                        <a:latin typeface="Cambria Math" panose="02040503050406030204" pitchFamily="18" charset="0"/>
                                      </a:rPr>
                                      <m:t>𝟐</m:t>
                                    </m:r>
                                  </m:sub>
                                </m:sSub>
                              </m:oMath>
                            </m:oMathPara>
                          </a14:m>
                          <a:endParaRPr lang="en-US" sz="1800" dirty="0"/>
                        </a:p>
                      </a:txBody>
                      <a:tcPr/>
                    </a:tc>
                    <a:tc>
                      <a:txBody>
                        <a:bodyPr/>
                        <a:lstStyle/>
                        <a:p>
                          <a:pPr algn="ctr"/>
                          <a:r>
                            <a:rPr lang="en-US" sz="1800" dirty="0"/>
                            <a:t>1</a:t>
                          </a:r>
                        </a:p>
                      </a:txBody>
                      <a:tcPr/>
                    </a:tc>
                    <a:tc>
                      <a:txBody>
                        <a:bodyPr/>
                        <a:lstStyle/>
                        <a:p>
                          <a:pPr algn="ctr"/>
                          <a:r>
                            <a:rPr lang="en-US" sz="1800" dirty="0"/>
                            <a:t>4</a:t>
                          </a:r>
                        </a:p>
                      </a:txBody>
                      <a:tcPr/>
                    </a:tc>
                    <a:extLst>
                      <a:ext uri="{0D108BD9-81ED-4DB2-BD59-A6C34878D82A}">
                        <a16:rowId xmlns:a16="http://schemas.microsoft.com/office/drawing/2014/main" val="1312684435"/>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1" i="1" dirty="0" smtClean="0">
                                        <a:latin typeface="Cambria Math" panose="02040503050406030204" pitchFamily="18" charset="0"/>
                                      </a:rPr>
                                      <m:t>𝑨</m:t>
                                    </m:r>
                                  </m:e>
                                  <m:sub>
                                    <m:r>
                                      <a:rPr lang="en-US" sz="1800" b="1" i="1" dirty="0" smtClean="0">
                                        <a:latin typeface="Cambria Math" panose="02040503050406030204" pitchFamily="18" charset="0"/>
                                      </a:rPr>
                                      <m:t>𝟑</m:t>
                                    </m:r>
                                  </m:sub>
                                </m:sSub>
                              </m:oMath>
                            </m:oMathPara>
                          </a14:m>
                          <a:endParaRPr lang="en-US" sz="1800" dirty="0"/>
                        </a:p>
                      </a:txBody>
                      <a:tcPr/>
                    </a:tc>
                    <a:tc>
                      <a:txBody>
                        <a:bodyPr/>
                        <a:lstStyle/>
                        <a:p>
                          <a:pPr algn="ctr"/>
                          <a:r>
                            <a:rPr lang="en-US" sz="1800" dirty="0"/>
                            <a:t>3</a:t>
                          </a:r>
                        </a:p>
                      </a:txBody>
                      <a:tcPr/>
                    </a:tc>
                    <a:tc>
                      <a:txBody>
                        <a:bodyPr/>
                        <a:lstStyle/>
                        <a:p>
                          <a:pPr algn="ctr"/>
                          <a:r>
                            <a:rPr lang="en-US" sz="1800" dirty="0"/>
                            <a:t>3</a:t>
                          </a:r>
                        </a:p>
                      </a:txBody>
                      <a:tcPr/>
                    </a:tc>
                    <a:extLst>
                      <a:ext uri="{0D108BD9-81ED-4DB2-BD59-A6C34878D82A}">
                        <a16:rowId xmlns:a16="http://schemas.microsoft.com/office/drawing/2014/main" val="1004370470"/>
                      </a:ext>
                    </a:extLst>
                  </a:tr>
                </a:tbl>
              </a:graphicData>
            </a:graphic>
          </p:graphicFrame>
        </mc:Choice>
        <mc:Fallback>
          <p:graphicFrame>
            <p:nvGraphicFramePr>
              <p:cNvPr id="9" name="Table 8"/>
              <p:cNvGraphicFramePr>
                <a:graphicFrameLocks noGrp="1"/>
              </p:cNvGraphicFramePr>
              <p:nvPr>
                <p:extLst>
                  <p:ext uri="{D42A27DB-BD31-4B8C-83A1-F6EECF244321}">
                    <p14:modId xmlns:p14="http://schemas.microsoft.com/office/powerpoint/2010/main" val="193940101"/>
                  </p:ext>
                </p:extLst>
              </p:nvPr>
            </p:nvGraphicFramePr>
            <p:xfrm>
              <a:off x="3287279" y="3812595"/>
              <a:ext cx="1728191" cy="1483360"/>
            </p:xfrm>
            <a:graphic>
              <a:graphicData uri="http://schemas.openxmlformats.org/drawingml/2006/table">
                <a:tbl>
                  <a:tblPr firstRow="1" bandRow="1">
                    <a:tableStyleId>{5C22544A-7EE6-4342-B048-85BDC9FD1C3A}</a:tableStyleId>
                  </a:tblPr>
                  <a:tblGrid>
                    <a:gridCol w="600880">
                      <a:extLst>
                        <a:ext uri="{9D8B030D-6E8A-4147-A177-3AD203B41FA5}">
                          <a16:colId xmlns:a16="http://schemas.microsoft.com/office/drawing/2014/main" val="3208932065"/>
                        </a:ext>
                      </a:extLst>
                    </a:gridCol>
                    <a:gridCol w="587048">
                      <a:extLst>
                        <a:ext uri="{9D8B030D-6E8A-4147-A177-3AD203B41FA5}">
                          <a16:colId xmlns:a16="http://schemas.microsoft.com/office/drawing/2014/main" val="1734098818"/>
                        </a:ext>
                      </a:extLst>
                    </a:gridCol>
                    <a:gridCol w="540263">
                      <a:extLst>
                        <a:ext uri="{9D8B030D-6E8A-4147-A177-3AD203B41FA5}">
                          <a16:colId xmlns:a16="http://schemas.microsoft.com/office/drawing/2014/main" val="3674593458"/>
                        </a:ext>
                      </a:extLst>
                    </a:gridCol>
                  </a:tblGrid>
                  <a:tr h="370840">
                    <a:tc>
                      <a:txBody>
                        <a:bodyPr/>
                        <a:lstStyle/>
                        <a:p>
                          <a:pPr algn="ctr"/>
                          <a:r>
                            <a:rPr lang="en-US" sz="1800" dirty="0"/>
                            <a:t>A\B</a:t>
                          </a:r>
                        </a:p>
                      </a:txBody>
                      <a:tcPr/>
                    </a:tc>
                    <a:tc>
                      <a:txBody>
                        <a:bodyPr/>
                        <a:lstStyle/>
                        <a:p>
                          <a:endParaRPr lang="en-US"/>
                        </a:p>
                      </a:txBody>
                      <a:tcPr>
                        <a:blipFill>
                          <a:blip r:embed="rId4"/>
                          <a:stretch>
                            <a:fillRect l="-104167" t="-8197" r="-96875" b="-324590"/>
                          </a:stretch>
                        </a:blipFill>
                      </a:tcPr>
                    </a:tc>
                    <a:tc>
                      <a:txBody>
                        <a:bodyPr/>
                        <a:lstStyle/>
                        <a:p>
                          <a:endParaRPr lang="en-US"/>
                        </a:p>
                      </a:txBody>
                      <a:tcPr>
                        <a:blipFill>
                          <a:blip r:embed="rId4"/>
                          <a:stretch>
                            <a:fillRect l="-220225" t="-8197" r="-4494" b="-324590"/>
                          </a:stretch>
                        </a:blipFill>
                      </a:tcPr>
                    </a:tc>
                    <a:extLst>
                      <a:ext uri="{0D108BD9-81ED-4DB2-BD59-A6C34878D82A}">
                        <a16:rowId xmlns:a16="http://schemas.microsoft.com/office/drawing/2014/main" val="2798370162"/>
                      </a:ext>
                    </a:extLst>
                  </a:tr>
                  <a:tr h="370840">
                    <a:tc>
                      <a:txBody>
                        <a:bodyPr/>
                        <a:lstStyle/>
                        <a:p>
                          <a:endParaRPr lang="en-US"/>
                        </a:p>
                      </a:txBody>
                      <a:tcPr>
                        <a:blipFill>
                          <a:blip r:embed="rId4"/>
                          <a:stretch>
                            <a:fillRect l="-1010" t="-108197" r="-190909" b="-224590"/>
                          </a:stretch>
                        </a:blipFill>
                      </a:tcPr>
                    </a:tc>
                    <a:tc>
                      <a:txBody>
                        <a:bodyPr/>
                        <a:lstStyle/>
                        <a:p>
                          <a:pPr algn="ctr"/>
                          <a:r>
                            <a:rPr lang="en-US" sz="1800" dirty="0"/>
                            <a:t>3</a:t>
                          </a:r>
                        </a:p>
                      </a:txBody>
                      <a:tcPr/>
                    </a:tc>
                    <a:tc>
                      <a:txBody>
                        <a:bodyPr/>
                        <a:lstStyle/>
                        <a:p>
                          <a:pPr algn="ctr"/>
                          <a:r>
                            <a:rPr lang="en-US" sz="1800" dirty="0"/>
                            <a:t>2</a:t>
                          </a:r>
                        </a:p>
                      </a:txBody>
                      <a:tcPr/>
                    </a:tc>
                    <a:extLst>
                      <a:ext uri="{0D108BD9-81ED-4DB2-BD59-A6C34878D82A}">
                        <a16:rowId xmlns:a16="http://schemas.microsoft.com/office/drawing/2014/main" val="2888494904"/>
                      </a:ext>
                    </a:extLst>
                  </a:tr>
                  <a:tr h="370840">
                    <a:tc>
                      <a:txBody>
                        <a:bodyPr/>
                        <a:lstStyle/>
                        <a:p>
                          <a:endParaRPr lang="en-US"/>
                        </a:p>
                      </a:txBody>
                      <a:tcPr>
                        <a:blipFill>
                          <a:blip r:embed="rId4"/>
                          <a:stretch>
                            <a:fillRect l="-1010" t="-208197" r="-190909" b="-124590"/>
                          </a:stretch>
                        </a:blipFill>
                      </a:tcPr>
                    </a:tc>
                    <a:tc>
                      <a:txBody>
                        <a:bodyPr/>
                        <a:lstStyle/>
                        <a:p>
                          <a:pPr algn="ctr"/>
                          <a:r>
                            <a:rPr lang="en-US" sz="1800" dirty="0"/>
                            <a:t>1</a:t>
                          </a:r>
                        </a:p>
                      </a:txBody>
                      <a:tcPr/>
                    </a:tc>
                    <a:tc>
                      <a:txBody>
                        <a:bodyPr/>
                        <a:lstStyle/>
                        <a:p>
                          <a:pPr algn="ctr"/>
                          <a:r>
                            <a:rPr lang="en-US" sz="1800" dirty="0"/>
                            <a:t>4</a:t>
                          </a:r>
                        </a:p>
                      </a:txBody>
                      <a:tcPr/>
                    </a:tc>
                    <a:extLst>
                      <a:ext uri="{0D108BD9-81ED-4DB2-BD59-A6C34878D82A}">
                        <a16:rowId xmlns:a16="http://schemas.microsoft.com/office/drawing/2014/main" val="1312684435"/>
                      </a:ext>
                    </a:extLst>
                  </a:tr>
                  <a:tr h="370840">
                    <a:tc>
                      <a:txBody>
                        <a:bodyPr/>
                        <a:lstStyle/>
                        <a:p>
                          <a:endParaRPr lang="en-US"/>
                        </a:p>
                      </a:txBody>
                      <a:tcPr>
                        <a:blipFill>
                          <a:blip r:embed="rId4"/>
                          <a:stretch>
                            <a:fillRect l="-1010" t="-308197" r="-190909" b="-24590"/>
                          </a:stretch>
                        </a:blipFill>
                      </a:tcPr>
                    </a:tc>
                    <a:tc>
                      <a:txBody>
                        <a:bodyPr/>
                        <a:lstStyle/>
                        <a:p>
                          <a:pPr algn="ctr"/>
                          <a:r>
                            <a:rPr lang="en-US" sz="1800" dirty="0"/>
                            <a:t>3</a:t>
                          </a:r>
                        </a:p>
                      </a:txBody>
                      <a:tcPr/>
                    </a:tc>
                    <a:tc>
                      <a:txBody>
                        <a:bodyPr/>
                        <a:lstStyle/>
                        <a:p>
                          <a:pPr algn="ctr"/>
                          <a:r>
                            <a:rPr lang="en-US" sz="1800" dirty="0"/>
                            <a:t>3</a:t>
                          </a:r>
                        </a:p>
                      </a:txBody>
                      <a:tcPr/>
                    </a:tc>
                    <a:extLst>
                      <a:ext uri="{0D108BD9-81ED-4DB2-BD59-A6C34878D82A}">
                        <a16:rowId xmlns:a16="http://schemas.microsoft.com/office/drawing/2014/main" val="1004370470"/>
                      </a:ext>
                    </a:extLst>
                  </a:tr>
                </a:tbl>
              </a:graphicData>
            </a:graphic>
          </p:graphicFrame>
        </mc:Fallback>
      </mc:AlternateContent>
      <p:sp>
        <p:nvSpPr>
          <p:cNvPr id="10" name="Rectangle 9"/>
          <p:cNvSpPr/>
          <p:nvPr/>
        </p:nvSpPr>
        <p:spPr>
          <a:xfrm>
            <a:off x="5325590" y="3834339"/>
            <a:ext cx="2389647" cy="369332"/>
          </a:xfrm>
          <a:prstGeom prst="rect">
            <a:avLst/>
          </a:prstGeom>
        </p:spPr>
        <p:txBody>
          <a:bodyPr wrap="square">
            <a:spAutoFit/>
          </a:bodyPr>
          <a:lstStyle/>
          <a:p>
            <a:pPr algn="just"/>
            <a:r>
              <a:rPr lang="en-US" dirty="0"/>
              <a:t>Row 3 dominates row 1</a:t>
            </a:r>
          </a:p>
        </p:txBody>
      </p:sp>
      <mc:AlternateContent xmlns:mc="http://schemas.openxmlformats.org/markup-compatibility/2006">
        <mc:Choice xmlns:a14="http://schemas.microsoft.com/office/drawing/2010/main" Requires="a14">
          <p:graphicFrame>
            <p:nvGraphicFramePr>
              <p:cNvPr id="11" name="Table 10"/>
              <p:cNvGraphicFramePr>
                <a:graphicFrameLocks noGrp="1"/>
              </p:cNvGraphicFramePr>
              <p:nvPr>
                <p:extLst>
                  <p:ext uri="{D42A27DB-BD31-4B8C-83A1-F6EECF244321}">
                    <p14:modId xmlns:p14="http://schemas.microsoft.com/office/powerpoint/2010/main" val="4100457841"/>
                  </p:ext>
                </p:extLst>
              </p:nvPr>
            </p:nvGraphicFramePr>
            <p:xfrm>
              <a:off x="6079900" y="4282745"/>
              <a:ext cx="1656184" cy="1107440"/>
            </p:xfrm>
            <a:graphic>
              <a:graphicData uri="http://schemas.openxmlformats.org/drawingml/2006/table">
                <a:tbl>
                  <a:tblPr firstRow="1" bandRow="1">
                    <a:tableStyleId>{5C22544A-7EE6-4342-B048-85BDC9FD1C3A}</a:tableStyleId>
                  </a:tblPr>
                  <a:tblGrid>
                    <a:gridCol w="575844">
                      <a:extLst>
                        <a:ext uri="{9D8B030D-6E8A-4147-A177-3AD203B41FA5}">
                          <a16:colId xmlns:a16="http://schemas.microsoft.com/office/drawing/2014/main" val="3208932065"/>
                        </a:ext>
                      </a:extLst>
                    </a:gridCol>
                    <a:gridCol w="562588">
                      <a:extLst>
                        <a:ext uri="{9D8B030D-6E8A-4147-A177-3AD203B41FA5}">
                          <a16:colId xmlns:a16="http://schemas.microsoft.com/office/drawing/2014/main" val="1734098818"/>
                        </a:ext>
                      </a:extLst>
                    </a:gridCol>
                    <a:gridCol w="517752">
                      <a:extLst>
                        <a:ext uri="{9D8B030D-6E8A-4147-A177-3AD203B41FA5}">
                          <a16:colId xmlns:a16="http://schemas.microsoft.com/office/drawing/2014/main" val="3674593458"/>
                        </a:ext>
                      </a:extLst>
                    </a:gridCol>
                  </a:tblGrid>
                  <a:tr h="370840">
                    <a:tc>
                      <a:txBody>
                        <a:bodyPr/>
                        <a:lstStyle/>
                        <a:p>
                          <a:pPr algn="ctr"/>
                          <a:r>
                            <a:rPr lang="en-US" sz="1800" dirty="0"/>
                            <a:t>A\B</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1" i="1" dirty="0" smtClean="0">
                                        <a:latin typeface="Cambria Math" panose="02040503050406030204" pitchFamily="18" charset="0"/>
                                      </a:rPr>
                                      <m:t>𝑩</m:t>
                                    </m:r>
                                  </m:e>
                                  <m:sub>
                                    <m:r>
                                      <a:rPr lang="en-US" sz="1800" b="1" i="1" dirty="0" smtClean="0">
                                        <a:latin typeface="Cambria Math" panose="02040503050406030204" pitchFamily="18" charset="0"/>
                                      </a:rPr>
                                      <m:t>𝟏</m:t>
                                    </m:r>
                                  </m:sub>
                                </m:sSub>
                              </m:oMath>
                            </m:oMathPara>
                          </a14:m>
                          <a:endParaRPr lang="en-US" sz="18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1" i="1" dirty="0" smtClean="0">
                                        <a:latin typeface="Cambria Math" panose="02040503050406030204" pitchFamily="18" charset="0"/>
                                      </a:rPr>
                                      <m:t>𝑩</m:t>
                                    </m:r>
                                  </m:e>
                                  <m:sub>
                                    <m:r>
                                      <a:rPr lang="en-US" sz="1800" b="1" i="1" dirty="0" smtClean="0">
                                        <a:latin typeface="Cambria Math" panose="02040503050406030204" pitchFamily="18" charset="0"/>
                                      </a:rPr>
                                      <m:t>𝟐</m:t>
                                    </m:r>
                                  </m:sub>
                                </m:sSub>
                              </m:oMath>
                            </m:oMathPara>
                          </a14:m>
                          <a:endParaRPr lang="en-US" sz="1800" dirty="0"/>
                        </a:p>
                      </a:txBody>
                      <a:tcPr/>
                    </a:tc>
                    <a:extLst>
                      <a:ext uri="{0D108BD9-81ED-4DB2-BD59-A6C34878D82A}">
                        <a16:rowId xmlns:a16="http://schemas.microsoft.com/office/drawing/2014/main" val="2798370162"/>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1" i="1" dirty="0" smtClean="0">
                                        <a:latin typeface="Cambria Math" panose="02040503050406030204" pitchFamily="18" charset="0"/>
                                      </a:rPr>
                                      <m:t>𝑨</m:t>
                                    </m:r>
                                  </m:e>
                                  <m:sub>
                                    <m:r>
                                      <a:rPr lang="en-US" sz="1800" b="1" i="1" dirty="0" smtClean="0">
                                        <a:latin typeface="Cambria Math" panose="02040503050406030204" pitchFamily="18" charset="0"/>
                                      </a:rPr>
                                      <m:t>𝟐</m:t>
                                    </m:r>
                                  </m:sub>
                                </m:sSub>
                              </m:oMath>
                            </m:oMathPara>
                          </a14:m>
                          <a:endParaRPr lang="en-US" sz="1800" dirty="0"/>
                        </a:p>
                      </a:txBody>
                      <a:tcPr/>
                    </a:tc>
                    <a:tc>
                      <a:txBody>
                        <a:bodyPr/>
                        <a:lstStyle/>
                        <a:p>
                          <a:pPr algn="ctr"/>
                          <a:r>
                            <a:rPr lang="en-US" sz="1800" dirty="0"/>
                            <a:t>1</a:t>
                          </a:r>
                        </a:p>
                      </a:txBody>
                      <a:tcPr/>
                    </a:tc>
                    <a:tc>
                      <a:txBody>
                        <a:bodyPr/>
                        <a:lstStyle/>
                        <a:p>
                          <a:pPr algn="ctr"/>
                          <a:r>
                            <a:rPr lang="en-US" sz="1800" dirty="0"/>
                            <a:t>4</a:t>
                          </a:r>
                        </a:p>
                      </a:txBody>
                      <a:tcPr/>
                    </a:tc>
                    <a:extLst>
                      <a:ext uri="{0D108BD9-81ED-4DB2-BD59-A6C34878D82A}">
                        <a16:rowId xmlns:a16="http://schemas.microsoft.com/office/drawing/2014/main" val="2888494904"/>
                      </a:ext>
                    </a:extLst>
                  </a:tr>
                  <a:tr h="276783">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1" i="1" dirty="0" smtClean="0">
                                        <a:latin typeface="Cambria Math" panose="02040503050406030204" pitchFamily="18" charset="0"/>
                                      </a:rPr>
                                      <m:t>𝑨</m:t>
                                    </m:r>
                                  </m:e>
                                  <m:sub>
                                    <m:r>
                                      <a:rPr lang="en-US" sz="1800" b="1" i="1" dirty="0" smtClean="0">
                                        <a:latin typeface="Cambria Math" panose="02040503050406030204" pitchFamily="18" charset="0"/>
                                      </a:rPr>
                                      <m:t>𝟑</m:t>
                                    </m:r>
                                  </m:sub>
                                </m:sSub>
                              </m:oMath>
                            </m:oMathPara>
                          </a14:m>
                          <a:endParaRPr lang="en-US" sz="1800" dirty="0"/>
                        </a:p>
                      </a:txBody>
                      <a:tcPr/>
                    </a:tc>
                    <a:tc>
                      <a:txBody>
                        <a:bodyPr/>
                        <a:lstStyle/>
                        <a:p>
                          <a:pPr algn="ctr"/>
                          <a:r>
                            <a:rPr lang="en-US" sz="1800" dirty="0"/>
                            <a:t>3</a:t>
                          </a:r>
                        </a:p>
                      </a:txBody>
                      <a:tcPr/>
                    </a:tc>
                    <a:tc>
                      <a:txBody>
                        <a:bodyPr/>
                        <a:lstStyle/>
                        <a:p>
                          <a:pPr algn="ctr"/>
                          <a:r>
                            <a:rPr lang="en-US" sz="1800" dirty="0"/>
                            <a:t>3</a:t>
                          </a:r>
                        </a:p>
                      </a:txBody>
                      <a:tcPr/>
                    </a:tc>
                    <a:extLst>
                      <a:ext uri="{0D108BD9-81ED-4DB2-BD59-A6C34878D82A}">
                        <a16:rowId xmlns:a16="http://schemas.microsoft.com/office/drawing/2014/main" val="1004370470"/>
                      </a:ext>
                    </a:extLst>
                  </a:tr>
                </a:tbl>
              </a:graphicData>
            </a:graphic>
          </p:graphicFrame>
        </mc:Choice>
        <mc:Fallback>
          <p:graphicFrame>
            <p:nvGraphicFramePr>
              <p:cNvPr id="11" name="Table 10"/>
              <p:cNvGraphicFramePr>
                <a:graphicFrameLocks noGrp="1"/>
              </p:cNvGraphicFramePr>
              <p:nvPr>
                <p:extLst>
                  <p:ext uri="{D42A27DB-BD31-4B8C-83A1-F6EECF244321}">
                    <p14:modId xmlns:p14="http://schemas.microsoft.com/office/powerpoint/2010/main" val="4100457841"/>
                  </p:ext>
                </p:extLst>
              </p:nvPr>
            </p:nvGraphicFramePr>
            <p:xfrm>
              <a:off x="6079900" y="4282745"/>
              <a:ext cx="1656184" cy="1107440"/>
            </p:xfrm>
            <a:graphic>
              <a:graphicData uri="http://schemas.openxmlformats.org/drawingml/2006/table">
                <a:tbl>
                  <a:tblPr firstRow="1" bandRow="1">
                    <a:tableStyleId>{5C22544A-7EE6-4342-B048-85BDC9FD1C3A}</a:tableStyleId>
                  </a:tblPr>
                  <a:tblGrid>
                    <a:gridCol w="575844">
                      <a:extLst>
                        <a:ext uri="{9D8B030D-6E8A-4147-A177-3AD203B41FA5}">
                          <a16:colId xmlns:a16="http://schemas.microsoft.com/office/drawing/2014/main" val="3208932065"/>
                        </a:ext>
                      </a:extLst>
                    </a:gridCol>
                    <a:gridCol w="562588">
                      <a:extLst>
                        <a:ext uri="{9D8B030D-6E8A-4147-A177-3AD203B41FA5}">
                          <a16:colId xmlns:a16="http://schemas.microsoft.com/office/drawing/2014/main" val="1734098818"/>
                        </a:ext>
                      </a:extLst>
                    </a:gridCol>
                    <a:gridCol w="517752">
                      <a:extLst>
                        <a:ext uri="{9D8B030D-6E8A-4147-A177-3AD203B41FA5}">
                          <a16:colId xmlns:a16="http://schemas.microsoft.com/office/drawing/2014/main" val="3674593458"/>
                        </a:ext>
                      </a:extLst>
                    </a:gridCol>
                  </a:tblGrid>
                  <a:tr h="370840">
                    <a:tc>
                      <a:txBody>
                        <a:bodyPr/>
                        <a:lstStyle/>
                        <a:p>
                          <a:pPr algn="ctr"/>
                          <a:r>
                            <a:rPr lang="en-US" sz="1800" dirty="0"/>
                            <a:t>A\B</a:t>
                          </a:r>
                        </a:p>
                      </a:txBody>
                      <a:tcPr/>
                    </a:tc>
                    <a:tc>
                      <a:txBody>
                        <a:bodyPr/>
                        <a:lstStyle/>
                        <a:p>
                          <a:endParaRPr lang="en-US"/>
                        </a:p>
                      </a:txBody>
                      <a:tcPr>
                        <a:blipFill>
                          <a:blip r:embed="rId5"/>
                          <a:stretch>
                            <a:fillRect l="-103226" t="-8197" r="-95699" b="-224590"/>
                          </a:stretch>
                        </a:blipFill>
                      </a:tcPr>
                    </a:tc>
                    <a:tc>
                      <a:txBody>
                        <a:bodyPr/>
                        <a:lstStyle/>
                        <a:p>
                          <a:endParaRPr lang="en-US"/>
                        </a:p>
                      </a:txBody>
                      <a:tcPr>
                        <a:blipFill>
                          <a:blip r:embed="rId5"/>
                          <a:stretch>
                            <a:fillRect l="-222353" t="-8197" r="-4706" b="-224590"/>
                          </a:stretch>
                        </a:blipFill>
                      </a:tcPr>
                    </a:tc>
                    <a:extLst>
                      <a:ext uri="{0D108BD9-81ED-4DB2-BD59-A6C34878D82A}">
                        <a16:rowId xmlns:a16="http://schemas.microsoft.com/office/drawing/2014/main" val="2798370162"/>
                      </a:ext>
                    </a:extLst>
                  </a:tr>
                  <a:tr h="370840">
                    <a:tc>
                      <a:txBody>
                        <a:bodyPr/>
                        <a:lstStyle/>
                        <a:p>
                          <a:endParaRPr lang="en-US"/>
                        </a:p>
                      </a:txBody>
                      <a:tcPr>
                        <a:blipFill>
                          <a:blip r:embed="rId5"/>
                          <a:stretch>
                            <a:fillRect l="-1053" t="-106452" r="-191579" b="-120968"/>
                          </a:stretch>
                        </a:blipFill>
                      </a:tcPr>
                    </a:tc>
                    <a:tc>
                      <a:txBody>
                        <a:bodyPr/>
                        <a:lstStyle/>
                        <a:p>
                          <a:pPr algn="ctr"/>
                          <a:r>
                            <a:rPr lang="en-US" sz="1800" dirty="0"/>
                            <a:t>1</a:t>
                          </a:r>
                        </a:p>
                      </a:txBody>
                      <a:tcPr/>
                    </a:tc>
                    <a:tc>
                      <a:txBody>
                        <a:bodyPr/>
                        <a:lstStyle/>
                        <a:p>
                          <a:pPr algn="ctr"/>
                          <a:r>
                            <a:rPr lang="en-US" sz="1800" dirty="0"/>
                            <a:t>4</a:t>
                          </a:r>
                        </a:p>
                      </a:txBody>
                      <a:tcPr/>
                    </a:tc>
                    <a:extLst>
                      <a:ext uri="{0D108BD9-81ED-4DB2-BD59-A6C34878D82A}">
                        <a16:rowId xmlns:a16="http://schemas.microsoft.com/office/drawing/2014/main" val="2888494904"/>
                      </a:ext>
                    </a:extLst>
                  </a:tr>
                  <a:tr h="365760">
                    <a:tc>
                      <a:txBody>
                        <a:bodyPr/>
                        <a:lstStyle/>
                        <a:p>
                          <a:endParaRPr lang="en-US"/>
                        </a:p>
                      </a:txBody>
                      <a:tcPr>
                        <a:blipFill>
                          <a:blip r:embed="rId5"/>
                          <a:stretch>
                            <a:fillRect l="-1053" t="-213333" r="-191579" b="-25000"/>
                          </a:stretch>
                        </a:blipFill>
                      </a:tcPr>
                    </a:tc>
                    <a:tc>
                      <a:txBody>
                        <a:bodyPr/>
                        <a:lstStyle/>
                        <a:p>
                          <a:pPr algn="ctr"/>
                          <a:r>
                            <a:rPr lang="en-US" sz="1800" dirty="0"/>
                            <a:t>3</a:t>
                          </a:r>
                        </a:p>
                      </a:txBody>
                      <a:tcPr/>
                    </a:tc>
                    <a:tc>
                      <a:txBody>
                        <a:bodyPr/>
                        <a:lstStyle/>
                        <a:p>
                          <a:pPr algn="ctr"/>
                          <a:r>
                            <a:rPr lang="en-US" sz="1800" dirty="0"/>
                            <a:t>3</a:t>
                          </a:r>
                        </a:p>
                      </a:txBody>
                      <a:tcPr/>
                    </a:tc>
                    <a:extLst>
                      <a:ext uri="{0D108BD9-81ED-4DB2-BD59-A6C34878D82A}">
                        <a16:rowId xmlns:a16="http://schemas.microsoft.com/office/drawing/2014/main" val="1004370470"/>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12" name="Table 11"/>
              <p:cNvGraphicFramePr>
                <a:graphicFrameLocks noGrp="1"/>
              </p:cNvGraphicFramePr>
              <p:nvPr>
                <p:extLst>
                  <p:ext uri="{D42A27DB-BD31-4B8C-83A1-F6EECF244321}">
                    <p14:modId xmlns:p14="http://schemas.microsoft.com/office/powerpoint/2010/main" val="2503567249"/>
                  </p:ext>
                </p:extLst>
              </p:nvPr>
            </p:nvGraphicFramePr>
            <p:xfrm>
              <a:off x="732710" y="5206861"/>
              <a:ext cx="1200874" cy="1112520"/>
            </p:xfrm>
            <a:graphic>
              <a:graphicData uri="http://schemas.openxmlformats.org/drawingml/2006/table">
                <a:tbl>
                  <a:tblPr firstRow="1" bandRow="1">
                    <a:tableStyleId>{5C22544A-7EE6-4342-B048-85BDC9FD1C3A}</a:tableStyleId>
                  </a:tblPr>
                  <a:tblGrid>
                    <a:gridCol w="607429">
                      <a:extLst>
                        <a:ext uri="{9D8B030D-6E8A-4147-A177-3AD203B41FA5}">
                          <a16:colId xmlns:a16="http://schemas.microsoft.com/office/drawing/2014/main" val="2949685755"/>
                        </a:ext>
                      </a:extLst>
                    </a:gridCol>
                    <a:gridCol w="593445">
                      <a:extLst>
                        <a:ext uri="{9D8B030D-6E8A-4147-A177-3AD203B41FA5}">
                          <a16:colId xmlns:a16="http://schemas.microsoft.com/office/drawing/2014/main" val="1724876758"/>
                        </a:ext>
                      </a:extLst>
                    </a:gridCol>
                  </a:tblGrid>
                  <a:tr h="370840">
                    <a:tc>
                      <a:txBody>
                        <a:bodyPr/>
                        <a:lstStyle/>
                        <a:p>
                          <a:pPr algn="ctr"/>
                          <a:r>
                            <a:rPr lang="en-US" sz="1800" dirty="0"/>
                            <a:t>A\B</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1" i="1" dirty="0" smtClean="0">
                                        <a:latin typeface="Cambria Math" panose="02040503050406030204" pitchFamily="18" charset="0"/>
                                      </a:rPr>
                                      <m:t>𝑩</m:t>
                                    </m:r>
                                  </m:e>
                                  <m:sub>
                                    <m:r>
                                      <a:rPr lang="en-US" sz="1800" b="1" i="1" dirty="0" smtClean="0">
                                        <a:latin typeface="Cambria Math" panose="02040503050406030204" pitchFamily="18" charset="0"/>
                                      </a:rPr>
                                      <m:t>𝟐</m:t>
                                    </m:r>
                                  </m:sub>
                                </m:sSub>
                              </m:oMath>
                            </m:oMathPara>
                          </a14:m>
                          <a:endParaRPr lang="en-US" sz="1800" dirty="0"/>
                        </a:p>
                      </a:txBody>
                      <a:tcPr/>
                    </a:tc>
                    <a:extLst>
                      <a:ext uri="{0D108BD9-81ED-4DB2-BD59-A6C34878D82A}">
                        <a16:rowId xmlns:a16="http://schemas.microsoft.com/office/drawing/2014/main" val="977734716"/>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1" i="1" dirty="0" smtClean="0">
                                        <a:latin typeface="Cambria Math" panose="02040503050406030204" pitchFamily="18" charset="0"/>
                                      </a:rPr>
                                      <m:t>𝑨</m:t>
                                    </m:r>
                                  </m:e>
                                  <m:sub>
                                    <m:r>
                                      <a:rPr lang="en-US" sz="1800" b="1" i="1" dirty="0" smtClean="0">
                                        <a:latin typeface="Cambria Math" panose="02040503050406030204" pitchFamily="18" charset="0"/>
                                      </a:rPr>
                                      <m:t>𝟐</m:t>
                                    </m:r>
                                  </m:sub>
                                </m:sSub>
                              </m:oMath>
                            </m:oMathPara>
                          </a14:m>
                          <a:endParaRPr lang="en-US" sz="1800" dirty="0"/>
                        </a:p>
                      </a:txBody>
                      <a:tcPr/>
                    </a:tc>
                    <a:tc>
                      <a:txBody>
                        <a:bodyPr/>
                        <a:lstStyle/>
                        <a:p>
                          <a:pPr algn="ctr"/>
                          <a:r>
                            <a:rPr lang="en-US" sz="1800" dirty="0"/>
                            <a:t>4</a:t>
                          </a:r>
                        </a:p>
                      </a:txBody>
                      <a:tcPr/>
                    </a:tc>
                    <a:extLst>
                      <a:ext uri="{0D108BD9-81ED-4DB2-BD59-A6C34878D82A}">
                        <a16:rowId xmlns:a16="http://schemas.microsoft.com/office/drawing/2014/main" val="1902865366"/>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1" i="1" dirty="0" smtClean="0">
                                        <a:latin typeface="Cambria Math" panose="02040503050406030204" pitchFamily="18" charset="0"/>
                                      </a:rPr>
                                      <m:t>𝑨</m:t>
                                    </m:r>
                                  </m:e>
                                  <m:sub>
                                    <m:r>
                                      <a:rPr lang="en-US" sz="1800" b="1" i="1" dirty="0" smtClean="0">
                                        <a:latin typeface="Cambria Math" panose="02040503050406030204" pitchFamily="18" charset="0"/>
                                      </a:rPr>
                                      <m:t>𝟑</m:t>
                                    </m:r>
                                  </m:sub>
                                </m:sSub>
                              </m:oMath>
                            </m:oMathPara>
                          </a14:m>
                          <a:endParaRPr lang="en-US" sz="1800" dirty="0"/>
                        </a:p>
                      </a:txBody>
                      <a:tcPr/>
                    </a:tc>
                    <a:tc>
                      <a:txBody>
                        <a:bodyPr/>
                        <a:lstStyle/>
                        <a:p>
                          <a:pPr algn="ctr"/>
                          <a:r>
                            <a:rPr lang="en-US" sz="1800" dirty="0"/>
                            <a:t>3</a:t>
                          </a:r>
                        </a:p>
                      </a:txBody>
                      <a:tcPr/>
                    </a:tc>
                    <a:extLst>
                      <a:ext uri="{0D108BD9-81ED-4DB2-BD59-A6C34878D82A}">
                        <a16:rowId xmlns:a16="http://schemas.microsoft.com/office/drawing/2014/main" val="1455744224"/>
                      </a:ext>
                    </a:extLst>
                  </a:tr>
                </a:tbl>
              </a:graphicData>
            </a:graphic>
          </p:graphicFrame>
        </mc:Choice>
        <mc:Fallback>
          <p:graphicFrame>
            <p:nvGraphicFramePr>
              <p:cNvPr id="12" name="Table 11"/>
              <p:cNvGraphicFramePr>
                <a:graphicFrameLocks noGrp="1"/>
              </p:cNvGraphicFramePr>
              <p:nvPr>
                <p:extLst>
                  <p:ext uri="{D42A27DB-BD31-4B8C-83A1-F6EECF244321}">
                    <p14:modId xmlns:p14="http://schemas.microsoft.com/office/powerpoint/2010/main" val="2503567249"/>
                  </p:ext>
                </p:extLst>
              </p:nvPr>
            </p:nvGraphicFramePr>
            <p:xfrm>
              <a:off x="732710" y="5206861"/>
              <a:ext cx="1200874" cy="1112520"/>
            </p:xfrm>
            <a:graphic>
              <a:graphicData uri="http://schemas.openxmlformats.org/drawingml/2006/table">
                <a:tbl>
                  <a:tblPr firstRow="1" bandRow="1">
                    <a:tableStyleId>{5C22544A-7EE6-4342-B048-85BDC9FD1C3A}</a:tableStyleId>
                  </a:tblPr>
                  <a:tblGrid>
                    <a:gridCol w="607429">
                      <a:extLst>
                        <a:ext uri="{9D8B030D-6E8A-4147-A177-3AD203B41FA5}">
                          <a16:colId xmlns:a16="http://schemas.microsoft.com/office/drawing/2014/main" val="2949685755"/>
                        </a:ext>
                      </a:extLst>
                    </a:gridCol>
                    <a:gridCol w="593445">
                      <a:extLst>
                        <a:ext uri="{9D8B030D-6E8A-4147-A177-3AD203B41FA5}">
                          <a16:colId xmlns:a16="http://schemas.microsoft.com/office/drawing/2014/main" val="1724876758"/>
                        </a:ext>
                      </a:extLst>
                    </a:gridCol>
                  </a:tblGrid>
                  <a:tr h="370840">
                    <a:tc>
                      <a:txBody>
                        <a:bodyPr/>
                        <a:lstStyle/>
                        <a:p>
                          <a:pPr algn="ctr"/>
                          <a:r>
                            <a:rPr lang="en-US" sz="1800" dirty="0"/>
                            <a:t>A\B</a:t>
                          </a:r>
                        </a:p>
                      </a:txBody>
                      <a:tcPr/>
                    </a:tc>
                    <a:tc>
                      <a:txBody>
                        <a:bodyPr/>
                        <a:lstStyle/>
                        <a:p>
                          <a:endParaRPr lang="en-US"/>
                        </a:p>
                      </a:txBody>
                      <a:tcPr>
                        <a:blipFill>
                          <a:blip r:embed="rId6"/>
                          <a:stretch>
                            <a:fillRect l="-103061" t="-8197" r="-4082" b="-224590"/>
                          </a:stretch>
                        </a:blipFill>
                      </a:tcPr>
                    </a:tc>
                    <a:extLst>
                      <a:ext uri="{0D108BD9-81ED-4DB2-BD59-A6C34878D82A}">
                        <a16:rowId xmlns:a16="http://schemas.microsoft.com/office/drawing/2014/main" val="977734716"/>
                      </a:ext>
                    </a:extLst>
                  </a:tr>
                  <a:tr h="370840">
                    <a:tc>
                      <a:txBody>
                        <a:bodyPr/>
                        <a:lstStyle/>
                        <a:p>
                          <a:endParaRPr lang="en-US"/>
                        </a:p>
                      </a:txBody>
                      <a:tcPr>
                        <a:blipFill>
                          <a:blip r:embed="rId6"/>
                          <a:stretch>
                            <a:fillRect l="-1000" t="-108197" r="-102000" b="-124590"/>
                          </a:stretch>
                        </a:blipFill>
                      </a:tcPr>
                    </a:tc>
                    <a:tc>
                      <a:txBody>
                        <a:bodyPr/>
                        <a:lstStyle/>
                        <a:p>
                          <a:pPr algn="ctr"/>
                          <a:r>
                            <a:rPr lang="en-US" sz="1800" dirty="0"/>
                            <a:t>4</a:t>
                          </a:r>
                        </a:p>
                      </a:txBody>
                      <a:tcPr/>
                    </a:tc>
                    <a:extLst>
                      <a:ext uri="{0D108BD9-81ED-4DB2-BD59-A6C34878D82A}">
                        <a16:rowId xmlns:a16="http://schemas.microsoft.com/office/drawing/2014/main" val="1902865366"/>
                      </a:ext>
                    </a:extLst>
                  </a:tr>
                  <a:tr h="370840">
                    <a:tc>
                      <a:txBody>
                        <a:bodyPr/>
                        <a:lstStyle/>
                        <a:p>
                          <a:endParaRPr lang="en-US"/>
                        </a:p>
                      </a:txBody>
                      <a:tcPr>
                        <a:blipFill>
                          <a:blip r:embed="rId6"/>
                          <a:stretch>
                            <a:fillRect l="-1000" t="-208197" r="-102000" b="-24590"/>
                          </a:stretch>
                        </a:blipFill>
                      </a:tcPr>
                    </a:tc>
                    <a:tc>
                      <a:txBody>
                        <a:bodyPr/>
                        <a:lstStyle/>
                        <a:p>
                          <a:pPr algn="ctr"/>
                          <a:r>
                            <a:rPr lang="en-US" sz="1800" dirty="0"/>
                            <a:t>3</a:t>
                          </a:r>
                        </a:p>
                      </a:txBody>
                      <a:tcPr/>
                    </a:tc>
                    <a:extLst>
                      <a:ext uri="{0D108BD9-81ED-4DB2-BD59-A6C34878D82A}">
                        <a16:rowId xmlns:a16="http://schemas.microsoft.com/office/drawing/2014/main" val="1455744224"/>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13" name="Table 12"/>
              <p:cNvGraphicFramePr>
                <a:graphicFrameLocks noGrp="1"/>
              </p:cNvGraphicFramePr>
              <p:nvPr>
                <p:extLst>
                  <p:ext uri="{D42A27DB-BD31-4B8C-83A1-F6EECF244321}">
                    <p14:modId xmlns:p14="http://schemas.microsoft.com/office/powerpoint/2010/main" val="2290786354"/>
                  </p:ext>
                </p:extLst>
              </p:nvPr>
            </p:nvGraphicFramePr>
            <p:xfrm>
              <a:off x="2205431" y="5549702"/>
              <a:ext cx="1200874" cy="741680"/>
            </p:xfrm>
            <a:graphic>
              <a:graphicData uri="http://schemas.openxmlformats.org/drawingml/2006/table">
                <a:tbl>
                  <a:tblPr firstRow="1" bandRow="1">
                    <a:tableStyleId>{5C22544A-7EE6-4342-B048-85BDC9FD1C3A}</a:tableStyleId>
                  </a:tblPr>
                  <a:tblGrid>
                    <a:gridCol w="607429">
                      <a:extLst>
                        <a:ext uri="{9D8B030D-6E8A-4147-A177-3AD203B41FA5}">
                          <a16:colId xmlns:a16="http://schemas.microsoft.com/office/drawing/2014/main" val="2949685755"/>
                        </a:ext>
                      </a:extLst>
                    </a:gridCol>
                    <a:gridCol w="593445">
                      <a:extLst>
                        <a:ext uri="{9D8B030D-6E8A-4147-A177-3AD203B41FA5}">
                          <a16:colId xmlns:a16="http://schemas.microsoft.com/office/drawing/2014/main" val="1724876758"/>
                        </a:ext>
                      </a:extLst>
                    </a:gridCol>
                  </a:tblGrid>
                  <a:tr h="370840">
                    <a:tc>
                      <a:txBody>
                        <a:bodyPr/>
                        <a:lstStyle/>
                        <a:p>
                          <a:pPr algn="ctr"/>
                          <a:r>
                            <a:rPr lang="en-US" sz="1800" dirty="0"/>
                            <a:t>A\B</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1" i="1" dirty="0" smtClean="0">
                                        <a:latin typeface="Cambria Math" panose="02040503050406030204" pitchFamily="18" charset="0"/>
                                      </a:rPr>
                                      <m:t>𝑩</m:t>
                                    </m:r>
                                  </m:e>
                                  <m:sub>
                                    <m:r>
                                      <a:rPr lang="en-US" sz="1800" b="1" i="1" dirty="0" smtClean="0">
                                        <a:latin typeface="Cambria Math" panose="02040503050406030204" pitchFamily="18" charset="0"/>
                                      </a:rPr>
                                      <m:t>𝟐</m:t>
                                    </m:r>
                                  </m:sub>
                                </m:sSub>
                              </m:oMath>
                            </m:oMathPara>
                          </a14:m>
                          <a:endParaRPr lang="en-US" sz="1800" dirty="0"/>
                        </a:p>
                      </a:txBody>
                      <a:tcPr/>
                    </a:tc>
                    <a:extLst>
                      <a:ext uri="{0D108BD9-81ED-4DB2-BD59-A6C34878D82A}">
                        <a16:rowId xmlns:a16="http://schemas.microsoft.com/office/drawing/2014/main" val="977734716"/>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1" i="1" dirty="0" smtClean="0">
                                        <a:latin typeface="Cambria Math" panose="02040503050406030204" pitchFamily="18" charset="0"/>
                                      </a:rPr>
                                      <m:t>𝑨</m:t>
                                    </m:r>
                                  </m:e>
                                  <m:sub>
                                    <m:r>
                                      <a:rPr lang="en-US" sz="1800" b="1" i="1" dirty="0" smtClean="0">
                                        <a:latin typeface="Cambria Math" panose="02040503050406030204" pitchFamily="18" charset="0"/>
                                      </a:rPr>
                                      <m:t>𝟐</m:t>
                                    </m:r>
                                  </m:sub>
                                </m:sSub>
                              </m:oMath>
                            </m:oMathPara>
                          </a14:m>
                          <a:endParaRPr lang="en-US" sz="1800" dirty="0"/>
                        </a:p>
                      </a:txBody>
                      <a:tcPr/>
                    </a:tc>
                    <a:tc>
                      <a:txBody>
                        <a:bodyPr/>
                        <a:lstStyle/>
                        <a:p>
                          <a:pPr algn="ctr"/>
                          <a:r>
                            <a:rPr lang="en-US" sz="1800" dirty="0"/>
                            <a:t>4</a:t>
                          </a:r>
                        </a:p>
                      </a:txBody>
                      <a:tcPr/>
                    </a:tc>
                    <a:extLst>
                      <a:ext uri="{0D108BD9-81ED-4DB2-BD59-A6C34878D82A}">
                        <a16:rowId xmlns:a16="http://schemas.microsoft.com/office/drawing/2014/main" val="1455744224"/>
                      </a:ext>
                    </a:extLst>
                  </a:tr>
                </a:tbl>
              </a:graphicData>
            </a:graphic>
          </p:graphicFrame>
        </mc:Choice>
        <mc:Fallback>
          <p:graphicFrame>
            <p:nvGraphicFramePr>
              <p:cNvPr id="13" name="Table 12"/>
              <p:cNvGraphicFramePr>
                <a:graphicFrameLocks noGrp="1"/>
              </p:cNvGraphicFramePr>
              <p:nvPr>
                <p:extLst>
                  <p:ext uri="{D42A27DB-BD31-4B8C-83A1-F6EECF244321}">
                    <p14:modId xmlns:p14="http://schemas.microsoft.com/office/powerpoint/2010/main" val="2290786354"/>
                  </p:ext>
                </p:extLst>
              </p:nvPr>
            </p:nvGraphicFramePr>
            <p:xfrm>
              <a:off x="2205431" y="5549702"/>
              <a:ext cx="1200874" cy="741680"/>
            </p:xfrm>
            <a:graphic>
              <a:graphicData uri="http://schemas.openxmlformats.org/drawingml/2006/table">
                <a:tbl>
                  <a:tblPr firstRow="1" bandRow="1">
                    <a:tableStyleId>{5C22544A-7EE6-4342-B048-85BDC9FD1C3A}</a:tableStyleId>
                  </a:tblPr>
                  <a:tblGrid>
                    <a:gridCol w="607429">
                      <a:extLst>
                        <a:ext uri="{9D8B030D-6E8A-4147-A177-3AD203B41FA5}">
                          <a16:colId xmlns:a16="http://schemas.microsoft.com/office/drawing/2014/main" val="2949685755"/>
                        </a:ext>
                      </a:extLst>
                    </a:gridCol>
                    <a:gridCol w="593445">
                      <a:extLst>
                        <a:ext uri="{9D8B030D-6E8A-4147-A177-3AD203B41FA5}">
                          <a16:colId xmlns:a16="http://schemas.microsoft.com/office/drawing/2014/main" val="1724876758"/>
                        </a:ext>
                      </a:extLst>
                    </a:gridCol>
                  </a:tblGrid>
                  <a:tr h="370840">
                    <a:tc>
                      <a:txBody>
                        <a:bodyPr/>
                        <a:lstStyle/>
                        <a:p>
                          <a:pPr algn="ctr"/>
                          <a:r>
                            <a:rPr lang="en-US" sz="1800" dirty="0"/>
                            <a:t>A\B</a:t>
                          </a:r>
                        </a:p>
                      </a:txBody>
                      <a:tcPr/>
                    </a:tc>
                    <a:tc>
                      <a:txBody>
                        <a:bodyPr/>
                        <a:lstStyle/>
                        <a:p>
                          <a:endParaRPr lang="en-US"/>
                        </a:p>
                      </a:txBody>
                      <a:tcPr>
                        <a:blipFill>
                          <a:blip r:embed="rId7"/>
                          <a:stretch>
                            <a:fillRect l="-103061" t="-8065" r="-4082" b="-120968"/>
                          </a:stretch>
                        </a:blipFill>
                      </a:tcPr>
                    </a:tc>
                    <a:extLst>
                      <a:ext uri="{0D108BD9-81ED-4DB2-BD59-A6C34878D82A}">
                        <a16:rowId xmlns:a16="http://schemas.microsoft.com/office/drawing/2014/main" val="977734716"/>
                      </a:ext>
                    </a:extLst>
                  </a:tr>
                  <a:tr h="370840">
                    <a:tc>
                      <a:txBody>
                        <a:bodyPr/>
                        <a:lstStyle/>
                        <a:p>
                          <a:endParaRPr lang="en-US"/>
                        </a:p>
                      </a:txBody>
                      <a:tcPr>
                        <a:blipFill>
                          <a:blip r:embed="rId7"/>
                          <a:stretch>
                            <a:fillRect l="-1000" t="-109836" r="-102000" b="-22951"/>
                          </a:stretch>
                        </a:blipFill>
                      </a:tcPr>
                    </a:tc>
                    <a:tc>
                      <a:txBody>
                        <a:bodyPr/>
                        <a:lstStyle/>
                        <a:p>
                          <a:pPr algn="ctr"/>
                          <a:r>
                            <a:rPr lang="en-US" sz="1800" dirty="0"/>
                            <a:t>4</a:t>
                          </a:r>
                        </a:p>
                      </a:txBody>
                      <a:tcPr/>
                    </a:tc>
                    <a:extLst>
                      <a:ext uri="{0D108BD9-81ED-4DB2-BD59-A6C34878D82A}">
                        <a16:rowId xmlns:a16="http://schemas.microsoft.com/office/drawing/2014/main" val="1455744224"/>
                      </a:ext>
                    </a:extLst>
                  </a:tr>
                </a:tbl>
              </a:graphicData>
            </a:graphic>
          </p:graphicFrame>
        </mc:Fallback>
      </mc:AlternateContent>
      <p:sp>
        <p:nvSpPr>
          <p:cNvPr id="14" name="Rectangle 13"/>
          <p:cNvSpPr/>
          <p:nvPr/>
        </p:nvSpPr>
        <p:spPr>
          <a:xfrm>
            <a:off x="3503128" y="5724849"/>
            <a:ext cx="4824536" cy="369332"/>
          </a:xfrm>
          <a:prstGeom prst="rect">
            <a:avLst/>
          </a:prstGeom>
        </p:spPr>
        <p:txBody>
          <a:bodyPr wrap="square">
            <a:spAutoFit/>
          </a:bodyPr>
          <a:lstStyle/>
          <a:p>
            <a:pPr algn="just"/>
            <a:r>
              <a:rPr lang="en-US" dirty="0"/>
              <a:t>A will choose strategy 2 and B strategy 2</a:t>
            </a:r>
          </a:p>
        </p:txBody>
      </p:sp>
    </p:spTree>
    <p:extLst>
      <p:ext uri="{BB962C8B-B14F-4D97-AF65-F5344CB8AC3E}">
        <p14:creationId xmlns:p14="http://schemas.microsoft.com/office/powerpoint/2010/main" val="3960706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Maximin</a:t>
            </a:r>
            <a:r>
              <a:rPr lang="en-US" dirty="0"/>
              <a:t> and Minimax Strategy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11560" y="1503817"/>
                <a:ext cx="7848872" cy="4525963"/>
              </a:xfrm>
            </p:spPr>
            <p:txBody>
              <a:bodyPr>
                <a:normAutofit/>
              </a:bodyPr>
              <a:lstStyle/>
              <a:p>
                <a:pPr marL="0" indent="0">
                  <a:buNone/>
                </a:pPr>
                <a:r>
                  <a:rPr lang="en-US" sz="2400" dirty="0"/>
                  <a:t>For A’s </a:t>
                </a:r>
                <a:r>
                  <a:rPr lang="en-US" sz="2400" dirty="0" err="1"/>
                  <a:t>i</a:t>
                </a:r>
                <a:r>
                  <a:rPr lang="en-US" sz="2400" baseline="30000" dirty="0" err="1"/>
                  <a:t>th</a:t>
                </a:r>
                <a:r>
                  <a:rPr lang="en-US" sz="2400" dirty="0"/>
                  <a:t> strategy, </a:t>
                </a:r>
                <a14:m>
                  <m:oMath xmlns:m="http://schemas.openxmlformats.org/officeDocument/2006/math">
                    <m:sSub>
                      <m:sSubPr>
                        <m:ctrlPr>
                          <a:rPr lang="en-US" sz="2400" i="1" dirty="0" smtClean="0">
                            <a:latin typeface="Cambria Math" panose="02040503050406030204" pitchFamily="18" charset="0"/>
                          </a:rPr>
                        </m:ctrlPr>
                      </m:sSubPr>
                      <m:e>
                        <m:r>
                          <a:rPr lang="en-US" sz="2400" b="0" i="1" dirty="0" smtClean="0">
                            <a:latin typeface="Cambria Math" panose="02040503050406030204" pitchFamily="18" charset="0"/>
                          </a:rPr>
                          <m:t>𝐴</m:t>
                        </m:r>
                      </m:e>
                      <m:sub>
                        <m:r>
                          <a:rPr lang="en-US" sz="2400" b="0" i="1" dirty="0" smtClean="0">
                            <a:latin typeface="Cambria Math" panose="02040503050406030204" pitchFamily="18" charset="0"/>
                          </a:rPr>
                          <m:t>𝑖</m:t>
                        </m:r>
                      </m:sub>
                    </m:sSub>
                    <m:r>
                      <a:rPr lang="en-US" sz="2400" b="0" i="0" dirty="0" smtClean="0">
                        <a:latin typeface="Cambria Math" panose="02040503050406030204" pitchFamily="18" charset="0"/>
                      </a:rPr>
                      <m:t>, </m:t>
                    </m:r>
                  </m:oMath>
                </a14:m>
                <a:r>
                  <a:rPr lang="en-US" sz="2400" dirty="0"/>
                  <a:t>A will find the minimum entry in the </a:t>
                </a:r>
                <a:r>
                  <a:rPr lang="en-US" sz="2400" dirty="0" err="1"/>
                  <a:t>i</a:t>
                </a:r>
                <a:r>
                  <a:rPr lang="en-US" sz="2400" baseline="30000" dirty="0" err="1"/>
                  <a:t>th</a:t>
                </a:r>
                <a:r>
                  <a:rPr lang="en-US" sz="2400" dirty="0"/>
                  <a:t> row, labeled as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𝑎</m:t>
                        </m:r>
                      </m:e>
                      <m:sub>
                        <m:r>
                          <a:rPr lang="en-US" sz="2400" b="0" i="1" smtClean="0">
                            <a:latin typeface="Cambria Math" panose="02040503050406030204" pitchFamily="18" charset="0"/>
                          </a:rPr>
                          <m:t>𝑖𝑗</m:t>
                        </m:r>
                      </m:sub>
                    </m:sSub>
                  </m:oMath>
                </a14:m>
                <a:r>
                  <a:rPr lang="en-US" sz="2400" dirty="0"/>
                  <a:t>. It means A can be sure of winning at least  that amount. To maximum what A can be sure of winning the game , a should choose the maximum of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𝑖𝑗</m:t>
                        </m:r>
                      </m:sub>
                    </m:sSub>
                  </m:oMath>
                </a14:m>
                <a:r>
                  <a:rPr lang="en-US" sz="2400" dirty="0"/>
                  <a:t> that what we call as a </a:t>
                </a:r>
                <a:r>
                  <a:rPr lang="en-US" sz="2400" i="1" dirty="0" err="1"/>
                  <a:t>maxmin</a:t>
                </a:r>
                <a:r>
                  <a:rPr lang="en-US" sz="2400" dirty="0"/>
                  <a:t> strategy.   B will choose </a:t>
                </a:r>
                <a:r>
                  <a:rPr lang="en-US" sz="2400" i="1" dirty="0" err="1"/>
                  <a:t>minmax</a:t>
                </a:r>
                <a:r>
                  <a:rPr lang="en-US" sz="2400" dirty="0"/>
                  <a:t> strategy</a:t>
                </a:r>
              </a:p>
              <a:p>
                <a:pPr marL="0" indent="0" algn="ctr">
                  <a:spcBef>
                    <a:spcPts val="0"/>
                  </a:spcBef>
                  <a:buNone/>
                </a:pPr>
                <a:r>
                  <a:rPr lang="en-US" sz="2400" dirty="0"/>
                  <a:t>Pay-off matrix A and B</a:t>
                </a:r>
                <a:endParaRPr lang="en-US" dirty="0"/>
              </a:p>
              <a:p>
                <a:pPr marL="0" indent="0">
                  <a:buNone/>
                </a:pPr>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11560" y="1503817"/>
                <a:ext cx="7848872" cy="4525963"/>
              </a:xfrm>
              <a:blipFill>
                <a:blip r:embed="rId2"/>
                <a:stretch>
                  <a:fillRect l="-1165" t="-1078" r="-15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3941214809"/>
                  </p:ext>
                </p:extLst>
              </p:nvPr>
            </p:nvGraphicFramePr>
            <p:xfrm>
              <a:off x="830925" y="3789040"/>
              <a:ext cx="6096000" cy="158496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3563526084"/>
                        </a:ext>
                      </a:extLst>
                    </a:gridCol>
                    <a:gridCol w="1524000">
                      <a:extLst>
                        <a:ext uri="{9D8B030D-6E8A-4147-A177-3AD203B41FA5}">
                          <a16:colId xmlns:a16="http://schemas.microsoft.com/office/drawing/2014/main" val="1590297816"/>
                        </a:ext>
                      </a:extLst>
                    </a:gridCol>
                    <a:gridCol w="1524000">
                      <a:extLst>
                        <a:ext uri="{9D8B030D-6E8A-4147-A177-3AD203B41FA5}">
                          <a16:colId xmlns:a16="http://schemas.microsoft.com/office/drawing/2014/main" val="330286110"/>
                        </a:ext>
                      </a:extLst>
                    </a:gridCol>
                    <a:gridCol w="1524000">
                      <a:extLst>
                        <a:ext uri="{9D8B030D-6E8A-4147-A177-3AD203B41FA5}">
                          <a16:colId xmlns:a16="http://schemas.microsoft.com/office/drawing/2014/main" val="1461174966"/>
                        </a:ext>
                      </a:extLst>
                    </a:gridCol>
                  </a:tblGrid>
                  <a:tr h="370840">
                    <a:tc>
                      <a:txBody>
                        <a:bodyPr/>
                        <a:lstStyle/>
                        <a:p>
                          <a:pPr algn="ctr"/>
                          <a:r>
                            <a:rPr lang="en-US" sz="2000" dirty="0"/>
                            <a:t>A\B</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2000" i="1" dirty="0" smtClean="0">
                                        <a:latin typeface="Cambria Math" panose="02040503050406030204" pitchFamily="18" charset="0"/>
                                      </a:rPr>
                                    </m:ctrlPr>
                                  </m:sSubPr>
                                  <m:e>
                                    <m:r>
                                      <a:rPr lang="en-US" sz="2000" b="1" i="1" dirty="0" smtClean="0">
                                        <a:latin typeface="Cambria Math" panose="02040503050406030204" pitchFamily="18" charset="0"/>
                                      </a:rPr>
                                      <m:t>𝑩</m:t>
                                    </m:r>
                                  </m:e>
                                  <m:sub>
                                    <m:r>
                                      <a:rPr lang="en-US" sz="2000" b="1" i="1" dirty="0" smtClean="0">
                                        <a:latin typeface="Cambria Math" panose="02040503050406030204" pitchFamily="18" charset="0"/>
                                      </a:rPr>
                                      <m:t>𝟏</m:t>
                                    </m:r>
                                  </m:sub>
                                </m:sSub>
                              </m:oMath>
                            </m:oMathPara>
                          </a14:m>
                          <a:endParaRPr lang="en-US" sz="20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2000" i="1" dirty="0" smtClean="0">
                                        <a:latin typeface="Cambria Math" panose="02040503050406030204" pitchFamily="18" charset="0"/>
                                      </a:rPr>
                                    </m:ctrlPr>
                                  </m:sSubPr>
                                  <m:e>
                                    <m:r>
                                      <a:rPr lang="en-US" sz="2000" b="1" i="1" dirty="0" smtClean="0">
                                        <a:latin typeface="Cambria Math" panose="02040503050406030204" pitchFamily="18" charset="0"/>
                                      </a:rPr>
                                      <m:t>𝑩</m:t>
                                    </m:r>
                                  </m:e>
                                  <m:sub>
                                    <m:r>
                                      <a:rPr lang="en-US" sz="2000" b="1" i="1" dirty="0" smtClean="0">
                                        <a:latin typeface="Cambria Math" panose="02040503050406030204" pitchFamily="18" charset="0"/>
                                      </a:rPr>
                                      <m:t>𝟐</m:t>
                                    </m:r>
                                  </m:sub>
                                </m:sSub>
                              </m:oMath>
                            </m:oMathPara>
                          </a14:m>
                          <a:endParaRPr lang="en-US" sz="20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2000" i="1" dirty="0" smtClean="0">
                                        <a:latin typeface="Cambria Math" panose="02040503050406030204" pitchFamily="18" charset="0"/>
                                      </a:rPr>
                                    </m:ctrlPr>
                                  </m:sSubPr>
                                  <m:e>
                                    <m:r>
                                      <a:rPr lang="en-US" sz="2000" b="1" i="1" dirty="0" smtClean="0">
                                        <a:latin typeface="Cambria Math" panose="02040503050406030204" pitchFamily="18" charset="0"/>
                                      </a:rPr>
                                      <m:t>𝑩</m:t>
                                    </m:r>
                                  </m:e>
                                  <m:sub>
                                    <m:r>
                                      <a:rPr lang="en-US" sz="2000" b="1" i="1" dirty="0" smtClean="0">
                                        <a:latin typeface="Cambria Math" panose="02040503050406030204" pitchFamily="18" charset="0"/>
                                      </a:rPr>
                                      <m:t>𝟑</m:t>
                                    </m:r>
                                  </m:sub>
                                </m:sSub>
                              </m:oMath>
                            </m:oMathPara>
                          </a14:m>
                          <a:endParaRPr lang="en-US" sz="2000" dirty="0"/>
                        </a:p>
                      </a:txBody>
                      <a:tcPr/>
                    </a:tc>
                    <a:extLst>
                      <a:ext uri="{0D108BD9-81ED-4DB2-BD59-A6C34878D82A}">
                        <a16:rowId xmlns:a16="http://schemas.microsoft.com/office/drawing/2014/main" val="3570814690"/>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2000" i="1" dirty="0" smtClean="0">
                                        <a:latin typeface="Cambria Math" panose="02040503050406030204" pitchFamily="18" charset="0"/>
                                      </a:rPr>
                                    </m:ctrlPr>
                                  </m:sSubPr>
                                  <m:e>
                                    <m:r>
                                      <a:rPr lang="en-US" sz="2000" b="1" i="1" dirty="0" smtClean="0">
                                        <a:latin typeface="Cambria Math" panose="02040503050406030204" pitchFamily="18" charset="0"/>
                                      </a:rPr>
                                      <m:t>𝑨</m:t>
                                    </m:r>
                                  </m:e>
                                  <m:sub>
                                    <m:r>
                                      <a:rPr lang="en-US" sz="2000" b="1" i="1" dirty="0" smtClean="0">
                                        <a:latin typeface="Cambria Math" panose="02040503050406030204" pitchFamily="18" charset="0"/>
                                      </a:rPr>
                                      <m:t>𝟏</m:t>
                                    </m:r>
                                  </m:sub>
                                </m:sSub>
                              </m:oMath>
                            </m:oMathPara>
                          </a14:m>
                          <a:endParaRPr lang="en-US" sz="2000" dirty="0"/>
                        </a:p>
                      </a:txBody>
                      <a:tcPr/>
                    </a:tc>
                    <a:tc>
                      <a:txBody>
                        <a:bodyPr/>
                        <a:lstStyle/>
                        <a:p>
                          <a:pPr algn="ctr"/>
                          <a:r>
                            <a:rPr lang="en-US" sz="2000" dirty="0"/>
                            <a:t>1</a:t>
                          </a:r>
                        </a:p>
                      </a:txBody>
                      <a:tcPr/>
                    </a:tc>
                    <a:tc>
                      <a:txBody>
                        <a:bodyPr/>
                        <a:lstStyle/>
                        <a:p>
                          <a:pPr algn="ctr"/>
                          <a:r>
                            <a:rPr lang="en-US" sz="2000" dirty="0"/>
                            <a:t>-1</a:t>
                          </a:r>
                        </a:p>
                      </a:txBody>
                      <a:tcPr/>
                    </a:tc>
                    <a:tc>
                      <a:txBody>
                        <a:bodyPr/>
                        <a:lstStyle/>
                        <a:p>
                          <a:pPr algn="ctr"/>
                          <a:r>
                            <a:rPr lang="en-US" sz="2000" dirty="0"/>
                            <a:t>4</a:t>
                          </a:r>
                        </a:p>
                      </a:txBody>
                      <a:tcPr/>
                    </a:tc>
                    <a:extLst>
                      <a:ext uri="{0D108BD9-81ED-4DB2-BD59-A6C34878D82A}">
                        <a16:rowId xmlns:a16="http://schemas.microsoft.com/office/drawing/2014/main" val="362344534"/>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2000" i="1" dirty="0" smtClean="0">
                                        <a:latin typeface="Cambria Math" panose="02040503050406030204" pitchFamily="18" charset="0"/>
                                      </a:rPr>
                                    </m:ctrlPr>
                                  </m:sSubPr>
                                  <m:e>
                                    <m:r>
                                      <a:rPr lang="en-US" sz="2000" b="1" i="1" dirty="0" smtClean="0">
                                        <a:latin typeface="Cambria Math" panose="02040503050406030204" pitchFamily="18" charset="0"/>
                                      </a:rPr>
                                      <m:t>𝑨</m:t>
                                    </m:r>
                                  </m:e>
                                  <m:sub>
                                    <m:r>
                                      <a:rPr lang="en-US" sz="2000" b="1" i="1" dirty="0" smtClean="0">
                                        <a:latin typeface="Cambria Math" panose="02040503050406030204" pitchFamily="18" charset="0"/>
                                      </a:rPr>
                                      <m:t>𝟐</m:t>
                                    </m:r>
                                  </m:sub>
                                </m:sSub>
                              </m:oMath>
                            </m:oMathPara>
                          </a14:m>
                          <a:endParaRPr lang="en-US" sz="2000" dirty="0"/>
                        </a:p>
                      </a:txBody>
                      <a:tcPr/>
                    </a:tc>
                    <a:tc>
                      <a:txBody>
                        <a:bodyPr/>
                        <a:lstStyle/>
                        <a:p>
                          <a:pPr algn="ctr"/>
                          <a:r>
                            <a:rPr lang="en-US" sz="2000" dirty="0"/>
                            <a:t>2</a:t>
                          </a:r>
                        </a:p>
                      </a:txBody>
                      <a:tcPr/>
                    </a:tc>
                    <a:tc>
                      <a:txBody>
                        <a:bodyPr/>
                        <a:lstStyle/>
                        <a:p>
                          <a:pPr algn="ctr"/>
                          <a:r>
                            <a:rPr lang="en-US" sz="2000" dirty="0"/>
                            <a:t>0</a:t>
                          </a:r>
                        </a:p>
                      </a:txBody>
                      <a:tcPr/>
                    </a:tc>
                    <a:tc>
                      <a:txBody>
                        <a:bodyPr/>
                        <a:lstStyle/>
                        <a:p>
                          <a:pPr algn="ctr"/>
                          <a:r>
                            <a:rPr lang="en-US" sz="2000" dirty="0"/>
                            <a:t>5</a:t>
                          </a:r>
                        </a:p>
                      </a:txBody>
                      <a:tcPr/>
                    </a:tc>
                    <a:extLst>
                      <a:ext uri="{0D108BD9-81ED-4DB2-BD59-A6C34878D82A}">
                        <a16:rowId xmlns:a16="http://schemas.microsoft.com/office/drawing/2014/main" val="1321083024"/>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2000" i="1" dirty="0" smtClean="0">
                                        <a:latin typeface="Cambria Math" panose="02040503050406030204" pitchFamily="18" charset="0"/>
                                      </a:rPr>
                                    </m:ctrlPr>
                                  </m:sSubPr>
                                  <m:e>
                                    <m:r>
                                      <a:rPr lang="en-US" sz="2000" b="1" i="1" dirty="0" smtClean="0">
                                        <a:latin typeface="Cambria Math" panose="02040503050406030204" pitchFamily="18" charset="0"/>
                                      </a:rPr>
                                      <m:t>𝑨</m:t>
                                    </m:r>
                                  </m:e>
                                  <m:sub>
                                    <m:r>
                                      <a:rPr lang="en-US" sz="2000" b="1" i="1" dirty="0" smtClean="0">
                                        <a:latin typeface="Cambria Math" panose="02040503050406030204" pitchFamily="18" charset="0"/>
                                      </a:rPr>
                                      <m:t>𝟑</m:t>
                                    </m:r>
                                  </m:sub>
                                </m:sSub>
                              </m:oMath>
                            </m:oMathPara>
                          </a14:m>
                          <a:endParaRPr lang="en-US" sz="2000" dirty="0"/>
                        </a:p>
                      </a:txBody>
                      <a:tcPr/>
                    </a:tc>
                    <a:tc>
                      <a:txBody>
                        <a:bodyPr/>
                        <a:lstStyle/>
                        <a:p>
                          <a:pPr algn="ctr"/>
                          <a:r>
                            <a:rPr lang="en-US" sz="2000" dirty="0"/>
                            <a:t>3</a:t>
                          </a:r>
                        </a:p>
                      </a:txBody>
                      <a:tcPr/>
                    </a:tc>
                    <a:tc>
                      <a:txBody>
                        <a:bodyPr/>
                        <a:lstStyle/>
                        <a:p>
                          <a:pPr algn="ctr"/>
                          <a:r>
                            <a:rPr lang="en-US" sz="2000" dirty="0"/>
                            <a:t>3</a:t>
                          </a:r>
                        </a:p>
                      </a:txBody>
                      <a:tcPr/>
                    </a:tc>
                    <a:tc>
                      <a:txBody>
                        <a:bodyPr/>
                        <a:lstStyle/>
                        <a:p>
                          <a:pPr algn="ctr"/>
                          <a:r>
                            <a:rPr lang="en-US" sz="2000" dirty="0"/>
                            <a:t>2</a:t>
                          </a:r>
                        </a:p>
                      </a:txBody>
                      <a:tcPr/>
                    </a:tc>
                    <a:extLst>
                      <a:ext uri="{0D108BD9-81ED-4DB2-BD59-A6C34878D82A}">
                        <a16:rowId xmlns:a16="http://schemas.microsoft.com/office/drawing/2014/main" val="4063134797"/>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3941214809"/>
                  </p:ext>
                </p:extLst>
              </p:nvPr>
            </p:nvGraphicFramePr>
            <p:xfrm>
              <a:off x="830925" y="3789040"/>
              <a:ext cx="6096000" cy="158496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3563526084"/>
                        </a:ext>
                      </a:extLst>
                    </a:gridCol>
                    <a:gridCol w="1524000">
                      <a:extLst>
                        <a:ext uri="{9D8B030D-6E8A-4147-A177-3AD203B41FA5}">
                          <a16:colId xmlns:a16="http://schemas.microsoft.com/office/drawing/2014/main" val="1590297816"/>
                        </a:ext>
                      </a:extLst>
                    </a:gridCol>
                    <a:gridCol w="1524000">
                      <a:extLst>
                        <a:ext uri="{9D8B030D-6E8A-4147-A177-3AD203B41FA5}">
                          <a16:colId xmlns:a16="http://schemas.microsoft.com/office/drawing/2014/main" val="330286110"/>
                        </a:ext>
                      </a:extLst>
                    </a:gridCol>
                    <a:gridCol w="1524000">
                      <a:extLst>
                        <a:ext uri="{9D8B030D-6E8A-4147-A177-3AD203B41FA5}">
                          <a16:colId xmlns:a16="http://schemas.microsoft.com/office/drawing/2014/main" val="1461174966"/>
                        </a:ext>
                      </a:extLst>
                    </a:gridCol>
                  </a:tblGrid>
                  <a:tr h="396240">
                    <a:tc>
                      <a:txBody>
                        <a:bodyPr/>
                        <a:lstStyle/>
                        <a:p>
                          <a:pPr algn="ctr"/>
                          <a:r>
                            <a:rPr lang="en-US" sz="2000" dirty="0"/>
                            <a:t>A\B</a:t>
                          </a:r>
                        </a:p>
                      </a:txBody>
                      <a:tcPr/>
                    </a:tc>
                    <a:tc>
                      <a:txBody>
                        <a:bodyPr/>
                        <a:lstStyle/>
                        <a:p>
                          <a:endParaRPr lang="en-US"/>
                        </a:p>
                      </a:txBody>
                      <a:tcPr>
                        <a:blipFill>
                          <a:blip r:embed="rId3"/>
                          <a:stretch>
                            <a:fillRect l="-100000" t="-7692" r="-200797" b="-329231"/>
                          </a:stretch>
                        </a:blipFill>
                      </a:tcPr>
                    </a:tc>
                    <a:tc>
                      <a:txBody>
                        <a:bodyPr/>
                        <a:lstStyle/>
                        <a:p>
                          <a:endParaRPr lang="en-US"/>
                        </a:p>
                      </a:txBody>
                      <a:tcPr>
                        <a:blipFill>
                          <a:blip r:embed="rId3"/>
                          <a:stretch>
                            <a:fillRect l="-200800" t="-7692" r="-101600" b="-329231"/>
                          </a:stretch>
                        </a:blipFill>
                      </a:tcPr>
                    </a:tc>
                    <a:tc>
                      <a:txBody>
                        <a:bodyPr/>
                        <a:lstStyle/>
                        <a:p>
                          <a:endParaRPr lang="en-US"/>
                        </a:p>
                      </a:txBody>
                      <a:tcPr>
                        <a:blipFill>
                          <a:blip r:embed="rId3"/>
                          <a:stretch>
                            <a:fillRect l="-300800" t="-7692" r="-1600" b="-329231"/>
                          </a:stretch>
                        </a:blipFill>
                      </a:tcPr>
                    </a:tc>
                    <a:extLst>
                      <a:ext uri="{0D108BD9-81ED-4DB2-BD59-A6C34878D82A}">
                        <a16:rowId xmlns:a16="http://schemas.microsoft.com/office/drawing/2014/main" val="3570814690"/>
                      </a:ext>
                    </a:extLst>
                  </a:tr>
                  <a:tr h="396240">
                    <a:tc>
                      <a:txBody>
                        <a:bodyPr/>
                        <a:lstStyle/>
                        <a:p>
                          <a:endParaRPr lang="en-US"/>
                        </a:p>
                      </a:txBody>
                      <a:tcPr>
                        <a:blipFill>
                          <a:blip r:embed="rId3"/>
                          <a:stretch>
                            <a:fillRect l="-400" t="-106061" r="-302000" b="-224242"/>
                          </a:stretch>
                        </a:blipFill>
                      </a:tcPr>
                    </a:tc>
                    <a:tc>
                      <a:txBody>
                        <a:bodyPr/>
                        <a:lstStyle/>
                        <a:p>
                          <a:pPr algn="ctr"/>
                          <a:r>
                            <a:rPr lang="en-US" sz="2000" dirty="0"/>
                            <a:t>1</a:t>
                          </a:r>
                        </a:p>
                      </a:txBody>
                      <a:tcPr/>
                    </a:tc>
                    <a:tc>
                      <a:txBody>
                        <a:bodyPr/>
                        <a:lstStyle/>
                        <a:p>
                          <a:pPr algn="ctr"/>
                          <a:r>
                            <a:rPr lang="en-US" sz="2000" dirty="0"/>
                            <a:t>-1</a:t>
                          </a:r>
                        </a:p>
                      </a:txBody>
                      <a:tcPr/>
                    </a:tc>
                    <a:tc>
                      <a:txBody>
                        <a:bodyPr/>
                        <a:lstStyle/>
                        <a:p>
                          <a:pPr algn="ctr"/>
                          <a:r>
                            <a:rPr lang="en-US" sz="2000" dirty="0"/>
                            <a:t>4</a:t>
                          </a:r>
                        </a:p>
                      </a:txBody>
                      <a:tcPr/>
                    </a:tc>
                    <a:extLst>
                      <a:ext uri="{0D108BD9-81ED-4DB2-BD59-A6C34878D82A}">
                        <a16:rowId xmlns:a16="http://schemas.microsoft.com/office/drawing/2014/main" val="362344534"/>
                      </a:ext>
                    </a:extLst>
                  </a:tr>
                  <a:tr h="396240">
                    <a:tc>
                      <a:txBody>
                        <a:bodyPr/>
                        <a:lstStyle/>
                        <a:p>
                          <a:endParaRPr lang="en-US"/>
                        </a:p>
                      </a:txBody>
                      <a:tcPr>
                        <a:blipFill>
                          <a:blip r:embed="rId3"/>
                          <a:stretch>
                            <a:fillRect l="-400" t="-209231" r="-302000" b="-127692"/>
                          </a:stretch>
                        </a:blipFill>
                      </a:tcPr>
                    </a:tc>
                    <a:tc>
                      <a:txBody>
                        <a:bodyPr/>
                        <a:lstStyle/>
                        <a:p>
                          <a:pPr algn="ctr"/>
                          <a:r>
                            <a:rPr lang="en-US" sz="2000" dirty="0"/>
                            <a:t>2</a:t>
                          </a:r>
                        </a:p>
                      </a:txBody>
                      <a:tcPr/>
                    </a:tc>
                    <a:tc>
                      <a:txBody>
                        <a:bodyPr/>
                        <a:lstStyle/>
                        <a:p>
                          <a:pPr algn="ctr"/>
                          <a:r>
                            <a:rPr lang="en-US" sz="2000" dirty="0"/>
                            <a:t>0</a:t>
                          </a:r>
                        </a:p>
                      </a:txBody>
                      <a:tcPr/>
                    </a:tc>
                    <a:tc>
                      <a:txBody>
                        <a:bodyPr/>
                        <a:lstStyle/>
                        <a:p>
                          <a:pPr algn="ctr"/>
                          <a:r>
                            <a:rPr lang="en-US" sz="2000" dirty="0"/>
                            <a:t>5</a:t>
                          </a:r>
                        </a:p>
                      </a:txBody>
                      <a:tcPr/>
                    </a:tc>
                    <a:extLst>
                      <a:ext uri="{0D108BD9-81ED-4DB2-BD59-A6C34878D82A}">
                        <a16:rowId xmlns:a16="http://schemas.microsoft.com/office/drawing/2014/main" val="1321083024"/>
                      </a:ext>
                    </a:extLst>
                  </a:tr>
                  <a:tr h="396240">
                    <a:tc>
                      <a:txBody>
                        <a:bodyPr/>
                        <a:lstStyle/>
                        <a:p>
                          <a:endParaRPr lang="en-US"/>
                        </a:p>
                      </a:txBody>
                      <a:tcPr>
                        <a:blipFill>
                          <a:blip r:embed="rId3"/>
                          <a:stretch>
                            <a:fillRect l="-400" t="-309231" r="-302000" b="-27692"/>
                          </a:stretch>
                        </a:blipFill>
                      </a:tcPr>
                    </a:tc>
                    <a:tc>
                      <a:txBody>
                        <a:bodyPr/>
                        <a:lstStyle/>
                        <a:p>
                          <a:pPr algn="ctr"/>
                          <a:r>
                            <a:rPr lang="en-US" sz="2000" dirty="0"/>
                            <a:t>3</a:t>
                          </a:r>
                        </a:p>
                      </a:txBody>
                      <a:tcPr/>
                    </a:tc>
                    <a:tc>
                      <a:txBody>
                        <a:bodyPr/>
                        <a:lstStyle/>
                        <a:p>
                          <a:pPr algn="ctr"/>
                          <a:r>
                            <a:rPr lang="en-US" sz="2000" dirty="0"/>
                            <a:t>3</a:t>
                          </a:r>
                        </a:p>
                      </a:txBody>
                      <a:tcPr/>
                    </a:tc>
                    <a:tc>
                      <a:txBody>
                        <a:bodyPr/>
                        <a:lstStyle/>
                        <a:p>
                          <a:pPr algn="ctr"/>
                          <a:r>
                            <a:rPr lang="en-US" sz="2000" dirty="0"/>
                            <a:t>2</a:t>
                          </a:r>
                        </a:p>
                      </a:txBody>
                      <a:tcPr/>
                    </a:tc>
                    <a:extLst>
                      <a:ext uri="{0D108BD9-81ED-4DB2-BD59-A6C34878D82A}">
                        <a16:rowId xmlns:a16="http://schemas.microsoft.com/office/drawing/2014/main" val="4063134797"/>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1265181600"/>
                  </p:ext>
                </p:extLst>
              </p:nvPr>
            </p:nvGraphicFramePr>
            <p:xfrm>
              <a:off x="6926925" y="3789040"/>
              <a:ext cx="1524000" cy="198120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3213037603"/>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𝑴𝒊𝒏</m:t>
                                </m:r>
                                <m:r>
                                  <a:rPr lang="en-US" sz="2000" b="1" i="1" smtClean="0">
                                    <a:latin typeface="Cambria Math" panose="02040503050406030204" pitchFamily="18" charset="0"/>
                                  </a:rPr>
                                  <m:t> </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𝑨</m:t>
                                    </m:r>
                                  </m:e>
                                  <m:sub>
                                    <m:r>
                                      <a:rPr lang="en-US" sz="2000" b="1" i="1" smtClean="0">
                                        <a:latin typeface="Cambria Math" panose="02040503050406030204" pitchFamily="18" charset="0"/>
                                      </a:rPr>
                                      <m:t>𝒊</m:t>
                                    </m:r>
                                  </m:sub>
                                </m:sSub>
                              </m:oMath>
                            </m:oMathPara>
                          </a14:m>
                          <a:endParaRPr lang="en-US" sz="2000" dirty="0"/>
                        </a:p>
                      </a:txBody>
                      <a:tcPr/>
                    </a:tc>
                    <a:extLst>
                      <a:ext uri="{0D108BD9-81ED-4DB2-BD59-A6C34878D82A}">
                        <a16:rowId xmlns:a16="http://schemas.microsoft.com/office/drawing/2014/main" val="2097869725"/>
                      </a:ext>
                    </a:extLst>
                  </a:tr>
                  <a:tr h="370840">
                    <a:tc>
                      <a:txBody>
                        <a:bodyPr/>
                        <a:lstStyle/>
                        <a:p>
                          <a:pPr algn="ctr"/>
                          <a:r>
                            <a:rPr lang="en-US" sz="2000" dirty="0"/>
                            <a:t>-1</a:t>
                          </a:r>
                        </a:p>
                      </a:txBody>
                      <a:tcPr/>
                    </a:tc>
                    <a:extLst>
                      <a:ext uri="{0D108BD9-81ED-4DB2-BD59-A6C34878D82A}">
                        <a16:rowId xmlns:a16="http://schemas.microsoft.com/office/drawing/2014/main" val="758482857"/>
                      </a:ext>
                    </a:extLst>
                  </a:tr>
                  <a:tr h="370840">
                    <a:tc>
                      <a:txBody>
                        <a:bodyPr/>
                        <a:lstStyle/>
                        <a:p>
                          <a:pPr algn="ctr"/>
                          <a:r>
                            <a:rPr lang="en-US" sz="2000" dirty="0"/>
                            <a:t>0</a:t>
                          </a:r>
                        </a:p>
                      </a:txBody>
                      <a:tcPr/>
                    </a:tc>
                    <a:extLst>
                      <a:ext uri="{0D108BD9-81ED-4DB2-BD59-A6C34878D82A}">
                        <a16:rowId xmlns:a16="http://schemas.microsoft.com/office/drawing/2014/main" val="2880477629"/>
                      </a:ext>
                    </a:extLst>
                  </a:tr>
                  <a:tr h="370840">
                    <a:tc>
                      <a:txBody>
                        <a:bodyPr/>
                        <a:lstStyle/>
                        <a:p>
                          <a:pPr algn="ctr"/>
                          <a:r>
                            <a:rPr lang="en-US" sz="2000" dirty="0"/>
                            <a:t>2</a:t>
                          </a:r>
                        </a:p>
                      </a:txBody>
                      <a:tcPr/>
                    </a:tc>
                    <a:extLst>
                      <a:ext uri="{0D108BD9-81ED-4DB2-BD59-A6C34878D82A}">
                        <a16:rowId xmlns:a16="http://schemas.microsoft.com/office/drawing/2014/main" val="1349628428"/>
                      </a:ext>
                    </a:extLst>
                  </a:tr>
                  <a:tr h="370840">
                    <a:tc>
                      <a:txBody>
                        <a:bodyPr/>
                        <a:lstStyle/>
                        <a:p>
                          <a:pPr algn="ctr"/>
                          <a:endParaRPr lang="en-US" sz="2000" dirty="0"/>
                        </a:p>
                      </a:txBody>
                      <a:tcPr/>
                    </a:tc>
                    <a:extLst>
                      <a:ext uri="{0D108BD9-81ED-4DB2-BD59-A6C34878D82A}">
                        <a16:rowId xmlns:a16="http://schemas.microsoft.com/office/drawing/2014/main" val="3954787581"/>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1265181600"/>
                  </p:ext>
                </p:extLst>
              </p:nvPr>
            </p:nvGraphicFramePr>
            <p:xfrm>
              <a:off x="6926925" y="3789040"/>
              <a:ext cx="1524000" cy="198120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3213037603"/>
                        </a:ext>
                      </a:extLst>
                    </a:gridCol>
                  </a:tblGrid>
                  <a:tr h="396240">
                    <a:tc>
                      <a:txBody>
                        <a:bodyPr/>
                        <a:lstStyle/>
                        <a:p>
                          <a:endParaRPr lang="en-US"/>
                        </a:p>
                      </a:txBody>
                      <a:tcPr>
                        <a:blipFill>
                          <a:blip r:embed="rId4"/>
                          <a:stretch>
                            <a:fillRect l="-398" t="-1538" r="-1594" b="-404615"/>
                          </a:stretch>
                        </a:blipFill>
                      </a:tcPr>
                    </a:tc>
                    <a:extLst>
                      <a:ext uri="{0D108BD9-81ED-4DB2-BD59-A6C34878D82A}">
                        <a16:rowId xmlns:a16="http://schemas.microsoft.com/office/drawing/2014/main" val="2097869725"/>
                      </a:ext>
                    </a:extLst>
                  </a:tr>
                  <a:tr h="396240">
                    <a:tc>
                      <a:txBody>
                        <a:bodyPr/>
                        <a:lstStyle/>
                        <a:p>
                          <a:pPr algn="ctr"/>
                          <a:r>
                            <a:rPr lang="en-US" sz="2000" dirty="0"/>
                            <a:t>-1</a:t>
                          </a:r>
                        </a:p>
                      </a:txBody>
                      <a:tcPr/>
                    </a:tc>
                    <a:extLst>
                      <a:ext uri="{0D108BD9-81ED-4DB2-BD59-A6C34878D82A}">
                        <a16:rowId xmlns:a16="http://schemas.microsoft.com/office/drawing/2014/main" val="758482857"/>
                      </a:ext>
                    </a:extLst>
                  </a:tr>
                  <a:tr h="396240">
                    <a:tc>
                      <a:txBody>
                        <a:bodyPr/>
                        <a:lstStyle/>
                        <a:p>
                          <a:pPr algn="ctr"/>
                          <a:r>
                            <a:rPr lang="en-US" sz="2000" dirty="0"/>
                            <a:t>0</a:t>
                          </a:r>
                        </a:p>
                      </a:txBody>
                      <a:tcPr/>
                    </a:tc>
                    <a:extLst>
                      <a:ext uri="{0D108BD9-81ED-4DB2-BD59-A6C34878D82A}">
                        <a16:rowId xmlns:a16="http://schemas.microsoft.com/office/drawing/2014/main" val="2880477629"/>
                      </a:ext>
                    </a:extLst>
                  </a:tr>
                  <a:tr h="396240">
                    <a:tc>
                      <a:txBody>
                        <a:bodyPr/>
                        <a:lstStyle/>
                        <a:p>
                          <a:pPr algn="ctr"/>
                          <a:r>
                            <a:rPr lang="en-US" sz="2000" dirty="0"/>
                            <a:t>2</a:t>
                          </a:r>
                        </a:p>
                      </a:txBody>
                      <a:tcPr/>
                    </a:tc>
                    <a:extLst>
                      <a:ext uri="{0D108BD9-81ED-4DB2-BD59-A6C34878D82A}">
                        <a16:rowId xmlns:a16="http://schemas.microsoft.com/office/drawing/2014/main" val="1349628428"/>
                      </a:ext>
                    </a:extLst>
                  </a:tr>
                  <a:tr h="396240">
                    <a:tc>
                      <a:txBody>
                        <a:bodyPr/>
                        <a:lstStyle/>
                        <a:p>
                          <a:pPr algn="ctr"/>
                          <a:endParaRPr lang="en-US" sz="2000" dirty="0"/>
                        </a:p>
                      </a:txBody>
                      <a:tcPr/>
                    </a:tc>
                    <a:extLst>
                      <a:ext uri="{0D108BD9-81ED-4DB2-BD59-A6C34878D82A}">
                        <a16:rowId xmlns:a16="http://schemas.microsoft.com/office/drawing/2014/main" val="3954787581"/>
                      </a:ext>
                    </a:extLst>
                  </a:tr>
                </a:tbl>
              </a:graphicData>
            </a:graphic>
          </p:graphicFrame>
        </mc:Fallback>
      </mc:AlternateContent>
      <mc:AlternateContent xmlns:mc="http://schemas.openxmlformats.org/markup-compatibility/2006" xmlns:a14="http://schemas.microsoft.com/office/drawing/2010/main">
        <mc:Choice Requires="a14">
          <p:sp>
            <p:nvSpPr>
              <p:cNvPr id="7" name="Rectangle 6"/>
              <p:cNvSpPr/>
              <p:nvPr/>
            </p:nvSpPr>
            <p:spPr>
              <a:xfrm>
                <a:off x="813606" y="5856399"/>
                <a:ext cx="2121928" cy="400110"/>
              </a:xfrm>
              <a:prstGeom prst="rect">
                <a:avLst/>
              </a:prstGeom>
            </p:spPr>
            <p:txBody>
              <a:bodyPr wrap="none">
                <a:spAutoFit/>
              </a:bodyPr>
              <a:lstStyle/>
              <a:p>
                <a14:m>
                  <m:oMath xmlns:m="http://schemas.openxmlformats.org/officeDocument/2006/math">
                    <m:sSub>
                      <m:sSubPr>
                        <m:ctrlPr>
                          <a:rPr lang="en-US" sz="2000" i="1" dirty="0" smtClean="0">
                            <a:latin typeface="Cambria Math" panose="02040503050406030204" pitchFamily="18" charset="0"/>
                          </a:rPr>
                        </m:ctrlPr>
                      </m:sSubPr>
                      <m:e>
                        <m:r>
                          <a:rPr lang="en-US" sz="2000" b="1" i="1" dirty="0" smtClean="0">
                            <a:latin typeface="Cambria Math" panose="02040503050406030204" pitchFamily="18" charset="0"/>
                          </a:rPr>
                          <m:t>𝒎𝒂𝒙</m:t>
                        </m:r>
                        <m:r>
                          <a:rPr lang="en-US" sz="2000" b="1" i="1" dirty="0" smtClean="0">
                            <a:latin typeface="Cambria Math" panose="02040503050406030204" pitchFamily="18" charset="0"/>
                          </a:rPr>
                          <m:t>(</m:t>
                        </m:r>
                        <m:r>
                          <a:rPr lang="en-US" sz="2000" b="1" i="1" dirty="0">
                            <a:latin typeface="Cambria Math" panose="02040503050406030204" pitchFamily="18" charset="0"/>
                          </a:rPr>
                          <m:t>𝒎</m:t>
                        </m:r>
                        <m:r>
                          <a:rPr lang="en-US" sz="2000" b="1" i="1" dirty="0" smtClean="0">
                            <a:latin typeface="Cambria Math" panose="02040503050406030204" pitchFamily="18" charset="0"/>
                          </a:rPr>
                          <m:t>𝒊𝒏</m:t>
                        </m:r>
                      </m:e>
                      <m:sub>
                        <m:r>
                          <a:rPr lang="en-US" sz="2000" b="1" i="1" dirty="0" smtClean="0">
                            <a:latin typeface="Cambria Math" panose="02040503050406030204" pitchFamily="18" charset="0"/>
                          </a:rPr>
                          <m:t>𝒊</m:t>
                        </m:r>
                      </m:sub>
                    </m:sSub>
                    <m:r>
                      <a:rPr lang="en-US" sz="2000" b="1" i="1" dirty="0" smtClean="0">
                        <a:latin typeface="Cambria Math" panose="02040503050406030204" pitchFamily="18" charset="0"/>
                      </a:rPr>
                      <m:t>)=</m:t>
                    </m:r>
                    <m:r>
                      <a:rPr lang="en-US" sz="2000" b="1" i="1" dirty="0" smtClean="0">
                        <a:latin typeface="Cambria Math" panose="02040503050406030204" pitchFamily="18" charset="0"/>
                      </a:rPr>
                      <m:t>𝟐</m:t>
                    </m:r>
                  </m:oMath>
                </a14:m>
                <a:r>
                  <a:rPr lang="en-US" sz="2000" dirty="0"/>
                  <a:t>  </a:t>
                </a:r>
              </a:p>
            </p:txBody>
          </p:sp>
        </mc:Choice>
        <mc:Fallback xmlns="">
          <p:sp>
            <p:nvSpPr>
              <p:cNvPr id="7" name="Rectangle 6"/>
              <p:cNvSpPr>
                <a:spLocks noRot="1" noChangeAspect="1" noMove="1" noResize="1" noEditPoints="1" noAdjustHandles="1" noChangeArrowheads="1" noChangeShapeType="1" noTextEdit="1"/>
              </p:cNvSpPr>
              <p:nvPr/>
            </p:nvSpPr>
            <p:spPr>
              <a:xfrm>
                <a:off x="813606" y="5856399"/>
                <a:ext cx="2121928" cy="400110"/>
              </a:xfrm>
              <a:prstGeom prst="rect">
                <a:avLst/>
              </a:prstGeom>
              <a:blipFill>
                <a:blip r:embed="rId5"/>
                <a:stretch>
                  <a:fillRect b="-153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5966428" y="5799069"/>
                <a:ext cx="2644302" cy="40011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m:t>
                      </m:r>
                      <m:r>
                        <a:rPr lang="en-US" sz="2000" i="1" dirty="0" smtClean="0">
                          <a:latin typeface="Cambria Math" panose="02040503050406030204" pitchFamily="18" charset="0"/>
                        </a:rPr>
                        <m:t>𝐴</m:t>
                      </m:r>
                      <m:r>
                        <a:rPr lang="en-US" sz="2000" i="1" dirty="0" smtClean="0">
                          <a:latin typeface="Cambria Math" panose="02040503050406030204" pitchFamily="18" charset="0"/>
                        </a:rPr>
                        <m:t>,</m:t>
                      </m:r>
                      <m:r>
                        <a:rPr lang="en-US" sz="2000" i="1" dirty="0" smtClean="0">
                          <a:latin typeface="Cambria Math" panose="02040503050406030204" pitchFamily="18" charset="0"/>
                        </a:rPr>
                        <m:t>𝐵</m:t>
                      </m:r>
                      <m:r>
                        <a:rPr lang="en-US" sz="2000" i="1" dirty="0" smtClean="0">
                          <a:latin typeface="Cambria Math" panose="02040503050406030204" pitchFamily="18" charset="0"/>
                        </a:rPr>
                        <m:t>)={(3,1),(3,2)}</m:t>
                      </m:r>
                    </m:oMath>
                  </m:oMathPara>
                </a14:m>
                <a:endParaRPr lang="en-US" sz="2000" dirty="0"/>
              </a:p>
            </p:txBody>
          </p:sp>
        </mc:Choice>
        <mc:Fallback xmlns="">
          <p:sp>
            <p:nvSpPr>
              <p:cNvPr id="8" name="Rectangle 7"/>
              <p:cNvSpPr>
                <a:spLocks noRot="1" noChangeAspect="1" noMove="1" noResize="1" noEditPoints="1" noAdjustHandles="1" noChangeArrowheads="1" noChangeShapeType="1" noTextEdit="1"/>
              </p:cNvSpPr>
              <p:nvPr/>
            </p:nvSpPr>
            <p:spPr>
              <a:xfrm>
                <a:off x="5966428" y="5799069"/>
                <a:ext cx="2644302" cy="400110"/>
              </a:xfrm>
              <a:prstGeom prst="rect">
                <a:avLst/>
              </a:prstGeom>
              <a:blipFill>
                <a:blip r:embed="rId6"/>
                <a:stretch>
                  <a:fillRect b="-151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2935534" y="5820389"/>
                <a:ext cx="2374689" cy="429220"/>
              </a:xfrm>
              <a:prstGeom prst="rect">
                <a:avLst/>
              </a:prstGeom>
            </p:spPr>
            <p:txBody>
              <a:bodyPr wrap="none">
                <a:spAutoFit/>
              </a:bodyPr>
              <a:lstStyle/>
              <a:p>
                <a14:m>
                  <m:oMath xmlns:m="http://schemas.openxmlformats.org/officeDocument/2006/math">
                    <m:sSub>
                      <m:sSubPr>
                        <m:ctrlPr>
                          <a:rPr lang="en-US" sz="2000" i="1" dirty="0" smtClean="0">
                            <a:latin typeface="Cambria Math" panose="02040503050406030204" pitchFamily="18" charset="0"/>
                          </a:rPr>
                        </m:ctrlPr>
                      </m:sSubPr>
                      <m:e>
                        <m:r>
                          <a:rPr lang="en-US" sz="2000" b="1" i="1" dirty="0" smtClean="0">
                            <a:latin typeface="Cambria Math" panose="02040503050406030204" pitchFamily="18" charset="0"/>
                          </a:rPr>
                          <m:t>𝒎𝒊𝒏</m:t>
                        </m:r>
                        <m:r>
                          <a:rPr lang="en-US" sz="2000" b="1" i="1" dirty="0" smtClean="0">
                            <a:latin typeface="Cambria Math" panose="02040503050406030204" pitchFamily="18" charset="0"/>
                          </a:rPr>
                          <m:t>(</m:t>
                        </m:r>
                        <m:r>
                          <a:rPr lang="en-US" sz="2000" b="1" i="1" dirty="0">
                            <a:latin typeface="Cambria Math" panose="02040503050406030204" pitchFamily="18" charset="0"/>
                          </a:rPr>
                          <m:t>𝒎</m:t>
                        </m:r>
                        <m:r>
                          <a:rPr lang="en-US" sz="2000" b="1" i="1" dirty="0" smtClean="0">
                            <a:latin typeface="Cambria Math" panose="02040503050406030204" pitchFamily="18" charset="0"/>
                          </a:rPr>
                          <m:t>𝒂𝒙</m:t>
                        </m:r>
                      </m:e>
                      <m:sub>
                        <m:r>
                          <a:rPr lang="en-US" sz="2000" b="1" i="1" dirty="0" smtClean="0">
                            <a:latin typeface="Cambria Math" panose="02040503050406030204" pitchFamily="18" charset="0"/>
                          </a:rPr>
                          <m:t>𝒋</m:t>
                        </m:r>
                      </m:sub>
                    </m:sSub>
                    <m:r>
                      <a:rPr lang="en-US" sz="2000" b="1" i="1" dirty="0" smtClean="0">
                        <a:latin typeface="Cambria Math" panose="02040503050406030204" pitchFamily="18" charset="0"/>
                      </a:rPr>
                      <m:t>)=</m:t>
                    </m:r>
                    <m:r>
                      <a:rPr lang="en-US" sz="2000" b="1" i="1" dirty="0" smtClean="0">
                        <a:latin typeface="Cambria Math" panose="02040503050406030204" pitchFamily="18" charset="0"/>
                      </a:rPr>
                      <m:t>𝟏</m:t>
                    </m:r>
                    <m:r>
                      <a:rPr lang="en-US" sz="2000" b="1" i="1" dirty="0" smtClean="0">
                        <a:latin typeface="Cambria Math" panose="02040503050406030204" pitchFamily="18" charset="0"/>
                      </a:rPr>
                      <m:t>,</m:t>
                    </m:r>
                    <m:r>
                      <a:rPr lang="en-US" sz="2000" b="1" i="1" dirty="0" smtClean="0">
                        <a:latin typeface="Cambria Math" panose="02040503050406030204" pitchFamily="18" charset="0"/>
                      </a:rPr>
                      <m:t>𝟐</m:t>
                    </m:r>
                  </m:oMath>
                </a14:m>
                <a:r>
                  <a:rPr lang="en-US" sz="2000" dirty="0"/>
                  <a:t>  </a:t>
                </a:r>
              </a:p>
            </p:txBody>
          </p:sp>
        </mc:Choice>
        <mc:Fallback xmlns="">
          <p:sp>
            <p:nvSpPr>
              <p:cNvPr id="9" name="Rectangle 8"/>
              <p:cNvSpPr>
                <a:spLocks noRot="1" noChangeAspect="1" noMove="1" noResize="1" noEditPoints="1" noAdjustHandles="1" noChangeArrowheads="1" noChangeShapeType="1" noTextEdit="1"/>
              </p:cNvSpPr>
              <p:nvPr/>
            </p:nvSpPr>
            <p:spPr>
              <a:xfrm>
                <a:off x="2935534" y="5820389"/>
                <a:ext cx="2374689" cy="429220"/>
              </a:xfrm>
              <a:prstGeom prst="rect">
                <a:avLst/>
              </a:prstGeom>
              <a:blipFill>
                <a:blip r:embed="rId7"/>
                <a:stretch>
                  <a:fillRect b="-1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1" name="Table 10"/>
              <p:cNvGraphicFramePr>
                <a:graphicFrameLocks noGrp="1"/>
              </p:cNvGraphicFramePr>
              <p:nvPr>
                <p:extLst>
                  <p:ext uri="{D42A27DB-BD31-4B8C-83A1-F6EECF244321}">
                    <p14:modId xmlns:p14="http://schemas.microsoft.com/office/powerpoint/2010/main" val="2713087867"/>
                  </p:ext>
                </p:extLst>
              </p:nvPr>
            </p:nvGraphicFramePr>
            <p:xfrm>
              <a:off x="830925" y="5359586"/>
              <a:ext cx="6096000" cy="425069"/>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1189415654"/>
                        </a:ext>
                      </a:extLst>
                    </a:gridCol>
                    <a:gridCol w="1524000">
                      <a:extLst>
                        <a:ext uri="{9D8B030D-6E8A-4147-A177-3AD203B41FA5}">
                          <a16:colId xmlns:a16="http://schemas.microsoft.com/office/drawing/2014/main" val="2297520084"/>
                        </a:ext>
                      </a:extLst>
                    </a:gridCol>
                    <a:gridCol w="1524000">
                      <a:extLst>
                        <a:ext uri="{9D8B030D-6E8A-4147-A177-3AD203B41FA5}">
                          <a16:colId xmlns:a16="http://schemas.microsoft.com/office/drawing/2014/main" val="2359377063"/>
                        </a:ext>
                      </a:extLst>
                    </a:gridCol>
                    <a:gridCol w="1524000">
                      <a:extLst>
                        <a:ext uri="{9D8B030D-6E8A-4147-A177-3AD203B41FA5}">
                          <a16:colId xmlns:a16="http://schemas.microsoft.com/office/drawing/2014/main" val="568780424"/>
                        </a:ext>
                      </a:extLst>
                    </a:gridCol>
                  </a:tblGrid>
                  <a:tr h="370840">
                    <a:tc>
                      <a:txBody>
                        <a:bodyPr/>
                        <a:lstStyle/>
                        <a:p>
                          <a:pPr algn="ctr"/>
                          <a14:m>
                            <m:oMathPara xmlns:m="http://schemas.openxmlformats.org/officeDocument/2006/math">
                              <m:oMathParaPr>
                                <m:jc m:val="centerGroup"/>
                              </m:oMathParaPr>
                              <m:oMath xmlns:m="http://schemas.openxmlformats.org/officeDocument/2006/math">
                                <m:sSub>
                                  <m:sSubPr>
                                    <m:ctrlPr>
                                      <a:rPr lang="en-US" sz="2000" i="1" dirty="0" smtClean="0">
                                        <a:latin typeface="Cambria Math" panose="02040503050406030204" pitchFamily="18" charset="0"/>
                                      </a:rPr>
                                    </m:ctrlPr>
                                  </m:sSubPr>
                                  <m:e>
                                    <m:r>
                                      <a:rPr lang="en-US" sz="2000" b="1" i="1" dirty="0" smtClean="0">
                                        <a:latin typeface="Cambria Math" panose="02040503050406030204" pitchFamily="18" charset="0"/>
                                      </a:rPr>
                                      <m:t>𝒎𝒂𝒙</m:t>
                                    </m:r>
                                  </m:e>
                                  <m:sub>
                                    <m:r>
                                      <a:rPr lang="en-US" sz="2000" b="1" i="1" dirty="0" smtClean="0">
                                        <a:latin typeface="Cambria Math" panose="02040503050406030204" pitchFamily="18" charset="0"/>
                                      </a:rPr>
                                      <m:t>𝒋</m:t>
                                    </m:r>
                                  </m:sub>
                                </m:sSub>
                              </m:oMath>
                            </m:oMathPara>
                          </a14:m>
                          <a:endParaRPr lang="en-US" sz="2000" dirty="0"/>
                        </a:p>
                      </a:txBody>
                      <a:tcPr/>
                    </a:tc>
                    <a:tc>
                      <a:txBody>
                        <a:bodyPr/>
                        <a:lstStyle/>
                        <a:p>
                          <a:pPr/>
                          <a14:m>
                            <m:oMathPara xmlns:m="http://schemas.openxmlformats.org/officeDocument/2006/math">
                              <m:oMathParaPr>
                                <m:jc m:val="centerGroup"/>
                              </m:oMathParaPr>
                              <m:oMath xmlns:m="http://schemas.openxmlformats.org/officeDocument/2006/math">
                                <m:r>
                                  <a:rPr lang="en-US" sz="2000" b="1" i="1" dirty="0" smtClean="0">
                                    <a:latin typeface="Cambria Math" panose="02040503050406030204" pitchFamily="18" charset="0"/>
                                  </a:rPr>
                                  <m:t>𝟑</m:t>
                                </m:r>
                              </m:oMath>
                            </m:oMathPara>
                          </a14:m>
                          <a:endParaRPr lang="en-US" sz="2000" dirty="0"/>
                        </a:p>
                      </a:txBody>
                      <a:tcPr/>
                    </a:tc>
                    <a:tc>
                      <a:txBody>
                        <a:bodyPr/>
                        <a:lstStyle/>
                        <a:p>
                          <a:pPr/>
                          <a14:m>
                            <m:oMathPara xmlns:m="http://schemas.openxmlformats.org/officeDocument/2006/math">
                              <m:oMathParaPr>
                                <m:jc m:val="centerGroup"/>
                              </m:oMathParaPr>
                              <m:oMath xmlns:m="http://schemas.openxmlformats.org/officeDocument/2006/math">
                                <m:r>
                                  <a:rPr lang="en-US" sz="2000" b="1" i="1" dirty="0" smtClean="0">
                                    <a:latin typeface="Cambria Math" panose="02040503050406030204" pitchFamily="18" charset="0"/>
                                  </a:rPr>
                                  <m:t>𝟑</m:t>
                                </m:r>
                              </m:oMath>
                            </m:oMathPara>
                          </a14:m>
                          <a:endParaRPr lang="en-US" sz="2000" dirty="0"/>
                        </a:p>
                      </a:txBody>
                      <a:tcPr/>
                    </a:tc>
                    <a:tc>
                      <a:txBody>
                        <a:bodyPr/>
                        <a:lstStyle/>
                        <a:p>
                          <a:pPr/>
                          <a14:m>
                            <m:oMathPara xmlns:m="http://schemas.openxmlformats.org/officeDocument/2006/math">
                              <m:oMathParaPr>
                                <m:jc m:val="centerGroup"/>
                              </m:oMathParaPr>
                              <m:oMath xmlns:m="http://schemas.openxmlformats.org/officeDocument/2006/math">
                                <m:r>
                                  <a:rPr lang="en-US" sz="2000" b="1" i="1" dirty="0" smtClean="0">
                                    <a:latin typeface="Cambria Math" panose="02040503050406030204" pitchFamily="18" charset="0"/>
                                  </a:rPr>
                                  <m:t>𝟓</m:t>
                                </m:r>
                              </m:oMath>
                            </m:oMathPara>
                          </a14:m>
                          <a:endParaRPr lang="en-US" sz="2000" dirty="0"/>
                        </a:p>
                      </a:txBody>
                      <a:tcPr/>
                    </a:tc>
                    <a:extLst>
                      <a:ext uri="{0D108BD9-81ED-4DB2-BD59-A6C34878D82A}">
                        <a16:rowId xmlns:a16="http://schemas.microsoft.com/office/drawing/2014/main" val="29602406"/>
                      </a:ext>
                    </a:extLst>
                  </a:tr>
                </a:tbl>
              </a:graphicData>
            </a:graphic>
          </p:graphicFrame>
        </mc:Choice>
        <mc:Fallback xmlns="">
          <p:graphicFrame>
            <p:nvGraphicFramePr>
              <p:cNvPr id="11" name="Table 10"/>
              <p:cNvGraphicFramePr>
                <a:graphicFrameLocks noGrp="1"/>
              </p:cNvGraphicFramePr>
              <p:nvPr>
                <p:extLst>
                  <p:ext uri="{D42A27DB-BD31-4B8C-83A1-F6EECF244321}">
                    <p14:modId xmlns:p14="http://schemas.microsoft.com/office/powerpoint/2010/main" val="2713087867"/>
                  </p:ext>
                </p:extLst>
              </p:nvPr>
            </p:nvGraphicFramePr>
            <p:xfrm>
              <a:off x="830925" y="5359586"/>
              <a:ext cx="6096000" cy="425069"/>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1189415654"/>
                        </a:ext>
                      </a:extLst>
                    </a:gridCol>
                    <a:gridCol w="1524000">
                      <a:extLst>
                        <a:ext uri="{9D8B030D-6E8A-4147-A177-3AD203B41FA5}">
                          <a16:colId xmlns:a16="http://schemas.microsoft.com/office/drawing/2014/main" val="2297520084"/>
                        </a:ext>
                      </a:extLst>
                    </a:gridCol>
                    <a:gridCol w="1524000">
                      <a:extLst>
                        <a:ext uri="{9D8B030D-6E8A-4147-A177-3AD203B41FA5}">
                          <a16:colId xmlns:a16="http://schemas.microsoft.com/office/drawing/2014/main" val="2359377063"/>
                        </a:ext>
                      </a:extLst>
                    </a:gridCol>
                    <a:gridCol w="1524000">
                      <a:extLst>
                        <a:ext uri="{9D8B030D-6E8A-4147-A177-3AD203B41FA5}">
                          <a16:colId xmlns:a16="http://schemas.microsoft.com/office/drawing/2014/main" val="568780424"/>
                        </a:ext>
                      </a:extLst>
                    </a:gridCol>
                  </a:tblGrid>
                  <a:tr h="425069">
                    <a:tc>
                      <a:txBody>
                        <a:bodyPr/>
                        <a:lstStyle/>
                        <a:p>
                          <a:endParaRPr lang="en-US"/>
                        </a:p>
                      </a:txBody>
                      <a:tcPr>
                        <a:blipFill>
                          <a:blip r:embed="rId8"/>
                          <a:stretch>
                            <a:fillRect l="-400" t="-1429" r="-302000" b="-11429"/>
                          </a:stretch>
                        </a:blipFill>
                      </a:tcPr>
                    </a:tc>
                    <a:tc>
                      <a:txBody>
                        <a:bodyPr/>
                        <a:lstStyle/>
                        <a:p>
                          <a:endParaRPr lang="en-US"/>
                        </a:p>
                      </a:txBody>
                      <a:tcPr>
                        <a:blipFill>
                          <a:blip r:embed="rId8"/>
                          <a:stretch>
                            <a:fillRect l="-100000" t="-1429" r="-200797" b="-11429"/>
                          </a:stretch>
                        </a:blipFill>
                      </a:tcPr>
                    </a:tc>
                    <a:tc>
                      <a:txBody>
                        <a:bodyPr/>
                        <a:lstStyle/>
                        <a:p>
                          <a:endParaRPr lang="en-US"/>
                        </a:p>
                      </a:txBody>
                      <a:tcPr>
                        <a:blipFill>
                          <a:blip r:embed="rId8"/>
                          <a:stretch>
                            <a:fillRect l="-200800" t="-1429" r="-101600" b="-11429"/>
                          </a:stretch>
                        </a:blipFill>
                      </a:tcPr>
                    </a:tc>
                    <a:tc>
                      <a:txBody>
                        <a:bodyPr/>
                        <a:lstStyle/>
                        <a:p>
                          <a:endParaRPr lang="en-US"/>
                        </a:p>
                      </a:txBody>
                      <a:tcPr>
                        <a:blipFill>
                          <a:blip r:embed="rId8"/>
                          <a:stretch>
                            <a:fillRect l="-300800" t="-1429" r="-1600" b="-11429"/>
                          </a:stretch>
                        </a:blipFill>
                      </a:tcPr>
                    </a:tc>
                    <a:extLst>
                      <a:ext uri="{0D108BD9-81ED-4DB2-BD59-A6C34878D82A}">
                        <a16:rowId xmlns:a16="http://schemas.microsoft.com/office/drawing/2014/main" val="29602406"/>
                      </a:ext>
                    </a:extLst>
                  </a:tr>
                </a:tbl>
              </a:graphicData>
            </a:graphic>
          </p:graphicFrame>
        </mc:Fallback>
      </mc:AlternateContent>
      <p:sp>
        <p:nvSpPr>
          <p:cNvPr id="12" name="Rectangle 11"/>
          <p:cNvSpPr/>
          <p:nvPr/>
        </p:nvSpPr>
        <p:spPr>
          <a:xfrm>
            <a:off x="4776026" y="6139428"/>
            <a:ext cx="3834704" cy="461665"/>
          </a:xfrm>
          <a:prstGeom prst="rect">
            <a:avLst/>
          </a:prstGeom>
        </p:spPr>
        <p:txBody>
          <a:bodyPr wrap="none">
            <a:spAutoFit/>
          </a:bodyPr>
          <a:lstStyle/>
          <a:p>
            <a:r>
              <a:rPr lang="en-US" sz="2400" i="1" dirty="0"/>
              <a:t>A will win 2 and B will loose 3</a:t>
            </a:r>
            <a:endParaRPr lang="en-US" sz="2400" dirty="0"/>
          </a:p>
        </p:txBody>
      </p:sp>
    </p:spTree>
    <p:extLst>
      <p:ext uri="{BB962C8B-B14F-4D97-AF65-F5344CB8AC3E}">
        <p14:creationId xmlns:p14="http://schemas.microsoft.com/office/powerpoint/2010/main" val="1227718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Exercises 02</a:t>
            </a:r>
          </a:p>
        </p:txBody>
      </p:sp>
      <mc:AlternateContent xmlns:mc="http://schemas.openxmlformats.org/markup-compatibility/2006" xmlns:a14="http://schemas.microsoft.com/office/drawing/2010/main">
        <mc:Choice Requires="a14">
          <p:sp>
            <p:nvSpPr>
              <p:cNvPr id="6" name="Rectangle 5"/>
              <p:cNvSpPr/>
              <p:nvPr/>
            </p:nvSpPr>
            <p:spPr>
              <a:xfrm>
                <a:off x="2780377" y="3992935"/>
                <a:ext cx="5680055" cy="1938992"/>
              </a:xfrm>
              <a:prstGeom prst="rect">
                <a:avLst/>
              </a:prstGeom>
            </p:spPr>
            <p:txBody>
              <a:bodyPr wrap="square">
                <a:spAutoFit/>
              </a:bodyPr>
              <a:lstStyle/>
              <a:p>
                <a:pPr algn="just"/>
                <a:r>
                  <a:rPr lang="en-US" sz="2000" dirty="0"/>
                  <a:t>Two companies A and B want to build stores in one of three cities </a:t>
                </a:r>
                <a14:m>
                  <m:oMath xmlns:m="http://schemas.openxmlformats.org/officeDocument/2006/math">
                    <m:r>
                      <a:rPr lang="en-US" sz="2000" i="1" dirty="0" smtClean="0">
                        <a:latin typeface="Cambria Math" panose="02040503050406030204" pitchFamily="18" charset="0"/>
                      </a:rPr>
                      <m:t>𝑇</m:t>
                    </m:r>
                    <m:r>
                      <a:rPr lang="en-US" sz="2000" i="1" dirty="0" smtClean="0">
                        <a:latin typeface="Cambria Math" panose="02040503050406030204" pitchFamily="18" charset="0"/>
                      </a:rPr>
                      <m:t>,</m:t>
                    </m:r>
                    <m:r>
                      <a:rPr lang="en-US" sz="2000" i="1" dirty="0" smtClean="0">
                        <a:latin typeface="Cambria Math" panose="02040503050406030204" pitchFamily="18" charset="0"/>
                      </a:rPr>
                      <m:t>𝑈</m:t>
                    </m:r>
                  </m:oMath>
                </a14:m>
                <a:r>
                  <a:rPr lang="en-US" sz="2000" dirty="0"/>
                  <a:t> and </a:t>
                </a:r>
                <a14:m>
                  <m:oMath xmlns:m="http://schemas.openxmlformats.org/officeDocument/2006/math">
                    <m:r>
                      <a:rPr lang="en-US" sz="2000" i="1" dirty="0" smtClean="0">
                        <a:latin typeface="Cambria Math" panose="02040503050406030204" pitchFamily="18" charset="0"/>
                      </a:rPr>
                      <m:t>𝑉</m:t>
                    </m:r>
                  </m:oMath>
                </a14:m>
                <a:r>
                  <a:rPr lang="en-US" sz="2000" dirty="0"/>
                  <a:t> whose locations and mutual distances are shown. If they built in the same city, they split the total business of all three cities. If they built in different cities, the company closer to a given city get all of that city’s business.</a:t>
                </a:r>
              </a:p>
            </p:txBody>
          </p:sp>
        </mc:Choice>
        <mc:Fallback xmlns="">
          <p:sp>
            <p:nvSpPr>
              <p:cNvPr id="6" name="Rectangle 5"/>
              <p:cNvSpPr>
                <a:spLocks noRot="1" noChangeAspect="1" noMove="1" noResize="1" noEditPoints="1" noAdjustHandles="1" noChangeArrowheads="1" noChangeShapeType="1" noTextEdit="1"/>
              </p:cNvSpPr>
              <p:nvPr/>
            </p:nvSpPr>
            <p:spPr>
              <a:xfrm>
                <a:off x="2780377" y="3992935"/>
                <a:ext cx="5680055" cy="1938992"/>
              </a:xfrm>
              <a:prstGeom prst="rect">
                <a:avLst/>
              </a:prstGeom>
              <a:blipFill>
                <a:blip r:embed="rId2"/>
                <a:stretch>
                  <a:fillRect l="-1073" t="-1572" r="-1180" b="-4717"/>
                </a:stretch>
              </a:blipFill>
            </p:spPr>
            <p:txBody>
              <a:bodyPr/>
              <a:lstStyle/>
              <a:p>
                <a:r>
                  <a:rPr lang="en-US">
                    <a:noFill/>
                  </a:rPr>
                  <a:t> </a:t>
                </a:r>
              </a:p>
            </p:txBody>
          </p:sp>
        </mc:Fallback>
      </mc:AlternateContent>
      <p:sp>
        <p:nvSpPr>
          <p:cNvPr id="4" name="Rectangle 3"/>
          <p:cNvSpPr/>
          <p:nvPr/>
        </p:nvSpPr>
        <p:spPr>
          <a:xfrm>
            <a:off x="611560" y="1532510"/>
            <a:ext cx="4795736" cy="430887"/>
          </a:xfrm>
          <a:prstGeom prst="rect">
            <a:avLst/>
          </a:prstGeom>
        </p:spPr>
        <p:txBody>
          <a:bodyPr wrap="none">
            <a:spAutoFit/>
          </a:bodyPr>
          <a:lstStyle/>
          <a:p>
            <a:pPr marL="457200" indent="-457200">
              <a:buFont typeface="+mj-lt"/>
              <a:buAutoNum type="arabicPeriod"/>
            </a:pPr>
            <a:r>
              <a:rPr lang="en-US" sz="2200" dirty="0"/>
              <a:t>Find the best strategy of each player</a:t>
            </a:r>
          </a:p>
        </p:txBody>
      </p:sp>
      <p:graphicFrame>
        <p:nvGraphicFramePr>
          <p:cNvPr id="11" name="Table 10"/>
          <p:cNvGraphicFramePr>
            <a:graphicFrameLocks noGrp="1"/>
          </p:cNvGraphicFramePr>
          <p:nvPr>
            <p:extLst>
              <p:ext uri="{D42A27DB-BD31-4B8C-83A1-F6EECF244321}">
                <p14:modId xmlns:p14="http://schemas.microsoft.com/office/powerpoint/2010/main" val="2498323781"/>
              </p:ext>
            </p:extLst>
          </p:nvPr>
        </p:nvGraphicFramePr>
        <p:xfrm>
          <a:off x="1541767" y="1939834"/>
          <a:ext cx="6096000" cy="198120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469599594"/>
                    </a:ext>
                  </a:extLst>
                </a:gridCol>
                <a:gridCol w="1219200">
                  <a:extLst>
                    <a:ext uri="{9D8B030D-6E8A-4147-A177-3AD203B41FA5}">
                      <a16:colId xmlns:a16="http://schemas.microsoft.com/office/drawing/2014/main" val="3196365892"/>
                    </a:ext>
                  </a:extLst>
                </a:gridCol>
                <a:gridCol w="1219200">
                  <a:extLst>
                    <a:ext uri="{9D8B030D-6E8A-4147-A177-3AD203B41FA5}">
                      <a16:colId xmlns:a16="http://schemas.microsoft.com/office/drawing/2014/main" val="1956722040"/>
                    </a:ext>
                  </a:extLst>
                </a:gridCol>
                <a:gridCol w="1219200">
                  <a:extLst>
                    <a:ext uri="{9D8B030D-6E8A-4147-A177-3AD203B41FA5}">
                      <a16:colId xmlns:a16="http://schemas.microsoft.com/office/drawing/2014/main" val="354205986"/>
                    </a:ext>
                  </a:extLst>
                </a:gridCol>
                <a:gridCol w="1219200">
                  <a:extLst>
                    <a:ext uri="{9D8B030D-6E8A-4147-A177-3AD203B41FA5}">
                      <a16:colId xmlns:a16="http://schemas.microsoft.com/office/drawing/2014/main" val="1568591885"/>
                    </a:ext>
                  </a:extLst>
                </a:gridCol>
              </a:tblGrid>
              <a:tr h="370840">
                <a:tc>
                  <a:txBody>
                    <a:bodyPr/>
                    <a:lstStyle/>
                    <a:p>
                      <a:pPr algn="ctr"/>
                      <a:r>
                        <a:rPr lang="en-US" sz="2000" dirty="0"/>
                        <a:t>A/B</a:t>
                      </a:r>
                    </a:p>
                  </a:txBody>
                  <a:tcPr/>
                </a:tc>
                <a:tc>
                  <a:txBody>
                    <a:bodyPr/>
                    <a:lstStyle/>
                    <a:p>
                      <a:pPr algn="ctr"/>
                      <a:r>
                        <a:rPr lang="en-US" sz="2000" dirty="0"/>
                        <a:t>1</a:t>
                      </a:r>
                    </a:p>
                  </a:txBody>
                  <a:tcPr/>
                </a:tc>
                <a:tc>
                  <a:txBody>
                    <a:bodyPr/>
                    <a:lstStyle/>
                    <a:p>
                      <a:pPr algn="ctr"/>
                      <a:r>
                        <a:rPr lang="en-US" sz="2000" dirty="0"/>
                        <a:t>2</a:t>
                      </a:r>
                    </a:p>
                  </a:txBody>
                  <a:tcPr/>
                </a:tc>
                <a:tc>
                  <a:txBody>
                    <a:bodyPr/>
                    <a:lstStyle/>
                    <a:p>
                      <a:pPr algn="ctr"/>
                      <a:r>
                        <a:rPr lang="en-US" sz="2000" dirty="0"/>
                        <a:t>3</a:t>
                      </a:r>
                    </a:p>
                  </a:txBody>
                  <a:tcPr/>
                </a:tc>
                <a:tc>
                  <a:txBody>
                    <a:bodyPr/>
                    <a:lstStyle/>
                    <a:p>
                      <a:pPr algn="ctr"/>
                      <a:r>
                        <a:rPr lang="en-US" sz="2000" dirty="0"/>
                        <a:t>4</a:t>
                      </a:r>
                    </a:p>
                  </a:txBody>
                  <a:tcPr/>
                </a:tc>
                <a:extLst>
                  <a:ext uri="{0D108BD9-81ED-4DB2-BD59-A6C34878D82A}">
                    <a16:rowId xmlns:a16="http://schemas.microsoft.com/office/drawing/2014/main" val="2119999108"/>
                  </a:ext>
                </a:extLst>
              </a:tr>
              <a:tr h="370840">
                <a:tc>
                  <a:txBody>
                    <a:bodyPr/>
                    <a:lstStyle/>
                    <a:p>
                      <a:pPr algn="ctr"/>
                      <a:r>
                        <a:rPr lang="en-US" sz="2000" dirty="0"/>
                        <a:t>1</a:t>
                      </a:r>
                    </a:p>
                  </a:txBody>
                  <a:tcPr/>
                </a:tc>
                <a:tc>
                  <a:txBody>
                    <a:bodyPr/>
                    <a:lstStyle/>
                    <a:p>
                      <a:pPr algn="ctr"/>
                      <a:r>
                        <a:rPr lang="en-US" sz="2000" dirty="0"/>
                        <a:t>3</a:t>
                      </a:r>
                    </a:p>
                  </a:txBody>
                  <a:tcPr/>
                </a:tc>
                <a:tc>
                  <a:txBody>
                    <a:bodyPr/>
                    <a:lstStyle/>
                    <a:p>
                      <a:pPr algn="ctr"/>
                      <a:r>
                        <a:rPr lang="en-US" sz="2000" dirty="0"/>
                        <a:t>0</a:t>
                      </a:r>
                    </a:p>
                  </a:txBody>
                  <a:tcPr/>
                </a:tc>
                <a:tc>
                  <a:txBody>
                    <a:bodyPr/>
                    <a:lstStyle/>
                    <a:p>
                      <a:pPr algn="ctr"/>
                      <a:r>
                        <a:rPr lang="en-US" sz="2000" dirty="0"/>
                        <a:t>-1</a:t>
                      </a:r>
                    </a:p>
                  </a:txBody>
                  <a:tcPr/>
                </a:tc>
                <a:tc>
                  <a:txBody>
                    <a:bodyPr/>
                    <a:lstStyle/>
                    <a:p>
                      <a:pPr algn="ctr"/>
                      <a:r>
                        <a:rPr lang="en-US" sz="2000" dirty="0"/>
                        <a:t>0</a:t>
                      </a:r>
                    </a:p>
                  </a:txBody>
                  <a:tcPr/>
                </a:tc>
                <a:extLst>
                  <a:ext uri="{0D108BD9-81ED-4DB2-BD59-A6C34878D82A}">
                    <a16:rowId xmlns:a16="http://schemas.microsoft.com/office/drawing/2014/main" val="3392678369"/>
                  </a:ext>
                </a:extLst>
              </a:tr>
              <a:tr h="370840">
                <a:tc>
                  <a:txBody>
                    <a:bodyPr/>
                    <a:lstStyle/>
                    <a:p>
                      <a:pPr algn="ctr"/>
                      <a:r>
                        <a:rPr lang="en-US" sz="2000" dirty="0"/>
                        <a:t>2</a:t>
                      </a:r>
                    </a:p>
                  </a:txBody>
                  <a:tcPr/>
                </a:tc>
                <a:tc>
                  <a:txBody>
                    <a:bodyPr/>
                    <a:lstStyle/>
                    <a:p>
                      <a:pPr algn="ctr"/>
                      <a:r>
                        <a:rPr lang="en-US" sz="2000" dirty="0"/>
                        <a:t>1</a:t>
                      </a:r>
                    </a:p>
                  </a:txBody>
                  <a:tcPr/>
                </a:tc>
                <a:tc>
                  <a:txBody>
                    <a:bodyPr/>
                    <a:lstStyle/>
                    <a:p>
                      <a:pPr algn="ctr"/>
                      <a:r>
                        <a:rPr lang="en-US" sz="2000" dirty="0"/>
                        <a:t>1</a:t>
                      </a:r>
                    </a:p>
                  </a:txBody>
                  <a:tcPr/>
                </a:tc>
                <a:tc>
                  <a:txBody>
                    <a:bodyPr/>
                    <a:lstStyle/>
                    <a:p>
                      <a:pPr algn="ctr"/>
                      <a:r>
                        <a:rPr lang="en-US" sz="2000" dirty="0"/>
                        <a:t>-2</a:t>
                      </a:r>
                    </a:p>
                  </a:txBody>
                  <a:tcPr/>
                </a:tc>
                <a:tc>
                  <a:txBody>
                    <a:bodyPr/>
                    <a:lstStyle/>
                    <a:p>
                      <a:pPr algn="ctr"/>
                      <a:r>
                        <a:rPr lang="en-US" sz="2000" dirty="0"/>
                        <a:t>1</a:t>
                      </a:r>
                    </a:p>
                  </a:txBody>
                  <a:tcPr/>
                </a:tc>
                <a:extLst>
                  <a:ext uri="{0D108BD9-81ED-4DB2-BD59-A6C34878D82A}">
                    <a16:rowId xmlns:a16="http://schemas.microsoft.com/office/drawing/2014/main" val="2265898349"/>
                  </a:ext>
                </a:extLst>
              </a:tr>
              <a:tr h="370840">
                <a:tc>
                  <a:txBody>
                    <a:bodyPr/>
                    <a:lstStyle/>
                    <a:p>
                      <a:pPr algn="ctr"/>
                      <a:r>
                        <a:rPr lang="en-US" sz="2000" dirty="0"/>
                        <a:t>3</a:t>
                      </a:r>
                    </a:p>
                  </a:txBody>
                  <a:tcPr/>
                </a:tc>
                <a:tc>
                  <a:txBody>
                    <a:bodyPr/>
                    <a:lstStyle/>
                    <a:p>
                      <a:pPr algn="ctr"/>
                      <a:r>
                        <a:rPr lang="en-US" sz="2000" dirty="0"/>
                        <a:t>0</a:t>
                      </a:r>
                    </a:p>
                  </a:txBody>
                  <a:tcPr/>
                </a:tc>
                <a:tc>
                  <a:txBody>
                    <a:bodyPr/>
                    <a:lstStyle/>
                    <a:p>
                      <a:pPr algn="ctr"/>
                      <a:r>
                        <a:rPr lang="en-US" sz="2000" dirty="0"/>
                        <a:t>3</a:t>
                      </a:r>
                    </a:p>
                  </a:txBody>
                  <a:tcPr/>
                </a:tc>
                <a:tc>
                  <a:txBody>
                    <a:bodyPr/>
                    <a:lstStyle/>
                    <a:p>
                      <a:pPr algn="ctr"/>
                      <a:r>
                        <a:rPr lang="en-US" sz="2000" dirty="0"/>
                        <a:t>3</a:t>
                      </a:r>
                    </a:p>
                  </a:txBody>
                  <a:tcPr/>
                </a:tc>
                <a:tc>
                  <a:txBody>
                    <a:bodyPr/>
                    <a:lstStyle/>
                    <a:p>
                      <a:pPr algn="ctr"/>
                      <a:r>
                        <a:rPr lang="en-US" sz="2000" dirty="0"/>
                        <a:t>1</a:t>
                      </a:r>
                    </a:p>
                  </a:txBody>
                  <a:tcPr/>
                </a:tc>
                <a:extLst>
                  <a:ext uri="{0D108BD9-81ED-4DB2-BD59-A6C34878D82A}">
                    <a16:rowId xmlns:a16="http://schemas.microsoft.com/office/drawing/2014/main" val="1520950542"/>
                  </a:ext>
                </a:extLst>
              </a:tr>
              <a:tr h="370840">
                <a:tc>
                  <a:txBody>
                    <a:bodyPr/>
                    <a:lstStyle/>
                    <a:p>
                      <a:pPr algn="ctr"/>
                      <a:r>
                        <a:rPr lang="en-US" sz="2000" dirty="0"/>
                        <a:t>4</a:t>
                      </a:r>
                    </a:p>
                  </a:txBody>
                  <a:tcPr/>
                </a:tc>
                <a:tc>
                  <a:txBody>
                    <a:bodyPr/>
                    <a:lstStyle/>
                    <a:p>
                      <a:pPr algn="ctr"/>
                      <a:r>
                        <a:rPr lang="en-US" sz="2000" dirty="0"/>
                        <a:t>2</a:t>
                      </a:r>
                    </a:p>
                  </a:txBody>
                  <a:tcPr/>
                </a:tc>
                <a:tc>
                  <a:txBody>
                    <a:bodyPr/>
                    <a:lstStyle/>
                    <a:p>
                      <a:pPr algn="ctr"/>
                      <a:r>
                        <a:rPr lang="en-US" sz="2000" dirty="0"/>
                        <a:t>2</a:t>
                      </a:r>
                    </a:p>
                  </a:txBody>
                  <a:tcPr/>
                </a:tc>
                <a:tc>
                  <a:txBody>
                    <a:bodyPr/>
                    <a:lstStyle/>
                    <a:p>
                      <a:pPr algn="ctr"/>
                      <a:r>
                        <a:rPr lang="en-US" sz="2000" dirty="0"/>
                        <a:t>0</a:t>
                      </a:r>
                    </a:p>
                  </a:txBody>
                  <a:tcPr/>
                </a:tc>
                <a:tc>
                  <a:txBody>
                    <a:bodyPr/>
                    <a:lstStyle/>
                    <a:p>
                      <a:pPr algn="ctr"/>
                      <a:r>
                        <a:rPr lang="en-US" sz="2000" dirty="0"/>
                        <a:t>1</a:t>
                      </a:r>
                    </a:p>
                  </a:txBody>
                  <a:tcPr/>
                </a:tc>
                <a:extLst>
                  <a:ext uri="{0D108BD9-81ED-4DB2-BD59-A6C34878D82A}">
                    <a16:rowId xmlns:a16="http://schemas.microsoft.com/office/drawing/2014/main" val="2971912199"/>
                  </a:ext>
                </a:extLst>
              </a:tr>
            </a:tbl>
          </a:graphicData>
        </a:graphic>
      </p:graphicFrame>
      <p:grpSp>
        <p:nvGrpSpPr>
          <p:cNvPr id="24" name="Group 23"/>
          <p:cNvGrpSpPr/>
          <p:nvPr/>
        </p:nvGrpSpPr>
        <p:grpSpPr>
          <a:xfrm>
            <a:off x="1029815" y="4160151"/>
            <a:ext cx="1669977" cy="1704647"/>
            <a:chOff x="4486209" y="5301208"/>
            <a:chExt cx="1813983" cy="1335817"/>
          </a:xfrm>
        </p:grpSpPr>
        <p:sp>
          <p:nvSpPr>
            <p:cNvPr id="12" name="Oval 11"/>
            <p:cNvSpPr/>
            <p:nvPr/>
          </p:nvSpPr>
          <p:spPr>
            <a:xfrm>
              <a:off x="4716016" y="5301208"/>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a:t>
              </a:r>
            </a:p>
          </p:txBody>
        </p:sp>
        <p:sp>
          <p:nvSpPr>
            <p:cNvPr id="13" name="Oval 12"/>
            <p:cNvSpPr/>
            <p:nvPr/>
          </p:nvSpPr>
          <p:spPr>
            <a:xfrm>
              <a:off x="4716016" y="6127126"/>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a:t>
              </a:r>
            </a:p>
          </p:txBody>
        </p:sp>
        <p:sp>
          <p:nvSpPr>
            <p:cNvPr id="14" name="Oval 13"/>
            <p:cNvSpPr/>
            <p:nvPr/>
          </p:nvSpPr>
          <p:spPr>
            <a:xfrm>
              <a:off x="5940152" y="6127210"/>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cxnSp>
          <p:nvCxnSpPr>
            <p:cNvPr id="16" name="Straight Connector 15"/>
            <p:cNvCxnSpPr>
              <a:stCxn id="12" idx="4"/>
              <a:endCxn id="13" idx="0"/>
            </p:cNvCxnSpPr>
            <p:nvPr/>
          </p:nvCxnSpPr>
          <p:spPr>
            <a:xfrm>
              <a:off x="4896036" y="5661248"/>
              <a:ext cx="0" cy="465878"/>
            </a:xfrm>
            <a:prstGeom prst="line">
              <a:avLst/>
            </a:prstGeom>
          </p:spPr>
          <p:style>
            <a:lnRef idx="2">
              <a:schemeClr val="dk1"/>
            </a:lnRef>
            <a:fillRef idx="0">
              <a:schemeClr val="dk1"/>
            </a:fillRef>
            <a:effectRef idx="1">
              <a:schemeClr val="dk1"/>
            </a:effectRef>
            <a:fontRef idx="minor">
              <a:schemeClr val="tx1"/>
            </a:fontRef>
          </p:style>
        </p:cxnSp>
        <p:cxnSp>
          <p:nvCxnSpPr>
            <p:cNvPr id="18" name="Straight Connector 17"/>
            <p:cNvCxnSpPr>
              <a:stCxn id="13" idx="6"/>
              <a:endCxn id="14" idx="2"/>
            </p:cNvCxnSpPr>
            <p:nvPr/>
          </p:nvCxnSpPr>
          <p:spPr>
            <a:xfrm>
              <a:off x="5076056" y="6307146"/>
              <a:ext cx="864096" cy="84"/>
            </a:xfrm>
            <a:prstGeom prst="line">
              <a:avLst/>
            </a:prstGeom>
          </p:spPr>
          <p:style>
            <a:lnRef idx="2">
              <a:schemeClr val="dk1"/>
            </a:lnRef>
            <a:fillRef idx="0">
              <a:schemeClr val="dk1"/>
            </a:fillRef>
            <a:effectRef idx="1">
              <a:schemeClr val="dk1"/>
            </a:effectRef>
            <a:fontRef idx="minor">
              <a:schemeClr val="tx1"/>
            </a:fontRef>
          </p:style>
        </p:cxnSp>
        <p:cxnSp>
          <p:nvCxnSpPr>
            <p:cNvPr id="20" name="Straight Connector 19"/>
            <p:cNvCxnSpPr>
              <a:stCxn id="12" idx="5"/>
              <a:endCxn id="14" idx="1"/>
            </p:cNvCxnSpPr>
            <p:nvPr/>
          </p:nvCxnSpPr>
          <p:spPr>
            <a:xfrm>
              <a:off x="5023329" y="5608521"/>
              <a:ext cx="969550" cy="571416"/>
            </a:xfrm>
            <a:prstGeom prst="line">
              <a:avLst/>
            </a:prstGeom>
          </p:spPr>
          <p:style>
            <a:lnRef idx="2">
              <a:schemeClr val="dk1"/>
            </a:lnRef>
            <a:fillRef idx="0">
              <a:schemeClr val="dk1"/>
            </a:fillRef>
            <a:effectRef idx="1">
              <a:schemeClr val="dk1"/>
            </a:effectRef>
            <a:fontRef idx="minor">
              <a:schemeClr val="tx1"/>
            </a:fontRef>
          </p:style>
        </p:cxnSp>
        <p:sp>
          <p:nvSpPr>
            <p:cNvPr id="21" name="TextBox 20"/>
            <p:cNvSpPr txBox="1"/>
            <p:nvPr/>
          </p:nvSpPr>
          <p:spPr>
            <a:xfrm>
              <a:off x="4486209" y="5714456"/>
              <a:ext cx="418704" cy="369332"/>
            </a:xfrm>
            <a:prstGeom prst="rect">
              <a:avLst/>
            </a:prstGeom>
            <a:noFill/>
          </p:spPr>
          <p:txBody>
            <a:bodyPr wrap="none" rtlCol="0">
              <a:spAutoFit/>
            </a:bodyPr>
            <a:lstStyle/>
            <a:p>
              <a:r>
                <a:rPr lang="en-US" dirty="0"/>
                <a:t>10</a:t>
              </a:r>
            </a:p>
          </p:txBody>
        </p:sp>
        <p:sp>
          <p:nvSpPr>
            <p:cNvPr id="22" name="TextBox 21"/>
            <p:cNvSpPr txBox="1"/>
            <p:nvPr/>
          </p:nvSpPr>
          <p:spPr>
            <a:xfrm>
              <a:off x="5523630" y="5630669"/>
              <a:ext cx="418704" cy="369332"/>
            </a:xfrm>
            <a:prstGeom prst="rect">
              <a:avLst/>
            </a:prstGeom>
            <a:noFill/>
          </p:spPr>
          <p:txBody>
            <a:bodyPr wrap="none" rtlCol="0">
              <a:spAutoFit/>
            </a:bodyPr>
            <a:lstStyle/>
            <a:p>
              <a:r>
                <a:rPr lang="en-US" dirty="0"/>
                <a:t>26</a:t>
              </a:r>
            </a:p>
          </p:txBody>
        </p:sp>
        <p:sp>
          <p:nvSpPr>
            <p:cNvPr id="23" name="TextBox 22"/>
            <p:cNvSpPr txBox="1"/>
            <p:nvPr/>
          </p:nvSpPr>
          <p:spPr>
            <a:xfrm>
              <a:off x="5197944" y="6267693"/>
              <a:ext cx="418704" cy="369332"/>
            </a:xfrm>
            <a:prstGeom prst="rect">
              <a:avLst/>
            </a:prstGeom>
            <a:noFill/>
          </p:spPr>
          <p:txBody>
            <a:bodyPr wrap="none" rtlCol="0">
              <a:spAutoFit/>
            </a:bodyPr>
            <a:lstStyle/>
            <a:p>
              <a:r>
                <a:rPr lang="en-US" dirty="0"/>
                <a:t>24</a:t>
              </a:r>
            </a:p>
          </p:txBody>
        </p:sp>
      </p:grpSp>
      <p:sp>
        <p:nvSpPr>
          <p:cNvPr id="25" name="TextBox 24"/>
          <p:cNvSpPr txBox="1"/>
          <p:nvPr/>
        </p:nvSpPr>
        <p:spPr>
          <a:xfrm>
            <a:off x="634021" y="3975485"/>
            <a:ext cx="395794" cy="430887"/>
          </a:xfrm>
          <a:prstGeom prst="rect">
            <a:avLst/>
          </a:prstGeom>
          <a:noFill/>
        </p:spPr>
        <p:txBody>
          <a:bodyPr wrap="square" rtlCol="0">
            <a:spAutoFit/>
          </a:bodyPr>
          <a:lstStyle/>
          <a:p>
            <a:r>
              <a:rPr lang="en-US" sz="2200" dirty="0"/>
              <a:t>2.</a:t>
            </a:r>
          </a:p>
        </p:txBody>
      </p:sp>
      <p:sp>
        <p:nvSpPr>
          <p:cNvPr id="26" name="Rectangle 25"/>
          <p:cNvSpPr/>
          <p:nvPr/>
        </p:nvSpPr>
        <p:spPr>
          <a:xfrm>
            <a:off x="917768" y="5793584"/>
            <a:ext cx="7542664" cy="707886"/>
          </a:xfrm>
          <a:prstGeom prst="rect">
            <a:avLst/>
          </a:prstGeom>
        </p:spPr>
        <p:txBody>
          <a:bodyPr wrap="square">
            <a:spAutoFit/>
          </a:bodyPr>
          <a:lstStyle/>
          <a:p>
            <a:r>
              <a:rPr lang="en-US" sz="2000" dirty="0"/>
              <a:t>All three have the same amount of business. Where they should built the company ?</a:t>
            </a:r>
          </a:p>
        </p:txBody>
      </p:sp>
    </p:spTree>
    <p:extLst>
      <p:ext uri="{BB962C8B-B14F-4D97-AF65-F5344CB8AC3E}">
        <p14:creationId xmlns:p14="http://schemas.microsoft.com/office/powerpoint/2010/main" val="3266880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quarter" idx="1"/>
            <p:extLst>
              <p:ext uri="{D42A27DB-BD31-4B8C-83A1-F6EECF244321}">
                <p14:modId xmlns:p14="http://schemas.microsoft.com/office/powerpoint/2010/main" val="139836069"/>
              </p:ext>
            </p:extLst>
          </p:nvPr>
        </p:nvGraphicFramePr>
        <p:xfrm>
          <a:off x="1475656" y="1052736"/>
          <a:ext cx="6696744" cy="1947664"/>
        </p:xfrm>
        <a:graphic>
          <a:graphicData uri="http://schemas.openxmlformats.org/drawingml/2006/table">
            <a:tbl>
              <a:tblPr firstRow="1" bandRow="1">
                <a:tableStyleId>{5C22544A-7EE6-4342-B048-85BDC9FD1C3A}</a:tableStyleId>
              </a:tblPr>
              <a:tblGrid>
                <a:gridCol w="1674186">
                  <a:extLst>
                    <a:ext uri="{9D8B030D-6E8A-4147-A177-3AD203B41FA5}">
                      <a16:colId xmlns:a16="http://schemas.microsoft.com/office/drawing/2014/main" val="20000"/>
                    </a:ext>
                  </a:extLst>
                </a:gridCol>
                <a:gridCol w="1674186">
                  <a:extLst>
                    <a:ext uri="{9D8B030D-6E8A-4147-A177-3AD203B41FA5}">
                      <a16:colId xmlns:a16="http://schemas.microsoft.com/office/drawing/2014/main" val="20001"/>
                    </a:ext>
                  </a:extLst>
                </a:gridCol>
                <a:gridCol w="1674186">
                  <a:extLst>
                    <a:ext uri="{9D8B030D-6E8A-4147-A177-3AD203B41FA5}">
                      <a16:colId xmlns:a16="http://schemas.microsoft.com/office/drawing/2014/main" val="20002"/>
                    </a:ext>
                  </a:extLst>
                </a:gridCol>
                <a:gridCol w="1674186">
                  <a:extLst>
                    <a:ext uri="{9D8B030D-6E8A-4147-A177-3AD203B41FA5}">
                      <a16:colId xmlns:a16="http://schemas.microsoft.com/office/drawing/2014/main" val="20003"/>
                    </a:ext>
                  </a:extLst>
                </a:gridCol>
              </a:tblGrid>
              <a:tr h="576064">
                <a:tc>
                  <a:txBody>
                    <a:bodyPr/>
                    <a:lstStyle/>
                    <a:p>
                      <a:pPr algn="ctr"/>
                      <a:r>
                        <a:rPr lang="en-US" sz="2400" dirty="0">
                          <a:solidFill>
                            <a:schemeClr val="tx1"/>
                          </a:solidFill>
                        </a:rPr>
                        <a:t>A \ B</a:t>
                      </a:r>
                    </a:p>
                  </a:txBody>
                  <a:tcPr>
                    <a:solidFill>
                      <a:schemeClr val="accent1">
                        <a:lumMod val="75000"/>
                      </a:schemeClr>
                    </a:solidFill>
                  </a:tcPr>
                </a:tc>
                <a:tc>
                  <a:txBody>
                    <a:bodyPr/>
                    <a:lstStyle/>
                    <a:p>
                      <a:pPr algn="ctr"/>
                      <a:r>
                        <a:rPr lang="en-US" sz="2400" dirty="0">
                          <a:solidFill>
                            <a:schemeClr val="tx1"/>
                          </a:solidFill>
                        </a:rPr>
                        <a:t>1</a:t>
                      </a:r>
                    </a:p>
                  </a:txBody>
                  <a:tcPr>
                    <a:solidFill>
                      <a:schemeClr val="accent1">
                        <a:lumMod val="75000"/>
                      </a:schemeClr>
                    </a:solidFill>
                  </a:tcPr>
                </a:tc>
                <a:tc>
                  <a:txBody>
                    <a:bodyPr/>
                    <a:lstStyle/>
                    <a:p>
                      <a:pPr algn="ctr"/>
                      <a:r>
                        <a:rPr lang="en-US" sz="2400" dirty="0">
                          <a:solidFill>
                            <a:schemeClr val="tx1"/>
                          </a:solidFill>
                        </a:rPr>
                        <a:t>2</a:t>
                      </a:r>
                    </a:p>
                  </a:txBody>
                  <a:tcPr>
                    <a:solidFill>
                      <a:schemeClr val="accent1">
                        <a:lumMod val="75000"/>
                      </a:schemeClr>
                    </a:solidFill>
                  </a:tcPr>
                </a:tc>
                <a:tc>
                  <a:txBody>
                    <a:bodyPr/>
                    <a:lstStyle/>
                    <a:p>
                      <a:pPr algn="ctr"/>
                      <a:r>
                        <a:rPr lang="en-US" sz="2400" dirty="0">
                          <a:solidFill>
                            <a:schemeClr val="tx1"/>
                          </a:solidFill>
                        </a:rPr>
                        <a:t>3</a:t>
                      </a:r>
                    </a:p>
                  </a:txBody>
                  <a:tcPr>
                    <a:solidFill>
                      <a:schemeClr val="accent1">
                        <a:lumMod val="75000"/>
                      </a:schemeClr>
                    </a:solidFill>
                  </a:tcPr>
                </a:tc>
                <a:extLst>
                  <a:ext uri="{0D108BD9-81ED-4DB2-BD59-A6C34878D82A}">
                    <a16:rowId xmlns:a16="http://schemas.microsoft.com/office/drawing/2014/main" val="10000"/>
                  </a:ext>
                </a:extLst>
              </a:tr>
              <a:tr h="456862">
                <a:tc>
                  <a:txBody>
                    <a:bodyPr/>
                    <a:lstStyle/>
                    <a:p>
                      <a:pPr algn="ctr"/>
                      <a:r>
                        <a:rPr lang="en-US" sz="2400" b="1" dirty="0"/>
                        <a:t>1</a:t>
                      </a:r>
                    </a:p>
                  </a:txBody>
                  <a:tcPr>
                    <a:solidFill>
                      <a:schemeClr val="accent1">
                        <a:lumMod val="75000"/>
                      </a:schemeClr>
                    </a:solidFill>
                  </a:tcPr>
                </a:tc>
                <a:tc>
                  <a:txBody>
                    <a:bodyPr/>
                    <a:lstStyle/>
                    <a:p>
                      <a:pPr algn="ctr"/>
                      <a:r>
                        <a:rPr lang="en-US" sz="2400" dirty="0"/>
                        <a:t>2 , 11</a:t>
                      </a:r>
                    </a:p>
                  </a:txBody>
                  <a:tcPr/>
                </a:tc>
                <a:tc>
                  <a:txBody>
                    <a:bodyPr/>
                    <a:lstStyle/>
                    <a:p>
                      <a:pPr algn="ctr"/>
                      <a:r>
                        <a:rPr lang="en-US" sz="2400" dirty="0"/>
                        <a:t>8 , 2</a:t>
                      </a:r>
                    </a:p>
                  </a:txBody>
                  <a:tcPr/>
                </a:tc>
                <a:tc>
                  <a:txBody>
                    <a:bodyPr/>
                    <a:lstStyle/>
                    <a:p>
                      <a:pPr algn="ctr"/>
                      <a:r>
                        <a:rPr lang="en-US" sz="2400" dirty="0"/>
                        <a:t>1, 20</a:t>
                      </a:r>
                    </a:p>
                  </a:txBody>
                  <a:tcPr/>
                </a:tc>
                <a:extLst>
                  <a:ext uri="{0D108BD9-81ED-4DB2-BD59-A6C34878D82A}">
                    <a16:rowId xmlns:a16="http://schemas.microsoft.com/office/drawing/2014/main" val="10001"/>
                  </a:ext>
                </a:extLst>
              </a:tr>
              <a:tr h="456862">
                <a:tc>
                  <a:txBody>
                    <a:bodyPr/>
                    <a:lstStyle/>
                    <a:p>
                      <a:pPr algn="ctr"/>
                      <a:r>
                        <a:rPr lang="en-US" sz="2400" b="1" dirty="0"/>
                        <a:t>2</a:t>
                      </a:r>
                    </a:p>
                  </a:txBody>
                  <a:tcPr>
                    <a:solidFill>
                      <a:schemeClr val="accent1">
                        <a:lumMod val="75000"/>
                      </a:schemeClr>
                    </a:solidFill>
                  </a:tcPr>
                </a:tc>
                <a:tc>
                  <a:txBody>
                    <a:bodyPr/>
                    <a:lstStyle/>
                    <a:p>
                      <a:pPr algn="ctr"/>
                      <a:r>
                        <a:rPr lang="en-US" sz="2400" dirty="0"/>
                        <a:t>4 , 9</a:t>
                      </a:r>
                    </a:p>
                  </a:txBody>
                  <a:tcPr/>
                </a:tc>
                <a:tc>
                  <a:txBody>
                    <a:bodyPr/>
                    <a:lstStyle/>
                    <a:p>
                      <a:pPr algn="ctr"/>
                      <a:r>
                        <a:rPr lang="en-US" sz="2400" dirty="0"/>
                        <a:t>3 , 15</a:t>
                      </a:r>
                    </a:p>
                  </a:txBody>
                  <a:tcPr/>
                </a:tc>
                <a:tc>
                  <a:txBody>
                    <a:bodyPr/>
                    <a:lstStyle/>
                    <a:p>
                      <a:pPr algn="ctr"/>
                      <a:r>
                        <a:rPr lang="en-US" sz="2400" dirty="0"/>
                        <a:t> 9 , 3</a:t>
                      </a:r>
                    </a:p>
                  </a:txBody>
                  <a:tcPr/>
                </a:tc>
                <a:extLst>
                  <a:ext uri="{0D108BD9-81ED-4DB2-BD59-A6C34878D82A}">
                    <a16:rowId xmlns:a16="http://schemas.microsoft.com/office/drawing/2014/main" val="10002"/>
                  </a:ext>
                </a:extLst>
              </a:tr>
              <a:tr h="456862">
                <a:tc>
                  <a:txBody>
                    <a:bodyPr/>
                    <a:lstStyle/>
                    <a:p>
                      <a:pPr algn="ctr"/>
                      <a:r>
                        <a:rPr lang="en-US" sz="2400" b="1" dirty="0"/>
                        <a:t>3</a:t>
                      </a:r>
                    </a:p>
                  </a:txBody>
                  <a:tcPr>
                    <a:solidFill>
                      <a:schemeClr val="accent1">
                        <a:lumMod val="75000"/>
                      </a:schemeClr>
                    </a:solidFill>
                  </a:tcPr>
                </a:tc>
                <a:tc>
                  <a:txBody>
                    <a:bodyPr/>
                    <a:lstStyle/>
                    <a:p>
                      <a:pPr algn="ctr"/>
                      <a:r>
                        <a:rPr lang="en-US" sz="2400" dirty="0"/>
                        <a:t>6 , 8</a:t>
                      </a:r>
                    </a:p>
                  </a:txBody>
                  <a:tcPr/>
                </a:tc>
                <a:tc>
                  <a:txBody>
                    <a:bodyPr/>
                    <a:lstStyle/>
                    <a:p>
                      <a:pPr algn="ctr"/>
                      <a:r>
                        <a:rPr lang="en-US" sz="2400" dirty="0"/>
                        <a:t>5 , 7</a:t>
                      </a:r>
                    </a:p>
                  </a:txBody>
                  <a:tcPr/>
                </a:tc>
                <a:tc>
                  <a:txBody>
                    <a:bodyPr/>
                    <a:lstStyle/>
                    <a:p>
                      <a:pPr algn="ctr"/>
                      <a:r>
                        <a:rPr lang="en-US" sz="2400" dirty="0"/>
                        <a:t>7</a:t>
                      </a:r>
                      <a:r>
                        <a:rPr lang="en-US" sz="2400" baseline="0" dirty="0"/>
                        <a:t> , 6</a:t>
                      </a:r>
                      <a:endParaRPr lang="en-US" sz="2400" dirty="0"/>
                    </a:p>
                  </a:txBody>
                  <a:tcPr/>
                </a:tc>
                <a:extLst>
                  <a:ext uri="{0D108BD9-81ED-4DB2-BD59-A6C34878D82A}">
                    <a16:rowId xmlns:a16="http://schemas.microsoft.com/office/drawing/2014/main" val="10003"/>
                  </a:ext>
                </a:extLst>
              </a:tr>
            </a:tbl>
          </a:graphicData>
        </a:graphic>
      </p:graphicFrame>
      <p:sp>
        <p:nvSpPr>
          <p:cNvPr id="6" name="TextBox 5"/>
          <p:cNvSpPr txBox="1"/>
          <p:nvPr/>
        </p:nvSpPr>
        <p:spPr>
          <a:xfrm>
            <a:off x="719822" y="1024555"/>
            <a:ext cx="395794" cy="430887"/>
          </a:xfrm>
          <a:prstGeom prst="rect">
            <a:avLst/>
          </a:prstGeom>
          <a:noFill/>
        </p:spPr>
        <p:txBody>
          <a:bodyPr wrap="square" rtlCol="0">
            <a:spAutoFit/>
          </a:bodyPr>
          <a:lstStyle/>
          <a:p>
            <a:r>
              <a:rPr lang="en-US" sz="2200" dirty="0"/>
              <a:t>3.</a:t>
            </a:r>
          </a:p>
        </p:txBody>
      </p:sp>
      <p:sp>
        <p:nvSpPr>
          <p:cNvPr id="7" name="Rectangle 6"/>
          <p:cNvSpPr/>
          <p:nvPr/>
        </p:nvSpPr>
        <p:spPr>
          <a:xfrm>
            <a:off x="719822" y="3212976"/>
            <a:ext cx="7596594" cy="2677656"/>
          </a:xfrm>
          <a:prstGeom prst="rect">
            <a:avLst/>
          </a:prstGeom>
        </p:spPr>
        <p:txBody>
          <a:bodyPr wrap="square">
            <a:spAutoFit/>
          </a:bodyPr>
          <a:lstStyle/>
          <a:p>
            <a:pPr marL="457200" indent="-457200" algn="just"/>
            <a:r>
              <a:rPr lang="fi-FI" sz="2400" dirty="0"/>
              <a:t>4.	Dua orang politik ingin melakukan orasi politik untuk merekrut sebanyak-banyaknya pendukung dari dua hari masa kampanye yang tersisa di dua kota. Mereka ingin mengambil keputusan untuk memilih strategi terbaiknya dari tiga trategi yang mungkin supaya mendapat hati pemilih sebanyak-banyaknya. Ketiga strategi itu dijabarkan sebagai berikut :</a:t>
            </a:r>
            <a:endParaRPr lang="en-US" sz="2400" b="1" dirty="0"/>
          </a:p>
        </p:txBody>
      </p:sp>
    </p:spTree>
    <p:extLst>
      <p:ext uri="{BB962C8B-B14F-4D97-AF65-F5344CB8AC3E}">
        <p14:creationId xmlns:p14="http://schemas.microsoft.com/office/powerpoint/2010/main" val="6560342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55576" y="474345"/>
            <a:ext cx="7632848" cy="3416320"/>
          </a:xfrm>
          <a:prstGeom prst="rect">
            <a:avLst/>
          </a:prstGeom>
        </p:spPr>
        <p:txBody>
          <a:bodyPr wrap="square">
            <a:spAutoFit/>
          </a:bodyPr>
          <a:lstStyle/>
          <a:p>
            <a:pPr marL="117475" algn="just"/>
            <a:r>
              <a:rPr lang="fi-FI" sz="2400" dirty="0"/>
              <a:t>1. Melakukan orasi masing-masing satu hari disetiap kota. </a:t>
            </a:r>
            <a:endParaRPr lang="en-US" sz="2400" b="1" dirty="0"/>
          </a:p>
          <a:p>
            <a:pPr marL="117475" algn="just"/>
            <a:r>
              <a:rPr lang="fi-FI" sz="2400" dirty="0"/>
              <a:t>2. Melakukan orasi dua hari penuh di kota satu. </a:t>
            </a:r>
            <a:endParaRPr lang="en-US" sz="2400" b="1" dirty="0"/>
          </a:p>
          <a:p>
            <a:pPr marL="117475" algn="just"/>
            <a:r>
              <a:rPr lang="fi-FI" sz="2400" dirty="0"/>
              <a:t>3. Melakukan orasi dua hari penuh di kota kedua. </a:t>
            </a:r>
            <a:endParaRPr lang="en-US" sz="2400" b="1" dirty="0"/>
          </a:p>
          <a:p>
            <a:endParaRPr lang="en-US" sz="2400" dirty="0"/>
          </a:p>
          <a:p>
            <a:pPr algn="just"/>
            <a:r>
              <a:rPr lang="fi-FI" sz="2400" dirty="0"/>
              <a:t>Untuk kasus ini ada tiga skenario pembuatan matrik keuntungannya. </a:t>
            </a:r>
            <a:r>
              <a:rPr lang="es-ES" sz="2400" dirty="0" err="1"/>
              <a:t>Skenario</a:t>
            </a:r>
            <a:r>
              <a:rPr lang="es-ES" sz="2400" dirty="0"/>
              <a:t> </a:t>
            </a:r>
            <a:r>
              <a:rPr lang="es-ES" sz="2400" dirty="0" err="1"/>
              <a:t>pertama</a:t>
            </a:r>
            <a:r>
              <a:rPr lang="es-ES" sz="2400" dirty="0"/>
              <a:t> </a:t>
            </a:r>
            <a:r>
              <a:rPr lang="es-ES" sz="2400" dirty="0" err="1"/>
              <a:t>dinyatakan</a:t>
            </a:r>
            <a:r>
              <a:rPr lang="es-ES" sz="2400" dirty="0"/>
              <a:t> pada </a:t>
            </a:r>
            <a:r>
              <a:rPr lang="es-ES" sz="2400" dirty="0" err="1"/>
              <a:t>Tabel</a:t>
            </a:r>
            <a:r>
              <a:rPr lang="es-ES" sz="2400" dirty="0"/>
              <a:t> 3a. </a:t>
            </a:r>
            <a:r>
              <a:rPr lang="es-ES" sz="2400" dirty="0" err="1"/>
              <a:t>Skenario</a:t>
            </a:r>
            <a:r>
              <a:rPr lang="es-ES" sz="2400" dirty="0"/>
              <a:t> </a:t>
            </a:r>
            <a:r>
              <a:rPr lang="es-ES" sz="2400" dirty="0" err="1"/>
              <a:t>kedua</a:t>
            </a:r>
            <a:r>
              <a:rPr lang="es-ES" sz="2400" dirty="0"/>
              <a:t> </a:t>
            </a:r>
            <a:r>
              <a:rPr lang="es-ES" sz="2400" dirty="0" err="1"/>
              <a:t>dinyatakan</a:t>
            </a:r>
            <a:r>
              <a:rPr lang="es-ES" sz="2400" dirty="0"/>
              <a:t> pada </a:t>
            </a:r>
            <a:r>
              <a:rPr lang="es-ES" sz="2400" dirty="0" err="1"/>
              <a:t>Tabel</a:t>
            </a:r>
            <a:r>
              <a:rPr lang="es-ES" sz="2400" dirty="0"/>
              <a:t> 3b dan s</a:t>
            </a:r>
            <a:r>
              <a:rPr lang="fi-FI" sz="2400" dirty="0"/>
              <a:t>kenario ketiga dinyatakan pada Tabel 3c. Apa keputusan dari masing masing skenario ? Jelaskan</a:t>
            </a:r>
            <a:endParaRPr lang="en-US" sz="2400" dirty="0"/>
          </a:p>
        </p:txBody>
      </p:sp>
      <p:graphicFrame>
        <p:nvGraphicFramePr>
          <p:cNvPr id="3" name="Table 2"/>
          <p:cNvGraphicFramePr>
            <a:graphicFrameLocks noGrp="1"/>
          </p:cNvGraphicFramePr>
          <p:nvPr>
            <p:extLst>
              <p:ext uri="{D42A27DB-BD31-4B8C-83A1-F6EECF244321}">
                <p14:modId xmlns:p14="http://schemas.microsoft.com/office/powerpoint/2010/main" val="2966739043"/>
              </p:ext>
            </p:extLst>
          </p:nvPr>
        </p:nvGraphicFramePr>
        <p:xfrm>
          <a:off x="782246" y="4553178"/>
          <a:ext cx="7391399" cy="1413510"/>
        </p:xfrm>
        <a:graphic>
          <a:graphicData uri="http://schemas.openxmlformats.org/drawingml/2006/table">
            <a:tbl>
              <a:tblPr firstRow="1" firstCol="1" lastRow="1" lastCol="1" bandRow="1" bandCol="1">
                <a:tableStyleId>{5C22544A-7EE6-4342-B048-85BDC9FD1C3A}</a:tableStyleId>
              </a:tblPr>
              <a:tblGrid>
                <a:gridCol w="1865589">
                  <a:extLst>
                    <a:ext uri="{9D8B030D-6E8A-4147-A177-3AD203B41FA5}">
                      <a16:colId xmlns:a16="http://schemas.microsoft.com/office/drawing/2014/main" val="20000"/>
                    </a:ext>
                  </a:extLst>
                </a:gridCol>
                <a:gridCol w="1864111">
                  <a:extLst>
                    <a:ext uri="{9D8B030D-6E8A-4147-A177-3AD203B41FA5}">
                      <a16:colId xmlns:a16="http://schemas.microsoft.com/office/drawing/2014/main" val="20001"/>
                    </a:ext>
                  </a:extLst>
                </a:gridCol>
                <a:gridCol w="1864111">
                  <a:extLst>
                    <a:ext uri="{9D8B030D-6E8A-4147-A177-3AD203B41FA5}">
                      <a16:colId xmlns:a16="http://schemas.microsoft.com/office/drawing/2014/main" val="20002"/>
                    </a:ext>
                  </a:extLst>
                </a:gridCol>
                <a:gridCol w="1797588">
                  <a:extLst>
                    <a:ext uri="{9D8B030D-6E8A-4147-A177-3AD203B41FA5}">
                      <a16:colId xmlns:a16="http://schemas.microsoft.com/office/drawing/2014/main" val="20003"/>
                    </a:ext>
                  </a:extLst>
                </a:gridCol>
              </a:tblGrid>
              <a:tr h="282702">
                <a:tc rowSpan="2">
                  <a:txBody>
                    <a:bodyPr/>
                    <a:lstStyle/>
                    <a:p>
                      <a:pPr marL="0" marR="0" algn="ctr">
                        <a:spcBef>
                          <a:spcPts val="0"/>
                        </a:spcBef>
                        <a:spcAft>
                          <a:spcPts val="0"/>
                        </a:spcAft>
                      </a:pPr>
                      <a:r>
                        <a:rPr lang="fi-FI" sz="1600" b="0" dirty="0">
                          <a:solidFill>
                            <a:schemeClr val="tx1"/>
                          </a:solidFill>
                          <a:effectLst/>
                        </a:rPr>
                        <a:t>Strategi </a:t>
                      </a:r>
                      <a:endParaRPr lang="en-US" sz="1600" b="0" dirty="0">
                        <a:solidFill>
                          <a:schemeClr val="tx1"/>
                        </a:solidFill>
                        <a:effectLst/>
                      </a:endParaRPr>
                    </a:p>
                    <a:p>
                      <a:pPr marL="0" marR="0" algn="ctr">
                        <a:spcBef>
                          <a:spcPts val="0"/>
                        </a:spcBef>
                        <a:spcAft>
                          <a:spcPts val="0"/>
                        </a:spcAft>
                      </a:pPr>
                      <a:r>
                        <a:rPr lang="fi-FI" sz="1600" b="0" dirty="0">
                          <a:solidFill>
                            <a:schemeClr val="tx1"/>
                          </a:solidFill>
                          <a:effectLst/>
                        </a:rPr>
                        <a:t>Politikus Baris</a:t>
                      </a:r>
                      <a:endParaRPr lang="en-US" sz="1600" b="0" dirty="0">
                        <a:solidFill>
                          <a:schemeClr val="tx1"/>
                        </a:solidFill>
                        <a:effectLst/>
                        <a:latin typeface="Times New Roman"/>
                        <a:ea typeface="Times New Roman"/>
                      </a:endParaRPr>
                    </a:p>
                  </a:txBody>
                  <a:tcPr marL="68580" marR="68580" marT="0" marB="0">
                    <a:solidFill>
                      <a:schemeClr val="accent3">
                        <a:lumMod val="60000"/>
                        <a:lumOff val="40000"/>
                      </a:schemeClr>
                    </a:solidFill>
                  </a:tcPr>
                </a:tc>
                <a:tc gridSpan="3">
                  <a:txBody>
                    <a:bodyPr/>
                    <a:lstStyle/>
                    <a:p>
                      <a:pPr marL="0" marR="0" algn="ctr">
                        <a:spcBef>
                          <a:spcPts val="0"/>
                        </a:spcBef>
                        <a:spcAft>
                          <a:spcPts val="0"/>
                        </a:spcAft>
                      </a:pPr>
                      <a:r>
                        <a:rPr lang="fi-FI" sz="1600" b="0">
                          <a:solidFill>
                            <a:schemeClr val="tx1"/>
                          </a:solidFill>
                          <a:effectLst/>
                        </a:rPr>
                        <a:t>Strategi Politikus Kolom</a:t>
                      </a:r>
                      <a:endParaRPr lang="en-US" sz="1600" b="0">
                        <a:solidFill>
                          <a:schemeClr val="tx1"/>
                        </a:solidFill>
                        <a:effectLst/>
                        <a:latin typeface="Times New Roman"/>
                        <a:ea typeface="Times New Roman"/>
                      </a:endParaRPr>
                    </a:p>
                  </a:txBody>
                  <a:tcPr marL="68580" marR="68580" marT="0" marB="0">
                    <a:solidFill>
                      <a:schemeClr val="accent3">
                        <a:lumMod val="60000"/>
                        <a:lumOff val="40000"/>
                      </a:scheme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82702">
                <a:tc vMerge="1">
                  <a:txBody>
                    <a:bodyPr/>
                    <a:lstStyle/>
                    <a:p>
                      <a:endParaRPr lang="en-US"/>
                    </a:p>
                  </a:txBody>
                  <a:tcPr/>
                </a:tc>
                <a:tc>
                  <a:txBody>
                    <a:bodyPr/>
                    <a:lstStyle/>
                    <a:p>
                      <a:pPr marL="0" marR="0" algn="ctr">
                        <a:spcBef>
                          <a:spcPts val="0"/>
                        </a:spcBef>
                        <a:spcAft>
                          <a:spcPts val="0"/>
                        </a:spcAft>
                      </a:pPr>
                      <a:r>
                        <a:rPr lang="fi-FI" sz="1600" b="0" dirty="0">
                          <a:solidFill>
                            <a:schemeClr val="tx1"/>
                          </a:solidFill>
                          <a:effectLst/>
                        </a:rPr>
                        <a:t>Strategi 1</a:t>
                      </a:r>
                      <a:endParaRPr lang="en-US" sz="1600" b="0" dirty="0">
                        <a:solidFill>
                          <a:schemeClr val="tx1"/>
                        </a:solidFill>
                        <a:effectLst/>
                        <a:latin typeface="Times New Roman"/>
                        <a:ea typeface="Times New Roman"/>
                      </a:endParaRPr>
                    </a:p>
                  </a:txBody>
                  <a:tcPr marL="68580" marR="68580" marT="0" marB="0">
                    <a:solidFill>
                      <a:schemeClr val="accent3">
                        <a:lumMod val="60000"/>
                        <a:lumOff val="40000"/>
                      </a:schemeClr>
                    </a:solidFill>
                  </a:tcPr>
                </a:tc>
                <a:tc>
                  <a:txBody>
                    <a:bodyPr/>
                    <a:lstStyle/>
                    <a:p>
                      <a:pPr marL="0" marR="0" algn="ctr">
                        <a:spcBef>
                          <a:spcPts val="0"/>
                        </a:spcBef>
                        <a:spcAft>
                          <a:spcPts val="0"/>
                        </a:spcAft>
                      </a:pPr>
                      <a:r>
                        <a:rPr lang="fi-FI" sz="1600" b="0" dirty="0">
                          <a:solidFill>
                            <a:schemeClr val="tx1"/>
                          </a:solidFill>
                          <a:effectLst/>
                        </a:rPr>
                        <a:t>Strategi 2</a:t>
                      </a:r>
                      <a:endParaRPr lang="en-US" sz="1600" b="0" dirty="0">
                        <a:solidFill>
                          <a:schemeClr val="tx1"/>
                        </a:solidFill>
                        <a:effectLst/>
                        <a:latin typeface="Times New Roman"/>
                        <a:ea typeface="Times New Roman"/>
                      </a:endParaRPr>
                    </a:p>
                  </a:txBody>
                  <a:tcPr marL="68580" marR="68580" marT="0" marB="0">
                    <a:solidFill>
                      <a:schemeClr val="accent3">
                        <a:lumMod val="60000"/>
                        <a:lumOff val="40000"/>
                      </a:schemeClr>
                    </a:solidFill>
                  </a:tcPr>
                </a:tc>
                <a:tc>
                  <a:txBody>
                    <a:bodyPr/>
                    <a:lstStyle/>
                    <a:p>
                      <a:pPr marL="0" marR="0" algn="ctr">
                        <a:spcBef>
                          <a:spcPts val="0"/>
                        </a:spcBef>
                        <a:spcAft>
                          <a:spcPts val="0"/>
                        </a:spcAft>
                      </a:pPr>
                      <a:r>
                        <a:rPr lang="fi-FI" sz="1600" b="0" dirty="0">
                          <a:solidFill>
                            <a:schemeClr val="tx1"/>
                          </a:solidFill>
                          <a:effectLst/>
                        </a:rPr>
                        <a:t>Strategi 3</a:t>
                      </a:r>
                      <a:endParaRPr lang="en-US" sz="1600" b="0" dirty="0">
                        <a:solidFill>
                          <a:schemeClr val="tx1"/>
                        </a:solidFill>
                        <a:effectLst/>
                        <a:latin typeface="Times New Roman"/>
                        <a:ea typeface="Times New Roman"/>
                      </a:endParaRPr>
                    </a:p>
                  </a:txBody>
                  <a:tcPr marL="68580" marR="68580" marT="0" marB="0">
                    <a:solidFill>
                      <a:schemeClr val="accent3">
                        <a:lumMod val="60000"/>
                        <a:lumOff val="40000"/>
                      </a:schemeClr>
                    </a:solidFill>
                  </a:tcPr>
                </a:tc>
                <a:extLst>
                  <a:ext uri="{0D108BD9-81ED-4DB2-BD59-A6C34878D82A}">
                    <a16:rowId xmlns:a16="http://schemas.microsoft.com/office/drawing/2014/main" val="10001"/>
                  </a:ext>
                </a:extLst>
              </a:tr>
              <a:tr h="282702">
                <a:tc>
                  <a:txBody>
                    <a:bodyPr/>
                    <a:lstStyle/>
                    <a:p>
                      <a:pPr marL="0" marR="0" algn="ctr">
                        <a:spcBef>
                          <a:spcPts val="0"/>
                        </a:spcBef>
                        <a:spcAft>
                          <a:spcPts val="0"/>
                        </a:spcAft>
                      </a:pPr>
                      <a:r>
                        <a:rPr lang="fi-FI" sz="1600" b="0">
                          <a:solidFill>
                            <a:schemeClr val="tx1"/>
                          </a:solidFill>
                          <a:effectLst/>
                        </a:rPr>
                        <a:t>Strategi 1</a:t>
                      </a:r>
                      <a:endParaRPr lang="en-US" sz="1600" b="0">
                        <a:solidFill>
                          <a:schemeClr val="tx1"/>
                        </a:solidFill>
                        <a:effectLst/>
                        <a:latin typeface="Times New Roman"/>
                        <a:ea typeface="Times New Roman"/>
                      </a:endParaRPr>
                    </a:p>
                  </a:txBody>
                  <a:tcPr marL="68580" marR="68580" marT="0" marB="0">
                    <a:solidFill>
                      <a:schemeClr val="accent3">
                        <a:lumMod val="60000"/>
                        <a:lumOff val="40000"/>
                      </a:schemeClr>
                    </a:solidFill>
                  </a:tcPr>
                </a:tc>
                <a:tc>
                  <a:txBody>
                    <a:bodyPr/>
                    <a:lstStyle/>
                    <a:p>
                      <a:pPr marL="0" marR="0" algn="ctr">
                        <a:spcBef>
                          <a:spcPts val="0"/>
                        </a:spcBef>
                        <a:spcAft>
                          <a:spcPts val="0"/>
                        </a:spcAft>
                      </a:pPr>
                      <a:r>
                        <a:rPr lang="en-US" sz="1600" b="0">
                          <a:solidFill>
                            <a:schemeClr val="tx1"/>
                          </a:solidFill>
                          <a:effectLst/>
                        </a:rPr>
                        <a:t>1</a:t>
                      </a:r>
                      <a:endParaRPr lang="en-US" sz="1600" b="0">
                        <a:solidFill>
                          <a:schemeClr val="tx1"/>
                        </a:solidFill>
                        <a:effectLst/>
                        <a:latin typeface="Times New Roman"/>
                        <a:ea typeface="Times New Roman"/>
                      </a:endParaRPr>
                    </a:p>
                  </a:txBody>
                  <a:tcPr marL="68580" marR="68580" marT="0" marB="0">
                    <a:solidFill>
                      <a:srgbClr val="FFC000"/>
                    </a:solidFill>
                  </a:tcPr>
                </a:tc>
                <a:tc>
                  <a:txBody>
                    <a:bodyPr/>
                    <a:lstStyle/>
                    <a:p>
                      <a:pPr marL="0" marR="0" algn="ctr">
                        <a:spcBef>
                          <a:spcPts val="0"/>
                        </a:spcBef>
                        <a:spcAft>
                          <a:spcPts val="0"/>
                        </a:spcAft>
                      </a:pPr>
                      <a:r>
                        <a:rPr lang="en-US" sz="1600" b="0">
                          <a:solidFill>
                            <a:schemeClr val="tx1"/>
                          </a:solidFill>
                          <a:effectLst/>
                        </a:rPr>
                        <a:t>2</a:t>
                      </a:r>
                      <a:endParaRPr lang="en-US" sz="1600" b="0">
                        <a:solidFill>
                          <a:schemeClr val="tx1"/>
                        </a:solidFill>
                        <a:effectLst/>
                        <a:latin typeface="Times New Roman"/>
                        <a:ea typeface="Times New Roman"/>
                      </a:endParaRPr>
                    </a:p>
                  </a:txBody>
                  <a:tcPr marL="68580" marR="68580" marT="0" marB="0">
                    <a:solidFill>
                      <a:srgbClr val="FFC000"/>
                    </a:solidFill>
                  </a:tcPr>
                </a:tc>
                <a:tc>
                  <a:txBody>
                    <a:bodyPr/>
                    <a:lstStyle/>
                    <a:p>
                      <a:pPr marL="0" marR="0" algn="ctr">
                        <a:spcBef>
                          <a:spcPts val="0"/>
                        </a:spcBef>
                        <a:spcAft>
                          <a:spcPts val="0"/>
                        </a:spcAft>
                      </a:pPr>
                      <a:r>
                        <a:rPr lang="en-US" sz="1600" b="0">
                          <a:solidFill>
                            <a:schemeClr val="tx1"/>
                          </a:solidFill>
                          <a:effectLst/>
                        </a:rPr>
                        <a:t>4</a:t>
                      </a:r>
                      <a:endParaRPr lang="en-US" sz="1600" b="0">
                        <a:solidFill>
                          <a:schemeClr val="tx1"/>
                        </a:solidFill>
                        <a:effectLst/>
                        <a:latin typeface="Times New Roman"/>
                        <a:ea typeface="Times New Roman"/>
                      </a:endParaRPr>
                    </a:p>
                  </a:txBody>
                  <a:tcPr marL="68580" marR="68580" marT="0" marB="0">
                    <a:solidFill>
                      <a:srgbClr val="FFC000"/>
                    </a:solidFill>
                  </a:tcPr>
                </a:tc>
                <a:extLst>
                  <a:ext uri="{0D108BD9-81ED-4DB2-BD59-A6C34878D82A}">
                    <a16:rowId xmlns:a16="http://schemas.microsoft.com/office/drawing/2014/main" val="10002"/>
                  </a:ext>
                </a:extLst>
              </a:tr>
              <a:tr h="282702">
                <a:tc>
                  <a:txBody>
                    <a:bodyPr/>
                    <a:lstStyle/>
                    <a:p>
                      <a:pPr marL="0" marR="0" algn="ctr">
                        <a:spcBef>
                          <a:spcPts val="0"/>
                        </a:spcBef>
                        <a:spcAft>
                          <a:spcPts val="0"/>
                        </a:spcAft>
                      </a:pPr>
                      <a:r>
                        <a:rPr lang="fi-FI" sz="1600" b="0">
                          <a:solidFill>
                            <a:schemeClr val="tx1"/>
                          </a:solidFill>
                          <a:effectLst/>
                        </a:rPr>
                        <a:t>Strategi 2</a:t>
                      </a:r>
                      <a:endParaRPr lang="en-US" sz="1600" b="0">
                        <a:solidFill>
                          <a:schemeClr val="tx1"/>
                        </a:solidFill>
                        <a:effectLst/>
                        <a:latin typeface="Times New Roman"/>
                        <a:ea typeface="Times New Roman"/>
                      </a:endParaRPr>
                    </a:p>
                  </a:txBody>
                  <a:tcPr marL="68580" marR="68580" marT="0" marB="0">
                    <a:solidFill>
                      <a:schemeClr val="accent3">
                        <a:lumMod val="60000"/>
                        <a:lumOff val="40000"/>
                      </a:schemeClr>
                    </a:solidFill>
                  </a:tcPr>
                </a:tc>
                <a:tc>
                  <a:txBody>
                    <a:bodyPr/>
                    <a:lstStyle/>
                    <a:p>
                      <a:pPr marL="0" marR="0" algn="ctr">
                        <a:spcBef>
                          <a:spcPts val="0"/>
                        </a:spcBef>
                        <a:spcAft>
                          <a:spcPts val="0"/>
                        </a:spcAft>
                      </a:pPr>
                      <a:r>
                        <a:rPr lang="en-US" sz="1600" b="0">
                          <a:solidFill>
                            <a:schemeClr val="tx1"/>
                          </a:solidFill>
                          <a:effectLst/>
                        </a:rPr>
                        <a:t>1</a:t>
                      </a:r>
                      <a:endParaRPr lang="en-US" sz="1600" b="0">
                        <a:solidFill>
                          <a:schemeClr val="tx1"/>
                        </a:solidFill>
                        <a:effectLst/>
                        <a:latin typeface="Times New Roman"/>
                        <a:ea typeface="Times New Roman"/>
                      </a:endParaRPr>
                    </a:p>
                  </a:txBody>
                  <a:tcPr marL="68580" marR="68580" marT="0" marB="0">
                    <a:solidFill>
                      <a:srgbClr val="FFC000"/>
                    </a:solidFill>
                  </a:tcPr>
                </a:tc>
                <a:tc>
                  <a:txBody>
                    <a:bodyPr/>
                    <a:lstStyle/>
                    <a:p>
                      <a:pPr marL="0" marR="0" algn="ctr">
                        <a:spcBef>
                          <a:spcPts val="0"/>
                        </a:spcBef>
                        <a:spcAft>
                          <a:spcPts val="0"/>
                        </a:spcAft>
                      </a:pPr>
                      <a:r>
                        <a:rPr lang="en-US" sz="1600" b="0">
                          <a:solidFill>
                            <a:schemeClr val="tx1"/>
                          </a:solidFill>
                          <a:effectLst/>
                        </a:rPr>
                        <a:t>0</a:t>
                      </a:r>
                      <a:endParaRPr lang="en-US" sz="1600" b="0">
                        <a:solidFill>
                          <a:schemeClr val="tx1"/>
                        </a:solidFill>
                        <a:effectLst/>
                        <a:latin typeface="Times New Roman"/>
                        <a:ea typeface="Times New Roman"/>
                      </a:endParaRPr>
                    </a:p>
                  </a:txBody>
                  <a:tcPr marL="68580" marR="68580" marT="0" marB="0">
                    <a:solidFill>
                      <a:srgbClr val="FFC000"/>
                    </a:solidFill>
                  </a:tcPr>
                </a:tc>
                <a:tc>
                  <a:txBody>
                    <a:bodyPr/>
                    <a:lstStyle/>
                    <a:p>
                      <a:pPr marL="0" marR="0" algn="ctr">
                        <a:spcBef>
                          <a:spcPts val="0"/>
                        </a:spcBef>
                        <a:spcAft>
                          <a:spcPts val="0"/>
                        </a:spcAft>
                      </a:pPr>
                      <a:r>
                        <a:rPr lang="en-US" sz="1600" b="0">
                          <a:solidFill>
                            <a:schemeClr val="tx1"/>
                          </a:solidFill>
                          <a:effectLst/>
                        </a:rPr>
                        <a:t>5</a:t>
                      </a:r>
                      <a:endParaRPr lang="en-US" sz="1600" b="0">
                        <a:solidFill>
                          <a:schemeClr val="tx1"/>
                        </a:solidFill>
                        <a:effectLst/>
                        <a:latin typeface="Times New Roman"/>
                        <a:ea typeface="Times New Roman"/>
                      </a:endParaRPr>
                    </a:p>
                  </a:txBody>
                  <a:tcPr marL="68580" marR="68580" marT="0" marB="0">
                    <a:solidFill>
                      <a:srgbClr val="FFC000"/>
                    </a:solidFill>
                  </a:tcPr>
                </a:tc>
                <a:extLst>
                  <a:ext uri="{0D108BD9-81ED-4DB2-BD59-A6C34878D82A}">
                    <a16:rowId xmlns:a16="http://schemas.microsoft.com/office/drawing/2014/main" val="10003"/>
                  </a:ext>
                </a:extLst>
              </a:tr>
              <a:tr h="282702">
                <a:tc>
                  <a:txBody>
                    <a:bodyPr/>
                    <a:lstStyle/>
                    <a:p>
                      <a:pPr marL="0" marR="0" algn="ctr">
                        <a:spcBef>
                          <a:spcPts val="0"/>
                        </a:spcBef>
                        <a:spcAft>
                          <a:spcPts val="0"/>
                        </a:spcAft>
                      </a:pPr>
                      <a:r>
                        <a:rPr lang="fi-FI" sz="1600" b="0" dirty="0">
                          <a:solidFill>
                            <a:schemeClr val="tx1"/>
                          </a:solidFill>
                          <a:effectLst/>
                        </a:rPr>
                        <a:t>Strategi 3</a:t>
                      </a:r>
                      <a:endParaRPr lang="en-US" sz="1600" b="0" dirty="0">
                        <a:solidFill>
                          <a:schemeClr val="tx1"/>
                        </a:solidFill>
                        <a:effectLst/>
                        <a:latin typeface="Times New Roman"/>
                        <a:ea typeface="Times New Roman"/>
                      </a:endParaRPr>
                    </a:p>
                  </a:txBody>
                  <a:tcPr marL="68580" marR="68580" marT="0" marB="0">
                    <a:solidFill>
                      <a:schemeClr val="accent3">
                        <a:lumMod val="60000"/>
                        <a:lumOff val="40000"/>
                      </a:schemeClr>
                    </a:solidFill>
                  </a:tcPr>
                </a:tc>
                <a:tc>
                  <a:txBody>
                    <a:bodyPr/>
                    <a:lstStyle/>
                    <a:p>
                      <a:pPr marL="0" marR="0" algn="ctr">
                        <a:spcBef>
                          <a:spcPts val="0"/>
                        </a:spcBef>
                        <a:spcAft>
                          <a:spcPts val="0"/>
                        </a:spcAft>
                      </a:pPr>
                      <a:r>
                        <a:rPr lang="en-US" sz="1600" b="0" dirty="0">
                          <a:solidFill>
                            <a:schemeClr val="tx1"/>
                          </a:solidFill>
                          <a:effectLst/>
                        </a:rPr>
                        <a:t>0</a:t>
                      </a:r>
                      <a:endParaRPr lang="en-US" sz="1600" b="0" dirty="0">
                        <a:solidFill>
                          <a:schemeClr val="tx1"/>
                        </a:solidFill>
                        <a:effectLst/>
                        <a:latin typeface="Times New Roman"/>
                        <a:ea typeface="Times New Roman"/>
                      </a:endParaRPr>
                    </a:p>
                  </a:txBody>
                  <a:tcPr marL="68580" marR="68580" marT="0" marB="0">
                    <a:solidFill>
                      <a:srgbClr val="FFC000"/>
                    </a:solidFill>
                  </a:tcPr>
                </a:tc>
                <a:tc>
                  <a:txBody>
                    <a:bodyPr/>
                    <a:lstStyle/>
                    <a:p>
                      <a:pPr marL="0" marR="0" algn="ctr">
                        <a:spcBef>
                          <a:spcPts val="0"/>
                        </a:spcBef>
                        <a:spcAft>
                          <a:spcPts val="0"/>
                        </a:spcAft>
                      </a:pPr>
                      <a:r>
                        <a:rPr lang="en-US" sz="1600" b="0">
                          <a:solidFill>
                            <a:schemeClr val="tx1"/>
                          </a:solidFill>
                          <a:effectLst/>
                        </a:rPr>
                        <a:t>1</a:t>
                      </a:r>
                      <a:endParaRPr lang="en-US" sz="1600" b="0">
                        <a:solidFill>
                          <a:schemeClr val="tx1"/>
                        </a:solidFill>
                        <a:effectLst/>
                        <a:latin typeface="Times New Roman"/>
                        <a:ea typeface="Times New Roman"/>
                      </a:endParaRPr>
                    </a:p>
                  </a:txBody>
                  <a:tcPr marL="68580" marR="68580" marT="0" marB="0">
                    <a:solidFill>
                      <a:srgbClr val="FFC000"/>
                    </a:solidFill>
                  </a:tcPr>
                </a:tc>
                <a:tc>
                  <a:txBody>
                    <a:bodyPr/>
                    <a:lstStyle/>
                    <a:p>
                      <a:pPr marL="0" marR="0" algn="ctr">
                        <a:spcBef>
                          <a:spcPts val="0"/>
                        </a:spcBef>
                        <a:spcAft>
                          <a:spcPts val="0"/>
                        </a:spcAft>
                      </a:pPr>
                      <a:r>
                        <a:rPr lang="en-US" sz="1600" b="0" dirty="0">
                          <a:solidFill>
                            <a:schemeClr val="tx1"/>
                          </a:solidFill>
                          <a:effectLst/>
                        </a:rPr>
                        <a:t>-1</a:t>
                      </a:r>
                      <a:endParaRPr lang="en-US" sz="1600" b="0" dirty="0">
                        <a:solidFill>
                          <a:schemeClr val="tx1"/>
                        </a:solidFill>
                        <a:effectLst/>
                        <a:latin typeface="Times New Roman"/>
                        <a:ea typeface="Times New Roman"/>
                      </a:endParaRPr>
                    </a:p>
                  </a:txBody>
                  <a:tcPr marL="68580" marR="68580" marT="0" marB="0">
                    <a:solidFill>
                      <a:srgbClr val="FFC000"/>
                    </a:solidFill>
                  </a:tcPr>
                </a:tc>
                <a:extLst>
                  <a:ext uri="{0D108BD9-81ED-4DB2-BD59-A6C34878D82A}">
                    <a16:rowId xmlns:a16="http://schemas.microsoft.com/office/drawing/2014/main" val="10004"/>
                  </a:ext>
                </a:extLst>
              </a:tr>
            </a:tbl>
          </a:graphicData>
        </a:graphic>
      </p:graphicFrame>
      <p:sp>
        <p:nvSpPr>
          <p:cNvPr id="5" name="Rectangle 4"/>
          <p:cNvSpPr/>
          <p:nvPr/>
        </p:nvSpPr>
        <p:spPr>
          <a:xfrm>
            <a:off x="755576" y="4149080"/>
            <a:ext cx="7418070" cy="369332"/>
          </a:xfrm>
          <a:prstGeom prst="rect">
            <a:avLst/>
          </a:prstGeom>
        </p:spPr>
        <p:txBody>
          <a:bodyPr wrap="square">
            <a:spAutoFit/>
          </a:bodyPr>
          <a:lstStyle/>
          <a:p>
            <a:pPr lvl="0" fontAlgn="base">
              <a:spcBef>
                <a:spcPct val="0"/>
              </a:spcBef>
              <a:spcAft>
                <a:spcPct val="0"/>
              </a:spcAft>
            </a:pPr>
            <a:r>
              <a:rPr lang="sv-SE" altLang="en-US" dirty="0">
                <a:latin typeface="Arial" pitchFamily="34" charset="0"/>
                <a:ea typeface="Times New Roman" pitchFamily="18" charset="0"/>
                <a:cs typeface="Arial" pitchFamily="34" charset="0"/>
              </a:rPr>
              <a:t>Tabel 3a Model Matrik Keuntungan skenario 1</a:t>
            </a:r>
            <a:endParaRPr lang="en-US" altLang="en-US" sz="1050" dirty="0">
              <a:latin typeface="Arial" pitchFamily="34" charset="0"/>
              <a:cs typeface="Arial" pitchFamily="34" charset="0"/>
            </a:endParaRPr>
          </a:p>
        </p:txBody>
      </p:sp>
    </p:spTree>
    <p:extLst>
      <p:ext uri="{BB962C8B-B14F-4D97-AF65-F5344CB8AC3E}">
        <p14:creationId xmlns:p14="http://schemas.microsoft.com/office/powerpoint/2010/main" val="3910226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664747295"/>
              </p:ext>
            </p:extLst>
          </p:nvPr>
        </p:nvGraphicFramePr>
        <p:xfrm>
          <a:off x="872922" y="1100048"/>
          <a:ext cx="7391399" cy="1371600"/>
        </p:xfrm>
        <a:graphic>
          <a:graphicData uri="http://schemas.openxmlformats.org/drawingml/2006/table">
            <a:tbl>
              <a:tblPr firstRow="1" firstCol="1" lastRow="1" lastCol="1" bandRow="1" bandCol="1">
                <a:tableStyleId>{5C22544A-7EE6-4342-B048-85BDC9FD1C3A}</a:tableStyleId>
              </a:tblPr>
              <a:tblGrid>
                <a:gridCol w="1865589">
                  <a:extLst>
                    <a:ext uri="{9D8B030D-6E8A-4147-A177-3AD203B41FA5}">
                      <a16:colId xmlns:a16="http://schemas.microsoft.com/office/drawing/2014/main" val="20000"/>
                    </a:ext>
                  </a:extLst>
                </a:gridCol>
                <a:gridCol w="1864111">
                  <a:extLst>
                    <a:ext uri="{9D8B030D-6E8A-4147-A177-3AD203B41FA5}">
                      <a16:colId xmlns:a16="http://schemas.microsoft.com/office/drawing/2014/main" val="20001"/>
                    </a:ext>
                  </a:extLst>
                </a:gridCol>
                <a:gridCol w="1864111">
                  <a:extLst>
                    <a:ext uri="{9D8B030D-6E8A-4147-A177-3AD203B41FA5}">
                      <a16:colId xmlns:a16="http://schemas.microsoft.com/office/drawing/2014/main" val="20002"/>
                    </a:ext>
                  </a:extLst>
                </a:gridCol>
                <a:gridCol w="1797588">
                  <a:extLst>
                    <a:ext uri="{9D8B030D-6E8A-4147-A177-3AD203B41FA5}">
                      <a16:colId xmlns:a16="http://schemas.microsoft.com/office/drawing/2014/main" val="20003"/>
                    </a:ext>
                  </a:extLst>
                </a:gridCol>
              </a:tblGrid>
              <a:tr h="274320">
                <a:tc rowSpan="2">
                  <a:txBody>
                    <a:bodyPr/>
                    <a:lstStyle/>
                    <a:p>
                      <a:pPr marL="0" marR="0" algn="ctr">
                        <a:spcBef>
                          <a:spcPts val="0"/>
                        </a:spcBef>
                        <a:spcAft>
                          <a:spcPts val="0"/>
                        </a:spcAft>
                      </a:pPr>
                      <a:r>
                        <a:rPr lang="fi-FI" sz="1600" b="0" dirty="0">
                          <a:solidFill>
                            <a:schemeClr val="tx1"/>
                          </a:solidFill>
                          <a:effectLst/>
                        </a:rPr>
                        <a:t>Strategi </a:t>
                      </a:r>
                      <a:endParaRPr lang="en-US" sz="1600" b="0" dirty="0">
                        <a:solidFill>
                          <a:schemeClr val="tx1"/>
                        </a:solidFill>
                        <a:effectLst/>
                      </a:endParaRPr>
                    </a:p>
                    <a:p>
                      <a:pPr marL="0" marR="0" algn="ctr">
                        <a:spcBef>
                          <a:spcPts val="0"/>
                        </a:spcBef>
                        <a:spcAft>
                          <a:spcPts val="0"/>
                        </a:spcAft>
                      </a:pPr>
                      <a:r>
                        <a:rPr lang="fi-FI" sz="1600" b="0" dirty="0">
                          <a:solidFill>
                            <a:schemeClr val="tx1"/>
                          </a:solidFill>
                          <a:effectLst/>
                        </a:rPr>
                        <a:t>Politikus Baris</a:t>
                      </a:r>
                      <a:endParaRPr lang="en-US" sz="1600" b="0" dirty="0">
                        <a:solidFill>
                          <a:schemeClr val="tx1"/>
                        </a:solidFill>
                        <a:effectLst/>
                        <a:latin typeface="Times New Roman"/>
                        <a:ea typeface="Times New Roman"/>
                      </a:endParaRPr>
                    </a:p>
                  </a:txBody>
                  <a:tcPr marL="68580" marR="68580" marT="0" marB="0">
                    <a:solidFill>
                      <a:schemeClr val="accent3">
                        <a:lumMod val="60000"/>
                        <a:lumOff val="40000"/>
                      </a:schemeClr>
                    </a:solidFill>
                  </a:tcPr>
                </a:tc>
                <a:tc gridSpan="3">
                  <a:txBody>
                    <a:bodyPr/>
                    <a:lstStyle/>
                    <a:p>
                      <a:pPr marL="0" marR="0" algn="ctr">
                        <a:spcBef>
                          <a:spcPts val="0"/>
                        </a:spcBef>
                        <a:spcAft>
                          <a:spcPts val="0"/>
                        </a:spcAft>
                      </a:pPr>
                      <a:r>
                        <a:rPr lang="fi-FI" sz="1600" b="0" dirty="0">
                          <a:solidFill>
                            <a:schemeClr val="tx1"/>
                          </a:solidFill>
                          <a:effectLst/>
                        </a:rPr>
                        <a:t>Strategi Politikus Kolom</a:t>
                      </a:r>
                      <a:endParaRPr lang="en-US" sz="1600" b="0" dirty="0">
                        <a:solidFill>
                          <a:schemeClr val="tx1"/>
                        </a:solidFill>
                        <a:effectLst/>
                        <a:latin typeface="Times New Roman"/>
                        <a:ea typeface="Times New Roman"/>
                      </a:endParaRPr>
                    </a:p>
                  </a:txBody>
                  <a:tcPr marL="68580" marR="68580" marT="0" marB="0">
                    <a:solidFill>
                      <a:schemeClr val="accent3">
                        <a:lumMod val="60000"/>
                        <a:lumOff val="40000"/>
                      </a:scheme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74320">
                <a:tc vMerge="1">
                  <a:txBody>
                    <a:bodyPr/>
                    <a:lstStyle/>
                    <a:p>
                      <a:endParaRPr lang="en-US"/>
                    </a:p>
                  </a:txBody>
                  <a:tcPr/>
                </a:tc>
                <a:tc>
                  <a:txBody>
                    <a:bodyPr/>
                    <a:lstStyle/>
                    <a:p>
                      <a:pPr marL="0" marR="0" algn="ctr">
                        <a:spcBef>
                          <a:spcPts val="0"/>
                        </a:spcBef>
                        <a:spcAft>
                          <a:spcPts val="0"/>
                        </a:spcAft>
                      </a:pPr>
                      <a:r>
                        <a:rPr lang="fi-FI" sz="1600" b="0" dirty="0">
                          <a:solidFill>
                            <a:schemeClr val="tx1"/>
                          </a:solidFill>
                          <a:effectLst/>
                        </a:rPr>
                        <a:t>Strategi 1</a:t>
                      </a:r>
                      <a:endParaRPr lang="en-US" sz="1600" b="0" dirty="0">
                        <a:solidFill>
                          <a:schemeClr val="tx1"/>
                        </a:solidFill>
                        <a:effectLst/>
                        <a:latin typeface="Times New Roman"/>
                        <a:ea typeface="Times New Roman"/>
                      </a:endParaRPr>
                    </a:p>
                  </a:txBody>
                  <a:tcPr marL="68580" marR="68580" marT="0" marB="0">
                    <a:solidFill>
                      <a:schemeClr val="accent3">
                        <a:lumMod val="60000"/>
                        <a:lumOff val="40000"/>
                      </a:schemeClr>
                    </a:solidFill>
                  </a:tcPr>
                </a:tc>
                <a:tc>
                  <a:txBody>
                    <a:bodyPr/>
                    <a:lstStyle/>
                    <a:p>
                      <a:pPr marL="0" marR="0" algn="ctr">
                        <a:spcBef>
                          <a:spcPts val="0"/>
                        </a:spcBef>
                        <a:spcAft>
                          <a:spcPts val="0"/>
                        </a:spcAft>
                      </a:pPr>
                      <a:r>
                        <a:rPr lang="fi-FI" sz="1600" b="0">
                          <a:solidFill>
                            <a:schemeClr val="tx1"/>
                          </a:solidFill>
                          <a:effectLst/>
                        </a:rPr>
                        <a:t>Strategi 2</a:t>
                      </a:r>
                      <a:endParaRPr lang="en-US" sz="1600" b="0">
                        <a:solidFill>
                          <a:schemeClr val="tx1"/>
                        </a:solidFill>
                        <a:effectLst/>
                        <a:latin typeface="Times New Roman"/>
                        <a:ea typeface="Times New Roman"/>
                      </a:endParaRPr>
                    </a:p>
                  </a:txBody>
                  <a:tcPr marL="68580" marR="68580" marT="0" marB="0">
                    <a:solidFill>
                      <a:schemeClr val="accent3">
                        <a:lumMod val="60000"/>
                        <a:lumOff val="40000"/>
                      </a:schemeClr>
                    </a:solidFill>
                  </a:tcPr>
                </a:tc>
                <a:tc>
                  <a:txBody>
                    <a:bodyPr/>
                    <a:lstStyle/>
                    <a:p>
                      <a:pPr marL="0" marR="0" algn="ctr">
                        <a:spcBef>
                          <a:spcPts val="0"/>
                        </a:spcBef>
                        <a:spcAft>
                          <a:spcPts val="0"/>
                        </a:spcAft>
                      </a:pPr>
                      <a:r>
                        <a:rPr lang="fi-FI" sz="1600" b="0">
                          <a:solidFill>
                            <a:schemeClr val="tx1"/>
                          </a:solidFill>
                          <a:effectLst/>
                        </a:rPr>
                        <a:t>Strategi 3</a:t>
                      </a:r>
                      <a:endParaRPr lang="en-US" sz="1600" b="0">
                        <a:solidFill>
                          <a:schemeClr val="tx1"/>
                        </a:solidFill>
                        <a:effectLst/>
                        <a:latin typeface="Times New Roman"/>
                        <a:ea typeface="Times New Roman"/>
                      </a:endParaRPr>
                    </a:p>
                  </a:txBody>
                  <a:tcPr marL="68580" marR="68580" marT="0" marB="0">
                    <a:solidFill>
                      <a:schemeClr val="accent3">
                        <a:lumMod val="60000"/>
                        <a:lumOff val="40000"/>
                      </a:schemeClr>
                    </a:solidFill>
                  </a:tcPr>
                </a:tc>
                <a:extLst>
                  <a:ext uri="{0D108BD9-81ED-4DB2-BD59-A6C34878D82A}">
                    <a16:rowId xmlns:a16="http://schemas.microsoft.com/office/drawing/2014/main" val="10001"/>
                  </a:ext>
                </a:extLst>
              </a:tr>
              <a:tr h="274320">
                <a:tc>
                  <a:txBody>
                    <a:bodyPr/>
                    <a:lstStyle/>
                    <a:p>
                      <a:pPr marL="0" marR="0" algn="ctr">
                        <a:spcBef>
                          <a:spcPts val="0"/>
                        </a:spcBef>
                        <a:spcAft>
                          <a:spcPts val="0"/>
                        </a:spcAft>
                      </a:pPr>
                      <a:r>
                        <a:rPr lang="fi-FI" sz="1600" b="0">
                          <a:solidFill>
                            <a:schemeClr val="tx1"/>
                          </a:solidFill>
                          <a:effectLst/>
                        </a:rPr>
                        <a:t>Strategi 1</a:t>
                      </a:r>
                      <a:endParaRPr lang="en-US" sz="1600" b="0">
                        <a:solidFill>
                          <a:schemeClr val="tx1"/>
                        </a:solidFill>
                        <a:effectLst/>
                        <a:latin typeface="Times New Roman"/>
                        <a:ea typeface="Times New Roman"/>
                      </a:endParaRPr>
                    </a:p>
                  </a:txBody>
                  <a:tcPr marL="68580" marR="68580" marT="0" marB="0">
                    <a:solidFill>
                      <a:schemeClr val="accent3">
                        <a:lumMod val="60000"/>
                        <a:lumOff val="40000"/>
                      </a:schemeClr>
                    </a:solidFill>
                  </a:tcPr>
                </a:tc>
                <a:tc>
                  <a:txBody>
                    <a:bodyPr/>
                    <a:lstStyle/>
                    <a:p>
                      <a:pPr marL="0" marR="0" algn="ctr">
                        <a:spcBef>
                          <a:spcPts val="0"/>
                        </a:spcBef>
                        <a:spcAft>
                          <a:spcPts val="0"/>
                        </a:spcAft>
                      </a:pPr>
                      <a:r>
                        <a:rPr lang="en-US" sz="1600" b="0" dirty="0">
                          <a:solidFill>
                            <a:schemeClr val="tx1"/>
                          </a:solidFill>
                          <a:effectLst/>
                        </a:rPr>
                        <a:t>-3</a:t>
                      </a:r>
                      <a:endParaRPr lang="en-US" sz="1600" b="0" dirty="0">
                        <a:solidFill>
                          <a:schemeClr val="tx1"/>
                        </a:solidFill>
                        <a:effectLst/>
                        <a:latin typeface="Times New Roman"/>
                        <a:ea typeface="Times New Roman"/>
                      </a:endParaRPr>
                    </a:p>
                  </a:txBody>
                  <a:tcPr marL="68580" marR="68580" marT="0" marB="0">
                    <a:solidFill>
                      <a:srgbClr val="FFC000"/>
                    </a:solidFill>
                  </a:tcPr>
                </a:tc>
                <a:tc>
                  <a:txBody>
                    <a:bodyPr/>
                    <a:lstStyle/>
                    <a:p>
                      <a:pPr marL="0" marR="0" algn="ctr">
                        <a:spcBef>
                          <a:spcPts val="0"/>
                        </a:spcBef>
                        <a:spcAft>
                          <a:spcPts val="0"/>
                        </a:spcAft>
                      </a:pPr>
                      <a:r>
                        <a:rPr lang="en-US" sz="1600" b="0">
                          <a:solidFill>
                            <a:schemeClr val="tx1"/>
                          </a:solidFill>
                          <a:effectLst/>
                        </a:rPr>
                        <a:t>-1</a:t>
                      </a:r>
                      <a:endParaRPr lang="en-US" sz="1600" b="0">
                        <a:solidFill>
                          <a:schemeClr val="tx1"/>
                        </a:solidFill>
                        <a:effectLst/>
                        <a:latin typeface="Times New Roman"/>
                        <a:ea typeface="Times New Roman"/>
                      </a:endParaRPr>
                    </a:p>
                  </a:txBody>
                  <a:tcPr marL="68580" marR="68580" marT="0" marB="0">
                    <a:solidFill>
                      <a:srgbClr val="FFC000"/>
                    </a:solidFill>
                  </a:tcPr>
                </a:tc>
                <a:tc>
                  <a:txBody>
                    <a:bodyPr/>
                    <a:lstStyle/>
                    <a:p>
                      <a:pPr marL="0" marR="0" algn="ctr">
                        <a:spcBef>
                          <a:spcPts val="0"/>
                        </a:spcBef>
                        <a:spcAft>
                          <a:spcPts val="0"/>
                        </a:spcAft>
                      </a:pPr>
                      <a:r>
                        <a:rPr lang="en-US" sz="1600" b="0">
                          <a:solidFill>
                            <a:schemeClr val="tx1"/>
                          </a:solidFill>
                          <a:effectLst/>
                        </a:rPr>
                        <a:t>6</a:t>
                      </a:r>
                      <a:endParaRPr lang="en-US" sz="1600" b="0">
                        <a:solidFill>
                          <a:schemeClr val="tx1"/>
                        </a:solidFill>
                        <a:effectLst/>
                        <a:latin typeface="Times New Roman"/>
                        <a:ea typeface="Times New Roman"/>
                      </a:endParaRPr>
                    </a:p>
                  </a:txBody>
                  <a:tcPr marL="68580" marR="68580" marT="0" marB="0">
                    <a:solidFill>
                      <a:srgbClr val="FFC000"/>
                    </a:solidFill>
                  </a:tcPr>
                </a:tc>
                <a:extLst>
                  <a:ext uri="{0D108BD9-81ED-4DB2-BD59-A6C34878D82A}">
                    <a16:rowId xmlns:a16="http://schemas.microsoft.com/office/drawing/2014/main" val="10002"/>
                  </a:ext>
                </a:extLst>
              </a:tr>
              <a:tr h="274320">
                <a:tc>
                  <a:txBody>
                    <a:bodyPr/>
                    <a:lstStyle/>
                    <a:p>
                      <a:pPr marL="0" marR="0" algn="ctr">
                        <a:spcBef>
                          <a:spcPts val="0"/>
                        </a:spcBef>
                        <a:spcAft>
                          <a:spcPts val="0"/>
                        </a:spcAft>
                      </a:pPr>
                      <a:r>
                        <a:rPr lang="fi-FI" sz="1600" b="0">
                          <a:solidFill>
                            <a:schemeClr val="tx1"/>
                          </a:solidFill>
                          <a:effectLst/>
                        </a:rPr>
                        <a:t>Strategi 2</a:t>
                      </a:r>
                      <a:endParaRPr lang="en-US" sz="1600" b="0">
                        <a:solidFill>
                          <a:schemeClr val="tx1"/>
                        </a:solidFill>
                        <a:effectLst/>
                        <a:latin typeface="Times New Roman"/>
                        <a:ea typeface="Times New Roman"/>
                      </a:endParaRPr>
                    </a:p>
                  </a:txBody>
                  <a:tcPr marL="68580" marR="68580" marT="0" marB="0">
                    <a:solidFill>
                      <a:schemeClr val="accent3">
                        <a:lumMod val="60000"/>
                        <a:lumOff val="40000"/>
                      </a:schemeClr>
                    </a:solidFill>
                  </a:tcPr>
                </a:tc>
                <a:tc>
                  <a:txBody>
                    <a:bodyPr/>
                    <a:lstStyle/>
                    <a:p>
                      <a:pPr marL="0" marR="0" algn="ctr">
                        <a:spcBef>
                          <a:spcPts val="0"/>
                        </a:spcBef>
                        <a:spcAft>
                          <a:spcPts val="0"/>
                        </a:spcAft>
                      </a:pPr>
                      <a:r>
                        <a:rPr lang="en-US" sz="1600" b="0">
                          <a:solidFill>
                            <a:schemeClr val="tx1"/>
                          </a:solidFill>
                          <a:effectLst/>
                        </a:rPr>
                        <a:t>2</a:t>
                      </a:r>
                      <a:endParaRPr lang="en-US" sz="1600" b="0">
                        <a:solidFill>
                          <a:schemeClr val="tx1"/>
                        </a:solidFill>
                        <a:effectLst/>
                        <a:latin typeface="Times New Roman"/>
                        <a:ea typeface="Times New Roman"/>
                      </a:endParaRPr>
                    </a:p>
                  </a:txBody>
                  <a:tcPr marL="68580" marR="68580" marT="0" marB="0">
                    <a:solidFill>
                      <a:srgbClr val="FFC000"/>
                    </a:solidFill>
                  </a:tcPr>
                </a:tc>
                <a:tc>
                  <a:txBody>
                    <a:bodyPr/>
                    <a:lstStyle/>
                    <a:p>
                      <a:pPr marL="0" marR="0" algn="ctr">
                        <a:spcBef>
                          <a:spcPts val="0"/>
                        </a:spcBef>
                        <a:spcAft>
                          <a:spcPts val="0"/>
                        </a:spcAft>
                      </a:pPr>
                      <a:r>
                        <a:rPr lang="en-US" sz="1600" b="0">
                          <a:solidFill>
                            <a:schemeClr val="tx1"/>
                          </a:solidFill>
                          <a:effectLst/>
                        </a:rPr>
                        <a:t>0</a:t>
                      </a:r>
                      <a:endParaRPr lang="en-US" sz="1600" b="0">
                        <a:solidFill>
                          <a:schemeClr val="tx1"/>
                        </a:solidFill>
                        <a:effectLst/>
                        <a:latin typeface="Times New Roman"/>
                        <a:ea typeface="Times New Roman"/>
                      </a:endParaRPr>
                    </a:p>
                  </a:txBody>
                  <a:tcPr marL="68580" marR="68580" marT="0" marB="0">
                    <a:solidFill>
                      <a:srgbClr val="FFC000"/>
                    </a:solidFill>
                  </a:tcPr>
                </a:tc>
                <a:tc>
                  <a:txBody>
                    <a:bodyPr/>
                    <a:lstStyle/>
                    <a:p>
                      <a:pPr marL="0" marR="0" algn="ctr">
                        <a:spcBef>
                          <a:spcPts val="0"/>
                        </a:spcBef>
                        <a:spcAft>
                          <a:spcPts val="0"/>
                        </a:spcAft>
                      </a:pPr>
                      <a:r>
                        <a:rPr lang="en-US" sz="1600" b="0">
                          <a:solidFill>
                            <a:schemeClr val="tx1"/>
                          </a:solidFill>
                          <a:effectLst/>
                        </a:rPr>
                        <a:t>2</a:t>
                      </a:r>
                      <a:endParaRPr lang="en-US" sz="1600" b="0">
                        <a:solidFill>
                          <a:schemeClr val="tx1"/>
                        </a:solidFill>
                        <a:effectLst/>
                        <a:latin typeface="Times New Roman"/>
                        <a:ea typeface="Times New Roman"/>
                      </a:endParaRPr>
                    </a:p>
                  </a:txBody>
                  <a:tcPr marL="68580" marR="68580" marT="0" marB="0">
                    <a:solidFill>
                      <a:srgbClr val="FFC000"/>
                    </a:solidFill>
                  </a:tcPr>
                </a:tc>
                <a:extLst>
                  <a:ext uri="{0D108BD9-81ED-4DB2-BD59-A6C34878D82A}">
                    <a16:rowId xmlns:a16="http://schemas.microsoft.com/office/drawing/2014/main" val="10003"/>
                  </a:ext>
                </a:extLst>
              </a:tr>
              <a:tr h="274320">
                <a:tc>
                  <a:txBody>
                    <a:bodyPr/>
                    <a:lstStyle/>
                    <a:p>
                      <a:pPr marL="0" marR="0" algn="ctr">
                        <a:spcBef>
                          <a:spcPts val="0"/>
                        </a:spcBef>
                        <a:spcAft>
                          <a:spcPts val="0"/>
                        </a:spcAft>
                      </a:pPr>
                      <a:r>
                        <a:rPr lang="fi-FI" sz="1600" b="0">
                          <a:solidFill>
                            <a:schemeClr val="tx1"/>
                          </a:solidFill>
                          <a:effectLst/>
                        </a:rPr>
                        <a:t>Strategi 3</a:t>
                      </a:r>
                      <a:endParaRPr lang="en-US" sz="1600" b="0">
                        <a:solidFill>
                          <a:schemeClr val="tx1"/>
                        </a:solidFill>
                        <a:effectLst/>
                        <a:latin typeface="Times New Roman"/>
                        <a:ea typeface="Times New Roman"/>
                      </a:endParaRPr>
                    </a:p>
                  </a:txBody>
                  <a:tcPr marL="68580" marR="68580" marT="0" marB="0">
                    <a:solidFill>
                      <a:schemeClr val="accent3">
                        <a:lumMod val="60000"/>
                        <a:lumOff val="40000"/>
                      </a:schemeClr>
                    </a:solidFill>
                  </a:tcPr>
                </a:tc>
                <a:tc>
                  <a:txBody>
                    <a:bodyPr/>
                    <a:lstStyle/>
                    <a:p>
                      <a:pPr marL="0" marR="0" algn="ctr">
                        <a:spcBef>
                          <a:spcPts val="0"/>
                        </a:spcBef>
                        <a:spcAft>
                          <a:spcPts val="0"/>
                        </a:spcAft>
                      </a:pPr>
                      <a:r>
                        <a:rPr lang="en-US" sz="1600" b="0">
                          <a:solidFill>
                            <a:schemeClr val="tx1"/>
                          </a:solidFill>
                          <a:effectLst/>
                        </a:rPr>
                        <a:t>5</a:t>
                      </a:r>
                      <a:endParaRPr lang="en-US" sz="1600" b="0">
                        <a:solidFill>
                          <a:schemeClr val="tx1"/>
                        </a:solidFill>
                        <a:effectLst/>
                        <a:latin typeface="Times New Roman"/>
                        <a:ea typeface="Times New Roman"/>
                      </a:endParaRPr>
                    </a:p>
                  </a:txBody>
                  <a:tcPr marL="68580" marR="68580" marT="0" marB="0">
                    <a:solidFill>
                      <a:srgbClr val="FFC000"/>
                    </a:solidFill>
                  </a:tcPr>
                </a:tc>
                <a:tc>
                  <a:txBody>
                    <a:bodyPr/>
                    <a:lstStyle/>
                    <a:p>
                      <a:pPr marL="0" marR="0" algn="ctr">
                        <a:spcBef>
                          <a:spcPts val="0"/>
                        </a:spcBef>
                        <a:spcAft>
                          <a:spcPts val="0"/>
                        </a:spcAft>
                      </a:pPr>
                      <a:r>
                        <a:rPr lang="en-US" sz="1600" b="0" dirty="0">
                          <a:solidFill>
                            <a:schemeClr val="tx1"/>
                          </a:solidFill>
                          <a:effectLst/>
                        </a:rPr>
                        <a:t>-1</a:t>
                      </a:r>
                      <a:endParaRPr lang="en-US" sz="1600" b="0" dirty="0">
                        <a:solidFill>
                          <a:schemeClr val="tx1"/>
                        </a:solidFill>
                        <a:effectLst/>
                        <a:latin typeface="Times New Roman"/>
                        <a:ea typeface="Times New Roman"/>
                      </a:endParaRPr>
                    </a:p>
                  </a:txBody>
                  <a:tcPr marL="68580" marR="68580" marT="0" marB="0">
                    <a:solidFill>
                      <a:srgbClr val="FFC000"/>
                    </a:solidFill>
                  </a:tcPr>
                </a:tc>
                <a:tc>
                  <a:txBody>
                    <a:bodyPr/>
                    <a:lstStyle/>
                    <a:p>
                      <a:pPr marL="0" marR="0" algn="ctr">
                        <a:spcBef>
                          <a:spcPts val="0"/>
                        </a:spcBef>
                        <a:spcAft>
                          <a:spcPts val="0"/>
                        </a:spcAft>
                      </a:pPr>
                      <a:r>
                        <a:rPr lang="en-US" sz="1600" b="0" dirty="0">
                          <a:solidFill>
                            <a:schemeClr val="tx1"/>
                          </a:solidFill>
                          <a:effectLst/>
                        </a:rPr>
                        <a:t>-4</a:t>
                      </a:r>
                      <a:endParaRPr lang="en-US" sz="1600" b="0" dirty="0">
                        <a:solidFill>
                          <a:schemeClr val="tx1"/>
                        </a:solidFill>
                        <a:effectLst/>
                        <a:latin typeface="Times New Roman"/>
                        <a:ea typeface="Times New Roman"/>
                      </a:endParaRPr>
                    </a:p>
                  </a:txBody>
                  <a:tcPr marL="68580" marR="68580" marT="0" marB="0">
                    <a:solidFill>
                      <a:srgbClr val="FFC000"/>
                    </a:solidFill>
                  </a:tcPr>
                </a:tc>
                <a:extLst>
                  <a:ext uri="{0D108BD9-81ED-4DB2-BD59-A6C34878D82A}">
                    <a16:rowId xmlns:a16="http://schemas.microsoft.com/office/drawing/2014/main" val="10004"/>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88810315"/>
              </p:ext>
            </p:extLst>
          </p:nvPr>
        </p:nvGraphicFramePr>
        <p:xfrm>
          <a:off x="899592" y="2996952"/>
          <a:ext cx="7364729" cy="1295400"/>
        </p:xfrm>
        <a:graphic>
          <a:graphicData uri="http://schemas.openxmlformats.org/drawingml/2006/table">
            <a:tbl>
              <a:tblPr firstRow="1" firstCol="1" lastRow="1" lastCol="1" bandRow="1" bandCol="1">
                <a:tableStyleId>{5C22544A-7EE6-4342-B048-85BDC9FD1C3A}</a:tableStyleId>
              </a:tblPr>
              <a:tblGrid>
                <a:gridCol w="1858857">
                  <a:extLst>
                    <a:ext uri="{9D8B030D-6E8A-4147-A177-3AD203B41FA5}">
                      <a16:colId xmlns:a16="http://schemas.microsoft.com/office/drawing/2014/main" val="20000"/>
                    </a:ext>
                  </a:extLst>
                </a:gridCol>
                <a:gridCol w="1857385">
                  <a:extLst>
                    <a:ext uri="{9D8B030D-6E8A-4147-A177-3AD203B41FA5}">
                      <a16:colId xmlns:a16="http://schemas.microsoft.com/office/drawing/2014/main" val="20001"/>
                    </a:ext>
                  </a:extLst>
                </a:gridCol>
                <a:gridCol w="1857385">
                  <a:extLst>
                    <a:ext uri="{9D8B030D-6E8A-4147-A177-3AD203B41FA5}">
                      <a16:colId xmlns:a16="http://schemas.microsoft.com/office/drawing/2014/main" val="20002"/>
                    </a:ext>
                  </a:extLst>
                </a:gridCol>
                <a:gridCol w="1791102">
                  <a:extLst>
                    <a:ext uri="{9D8B030D-6E8A-4147-A177-3AD203B41FA5}">
                      <a16:colId xmlns:a16="http://schemas.microsoft.com/office/drawing/2014/main" val="20003"/>
                    </a:ext>
                  </a:extLst>
                </a:gridCol>
              </a:tblGrid>
              <a:tr h="259080">
                <a:tc rowSpan="2">
                  <a:txBody>
                    <a:bodyPr/>
                    <a:lstStyle/>
                    <a:p>
                      <a:pPr marL="0" marR="0" algn="ctr">
                        <a:spcBef>
                          <a:spcPts val="0"/>
                        </a:spcBef>
                        <a:spcAft>
                          <a:spcPts val="0"/>
                        </a:spcAft>
                      </a:pPr>
                      <a:r>
                        <a:rPr lang="fi-FI" sz="1600" b="0" dirty="0">
                          <a:solidFill>
                            <a:schemeClr val="tx1"/>
                          </a:solidFill>
                          <a:effectLst/>
                        </a:rPr>
                        <a:t>Strategi </a:t>
                      </a:r>
                      <a:endParaRPr lang="en-US" sz="1600" b="0" dirty="0">
                        <a:solidFill>
                          <a:schemeClr val="tx1"/>
                        </a:solidFill>
                        <a:effectLst/>
                      </a:endParaRPr>
                    </a:p>
                    <a:p>
                      <a:pPr marL="0" marR="0" algn="ctr">
                        <a:spcBef>
                          <a:spcPts val="0"/>
                        </a:spcBef>
                        <a:spcAft>
                          <a:spcPts val="0"/>
                        </a:spcAft>
                      </a:pPr>
                      <a:r>
                        <a:rPr lang="fi-FI" sz="1600" b="0" dirty="0">
                          <a:solidFill>
                            <a:schemeClr val="tx1"/>
                          </a:solidFill>
                          <a:effectLst/>
                        </a:rPr>
                        <a:t>Politikus Baris</a:t>
                      </a:r>
                      <a:endParaRPr lang="en-US" sz="1600" b="0" dirty="0">
                        <a:solidFill>
                          <a:schemeClr val="tx1"/>
                        </a:solidFill>
                        <a:effectLst/>
                        <a:latin typeface="Times New Roman"/>
                        <a:ea typeface="Times New Roman"/>
                      </a:endParaRPr>
                    </a:p>
                  </a:txBody>
                  <a:tcPr marL="68580" marR="68580" marT="0" marB="0">
                    <a:solidFill>
                      <a:schemeClr val="accent3">
                        <a:lumMod val="60000"/>
                        <a:lumOff val="40000"/>
                      </a:schemeClr>
                    </a:solidFill>
                  </a:tcPr>
                </a:tc>
                <a:tc gridSpan="3">
                  <a:txBody>
                    <a:bodyPr/>
                    <a:lstStyle/>
                    <a:p>
                      <a:pPr marL="0" marR="0" algn="ctr">
                        <a:spcBef>
                          <a:spcPts val="0"/>
                        </a:spcBef>
                        <a:spcAft>
                          <a:spcPts val="0"/>
                        </a:spcAft>
                      </a:pPr>
                      <a:r>
                        <a:rPr lang="fi-FI" sz="1600" b="0" dirty="0">
                          <a:solidFill>
                            <a:schemeClr val="tx1"/>
                          </a:solidFill>
                          <a:effectLst/>
                        </a:rPr>
                        <a:t>Strategi Politikus Kolom</a:t>
                      </a:r>
                      <a:endParaRPr lang="en-US" sz="1600" b="0" dirty="0">
                        <a:solidFill>
                          <a:schemeClr val="tx1"/>
                        </a:solidFill>
                        <a:effectLst/>
                        <a:latin typeface="Times New Roman"/>
                        <a:ea typeface="Times New Roman"/>
                      </a:endParaRPr>
                    </a:p>
                  </a:txBody>
                  <a:tcPr marL="68580" marR="68580" marT="0" marB="0">
                    <a:solidFill>
                      <a:schemeClr val="accent3">
                        <a:lumMod val="60000"/>
                        <a:lumOff val="40000"/>
                      </a:scheme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59080">
                <a:tc vMerge="1">
                  <a:txBody>
                    <a:bodyPr/>
                    <a:lstStyle/>
                    <a:p>
                      <a:endParaRPr lang="en-US"/>
                    </a:p>
                  </a:txBody>
                  <a:tcPr/>
                </a:tc>
                <a:tc>
                  <a:txBody>
                    <a:bodyPr/>
                    <a:lstStyle/>
                    <a:p>
                      <a:pPr marL="0" marR="0" algn="ctr">
                        <a:spcBef>
                          <a:spcPts val="0"/>
                        </a:spcBef>
                        <a:spcAft>
                          <a:spcPts val="0"/>
                        </a:spcAft>
                      </a:pPr>
                      <a:r>
                        <a:rPr lang="fi-FI" sz="1600" b="0">
                          <a:solidFill>
                            <a:schemeClr val="tx1"/>
                          </a:solidFill>
                          <a:effectLst/>
                        </a:rPr>
                        <a:t>Strategi 1</a:t>
                      </a:r>
                      <a:endParaRPr lang="en-US" sz="1600" b="0">
                        <a:solidFill>
                          <a:schemeClr val="tx1"/>
                        </a:solidFill>
                        <a:effectLst/>
                        <a:latin typeface="Times New Roman"/>
                        <a:ea typeface="Times New Roman"/>
                      </a:endParaRPr>
                    </a:p>
                  </a:txBody>
                  <a:tcPr marL="68580" marR="68580" marT="0" marB="0">
                    <a:solidFill>
                      <a:schemeClr val="accent3">
                        <a:lumMod val="60000"/>
                        <a:lumOff val="40000"/>
                      </a:schemeClr>
                    </a:solidFill>
                  </a:tcPr>
                </a:tc>
                <a:tc>
                  <a:txBody>
                    <a:bodyPr/>
                    <a:lstStyle/>
                    <a:p>
                      <a:pPr marL="0" marR="0" algn="ctr">
                        <a:spcBef>
                          <a:spcPts val="0"/>
                        </a:spcBef>
                        <a:spcAft>
                          <a:spcPts val="0"/>
                        </a:spcAft>
                      </a:pPr>
                      <a:r>
                        <a:rPr lang="fi-FI" sz="1600" b="0">
                          <a:solidFill>
                            <a:schemeClr val="tx1"/>
                          </a:solidFill>
                          <a:effectLst/>
                        </a:rPr>
                        <a:t>Strategi 2</a:t>
                      </a:r>
                      <a:endParaRPr lang="en-US" sz="1600" b="0">
                        <a:solidFill>
                          <a:schemeClr val="tx1"/>
                        </a:solidFill>
                        <a:effectLst/>
                        <a:latin typeface="Times New Roman"/>
                        <a:ea typeface="Times New Roman"/>
                      </a:endParaRPr>
                    </a:p>
                  </a:txBody>
                  <a:tcPr marL="68580" marR="68580" marT="0" marB="0">
                    <a:solidFill>
                      <a:schemeClr val="accent3">
                        <a:lumMod val="60000"/>
                        <a:lumOff val="40000"/>
                      </a:schemeClr>
                    </a:solidFill>
                  </a:tcPr>
                </a:tc>
                <a:tc>
                  <a:txBody>
                    <a:bodyPr/>
                    <a:lstStyle/>
                    <a:p>
                      <a:pPr marL="0" marR="0" algn="ctr">
                        <a:spcBef>
                          <a:spcPts val="0"/>
                        </a:spcBef>
                        <a:spcAft>
                          <a:spcPts val="0"/>
                        </a:spcAft>
                      </a:pPr>
                      <a:r>
                        <a:rPr lang="fi-FI" sz="1600" b="0">
                          <a:solidFill>
                            <a:schemeClr val="tx1"/>
                          </a:solidFill>
                          <a:effectLst/>
                        </a:rPr>
                        <a:t>Strategi 3</a:t>
                      </a:r>
                      <a:endParaRPr lang="en-US" sz="1600" b="0">
                        <a:solidFill>
                          <a:schemeClr val="tx1"/>
                        </a:solidFill>
                        <a:effectLst/>
                        <a:latin typeface="Times New Roman"/>
                        <a:ea typeface="Times New Roman"/>
                      </a:endParaRPr>
                    </a:p>
                  </a:txBody>
                  <a:tcPr marL="68580" marR="68580" marT="0" marB="0">
                    <a:solidFill>
                      <a:schemeClr val="accent3">
                        <a:lumMod val="60000"/>
                        <a:lumOff val="40000"/>
                      </a:schemeClr>
                    </a:solidFill>
                  </a:tcPr>
                </a:tc>
                <a:extLst>
                  <a:ext uri="{0D108BD9-81ED-4DB2-BD59-A6C34878D82A}">
                    <a16:rowId xmlns:a16="http://schemas.microsoft.com/office/drawing/2014/main" val="10001"/>
                  </a:ext>
                </a:extLst>
              </a:tr>
              <a:tr h="259080">
                <a:tc>
                  <a:txBody>
                    <a:bodyPr/>
                    <a:lstStyle/>
                    <a:p>
                      <a:pPr marL="0" marR="0" algn="ctr">
                        <a:spcBef>
                          <a:spcPts val="0"/>
                        </a:spcBef>
                        <a:spcAft>
                          <a:spcPts val="0"/>
                        </a:spcAft>
                      </a:pPr>
                      <a:r>
                        <a:rPr lang="fi-FI" sz="1600" b="0">
                          <a:solidFill>
                            <a:schemeClr val="tx1"/>
                          </a:solidFill>
                          <a:effectLst/>
                        </a:rPr>
                        <a:t>Strategi 1</a:t>
                      </a:r>
                      <a:endParaRPr lang="en-US" sz="1600" b="0">
                        <a:solidFill>
                          <a:schemeClr val="tx1"/>
                        </a:solidFill>
                        <a:effectLst/>
                        <a:latin typeface="Times New Roman"/>
                        <a:ea typeface="Times New Roman"/>
                      </a:endParaRPr>
                    </a:p>
                  </a:txBody>
                  <a:tcPr marL="68580" marR="68580" marT="0" marB="0">
                    <a:solidFill>
                      <a:schemeClr val="accent3">
                        <a:lumMod val="60000"/>
                        <a:lumOff val="40000"/>
                      </a:schemeClr>
                    </a:solidFill>
                  </a:tcPr>
                </a:tc>
                <a:tc>
                  <a:txBody>
                    <a:bodyPr/>
                    <a:lstStyle/>
                    <a:p>
                      <a:pPr marL="0" marR="0" algn="ctr">
                        <a:spcBef>
                          <a:spcPts val="0"/>
                        </a:spcBef>
                        <a:spcAft>
                          <a:spcPts val="0"/>
                        </a:spcAft>
                      </a:pPr>
                      <a:r>
                        <a:rPr lang="en-US" sz="1600" b="0" dirty="0">
                          <a:solidFill>
                            <a:schemeClr val="tx1"/>
                          </a:solidFill>
                          <a:effectLst/>
                        </a:rPr>
                        <a:t>0</a:t>
                      </a:r>
                      <a:endParaRPr lang="en-US" sz="1600" b="0" dirty="0">
                        <a:solidFill>
                          <a:schemeClr val="tx1"/>
                        </a:solidFill>
                        <a:effectLst/>
                        <a:latin typeface="Times New Roman"/>
                        <a:ea typeface="Times New Roman"/>
                      </a:endParaRPr>
                    </a:p>
                  </a:txBody>
                  <a:tcPr marL="68580" marR="68580" marT="0" marB="0">
                    <a:solidFill>
                      <a:srgbClr val="FFC000"/>
                    </a:solidFill>
                  </a:tcPr>
                </a:tc>
                <a:tc>
                  <a:txBody>
                    <a:bodyPr/>
                    <a:lstStyle/>
                    <a:p>
                      <a:pPr marL="0" marR="0" algn="ctr">
                        <a:spcBef>
                          <a:spcPts val="0"/>
                        </a:spcBef>
                        <a:spcAft>
                          <a:spcPts val="0"/>
                        </a:spcAft>
                      </a:pPr>
                      <a:r>
                        <a:rPr lang="en-US" sz="1600" b="0">
                          <a:solidFill>
                            <a:schemeClr val="tx1"/>
                          </a:solidFill>
                          <a:effectLst/>
                        </a:rPr>
                        <a:t>-2</a:t>
                      </a:r>
                      <a:endParaRPr lang="en-US" sz="1600" b="0">
                        <a:solidFill>
                          <a:schemeClr val="tx1"/>
                        </a:solidFill>
                        <a:effectLst/>
                        <a:latin typeface="Times New Roman"/>
                        <a:ea typeface="Times New Roman"/>
                      </a:endParaRPr>
                    </a:p>
                  </a:txBody>
                  <a:tcPr marL="68580" marR="68580" marT="0" marB="0">
                    <a:solidFill>
                      <a:srgbClr val="FFC000"/>
                    </a:solidFill>
                  </a:tcPr>
                </a:tc>
                <a:tc>
                  <a:txBody>
                    <a:bodyPr/>
                    <a:lstStyle/>
                    <a:p>
                      <a:pPr marL="0" marR="0" algn="ctr">
                        <a:spcBef>
                          <a:spcPts val="0"/>
                        </a:spcBef>
                        <a:spcAft>
                          <a:spcPts val="0"/>
                        </a:spcAft>
                      </a:pPr>
                      <a:r>
                        <a:rPr lang="en-US" sz="1600" b="0">
                          <a:solidFill>
                            <a:schemeClr val="tx1"/>
                          </a:solidFill>
                          <a:effectLst/>
                        </a:rPr>
                        <a:t>2</a:t>
                      </a:r>
                      <a:endParaRPr lang="en-US" sz="1600" b="0">
                        <a:solidFill>
                          <a:schemeClr val="tx1"/>
                        </a:solidFill>
                        <a:effectLst/>
                        <a:latin typeface="Times New Roman"/>
                        <a:ea typeface="Times New Roman"/>
                      </a:endParaRPr>
                    </a:p>
                  </a:txBody>
                  <a:tcPr marL="68580" marR="68580" marT="0" marB="0">
                    <a:solidFill>
                      <a:srgbClr val="FFC000"/>
                    </a:solidFill>
                  </a:tcPr>
                </a:tc>
                <a:extLst>
                  <a:ext uri="{0D108BD9-81ED-4DB2-BD59-A6C34878D82A}">
                    <a16:rowId xmlns:a16="http://schemas.microsoft.com/office/drawing/2014/main" val="10002"/>
                  </a:ext>
                </a:extLst>
              </a:tr>
              <a:tr h="259080">
                <a:tc>
                  <a:txBody>
                    <a:bodyPr/>
                    <a:lstStyle/>
                    <a:p>
                      <a:pPr marL="0" marR="0" algn="ctr">
                        <a:spcBef>
                          <a:spcPts val="0"/>
                        </a:spcBef>
                        <a:spcAft>
                          <a:spcPts val="0"/>
                        </a:spcAft>
                      </a:pPr>
                      <a:r>
                        <a:rPr lang="fi-FI" sz="1600" b="0">
                          <a:solidFill>
                            <a:schemeClr val="tx1"/>
                          </a:solidFill>
                          <a:effectLst/>
                        </a:rPr>
                        <a:t>Strategi 2</a:t>
                      </a:r>
                      <a:endParaRPr lang="en-US" sz="1600" b="0">
                        <a:solidFill>
                          <a:schemeClr val="tx1"/>
                        </a:solidFill>
                        <a:effectLst/>
                        <a:latin typeface="Times New Roman"/>
                        <a:ea typeface="Times New Roman"/>
                      </a:endParaRPr>
                    </a:p>
                  </a:txBody>
                  <a:tcPr marL="68580" marR="68580" marT="0" marB="0">
                    <a:solidFill>
                      <a:schemeClr val="accent3">
                        <a:lumMod val="60000"/>
                        <a:lumOff val="40000"/>
                      </a:schemeClr>
                    </a:solidFill>
                  </a:tcPr>
                </a:tc>
                <a:tc>
                  <a:txBody>
                    <a:bodyPr/>
                    <a:lstStyle/>
                    <a:p>
                      <a:pPr marL="0" marR="0" algn="ctr">
                        <a:spcBef>
                          <a:spcPts val="0"/>
                        </a:spcBef>
                        <a:spcAft>
                          <a:spcPts val="0"/>
                        </a:spcAft>
                      </a:pPr>
                      <a:r>
                        <a:rPr lang="en-US" sz="1600" b="0">
                          <a:solidFill>
                            <a:schemeClr val="tx1"/>
                          </a:solidFill>
                          <a:effectLst/>
                        </a:rPr>
                        <a:t>5</a:t>
                      </a:r>
                      <a:endParaRPr lang="en-US" sz="1600" b="0">
                        <a:solidFill>
                          <a:schemeClr val="tx1"/>
                        </a:solidFill>
                        <a:effectLst/>
                        <a:latin typeface="Times New Roman"/>
                        <a:ea typeface="Times New Roman"/>
                      </a:endParaRPr>
                    </a:p>
                  </a:txBody>
                  <a:tcPr marL="68580" marR="68580" marT="0" marB="0">
                    <a:solidFill>
                      <a:srgbClr val="FFC000"/>
                    </a:solidFill>
                  </a:tcPr>
                </a:tc>
                <a:tc>
                  <a:txBody>
                    <a:bodyPr/>
                    <a:lstStyle/>
                    <a:p>
                      <a:pPr marL="0" marR="0" algn="ctr">
                        <a:spcBef>
                          <a:spcPts val="0"/>
                        </a:spcBef>
                        <a:spcAft>
                          <a:spcPts val="0"/>
                        </a:spcAft>
                      </a:pPr>
                      <a:r>
                        <a:rPr lang="en-US" sz="1600" b="0">
                          <a:solidFill>
                            <a:schemeClr val="tx1"/>
                          </a:solidFill>
                          <a:effectLst/>
                        </a:rPr>
                        <a:t>4</a:t>
                      </a:r>
                      <a:endParaRPr lang="en-US" sz="1600" b="0">
                        <a:solidFill>
                          <a:schemeClr val="tx1"/>
                        </a:solidFill>
                        <a:effectLst/>
                        <a:latin typeface="Times New Roman"/>
                        <a:ea typeface="Times New Roman"/>
                      </a:endParaRPr>
                    </a:p>
                  </a:txBody>
                  <a:tcPr marL="68580" marR="68580" marT="0" marB="0">
                    <a:solidFill>
                      <a:srgbClr val="FFC000"/>
                    </a:solidFill>
                  </a:tcPr>
                </a:tc>
                <a:tc>
                  <a:txBody>
                    <a:bodyPr/>
                    <a:lstStyle/>
                    <a:p>
                      <a:pPr marL="0" marR="0" algn="ctr">
                        <a:spcBef>
                          <a:spcPts val="0"/>
                        </a:spcBef>
                        <a:spcAft>
                          <a:spcPts val="0"/>
                        </a:spcAft>
                      </a:pPr>
                      <a:r>
                        <a:rPr lang="en-US" sz="1600" b="0" dirty="0">
                          <a:solidFill>
                            <a:schemeClr val="tx1"/>
                          </a:solidFill>
                          <a:effectLst/>
                        </a:rPr>
                        <a:t>-3</a:t>
                      </a:r>
                      <a:endParaRPr lang="en-US" sz="1600" b="0" dirty="0">
                        <a:solidFill>
                          <a:schemeClr val="tx1"/>
                        </a:solidFill>
                        <a:effectLst/>
                        <a:latin typeface="Times New Roman"/>
                        <a:ea typeface="Times New Roman"/>
                      </a:endParaRPr>
                    </a:p>
                  </a:txBody>
                  <a:tcPr marL="68580" marR="68580" marT="0" marB="0">
                    <a:solidFill>
                      <a:srgbClr val="FFC000"/>
                    </a:solidFill>
                  </a:tcPr>
                </a:tc>
                <a:extLst>
                  <a:ext uri="{0D108BD9-81ED-4DB2-BD59-A6C34878D82A}">
                    <a16:rowId xmlns:a16="http://schemas.microsoft.com/office/drawing/2014/main" val="10003"/>
                  </a:ext>
                </a:extLst>
              </a:tr>
              <a:tr h="259080">
                <a:tc>
                  <a:txBody>
                    <a:bodyPr/>
                    <a:lstStyle/>
                    <a:p>
                      <a:pPr marL="0" marR="0" algn="ctr">
                        <a:spcBef>
                          <a:spcPts val="0"/>
                        </a:spcBef>
                        <a:spcAft>
                          <a:spcPts val="0"/>
                        </a:spcAft>
                      </a:pPr>
                      <a:r>
                        <a:rPr lang="fi-FI" sz="1600" b="0">
                          <a:solidFill>
                            <a:schemeClr val="tx1"/>
                          </a:solidFill>
                          <a:effectLst/>
                        </a:rPr>
                        <a:t>Strategi 3</a:t>
                      </a:r>
                      <a:endParaRPr lang="en-US" sz="1600" b="0">
                        <a:solidFill>
                          <a:schemeClr val="tx1"/>
                        </a:solidFill>
                        <a:effectLst/>
                        <a:latin typeface="Times New Roman"/>
                        <a:ea typeface="Times New Roman"/>
                      </a:endParaRPr>
                    </a:p>
                  </a:txBody>
                  <a:tcPr marL="68580" marR="68580" marT="0" marB="0">
                    <a:solidFill>
                      <a:schemeClr val="accent3">
                        <a:lumMod val="60000"/>
                        <a:lumOff val="40000"/>
                      </a:schemeClr>
                    </a:solidFill>
                  </a:tcPr>
                </a:tc>
                <a:tc>
                  <a:txBody>
                    <a:bodyPr/>
                    <a:lstStyle/>
                    <a:p>
                      <a:pPr marL="0" marR="0" algn="ctr">
                        <a:spcBef>
                          <a:spcPts val="0"/>
                        </a:spcBef>
                        <a:spcAft>
                          <a:spcPts val="0"/>
                        </a:spcAft>
                      </a:pPr>
                      <a:r>
                        <a:rPr lang="en-US" sz="1600" b="0">
                          <a:solidFill>
                            <a:schemeClr val="tx1"/>
                          </a:solidFill>
                          <a:effectLst/>
                        </a:rPr>
                        <a:t>2</a:t>
                      </a:r>
                      <a:endParaRPr lang="en-US" sz="1600" b="0">
                        <a:solidFill>
                          <a:schemeClr val="tx1"/>
                        </a:solidFill>
                        <a:effectLst/>
                        <a:latin typeface="Times New Roman"/>
                        <a:ea typeface="Times New Roman"/>
                      </a:endParaRPr>
                    </a:p>
                  </a:txBody>
                  <a:tcPr marL="68580" marR="68580" marT="0" marB="0">
                    <a:solidFill>
                      <a:srgbClr val="FFC000"/>
                    </a:solidFill>
                  </a:tcPr>
                </a:tc>
                <a:tc>
                  <a:txBody>
                    <a:bodyPr/>
                    <a:lstStyle/>
                    <a:p>
                      <a:pPr marL="0" marR="0" algn="ctr">
                        <a:spcBef>
                          <a:spcPts val="0"/>
                        </a:spcBef>
                        <a:spcAft>
                          <a:spcPts val="0"/>
                        </a:spcAft>
                      </a:pPr>
                      <a:r>
                        <a:rPr lang="en-US" sz="1600" b="0">
                          <a:solidFill>
                            <a:schemeClr val="tx1"/>
                          </a:solidFill>
                          <a:effectLst/>
                        </a:rPr>
                        <a:t>3</a:t>
                      </a:r>
                      <a:endParaRPr lang="en-US" sz="1600" b="0">
                        <a:solidFill>
                          <a:schemeClr val="tx1"/>
                        </a:solidFill>
                        <a:effectLst/>
                        <a:latin typeface="Times New Roman"/>
                        <a:ea typeface="Times New Roman"/>
                      </a:endParaRPr>
                    </a:p>
                  </a:txBody>
                  <a:tcPr marL="68580" marR="68580" marT="0" marB="0">
                    <a:solidFill>
                      <a:srgbClr val="FFC000"/>
                    </a:solidFill>
                  </a:tcPr>
                </a:tc>
                <a:tc>
                  <a:txBody>
                    <a:bodyPr/>
                    <a:lstStyle/>
                    <a:p>
                      <a:pPr marL="0" marR="0" algn="ctr">
                        <a:spcBef>
                          <a:spcPts val="0"/>
                        </a:spcBef>
                        <a:spcAft>
                          <a:spcPts val="0"/>
                        </a:spcAft>
                      </a:pPr>
                      <a:r>
                        <a:rPr lang="en-US" sz="1600" b="0" dirty="0">
                          <a:solidFill>
                            <a:schemeClr val="tx1"/>
                          </a:solidFill>
                          <a:effectLst/>
                        </a:rPr>
                        <a:t>-4</a:t>
                      </a:r>
                      <a:endParaRPr lang="en-US" sz="1600" b="0" dirty="0">
                        <a:solidFill>
                          <a:schemeClr val="tx1"/>
                        </a:solidFill>
                        <a:effectLst/>
                        <a:latin typeface="Times New Roman"/>
                        <a:ea typeface="Times New Roman"/>
                      </a:endParaRPr>
                    </a:p>
                  </a:txBody>
                  <a:tcPr marL="68580" marR="68580" marT="0" marB="0">
                    <a:solidFill>
                      <a:srgbClr val="FFC000"/>
                    </a:solidFill>
                  </a:tcPr>
                </a:tc>
                <a:extLst>
                  <a:ext uri="{0D108BD9-81ED-4DB2-BD59-A6C34878D82A}">
                    <a16:rowId xmlns:a16="http://schemas.microsoft.com/office/drawing/2014/main" val="10004"/>
                  </a:ext>
                </a:extLst>
              </a:tr>
            </a:tbl>
          </a:graphicData>
        </a:graphic>
      </p:graphicFrame>
      <p:sp>
        <p:nvSpPr>
          <p:cNvPr id="7" name="Rectangle 1"/>
          <p:cNvSpPr>
            <a:spLocks noChangeArrowheads="1"/>
          </p:cNvSpPr>
          <p:nvPr/>
        </p:nvSpPr>
        <p:spPr bwMode="auto">
          <a:xfrm>
            <a:off x="869112" y="2585948"/>
            <a:ext cx="739520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sv-SE" altLang="en-US" b="0" i="0" u="none" strike="noStrike" cap="none" normalizeH="0" baseline="0" dirty="0">
                <a:ln>
                  <a:noFill/>
                </a:ln>
                <a:solidFill>
                  <a:schemeClr val="tx1"/>
                </a:solidFill>
                <a:effectLst/>
                <a:latin typeface="Arial" pitchFamily="34" charset="0"/>
                <a:ea typeface="Times New Roman" pitchFamily="18" charset="0"/>
                <a:cs typeface="Arial" pitchFamily="34" charset="0"/>
              </a:rPr>
              <a:t>Tabel 3c Model Matrik Keuntungan skenario 3</a:t>
            </a:r>
            <a:endParaRPr kumimoji="0" lang="en-US" altLang="en-US" b="0" i="0" u="none" strike="noStrike" cap="none" normalizeH="0" baseline="0" dirty="0">
              <a:ln>
                <a:noFill/>
              </a:ln>
              <a:solidFill>
                <a:schemeClr val="tx1"/>
              </a:solidFill>
              <a:effectLst/>
              <a:latin typeface="Arial" pitchFamily="34" charset="0"/>
              <a:cs typeface="Arial" pitchFamily="34" charset="0"/>
            </a:endParaRPr>
          </a:p>
        </p:txBody>
      </p:sp>
      <p:sp>
        <p:nvSpPr>
          <p:cNvPr id="9" name="Rectangle 8"/>
          <p:cNvSpPr/>
          <p:nvPr/>
        </p:nvSpPr>
        <p:spPr>
          <a:xfrm>
            <a:off x="899592" y="636776"/>
            <a:ext cx="7364729" cy="369332"/>
          </a:xfrm>
          <a:prstGeom prst="rect">
            <a:avLst/>
          </a:prstGeom>
        </p:spPr>
        <p:txBody>
          <a:bodyPr wrap="square">
            <a:spAutoFit/>
          </a:bodyPr>
          <a:lstStyle/>
          <a:p>
            <a:pPr lvl="0" eaLnBrk="0" fontAlgn="base" hangingPunct="0">
              <a:spcBef>
                <a:spcPct val="0"/>
              </a:spcBef>
              <a:spcAft>
                <a:spcPct val="0"/>
              </a:spcAft>
            </a:pPr>
            <a:r>
              <a:rPr lang="sv-SE" altLang="en-US" dirty="0">
                <a:latin typeface="Arial" pitchFamily="34" charset="0"/>
                <a:ea typeface="Times New Roman" pitchFamily="18" charset="0"/>
                <a:cs typeface="Arial" pitchFamily="34" charset="0"/>
              </a:rPr>
              <a:t>Tabel 3b Model Matrik Keuntungan skenario 2</a:t>
            </a:r>
            <a:endParaRPr lang="en-US" altLang="en-US" sz="1050" dirty="0">
              <a:latin typeface="Arial" pitchFamily="34" charset="0"/>
              <a:cs typeface="Arial" pitchFamily="34" charset="0"/>
            </a:endParaRPr>
          </a:p>
        </p:txBody>
      </p:sp>
    </p:spTree>
    <p:extLst>
      <p:ext uri="{BB962C8B-B14F-4D97-AF65-F5344CB8AC3E}">
        <p14:creationId xmlns:p14="http://schemas.microsoft.com/office/powerpoint/2010/main" val="244655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Title 1"/>
          <p:cNvSpPr txBox="1">
            <a:spLocks/>
          </p:cNvSpPr>
          <p:nvPr/>
        </p:nvSpPr>
        <p:spPr>
          <a:xfrm>
            <a:off x="611560" y="274638"/>
            <a:ext cx="7848872" cy="1143000"/>
          </a:xfrm>
          <a:prstGeom prst="rect">
            <a:avLst/>
          </a:prstGeom>
          <a:solidFill>
            <a:schemeClr val="accent5">
              <a:lumMod val="20000"/>
              <a:lumOff val="8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t>Mixed Strategies</a:t>
            </a:r>
            <a:endParaRPr lang="en-US" dirty="0"/>
          </a:p>
        </p:txBody>
      </p:sp>
      <p:sp>
        <p:nvSpPr>
          <p:cNvPr id="5" name="Content Placeholder 2"/>
          <p:cNvSpPr>
            <a:spLocks noGrp="1"/>
          </p:cNvSpPr>
          <p:nvPr>
            <p:ph idx="1"/>
          </p:nvPr>
        </p:nvSpPr>
        <p:spPr>
          <a:xfrm>
            <a:off x="611560" y="1600200"/>
            <a:ext cx="7848872" cy="4525963"/>
          </a:xfrm>
        </p:spPr>
        <p:txBody>
          <a:bodyPr/>
          <a:lstStyle/>
          <a:p>
            <a:pPr marL="0" indent="0" algn="just">
              <a:buNone/>
            </a:pPr>
            <a:r>
              <a:rPr lang="en-US" sz="2200" b="1" dirty="0"/>
              <a:t>Two finger </a:t>
            </a:r>
            <a:r>
              <a:rPr lang="en-US" sz="2200" b="1" dirty="0" err="1"/>
              <a:t>Morra</a:t>
            </a:r>
            <a:r>
              <a:rPr lang="en-US" sz="2200" dirty="0"/>
              <a:t>. Each player displays one or two fingers behind his back and at  the same time, guesses how many fingers his opponent shows. If both guesses are correct then game is draw. If only one player guesses correctly, that player receives the dollar sum of the fingers shown.  Display the pay-off matrix.  </a:t>
            </a:r>
          </a:p>
          <a:p>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788944529"/>
              </p:ext>
            </p:extLst>
          </p:nvPr>
        </p:nvGraphicFramePr>
        <p:xfrm>
          <a:off x="810245" y="3429000"/>
          <a:ext cx="6096000" cy="198120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1712920497"/>
                    </a:ext>
                  </a:extLst>
                </a:gridCol>
                <a:gridCol w="1219200">
                  <a:extLst>
                    <a:ext uri="{9D8B030D-6E8A-4147-A177-3AD203B41FA5}">
                      <a16:colId xmlns:a16="http://schemas.microsoft.com/office/drawing/2014/main" val="1515638354"/>
                    </a:ext>
                  </a:extLst>
                </a:gridCol>
                <a:gridCol w="1219200">
                  <a:extLst>
                    <a:ext uri="{9D8B030D-6E8A-4147-A177-3AD203B41FA5}">
                      <a16:colId xmlns:a16="http://schemas.microsoft.com/office/drawing/2014/main" val="2055073824"/>
                    </a:ext>
                  </a:extLst>
                </a:gridCol>
                <a:gridCol w="1219200">
                  <a:extLst>
                    <a:ext uri="{9D8B030D-6E8A-4147-A177-3AD203B41FA5}">
                      <a16:colId xmlns:a16="http://schemas.microsoft.com/office/drawing/2014/main" val="826823741"/>
                    </a:ext>
                  </a:extLst>
                </a:gridCol>
                <a:gridCol w="1219200">
                  <a:extLst>
                    <a:ext uri="{9D8B030D-6E8A-4147-A177-3AD203B41FA5}">
                      <a16:colId xmlns:a16="http://schemas.microsoft.com/office/drawing/2014/main" val="2413014345"/>
                    </a:ext>
                  </a:extLst>
                </a:gridCol>
              </a:tblGrid>
              <a:tr h="370840">
                <a:tc>
                  <a:txBody>
                    <a:bodyPr/>
                    <a:lstStyle/>
                    <a:p>
                      <a:pPr algn="ctr"/>
                      <a:r>
                        <a:rPr lang="en-US" sz="2000" dirty="0"/>
                        <a:t>A/B</a:t>
                      </a:r>
                    </a:p>
                  </a:txBody>
                  <a:tcPr/>
                </a:tc>
                <a:tc>
                  <a:txBody>
                    <a:bodyPr/>
                    <a:lstStyle/>
                    <a:p>
                      <a:pPr algn="ctr"/>
                      <a:r>
                        <a:rPr lang="en-US" sz="2000" dirty="0"/>
                        <a:t>(1,1)</a:t>
                      </a:r>
                    </a:p>
                  </a:txBody>
                  <a:tcPr/>
                </a:tc>
                <a:tc>
                  <a:txBody>
                    <a:bodyPr/>
                    <a:lstStyle/>
                    <a:p>
                      <a:pPr algn="ctr"/>
                      <a:r>
                        <a:rPr lang="en-US" sz="2000" dirty="0"/>
                        <a:t>(1,2)</a:t>
                      </a:r>
                    </a:p>
                  </a:txBody>
                  <a:tcPr/>
                </a:tc>
                <a:tc>
                  <a:txBody>
                    <a:bodyPr/>
                    <a:lstStyle/>
                    <a:p>
                      <a:pPr algn="ctr"/>
                      <a:r>
                        <a:rPr lang="en-US" sz="2000" dirty="0"/>
                        <a:t>(2,1)</a:t>
                      </a:r>
                    </a:p>
                  </a:txBody>
                  <a:tcPr/>
                </a:tc>
                <a:tc>
                  <a:txBody>
                    <a:bodyPr/>
                    <a:lstStyle/>
                    <a:p>
                      <a:pPr algn="ctr"/>
                      <a:r>
                        <a:rPr lang="en-US" sz="2000" dirty="0"/>
                        <a:t>(2,2)</a:t>
                      </a:r>
                    </a:p>
                  </a:txBody>
                  <a:tcPr/>
                </a:tc>
                <a:extLst>
                  <a:ext uri="{0D108BD9-81ED-4DB2-BD59-A6C34878D82A}">
                    <a16:rowId xmlns:a16="http://schemas.microsoft.com/office/drawing/2014/main" val="2371867989"/>
                  </a:ext>
                </a:extLst>
              </a:tr>
              <a:tr h="370840">
                <a:tc>
                  <a:txBody>
                    <a:bodyPr/>
                    <a:lstStyle/>
                    <a:p>
                      <a:pPr algn="ctr"/>
                      <a:r>
                        <a:rPr lang="en-US" sz="2000" dirty="0"/>
                        <a:t>(1,1)</a:t>
                      </a:r>
                    </a:p>
                  </a:txBody>
                  <a:tcPr/>
                </a:tc>
                <a:tc>
                  <a:txBody>
                    <a:bodyPr/>
                    <a:lstStyle/>
                    <a:p>
                      <a:pPr algn="ctr"/>
                      <a:r>
                        <a:rPr lang="en-US" sz="2000" dirty="0"/>
                        <a:t>0</a:t>
                      </a:r>
                    </a:p>
                  </a:txBody>
                  <a:tcPr/>
                </a:tc>
                <a:tc>
                  <a:txBody>
                    <a:bodyPr/>
                    <a:lstStyle/>
                    <a:p>
                      <a:pPr algn="ctr"/>
                      <a:r>
                        <a:rPr lang="en-US" sz="2000" dirty="0"/>
                        <a:t>2</a:t>
                      </a:r>
                    </a:p>
                  </a:txBody>
                  <a:tcPr/>
                </a:tc>
                <a:tc>
                  <a:txBody>
                    <a:bodyPr/>
                    <a:lstStyle/>
                    <a:p>
                      <a:pPr algn="ctr"/>
                      <a:r>
                        <a:rPr lang="en-US" sz="2000" dirty="0"/>
                        <a:t>-3</a:t>
                      </a:r>
                    </a:p>
                  </a:txBody>
                  <a:tcPr/>
                </a:tc>
                <a:tc>
                  <a:txBody>
                    <a:bodyPr/>
                    <a:lstStyle/>
                    <a:p>
                      <a:pPr algn="ctr"/>
                      <a:r>
                        <a:rPr lang="en-US" sz="2000" dirty="0"/>
                        <a:t>0</a:t>
                      </a:r>
                    </a:p>
                  </a:txBody>
                  <a:tcPr/>
                </a:tc>
                <a:extLst>
                  <a:ext uri="{0D108BD9-81ED-4DB2-BD59-A6C34878D82A}">
                    <a16:rowId xmlns:a16="http://schemas.microsoft.com/office/drawing/2014/main" val="2922134430"/>
                  </a:ext>
                </a:extLst>
              </a:tr>
              <a:tr h="370840">
                <a:tc>
                  <a:txBody>
                    <a:bodyPr/>
                    <a:lstStyle/>
                    <a:p>
                      <a:pPr algn="ctr"/>
                      <a:r>
                        <a:rPr lang="en-US" sz="2000" dirty="0"/>
                        <a:t>(1,2)</a:t>
                      </a:r>
                    </a:p>
                  </a:txBody>
                  <a:tcPr/>
                </a:tc>
                <a:tc>
                  <a:txBody>
                    <a:bodyPr/>
                    <a:lstStyle/>
                    <a:p>
                      <a:pPr algn="ctr"/>
                      <a:r>
                        <a:rPr lang="en-US" sz="2000" dirty="0"/>
                        <a:t>-2</a:t>
                      </a:r>
                    </a:p>
                  </a:txBody>
                  <a:tcPr/>
                </a:tc>
                <a:tc>
                  <a:txBody>
                    <a:bodyPr/>
                    <a:lstStyle/>
                    <a:p>
                      <a:pPr algn="ctr"/>
                      <a:r>
                        <a:rPr lang="en-US" sz="2000" dirty="0"/>
                        <a:t>0</a:t>
                      </a:r>
                    </a:p>
                  </a:txBody>
                  <a:tcPr/>
                </a:tc>
                <a:tc>
                  <a:txBody>
                    <a:bodyPr/>
                    <a:lstStyle/>
                    <a:p>
                      <a:pPr algn="ctr"/>
                      <a:r>
                        <a:rPr lang="en-US" sz="2000" dirty="0"/>
                        <a:t>0</a:t>
                      </a:r>
                    </a:p>
                  </a:txBody>
                  <a:tcPr/>
                </a:tc>
                <a:tc>
                  <a:txBody>
                    <a:bodyPr/>
                    <a:lstStyle/>
                    <a:p>
                      <a:pPr algn="ctr"/>
                      <a:r>
                        <a:rPr lang="en-US" sz="2000" dirty="0"/>
                        <a:t>3</a:t>
                      </a:r>
                    </a:p>
                  </a:txBody>
                  <a:tcPr/>
                </a:tc>
                <a:extLst>
                  <a:ext uri="{0D108BD9-81ED-4DB2-BD59-A6C34878D82A}">
                    <a16:rowId xmlns:a16="http://schemas.microsoft.com/office/drawing/2014/main" val="3280185841"/>
                  </a:ext>
                </a:extLst>
              </a:tr>
              <a:tr h="370840">
                <a:tc>
                  <a:txBody>
                    <a:bodyPr/>
                    <a:lstStyle/>
                    <a:p>
                      <a:pPr algn="ctr"/>
                      <a:r>
                        <a:rPr lang="en-US" sz="2000" dirty="0"/>
                        <a:t>(2,1)</a:t>
                      </a:r>
                    </a:p>
                  </a:txBody>
                  <a:tcPr/>
                </a:tc>
                <a:tc>
                  <a:txBody>
                    <a:bodyPr/>
                    <a:lstStyle/>
                    <a:p>
                      <a:pPr algn="ctr"/>
                      <a:r>
                        <a:rPr lang="en-US" sz="2000" dirty="0"/>
                        <a:t>3</a:t>
                      </a:r>
                    </a:p>
                  </a:txBody>
                  <a:tcPr/>
                </a:tc>
                <a:tc>
                  <a:txBody>
                    <a:bodyPr/>
                    <a:lstStyle/>
                    <a:p>
                      <a:pPr algn="ctr"/>
                      <a:r>
                        <a:rPr lang="en-US" sz="2000" dirty="0"/>
                        <a:t>0</a:t>
                      </a:r>
                    </a:p>
                  </a:txBody>
                  <a:tcPr/>
                </a:tc>
                <a:tc>
                  <a:txBody>
                    <a:bodyPr/>
                    <a:lstStyle/>
                    <a:p>
                      <a:pPr algn="ctr"/>
                      <a:r>
                        <a:rPr lang="en-US" sz="2000" dirty="0"/>
                        <a:t>0</a:t>
                      </a:r>
                    </a:p>
                  </a:txBody>
                  <a:tcPr/>
                </a:tc>
                <a:tc>
                  <a:txBody>
                    <a:bodyPr/>
                    <a:lstStyle/>
                    <a:p>
                      <a:pPr algn="ctr"/>
                      <a:r>
                        <a:rPr lang="en-US" sz="2000" dirty="0"/>
                        <a:t>-4</a:t>
                      </a:r>
                    </a:p>
                  </a:txBody>
                  <a:tcPr/>
                </a:tc>
                <a:extLst>
                  <a:ext uri="{0D108BD9-81ED-4DB2-BD59-A6C34878D82A}">
                    <a16:rowId xmlns:a16="http://schemas.microsoft.com/office/drawing/2014/main" val="2436559795"/>
                  </a:ext>
                </a:extLst>
              </a:tr>
              <a:tr h="370840">
                <a:tc>
                  <a:txBody>
                    <a:bodyPr/>
                    <a:lstStyle/>
                    <a:p>
                      <a:pPr algn="ctr"/>
                      <a:r>
                        <a:rPr lang="en-US" sz="2000" dirty="0"/>
                        <a:t>(2,2)</a:t>
                      </a:r>
                    </a:p>
                  </a:txBody>
                  <a:tcPr/>
                </a:tc>
                <a:tc>
                  <a:txBody>
                    <a:bodyPr/>
                    <a:lstStyle/>
                    <a:p>
                      <a:pPr algn="ctr"/>
                      <a:r>
                        <a:rPr lang="en-US" sz="2000" dirty="0"/>
                        <a:t>0</a:t>
                      </a:r>
                    </a:p>
                  </a:txBody>
                  <a:tcPr/>
                </a:tc>
                <a:tc>
                  <a:txBody>
                    <a:bodyPr/>
                    <a:lstStyle/>
                    <a:p>
                      <a:pPr algn="ctr"/>
                      <a:r>
                        <a:rPr lang="en-US" sz="2000" dirty="0"/>
                        <a:t>-3</a:t>
                      </a:r>
                    </a:p>
                  </a:txBody>
                  <a:tcPr/>
                </a:tc>
                <a:tc>
                  <a:txBody>
                    <a:bodyPr/>
                    <a:lstStyle/>
                    <a:p>
                      <a:pPr algn="ctr"/>
                      <a:r>
                        <a:rPr lang="en-US" sz="2000" dirty="0"/>
                        <a:t>4</a:t>
                      </a:r>
                    </a:p>
                  </a:txBody>
                  <a:tcPr/>
                </a:tc>
                <a:tc>
                  <a:txBody>
                    <a:bodyPr/>
                    <a:lstStyle/>
                    <a:p>
                      <a:pPr algn="ctr"/>
                      <a:r>
                        <a:rPr lang="en-US" sz="2000" dirty="0"/>
                        <a:t>0</a:t>
                      </a:r>
                    </a:p>
                  </a:txBody>
                  <a:tcPr/>
                </a:tc>
                <a:extLst>
                  <a:ext uri="{0D108BD9-81ED-4DB2-BD59-A6C34878D82A}">
                    <a16:rowId xmlns:a16="http://schemas.microsoft.com/office/drawing/2014/main" val="1397229200"/>
                  </a:ext>
                </a:extLst>
              </a:tr>
            </a:tbl>
          </a:graphicData>
        </a:graphic>
      </p:graphicFrame>
      <p:sp>
        <p:nvSpPr>
          <p:cNvPr id="7" name="TextBox 6"/>
          <p:cNvSpPr txBox="1"/>
          <p:nvPr/>
        </p:nvSpPr>
        <p:spPr>
          <a:xfrm>
            <a:off x="7010828" y="3411222"/>
            <a:ext cx="1449604" cy="1323439"/>
          </a:xfrm>
          <a:prstGeom prst="rect">
            <a:avLst/>
          </a:prstGeom>
          <a:noFill/>
        </p:spPr>
        <p:txBody>
          <a:bodyPr wrap="square" rtlCol="0">
            <a:spAutoFit/>
          </a:bodyPr>
          <a:lstStyle/>
          <a:p>
            <a:r>
              <a:rPr lang="en-US" sz="2000" dirty="0"/>
              <a:t>(</a:t>
            </a:r>
            <a:r>
              <a:rPr lang="en-US" sz="2000" dirty="0" err="1"/>
              <a:t>x,y</a:t>
            </a:r>
            <a:r>
              <a:rPr lang="en-US" sz="2000" dirty="0"/>
              <a:t>) means the player shows x and guesses y</a:t>
            </a:r>
          </a:p>
        </p:txBody>
      </p:sp>
      <p:sp>
        <p:nvSpPr>
          <p:cNvPr id="8" name="Rectangle 7"/>
          <p:cNvSpPr/>
          <p:nvPr/>
        </p:nvSpPr>
        <p:spPr>
          <a:xfrm>
            <a:off x="611560" y="5552739"/>
            <a:ext cx="4752528" cy="430887"/>
          </a:xfrm>
          <a:prstGeom prst="rect">
            <a:avLst/>
          </a:prstGeom>
        </p:spPr>
        <p:txBody>
          <a:bodyPr wrap="square">
            <a:spAutoFit/>
          </a:bodyPr>
          <a:lstStyle/>
          <a:p>
            <a:pPr algn="just"/>
            <a:r>
              <a:rPr lang="en-US" sz="2200" dirty="0"/>
              <a:t>So what is the best strategy of A and B ?     </a:t>
            </a:r>
          </a:p>
        </p:txBody>
      </p:sp>
    </p:spTree>
    <p:extLst>
      <p:ext uri="{BB962C8B-B14F-4D97-AF65-F5344CB8AC3E}">
        <p14:creationId xmlns:p14="http://schemas.microsoft.com/office/powerpoint/2010/main" val="3748890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Title 1"/>
          <p:cNvSpPr txBox="1">
            <a:spLocks/>
          </p:cNvSpPr>
          <p:nvPr/>
        </p:nvSpPr>
        <p:spPr>
          <a:xfrm>
            <a:off x="611560" y="274638"/>
            <a:ext cx="7848872" cy="1143000"/>
          </a:xfrm>
          <a:prstGeom prst="rect">
            <a:avLst/>
          </a:prstGeom>
          <a:solidFill>
            <a:schemeClr val="accent5">
              <a:lumMod val="20000"/>
              <a:lumOff val="8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t>Basic Concept</a:t>
            </a:r>
            <a:endParaRPr lang="en-US" dirty="0"/>
          </a:p>
        </p:txBody>
      </p:sp>
      <p:sp>
        <p:nvSpPr>
          <p:cNvPr id="5" name="Rectangle 4"/>
          <p:cNvSpPr/>
          <p:nvPr/>
        </p:nvSpPr>
        <p:spPr>
          <a:xfrm>
            <a:off x="611560" y="1556792"/>
            <a:ext cx="7848872" cy="707886"/>
          </a:xfrm>
          <a:prstGeom prst="rect">
            <a:avLst/>
          </a:prstGeom>
        </p:spPr>
        <p:txBody>
          <a:bodyPr wrap="square">
            <a:spAutoFit/>
          </a:bodyPr>
          <a:lstStyle/>
          <a:p>
            <a:pPr algn="just"/>
            <a:r>
              <a:rPr lang="en-US" sz="2000" dirty="0"/>
              <a:t>A mixed strategy is essentially a rule that prescribes certain action choices according to a probability distribution.</a:t>
            </a:r>
          </a:p>
        </p:txBody>
      </p:sp>
      <p:graphicFrame>
        <p:nvGraphicFramePr>
          <p:cNvPr id="6" name="Table 5"/>
          <p:cNvGraphicFramePr>
            <a:graphicFrameLocks noGrp="1"/>
          </p:cNvGraphicFramePr>
          <p:nvPr>
            <p:extLst>
              <p:ext uri="{D42A27DB-BD31-4B8C-83A1-F6EECF244321}">
                <p14:modId xmlns:p14="http://schemas.microsoft.com/office/powerpoint/2010/main" val="1917539432"/>
              </p:ext>
            </p:extLst>
          </p:nvPr>
        </p:nvGraphicFramePr>
        <p:xfrm>
          <a:off x="1487996" y="2340968"/>
          <a:ext cx="6096000" cy="111252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pPr algn="ctr"/>
                      <a:r>
                        <a:rPr lang="en-US" b="1" dirty="0">
                          <a:solidFill>
                            <a:schemeClr val="tx1"/>
                          </a:solidFill>
                        </a:rPr>
                        <a:t>A \ B</a:t>
                      </a:r>
                    </a:p>
                  </a:txBody>
                  <a:tcPr/>
                </a:tc>
                <a:tc>
                  <a:txBody>
                    <a:bodyPr/>
                    <a:lstStyle/>
                    <a:p>
                      <a:pPr algn="ctr"/>
                      <a:r>
                        <a:rPr lang="en-US" b="1" dirty="0" err="1">
                          <a:solidFill>
                            <a:schemeClr val="tx1"/>
                          </a:solidFill>
                        </a:rPr>
                        <a:t>Backdown</a:t>
                      </a:r>
                      <a:endParaRPr lang="en-US" b="1" dirty="0">
                        <a:solidFill>
                          <a:schemeClr val="tx1"/>
                        </a:solidFill>
                      </a:endParaRPr>
                    </a:p>
                  </a:txBody>
                  <a:tcPr/>
                </a:tc>
                <a:tc>
                  <a:txBody>
                    <a:bodyPr/>
                    <a:lstStyle/>
                    <a:p>
                      <a:pPr algn="ctr"/>
                      <a:r>
                        <a:rPr lang="en-US" b="1" dirty="0">
                          <a:solidFill>
                            <a:schemeClr val="tx1"/>
                          </a:solidFill>
                        </a:rPr>
                        <a:t>Challenge</a:t>
                      </a:r>
                    </a:p>
                  </a:txBody>
                  <a:tcPr/>
                </a:tc>
                <a:extLst>
                  <a:ext uri="{0D108BD9-81ED-4DB2-BD59-A6C34878D82A}">
                    <a16:rowId xmlns:a16="http://schemas.microsoft.com/office/drawing/2014/main" val="10000"/>
                  </a:ext>
                </a:extLst>
              </a:tr>
              <a:tr h="370840">
                <a:tc>
                  <a:txBody>
                    <a:bodyPr/>
                    <a:lstStyle/>
                    <a:p>
                      <a:pPr algn="ctr"/>
                      <a:r>
                        <a:rPr lang="en-US" dirty="0" err="1"/>
                        <a:t>Backdown</a:t>
                      </a:r>
                      <a:endParaRPr lang="en-US" dirty="0"/>
                    </a:p>
                  </a:txBody>
                  <a:tcPr/>
                </a:tc>
                <a:tc>
                  <a:txBody>
                    <a:bodyPr/>
                    <a:lstStyle/>
                    <a:p>
                      <a:pPr algn="ctr"/>
                      <a:r>
                        <a:rPr lang="en-US" dirty="0"/>
                        <a:t>1 , 1</a:t>
                      </a:r>
                    </a:p>
                  </a:txBody>
                  <a:tcPr/>
                </a:tc>
                <a:tc>
                  <a:txBody>
                    <a:bodyPr/>
                    <a:lstStyle/>
                    <a:p>
                      <a:pPr algn="ctr"/>
                      <a:r>
                        <a:rPr lang="en-US" dirty="0"/>
                        <a:t>0 , 2</a:t>
                      </a:r>
                    </a:p>
                  </a:txBody>
                  <a:tcPr/>
                </a:tc>
                <a:extLst>
                  <a:ext uri="{0D108BD9-81ED-4DB2-BD59-A6C34878D82A}">
                    <a16:rowId xmlns:a16="http://schemas.microsoft.com/office/drawing/2014/main" val="10001"/>
                  </a:ext>
                </a:extLst>
              </a:tr>
              <a:tr h="370840">
                <a:tc>
                  <a:txBody>
                    <a:bodyPr/>
                    <a:lstStyle/>
                    <a:p>
                      <a:pPr algn="ctr"/>
                      <a:r>
                        <a:rPr lang="en-US" dirty="0"/>
                        <a:t>Challenge</a:t>
                      </a:r>
                    </a:p>
                  </a:txBody>
                  <a:tcPr/>
                </a:tc>
                <a:tc>
                  <a:txBody>
                    <a:bodyPr/>
                    <a:lstStyle/>
                    <a:p>
                      <a:pPr algn="ctr"/>
                      <a:r>
                        <a:rPr lang="en-US" dirty="0"/>
                        <a:t>2 , 0</a:t>
                      </a:r>
                    </a:p>
                  </a:txBody>
                  <a:tcPr/>
                </a:tc>
                <a:tc>
                  <a:txBody>
                    <a:bodyPr/>
                    <a:lstStyle/>
                    <a:p>
                      <a:pPr algn="ctr"/>
                      <a:r>
                        <a:rPr lang="en-US" dirty="0"/>
                        <a:t>-3 , -3</a:t>
                      </a:r>
                    </a:p>
                  </a:txBody>
                  <a:tcPr/>
                </a:tc>
                <a:extLst>
                  <a:ext uri="{0D108BD9-81ED-4DB2-BD59-A6C34878D82A}">
                    <a16:rowId xmlns:a16="http://schemas.microsoft.com/office/drawing/2014/main" val="10002"/>
                  </a:ext>
                </a:extLst>
              </a:tr>
            </a:tbl>
          </a:graphicData>
        </a:graphic>
      </p:graphicFrame>
      <p:sp>
        <p:nvSpPr>
          <p:cNvPr id="7" name="TextBox 6"/>
          <p:cNvSpPr txBox="1"/>
          <p:nvPr/>
        </p:nvSpPr>
        <p:spPr>
          <a:xfrm>
            <a:off x="598714" y="3529778"/>
            <a:ext cx="7861718" cy="1015663"/>
          </a:xfrm>
          <a:prstGeom prst="rect">
            <a:avLst/>
          </a:prstGeom>
          <a:noFill/>
        </p:spPr>
        <p:txBody>
          <a:bodyPr wrap="square" rtlCol="0">
            <a:spAutoFit/>
          </a:bodyPr>
          <a:lstStyle/>
          <a:p>
            <a:pPr algn="just"/>
            <a:r>
              <a:rPr lang="en-US" sz="2000" dirty="0"/>
              <a:t>A hope that B will choose “</a:t>
            </a:r>
            <a:r>
              <a:rPr lang="en-US" sz="2000" dirty="0" err="1"/>
              <a:t>backdown</a:t>
            </a:r>
            <a:r>
              <a:rPr lang="en-US" sz="2000" dirty="0"/>
              <a:t>” so that A can choose “challenge”. However, It is also what B thinks. But each of them is not clear that it will happen. </a:t>
            </a:r>
            <a:r>
              <a:rPr lang="en-US" sz="2000" dirty="0">
                <a:sym typeface="Wingdings" pitchFamily="2" charset="2"/>
              </a:rPr>
              <a:t> What strategy will A or B select ?  Mixed strategy</a:t>
            </a:r>
            <a:endParaRPr lang="en-US" sz="2000" dirty="0"/>
          </a:p>
        </p:txBody>
      </p:sp>
      <p:sp>
        <p:nvSpPr>
          <p:cNvPr id="8" name="TextBox 7"/>
          <p:cNvSpPr txBox="1"/>
          <p:nvPr/>
        </p:nvSpPr>
        <p:spPr>
          <a:xfrm>
            <a:off x="610370" y="4619170"/>
            <a:ext cx="7924800" cy="400110"/>
          </a:xfrm>
          <a:prstGeom prst="rect">
            <a:avLst/>
          </a:prstGeom>
          <a:noFill/>
        </p:spPr>
        <p:txBody>
          <a:bodyPr wrap="square" rtlCol="0">
            <a:spAutoFit/>
          </a:bodyPr>
          <a:lstStyle/>
          <a:p>
            <a:r>
              <a:rPr lang="en-US" sz="2000" dirty="0"/>
              <a:t>A expected value of choosing “</a:t>
            </a:r>
            <a:r>
              <a:rPr lang="en-US" sz="2000" dirty="0" err="1"/>
              <a:t>backdown</a:t>
            </a:r>
            <a:r>
              <a:rPr lang="en-US" sz="2000" dirty="0"/>
              <a:t>” is = 0.5 * 1 + 0.5 * 0 = 0.5</a:t>
            </a:r>
          </a:p>
        </p:txBody>
      </p:sp>
      <p:sp>
        <p:nvSpPr>
          <p:cNvPr id="9" name="TextBox 8"/>
          <p:cNvSpPr txBox="1"/>
          <p:nvPr/>
        </p:nvSpPr>
        <p:spPr>
          <a:xfrm>
            <a:off x="598714" y="5013197"/>
            <a:ext cx="8077742" cy="400110"/>
          </a:xfrm>
          <a:prstGeom prst="rect">
            <a:avLst/>
          </a:prstGeom>
          <a:noFill/>
        </p:spPr>
        <p:txBody>
          <a:bodyPr wrap="square" rtlCol="0">
            <a:spAutoFit/>
          </a:bodyPr>
          <a:lstStyle/>
          <a:p>
            <a:r>
              <a:rPr lang="en-US" sz="2000" dirty="0"/>
              <a:t>A expected value of choosing “challenge” is = 0.5 * 2 + 0.5 *(-3) = -0.5</a:t>
            </a:r>
          </a:p>
        </p:txBody>
      </p:sp>
      <mc:AlternateContent xmlns:mc="http://schemas.openxmlformats.org/markup-compatibility/2006" xmlns:a14="http://schemas.microsoft.com/office/drawing/2010/main">
        <mc:Choice Requires="a14">
          <p:sp>
            <p:nvSpPr>
              <p:cNvPr id="10" name="TextBox 9"/>
              <p:cNvSpPr txBox="1"/>
              <p:nvPr/>
            </p:nvSpPr>
            <p:spPr>
              <a:xfrm>
                <a:off x="610370" y="5978597"/>
                <a:ext cx="7696200" cy="400110"/>
              </a:xfrm>
              <a:prstGeom prst="rect">
                <a:avLst/>
              </a:prstGeom>
              <a:noFill/>
            </p:spPr>
            <p:txBody>
              <a:bodyPr wrap="square" rtlCol="0">
                <a:spAutoFit/>
              </a:bodyPr>
              <a:lstStyle/>
              <a:p>
                <a14:m>
                  <m:oMath xmlns:m="http://schemas.openxmlformats.org/officeDocument/2006/math">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 </m:t>
                    </m:r>
                  </m:oMath>
                </a14:m>
                <a:r>
                  <a:rPr lang="en-US" sz="2000" dirty="0"/>
                  <a:t>The best respond of [A,B] is </a:t>
                </a:r>
                <a:r>
                  <a:rPr lang="en-US" sz="2000" dirty="0">
                    <a:sym typeface="Wingdings" pitchFamily="2" charset="2"/>
                  </a:rPr>
                  <a:t>[</a:t>
                </a:r>
                <a:r>
                  <a:rPr lang="en-US" sz="2000" dirty="0" err="1">
                    <a:sym typeface="Wingdings" pitchFamily="2" charset="2"/>
                  </a:rPr>
                  <a:t>backdown,backdown</a:t>
                </a:r>
                <a:r>
                  <a:rPr lang="en-US" sz="2000" dirty="0">
                    <a:sym typeface="Wingdings" pitchFamily="2" charset="2"/>
                  </a:rPr>
                  <a:t>]</a:t>
                </a:r>
                <a:endParaRPr lang="en-US" sz="2000" dirty="0"/>
              </a:p>
            </p:txBody>
          </p:sp>
        </mc:Choice>
        <mc:Fallback xmlns="">
          <p:sp>
            <p:nvSpPr>
              <p:cNvPr id="10" name="TextBox 9"/>
              <p:cNvSpPr txBox="1">
                <a:spLocks noRot="1" noChangeAspect="1" noMove="1" noResize="1" noEditPoints="1" noAdjustHandles="1" noChangeArrowheads="1" noChangeShapeType="1" noTextEdit="1"/>
              </p:cNvSpPr>
              <p:nvPr/>
            </p:nvSpPr>
            <p:spPr>
              <a:xfrm>
                <a:off x="610370" y="5978597"/>
                <a:ext cx="7696200" cy="400110"/>
              </a:xfrm>
              <a:prstGeom prst="rect">
                <a:avLst/>
              </a:prstGeom>
              <a:blipFill>
                <a:blip r:embed="rId2"/>
                <a:stretch>
                  <a:fillRect t="-9231" b="-27692"/>
                </a:stretch>
              </a:blipFill>
            </p:spPr>
            <p:txBody>
              <a:bodyPr/>
              <a:lstStyle/>
              <a:p>
                <a:r>
                  <a:rPr lang="en-US">
                    <a:noFill/>
                  </a:rPr>
                  <a:t> </a:t>
                </a:r>
              </a:p>
            </p:txBody>
          </p:sp>
        </mc:Fallback>
      </mc:AlternateContent>
      <p:sp>
        <p:nvSpPr>
          <p:cNvPr id="11" name="Rectangle 10"/>
          <p:cNvSpPr/>
          <p:nvPr/>
        </p:nvSpPr>
        <p:spPr>
          <a:xfrm>
            <a:off x="603340" y="5487036"/>
            <a:ext cx="4078489" cy="400110"/>
          </a:xfrm>
          <a:prstGeom prst="rect">
            <a:avLst/>
          </a:prstGeom>
        </p:spPr>
        <p:txBody>
          <a:bodyPr wrap="none">
            <a:spAutoFit/>
          </a:bodyPr>
          <a:lstStyle/>
          <a:p>
            <a:r>
              <a:rPr lang="en-US" sz="2000" dirty="0"/>
              <a:t>The best respond of A is “</a:t>
            </a:r>
            <a:r>
              <a:rPr lang="en-US" sz="2000" dirty="0" err="1"/>
              <a:t>backdown</a:t>
            </a:r>
            <a:r>
              <a:rPr lang="en-US" sz="2000" dirty="0"/>
              <a:t>” </a:t>
            </a:r>
          </a:p>
        </p:txBody>
      </p:sp>
      <p:sp>
        <p:nvSpPr>
          <p:cNvPr id="12" name="Rectangle 11"/>
          <p:cNvSpPr/>
          <p:nvPr/>
        </p:nvSpPr>
        <p:spPr>
          <a:xfrm>
            <a:off x="4637585" y="5495897"/>
            <a:ext cx="4078489" cy="400110"/>
          </a:xfrm>
          <a:prstGeom prst="rect">
            <a:avLst/>
          </a:prstGeom>
        </p:spPr>
        <p:txBody>
          <a:bodyPr wrap="none">
            <a:spAutoFit/>
          </a:bodyPr>
          <a:lstStyle/>
          <a:p>
            <a:r>
              <a:rPr lang="en-US" sz="2000" dirty="0"/>
              <a:t>The best respond of B is “</a:t>
            </a:r>
            <a:r>
              <a:rPr lang="en-US" sz="2000" dirty="0" err="1"/>
              <a:t>backdown</a:t>
            </a:r>
            <a:r>
              <a:rPr lang="en-US" sz="2000" dirty="0"/>
              <a:t>” </a:t>
            </a:r>
          </a:p>
        </p:txBody>
      </p:sp>
    </p:spTree>
    <p:extLst>
      <p:ext uri="{BB962C8B-B14F-4D97-AF65-F5344CB8AC3E}">
        <p14:creationId xmlns:p14="http://schemas.microsoft.com/office/powerpoint/2010/main" val="3856784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Title 1"/>
          <p:cNvSpPr txBox="1">
            <a:spLocks/>
          </p:cNvSpPr>
          <p:nvPr/>
        </p:nvSpPr>
        <p:spPr>
          <a:xfrm>
            <a:off x="611560" y="274638"/>
            <a:ext cx="7848872" cy="1143000"/>
          </a:xfrm>
          <a:prstGeom prst="rect">
            <a:avLst/>
          </a:prstGeom>
          <a:solidFill>
            <a:schemeClr val="accent5">
              <a:lumMod val="20000"/>
              <a:lumOff val="8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t>Example 01</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902178706"/>
              </p:ext>
            </p:extLst>
          </p:nvPr>
        </p:nvGraphicFramePr>
        <p:xfrm>
          <a:off x="1691680" y="2138919"/>
          <a:ext cx="6096000" cy="198120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1712920497"/>
                    </a:ext>
                  </a:extLst>
                </a:gridCol>
                <a:gridCol w="1219200">
                  <a:extLst>
                    <a:ext uri="{9D8B030D-6E8A-4147-A177-3AD203B41FA5}">
                      <a16:colId xmlns:a16="http://schemas.microsoft.com/office/drawing/2014/main" val="1515638354"/>
                    </a:ext>
                  </a:extLst>
                </a:gridCol>
                <a:gridCol w="1219200">
                  <a:extLst>
                    <a:ext uri="{9D8B030D-6E8A-4147-A177-3AD203B41FA5}">
                      <a16:colId xmlns:a16="http://schemas.microsoft.com/office/drawing/2014/main" val="2055073824"/>
                    </a:ext>
                  </a:extLst>
                </a:gridCol>
                <a:gridCol w="1219200">
                  <a:extLst>
                    <a:ext uri="{9D8B030D-6E8A-4147-A177-3AD203B41FA5}">
                      <a16:colId xmlns:a16="http://schemas.microsoft.com/office/drawing/2014/main" val="826823741"/>
                    </a:ext>
                  </a:extLst>
                </a:gridCol>
                <a:gridCol w="1219200">
                  <a:extLst>
                    <a:ext uri="{9D8B030D-6E8A-4147-A177-3AD203B41FA5}">
                      <a16:colId xmlns:a16="http://schemas.microsoft.com/office/drawing/2014/main" val="2413014345"/>
                    </a:ext>
                  </a:extLst>
                </a:gridCol>
              </a:tblGrid>
              <a:tr h="370840">
                <a:tc>
                  <a:txBody>
                    <a:bodyPr/>
                    <a:lstStyle/>
                    <a:p>
                      <a:pPr algn="ctr"/>
                      <a:r>
                        <a:rPr lang="en-US" sz="2000" dirty="0"/>
                        <a:t>X/Y</a:t>
                      </a:r>
                    </a:p>
                  </a:txBody>
                  <a:tcPr/>
                </a:tc>
                <a:tc>
                  <a:txBody>
                    <a:bodyPr/>
                    <a:lstStyle/>
                    <a:p>
                      <a:pPr algn="ctr"/>
                      <a:r>
                        <a:rPr lang="en-US" sz="2000" dirty="0"/>
                        <a:t>(1,1)</a:t>
                      </a:r>
                    </a:p>
                  </a:txBody>
                  <a:tcPr/>
                </a:tc>
                <a:tc>
                  <a:txBody>
                    <a:bodyPr/>
                    <a:lstStyle/>
                    <a:p>
                      <a:pPr algn="ctr"/>
                      <a:r>
                        <a:rPr lang="en-US" sz="2000" dirty="0"/>
                        <a:t>(1,2)</a:t>
                      </a:r>
                    </a:p>
                  </a:txBody>
                  <a:tcPr/>
                </a:tc>
                <a:tc>
                  <a:txBody>
                    <a:bodyPr/>
                    <a:lstStyle/>
                    <a:p>
                      <a:pPr algn="ctr"/>
                      <a:r>
                        <a:rPr lang="en-US" sz="2000" dirty="0"/>
                        <a:t>(2,1)</a:t>
                      </a:r>
                    </a:p>
                  </a:txBody>
                  <a:tcPr/>
                </a:tc>
                <a:tc>
                  <a:txBody>
                    <a:bodyPr/>
                    <a:lstStyle/>
                    <a:p>
                      <a:pPr algn="ctr"/>
                      <a:r>
                        <a:rPr lang="en-US" sz="2000" dirty="0"/>
                        <a:t>(2,2)</a:t>
                      </a:r>
                    </a:p>
                  </a:txBody>
                  <a:tcPr/>
                </a:tc>
                <a:extLst>
                  <a:ext uri="{0D108BD9-81ED-4DB2-BD59-A6C34878D82A}">
                    <a16:rowId xmlns:a16="http://schemas.microsoft.com/office/drawing/2014/main" val="2371867989"/>
                  </a:ext>
                </a:extLst>
              </a:tr>
              <a:tr h="370840">
                <a:tc>
                  <a:txBody>
                    <a:bodyPr/>
                    <a:lstStyle/>
                    <a:p>
                      <a:pPr algn="ctr"/>
                      <a:r>
                        <a:rPr lang="en-US" sz="2000" dirty="0"/>
                        <a:t>(1,1)</a:t>
                      </a:r>
                    </a:p>
                  </a:txBody>
                  <a:tcPr/>
                </a:tc>
                <a:tc>
                  <a:txBody>
                    <a:bodyPr/>
                    <a:lstStyle/>
                    <a:p>
                      <a:pPr algn="ctr"/>
                      <a:r>
                        <a:rPr lang="en-US" sz="2000" dirty="0"/>
                        <a:t>0</a:t>
                      </a:r>
                    </a:p>
                  </a:txBody>
                  <a:tcPr/>
                </a:tc>
                <a:tc>
                  <a:txBody>
                    <a:bodyPr/>
                    <a:lstStyle/>
                    <a:p>
                      <a:pPr algn="ctr"/>
                      <a:r>
                        <a:rPr lang="en-US" sz="2000" dirty="0"/>
                        <a:t>2</a:t>
                      </a:r>
                    </a:p>
                  </a:txBody>
                  <a:tcPr/>
                </a:tc>
                <a:tc>
                  <a:txBody>
                    <a:bodyPr/>
                    <a:lstStyle/>
                    <a:p>
                      <a:pPr algn="ctr"/>
                      <a:r>
                        <a:rPr lang="en-US" sz="2000" dirty="0"/>
                        <a:t>-3</a:t>
                      </a:r>
                    </a:p>
                  </a:txBody>
                  <a:tcPr/>
                </a:tc>
                <a:tc>
                  <a:txBody>
                    <a:bodyPr/>
                    <a:lstStyle/>
                    <a:p>
                      <a:pPr algn="ctr"/>
                      <a:r>
                        <a:rPr lang="en-US" sz="2000" dirty="0"/>
                        <a:t>0</a:t>
                      </a:r>
                    </a:p>
                  </a:txBody>
                  <a:tcPr/>
                </a:tc>
                <a:extLst>
                  <a:ext uri="{0D108BD9-81ED-4DB2-BD59-A6C34878D82A}">
                    <a16:rowId xmlns:a16="http://schemas.microsoft.com/office/drawing/2014/main" val="2922134430"/>
                  </a:ext>
                </a:extLst>
              </a:tr>
              <a:tr h="370840">
                <a:tc>
                  <a:txBody>
                    <a:bodyPr/>
                    <a:lstStyle/>
                    <a:p>
                      <a:pPr algn="ctr"/>
                      <a:r>
                        <a:rPr lang="en-US" sz="2000" dirty="0"/>
                        <a:t>(1,2)</a:t>
                      </a:r>
                    </a:p>
                  </a:txBody>
                  <a:tcPr/>
                </a:tc>
                <a:tc>
                  <a:txBody>
                    <a:bodyPr/>
                    <a:lstStyle/>
                    <a:p>
                      <a:pPr algn="ctr"/>
                      <a:r>
                        <a:rPr lang="en-US" sz="2000" dirty="0"/>
                        <a:t>-2</a:t>
                      </a:r>
                    </a:p>
                  </a:txBody>
                  <a:tcPr/>
                </a:tc>
                <a:tc>
                  <a:txBody>
                    <a:bodyPr/>
                    <a:lstStyle/>
                    <a:p>
                      <a:pPr algn="ctr"/>
                      <a:r>
                        <a:rPr lang="en-US" sz="2000" dirty="0"/>
                        <a:t>0</a:t>
                      </a:r>
                    </a:p>
                  </a:txBody>
                  <a:tcPr/>
                </a:tc>
                <a:tc>
                  <a:txBody>
                    <a:bodyPr/>
                    <a:lstStyle/>
                    <a:p>
                      <a:pPr algn="ctr"/>
                      <a:r>
                        <a:rPr lang="en-US" sz="2000" dirty="0"/>
                        <a:t>0</a:t>
                      </a:r>
                    </a:p>
                  </a:txBody>
                  <a:tcPr/>
                </a:tc>
                <a:tc>
                  <a:txBody>
                    <a:bodyPr/>
                    <a:lstStyle/>
                    <a:p>
                      <a:pPr algn="ctr"/>
                      <a:r>
                        <a:rPr lang="en-US" sz="2000" dirty="0"/>
                        <a:t>3</a:t>
                      </a:r>
                    </a:p>
                  </a:txBody>
                  <a:tcPr/>
                </a:tc>
                <a:extLst>
                  <a:ext uri="{0D108BD9-81ED-4DB2-BD59-A6C34878D82A}">
                    <a16:rowId xmlns:a16="http://schemas.microsoft.com/office/drawing/2014/main" val="3280185841"/>
                  </a:ext>
                </a:extLst>
              </a:tr>
              <a:tr h="370840">
                <a:tc>
                  <a:txBody>
                    <a:bodyPr/>
                    <a:lstStyle/>
                    <a:p>
                      <a:pPr algn="ctr"/>
                      <a:r>
                        <a:rPr lang="en-US" sz="2000" dirty="0"/>
                        <a:t>(2,1)</a:t>
                      </a:r>
                    </a:p>
                  </a:txBody>
                  <a:tcPr/>
                </a:tc>
                <a:tc>
                  <a:txBody>
                    <a:bodyPr/>
                    <a:lstStyle/>
                    <a:p>
                      <a:pPr algn="ctr"/>
                      <a:r>
                        <a:rPr lang="en-US" sz="2000" dirty="0"/>
                        <a:t>3</a:t>
                      </a:r>
                    </a:p>
                  </a:txBody>
                  <a:tcPr/>
                </a:tc>
                <a:tc>
                  <a:txBody>
                    <a:bodyPr/>
                    <a:lstStyle/>
                    <a:p>
                      <a:pPr algn="ctr"/>
                      <a:r>
                        <a:rPr lang="en-US" sz="2000" dirty="0"/>
                        <a:t>0</a:t>
                      </a:r>
                    </a:p>
                  </a:txBody>
                  <a:tcPr/>
                </a:tc>
                <a:tc>
                  <a:txBody>
                    <a:bodyPr/>
                    <a:lstStyle/>
                    <a:p>
                      <a:pPr algn="ctr"/>
                      <a:r>
                        <a:rPr lang="en-US" sz="2000" dirty="0"/>
                        <a:t>0</a:t>
                      </a:r>
                    </a:p>
                  </a:txBody>
                  <a:tcPr/>
                </a:tc>
                <a:tc>
                  <a:txBody>
                    <a:bodyPr/>
                    <a:lstStyle/>
                    <a:p>
                      <a:pPr algn="ctr"/>
                      <a:r>
                        <a:rPr lang="en-US" sz="2000" dirty="0"/>
                        <a:t>-4</a:t>
                      </a:r>
                    </a:p>
                  </a:txBody>
                  <a:tcPr/>
                </a:tc>
                <a:extLst>
                  <a:ext uri="{0D108BD9-81ED-4DB2-BD59-A6C34878D82A}">
                    <a16:rowId xmlns:a16="http://schemas.microsoft.com/office/drawing/2014/main" val="2436559795"/>
                  </a:ext>
                </a:extLst>
              </a:tr>
              <a:tr h="370840">
                <a:tc>
                  <a:txBody>
                    <a:bodyPr/>
                    <a:lstStyle/>
                    <a:p>
                      <a:pPr algn="ctr"/>
                      <a:r>
                        <a:rPr lang="en-US" sz="2000" dirty="0"/>
                        <a:t>(2,2)</a:t>
                      </a:r>
                    </a:p>
                  </a:txBody>
                  <a:tcPr/>
                </a:tc>
                <a:tc>
                  <a:txBody>
                    <a:bodyPr/>
                    <a:lstStyle/>
                    <a:p>
                      <a:pPr algn="ctr"/>
                      <a:r>
                        <a:rPr lang="en-US" sz="2000" dirty="0"/>
                        <a:t>0</a:t>
                      </a:r>
                    </a:p>
                  </a:txBody>
                  <a:tcPr/>
                </a:tc>
                <a:tc>
                  <a:txBody>
                    <a:bodyPr/>
                    <a:lstStyle/>
                    <a:p>
                      <a:pPr algn="ctr"/>
                      <a:r>
                        <a:rPr lang="en-US" sz="2000" dirty="0"/>
                        <a:t>-3</a:t>
                      </a:r>
                    </a:p>
                  </a:txBody>
                  <a:tcPr/>
                </a:tc>
                <a:tc>
                  <a:txBody>
                    <a:bodyPr/>
                    <a:lstStyle/>
                    <a:p>
                      <a:pPr algn="ctr"/>
                      <a:r>
                        <a:rPr lang="en-US" sz="2000" dirty="0"/>
                        <a:t>4</a:t>
                      </a:r>
                    </a:p>
                  </a:txBody>
                  <a:tcPr/>
                </a:tc>
                <a:tc>
                  <a:txBody>
                    <a:bodyPr/>
                    <a:lstStyle/>
                    <a:p>
                      <a:pPr algn="ctr"/>
                      <a:r>
                        <a:rPr lang="en-US" sz="2000" dirty="0"/>
                        <a:t>0</a:t>
                      </a:r>
                    </a:p>
                  </a:txBody>
                  <a:tcPr/>
                </a:tc>
                <a:extLst>
                  <a:ext uri="{0D108BD9-81ED-4DB2-BD59-A6C34878D82A}">
                    <a16:rowId xmlns:a16="http://schemas.microsoft.com/office/drawing/2014/main" val="1397229200"/>
                  </a:ext>
                </a:extLst>
              </a:tr>
            </a:tbl>
          </a:graphicData>
        </a:graphic>
      </p:graphicFrame>
      <p:sp>
        <p:nvSpPr>
          <p:cNvPr id="6" name="Rectangle 5"/>
          <p:cNvSpPr/>
          <p:nvPr/>
        </p:nvSpPr>
        <p:spPr>
          <a:xfrm>
            <a:off x="565403" y="1590581"/>
            <a:ext cx="4439870" cy="461665"/>
          </a:xfrm>
          <a:prstGeom prst="rect">
            <a:avLst/>
          </a:prstGeom>
        </p:spPr>
        <p:txBody>
          <a:bodyPr wrap="none">
            <a:spAutoFit/>
          </a:bodyPr>
          <a:lstStyle/>
          <a:p>
            <a:r>
              <a:rPr lang="en-US" sz="2400" dirty="0"/>
              <a:t>Pay-off for two finger </a:t>
            </a:r>
            <a:r>
              <a:rPr lang="en-US" sz="2400" dirty="0" err="1"/>
              <a:t>Morra</a:t>
            </a:r>
            <a:r>
              <a:rPr lang="en-US" sz="2400" dirty="0"/>
              <a:t> game</a:t>
            </a:r>
          </a:p>
        </p:txBody>
      </p:sp>
      <mc:AlternateContent xmlns:mc="http://schemas.openxmlformats.org/markup-compatibility/2006" xmlns:a14="http://schemas.microsoft.com/office/drawing/2010/main">
        <mc:Choice Requires="a14">
          <p:sp>
            <p:nvSpPr>
              <p:cNvPr id="7" name="TextBox 6"/>
              <p:cNvSpPr txBox="1"/>
              <p:nvPr/>
            </p:nvSpPr>
            <p:spPr>
              <a:xfrm>
                <a:off x="695666" y="4606902"/>
                <a:ext cx="433932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𝜇</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1,1</m:t>
                          </m:r>
                        </m:e>
                      </m:d>
                      <m:r>
                        <a:rPr lang="en-US" sz="2000" b="0" i="1" smtClean="0">
                          <a:latin typeface="Cambria Math" panose="02040503050406030204" pitchFamily="18" charset="0"/>
                          <a:ea typeface="Cambria Math" panose="02040503050406030204" pitchFamily="18" charset="0"/>
                        </a:rPr>
                        <m:t>=0.25</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0+2−3+0</m:t>
                          </m:r>
                        </m:e>
                      </m:d>
                      <m:r>
                        <a:rPr lang="en-US" sz="2000" b="0" i="1" smtClean="0">
                          <a:latin typeface="Cambria Math" panose="02040503050406030204" pitchFamily="18" charset="0"/>
                          <a:ea typeface="Cambria Math" panose="02040503050406030204" pitchFamily="18" charset="0"/>
                        </a:rPr>
                        <m:t>=−0.25 </m:t>
                      </m:r>
                    </m:oMath>
                  </m:oMathPara>
                </a14:m>
                <a:endParaRPr lang="en-US" sz="2000" dirty="0"/>
              </a:p>
            </p:txBody>
          </p:sp>
        </mc:Choice>
        <mc:Fallback xmlns="">
          <p:sp>
            <p:nvSpPr>
              <p:cNvPr id="7" name="TextBox 6"/>
              <p:cNvSpPr txBox="1">
                <a:spLocks noRot="1" noChangeAspect="1" noMove="1" noResize="1" noEditPoints="1" noAdjustHandles="1" noChangeArrowheads="1" noChangeShapeType="1" noTextEdit="1"/>
              </p:cNvSpPr>
              <p:nvPr/>
            </p:nvSpPr>
            <p:spPr>
              <a:xfrm>
                <a:off x="695666" y="4606902"/>
                <a:ext cx="4339329" cy="307777"/>
              </a:xfrm>
              <a:prstGeom prst="rect">
                <a:avLst/>
              </a:prstGeom>
              <a:blipFill>
                <a:blip r:embed="rId2"/>
                <a:stretch>
                  <a:fillRect l="-843" b="-22000"/>
                </a:stretch>
              </a:blipFill>
            </p:spPr>
            <p:txBody>
              <a:bodyPr/>
              <a:lstStyle/>
              <a:p>
                <a:r>
                  <a:rPr lang="en-US">
                    <a:noFill/>
                  </a:rPr>
                  <a:t> </a:t>
                </a:r>
              </a:p>
            </p:txBody>
          </p:sp>
        </mc:Fallback>
      </mc:AlternateContent>
      <p:sp>
        <p:nvSpPr>
          <p:cNvPr id="8" name="Rectangle 7"/>
          <p:cNvSpPr/>
          <p:nvPr/>
        </p:nvSpPr>
        <p:spPr>
          <a:xfrm>
            <a:off x="611560" y="4206792"/>
            <a:ext cx="7848872" cy="400110"/>
          </a:xfrm>
          <a:prstGeom prst="rect">
            <a:avLst/>
          </a:prstGeom>
        </p:spPr>
        <p:txBody>
          <a:bodyPr wrap="square">
            <a:spAutoFit/>
          </a:bodyPr>
          <a:lstStyle/>
          <a:p>
            <a:r>
              <a:rPr lang="en-US" sz="2000" dirty="0"/>
              <a:t>Assuming the probability Y or X will select each strategy is 0.25  then</a:t>
            </a:r>
          </a:p>
        </p:txBody>
      </p:sp>
      <mc:AlternateContent xmlns:mc="http://schemas.openxmlformats.org/markup-compatibility/2006" xmlns:a14="http://schemas.microsoft.com/office/drawing/2010/main">
        <mc:Choice Requires="a14">
          <p:sp>
            <p:nvSpPr>
              <p:cNvPr id="9" name="TextBox 8"/>
              <p:cNvSpPr txBox="1"/>
              <p:nvPr/>
            </p:nvSpPr>
            <p:spPr>
              <a:xfrm>
                <a:off x="695666" y="5007012"/>
                <a:ext cx="433932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𝜇</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1,2</m:t>
                          </m:r>
                        </m:e>
                      </m:d>
                      <m:r>
                        <a:rPr lang="en-US" sz="2000" b="0" i="1" smtClean="0">
                          <a:latin typeface="Cambria Math" panose="02040503050406030204" pitchFamily="18" charset="0"/>
                          <a:ea typeface="Cambria Math" panose="02040503050406030204" pitchFamily="18" charset="0"/>
                        </a:rPr>
                        <m:t>=0.25</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−2+0+0+3</m:t>
                          </m:r>
                        </m:e>
                      </m:d>
                      <m:r>
                        <a:rPr lang="en-US" sz="2000" b="0" i="1" smtClean="0">
                          <a:latin typeface="Cambria Math" panose="02040503050406030204" pitchFamily="18" charset="0"/>
                          <a:ea typeface="Cambria Math" panose="02040503050406030204" pitchFamily="18" charset="0"/>
                        </a:rPr>
                        <m:t>=0.25 </m:t>
                      </m:r>
                    </m:oMath>
                  </m:oMathPara>
                </a14:m>
                <a:endParaRPr lang="en-US" sz="2000" dirty="0"/>
              </a:p>
            </p:txBody>
          </p:sp>
        </mc:Choice>
        <mc:Fallback xmlns="">
          <p:sp>
            <p:nvSpPr>
              <p:cNvPr id="9" name="TextBox 8"/>
              <p:cNvSpPr txBox="1">
                <a:spLocks noRot="1" noChangeAspect="1" noMove="1" noResize="1" noEditPoints="1" noAdjustHandles="1" noChangeArrowheads="1" noChangeShapeType="1" noTextEdit="1"/>
              </p:cNvSpPr>
              <p:nvPr/>
            </p:nvSpPr>
            <p:spPr>
              <a:xfrm>
                <a:off x="695666" y="5007012"/>
                <a:ext cx="4339329" cy="307777"/>
              </a:xfrm>
              <a:prstGeom prst="rect">
                <a:avLst/>
              </a:prstGeom>
              <a:blipFill>
                <a:blip r:embed="rId3"/>
                <a:stretch>
                  <a:fillRect l="-843" b="-215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695665" y="5407122"/>
                <a:ext cx="433932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𝜇</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2,1</m:t>
                          </m:r>
                        </m:e>
                      </m:d>
                      <m:r>
                        <a:rPr lang="en-US" sz="2000" b="0" i="1" smtClean="0">
                          <a:latin typeface="Cambria Math" panose="02040503050406030204" pitchFamily="18" charset="0"/>
                          <a:ea typeface="Cambria Math" panose="02040503050406030204" pitchFamily="18" charset="0"/>
                        </a:rPr>
                        <m:t>=0.25</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3+0+0−4</m:t>
                          </m:r>
                        </m:e>
                      </m:d>
                      <m:r>
                        <a:rPr lang="en-US" sz="2000" b="0" i="1" smtClean="0">
                          <a:latin typeface="Cambria Math" panose="02040503050406030204" pitchFamily="18" charset="0"/>
                          <a:ea typeface="Cambria Math" panose="02040503050406030204" pitchFamily="18" charset="0"/>
                        </a:rPr>
                        <m:t>=−0.25 </m:t>
                      </m:r>
                    </m:oMath>
                  </m:oMathPara>
                </a14:m>
                <a:endParaRPr lang="en-US" sz="2000" dirty="0"/>
              </a:p>
            </p:txBody>
          </p:sp>
        </mc:Choice>
        <mc:Fallback xmlns="">
          <p:sp>
            <p:nvSpPr>
              <p:cNvPr id="10" name="TextBox 9"/>
              <p:cNvSpPr txBox="1">
                <a:spLocks noRot="1" noChangeAspect="1" noMove="1" noResize="1" noEditPoints="1" noAdjustHandles="1" noChangeArrowheads="1" noChangeShapeType="1" noTextEdit="1"/>
              </p:cNvSpPr>
              <p:nvPr/>
            </p:nvSpPr>
            <p:spPr>
              <a:xfrm>
                <a:off x="695665" y="5407122"/>
                <a:ext cx="4339329" cy="307777"/>
              </a:xfrm>
              <a:prstGeom prst="rect">
                <a:avLst/>
              </a:prstGeom>
              <a:blipFill>
                <a:blip r:embed="rId4"/>
                <a:stretch>
                  <a:fillRect l="-843" b="-2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701459" y="5757451"/>
                <a:ext cx="4146968"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𝜇</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2,2</m:t>
                          </m:r>
                        </m:e>
                      </m:d>
                      <m:r>
                        <a:rPr lang="en-US" sz="2000" b="0" i="1" smtClean="0">
                          <a:latin typeface="Cambria Math" panose="02040503050406030204" pitchFamily="18" charset="0"/>
                          <a:ea typeface="Cambria Math" panose="02040503050406030204" pitchFamily="18" charset="0"/>
                        </a:rPr>
                        <m:t>=0.25</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0−3+4+0</m:t>
                          </m:r>
                        </m:e>
                      </m:d>
                      <m:r>
                        <a:rPr lang="en-US" sz="2000" b="0" i="1" smtClean="0">
                          <a:latin typeface="Cambria Math" panose="02040503050406030204" pitchFamily="18" charset="0"/>
                          <a:ea typeface="Cambria Math" panose="02040503050406030204" pitchFamily="18" charset="0"/>
                        </a:rPr>
                        <m:t>=0.25 </m:t>
                      </m:r>
                    </m:oMath>
                  </m:oMathPara>
                </a14:m>
                <a:endParaRPr lang="en-US" sz="2000" dirty="0"/>
              </a:p>
            </p:txBody>
          </p:sp>
        </mc:Choice>
        <mc:Fallback xmlns="">
          <p:sp>
            <p:nvSpPr>
              <p:cNvPr id="11" name="TextBox 10"/>
              <p:cNvSpPr txBox="1">
                <a:spLocks noRot="1" noChangeAspect="1" noMove="1" noResize="1" noEditPoints="1" noAdjustHandles="1" noChangeArrowheads="1" noChangeShapeType="1" noTextEdit="1"/>
              </p:cNvSpPr>
              <p:nvPr/>
            </p:nvSpPr>
            <p:spPr>
              <a:xfrm>
                <a:off x="701459" y="5757451"/>
                <a:ext cx="4146968" cy="307777"/>
              </a:xfrm>
              <a:prstGeom prst="rect">
                <a:avLst/>
              </a:prstGeom>
              <a:blipFill>
                <a:blip r:embed="rId5"/>
                <a:stretch>
                  <a:fillRect l="-882" b="-21569"/>
                </a:stretch>
              </a:blipFill>
            </p:spPr>
            <p:txBody>
              <a:bodyPr/>
              <a:lstStyle/>
              <a:p>
                <a:r>
                  <a:rPr lang="en-US">
                    <a:noFill/>
                  </a:rPr>
                  <a:t> </a:t>
                </a:r>
              </a:p>
            </p:txBody>
          </p:sp>
        </mc:Fallback>
      </mc:AlternateContent>
      <p:sp>
        <p:nvSpPr>
          <p:cNvPr id="12" name="Rectangle 11"/>
          <p:cNvSpPr/>
          <p:nvPr/>
        </p:nvSpPr>
        <p:spPr>
          <a:xfrm>
            <a:off x="5219564" y="4714623"/>
            <a:ext cx="3240868" cy="400110"/>
          </a:xfrm>
          <a:prstGeom prst="rect">
            <a:avLst/>
          </a:prstGeom>
        </p:spPr>
        <p:txBody>
          <a:bodyPr wrap="square">
            <a:spAutoFit/>
          </a:bodyPr>
          <a:lstStyle/>
          <a:p>
            <a:r>
              <a:rPr lang="en-US" sz="2000" dirty="0"/>
              <a:t>X will choose strategy 2 or 4 </a:t>
            </a:r>
          </a:p>
        </p:txBody>
      </p:sp>
      <p:sp>
        <p:nvSpPr>
          <p:cNvPr id="13" name="Rectangle 12"/>
          <p:cNvSpPr/>
          <p:nvPr/>
        </p:nvSpPr>
        <p:spPr>
          <a:xfrm>
            <a:off x="5219564" y="5314789"/>
            <a:ext cx="3240868" cy="400110"/>
          </a:xfrm>
          <a:prstGeom prst="rect">
            <a:avLst/>
          </a:prstGeom>
        </p:spPr>
        <p:txBody>
          <a:bodyPr wrap="square">
            <a:spAutoFit/>
          </a:bodyPr>
          <a:lstStyle/>
          <a:p>
            <a:r>
              <a:rPr lang="en-US" sz="2000" dirty="0"/>
              <a:t>Y will choose strategy 2 or 4 </a:t>
            </a:r>
          </a:p>
        </p:txBody>
      </p:sp>
    </p:spTree>
    <p:extLst>
      <p:ext uri="{BB962C8B-B14F-4D97-AF65-F5344CB8AC3E}">
        <p14:creationId xmlns:p14="http://schemas.microsoft.com/office/powerpoint/2010/main" val="2153839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P spid="11" grpId="0"/>
      <p:bldP spid="12" grpId="0"/>
      <p:bldP spid="1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p:cNvSpPr txBox="1"/>
              <p:nvPr/>
            </p:nvSpPr>
            <p:spPr>
              <a:xfrm>
                <a:off x="755576" y="548680"/>
                <a:ext cx="7642589" cy="830997"/>
              </a:xfrm>
              <a:prstGeom prst="rect">
                <a:avLst/>
              </a:prstGeom>
              <a:noFill/>
            </p:spPr>
            <p:txBody>
              <a:bodyPr wrap="square" rtlCol="0">
                <a:spAutoFit/>
              </a:bodyPr>
              <a:lstStyle/>
              <a:p>
                <a:pPr algn="just"/>
                <a:r>
                  <a:rPr lang="en-US" sz="2400" dirty="0"/>
                  <a:t>Find the strategy of each player given this pay-off and a value of the game (</a:t>
                </a:r>
                <a14:m>
                  <m:oMath xmlns:m="http://schemas.openxmlformats.org/officeDocument/2006/math">
                    <m:r>
                      <a:rPr lang="en-US" sz="2400" i="1" dirty="0" smtClean="0">
                        <a:latin typeface="Cambria Math" panose="02040503050406030204" pitchFamily="18" charset="0"/>
                      </a:rPr>
                      <m:t>𝑣</m:t>
                    </m:r>
                  </m:oMath>
                </a14:m>
                <a:r>
                  <a:rPr lang="en-US" sz="2400" dirty="0"/>
                  <a:t>) </a:t>
                </a:r>
              </a:p>
            </p:txBody>
          </p:sp>
        </mc:Choice>
        <mc:Fallback xmlns="">
          <p:sp>
            <p:nvSpPr>
              <p:cNvPr id="4" name="TextBox 3"/>
              <p:cNvSpPr txBox="1">
                <a:spLocks noRot="1" noChangeAspect="1" noMove="1" noResize="1" noEditPoints="1" noAdjustHandles="1" noChangeArrowheads="1" noChangeShapeType="1" noTextEdit="1"/>
              </p:cNvSpPr>
              <p:nvPr/>
            </p:nvSpPr>
            <p:spPr>
              <a:xfrm>
                <a:off x="755576" y="548680"/>
                <a:ext cx="7642589" cy="830997"/>
              </a:xfrm>
              <a:prstGeom prst="rect">
                <a:avLst/>
              </a:prstGeom>
              <a:blipFill>
                <a:blip r:embed="rId2"/>
                <a:stretch>
                  <a:fillRect l="-1276" t="-5882" r="-1196" b="-16176"/>
                </a:stretch>
              </a:blipFill>
            </p:spPr>
            <p:txBody>
              <a:bodyPr/>
              <a:lstStyle/>
              <a:p>
                <a:r>
                  <a:rPr lang="en-US">
                    <a:noFill/>
                  </a:rPr>
                  <a:t> </a:t>
                </a:r>
              </a:p>
            </p:txBody>
          </p:sp>
        </mc:Fallback>
      </mc:AlternateContent>
      <p:graphicFrame>
        <p:nvGraphicFramePr>
          <p:cNvPr id="5" name="Table 4"/>
          <p:cNvGraphicFramePr>
            <a:graphicFrameLocks noGrp="1"/>
          </p:cNvGraphicFramePr>
          <p:nvPr>
            <p:extLst>
              <p:ext uri="{D42A27DB-BD31-4B8C-83A1-F6EECF244321}">
                <p14:modId xmlns:p14="http://schemas.microsoft.com/office/powerpoint/2010/main" val="3045552512"/>
              </p:ext>
            </p:extLst>
          </p:nvPr>
        </p:nvGraphicFramePr>
        <p:xfrm>
          <a:off x="3904599" y="1115596"/>
          <a:ext cx="3240360" cy="1266825"/>
        </p:xfrm>
        <a:graphic>
          <a:graphicData uri="http://schemas.openxmlformats.org/drawingml/2006/table">
            <a:tbl>
              <a:tblPr>
                <a:tableStyleId>{5C22544A-7EE6-4342-B048-85BDC9FD1C3A}</a:tableStyleId>
              </a:tblPr>
              <a:tblGrid>
                <a:gridCol w="614551">
                  <a:extLst>
                    <a:ext uri="{9D8B030D-6E8A-4147-A177-3AD203B41FA5}">
                      <a16:colId xmlns:a16="http://schemas.microsoft.com/office/drawing/2014/main" val="465924444"/>
                    </a:ext>
                  </a:extLst>
                </a:gridCol>
                <a:gridCol w="681593">
                  <a:extLst>
                    <a:ext uri="{9D8B030D-6E8A-4147-A177-3AD203B41FA5}">
                      <a16:colId xmlns:a16="http://schemas.microsoft.com/office/drawing/2014/main" val="3738874413"/>
                    </a:ext>
                  </a:extLst>
                </a:gridCol>
                <a:gridCol w="648072">
                  <a:extLst>
                    <a:ext uri="{9D8B030D-6E8A-4147-A177-3AD203B41FA5}">
                      <a16:colId xmlns:a16="http://schemas.microsoft.com/office/drawing/2014/main" val="2454115107"/>
                    </a:ext>
                  </a:extLst>
                </a:gridCol>
                <a:gridCol w="648072">
                  <a:extLst>
                    <a:ext uri="{9D8B030D-6E8A-4147-A177-3AD203B41FA5}">
                      <a16:colId xmlns:a16="http://schemas.microsoft.com/office/drawing/2014/main" val="1795178663"/>
                    </a:ext>
                  </a:extLst>
                </a:gridCol>
                <a:gridCol w="648072">
                  <a:extLst>
                    <a:ext uri="{9D8B030D-6E8A-4147-A177-3AD203B41FA5}">
                      <a16:colId xmlns:a16="http://schemas.microsoft.com/office/drawing/2014/main" val="1284286733"/>
                    </a:ext>
                  </a:extLst>
                </a:gridCol>
              </a:tblGrid>
              <a:tr h="190500">
                <a:tc>
                  <a:txBody>
                    <a:bodyPr/>
                    <a:lstStyle/>
                    <a:p>
                      <a:pPr algn="ctr" fontAlgn="b"/>
                      <a:r>
                        <a:rPr lang="en-US" sz="1600" u="none" strike="noStrike" dirty="0">
                          <a:effectLst/>
                        </a:rPr>
                        <a:t>X/Y</a:t>
                      </a:r>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1600" u="none" strike="noStrike">
                          <a:effectLst/>
                        </a:rPr>
                        <a:t> </a:t>
                      </a:r>
                      <a:endParaRPr lang="en-US" sz="1600" b="0" i="0" u="none" strike="noStrike">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1600" u="none" strike="noStrike">
                          <a:effectLst/>
                        </a:rPr>
                        <a:t>1</a:t>
                      </a:r>
                      <a:endParaRPr lang="en-US" sz="1600" b="0" i="0" u="none" strike="noStrike">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1600" u="none" strike="noStrike">
                          <a:effectLst/>
                        </a:rPr>
                        <a:t>2</a:t>
                      </a:r>
                      <a:endParaRPr lang="en-US" sz="1600" b="0" i="0" u="none" strike="noStrike">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1600" u="none" strike="noStrike" dirty="0">
                          <a:effectLst/>
                        </a:rPr>
                        <a:t>3</a:t>
                      </a:r>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extLst>
                  <a:ext uri="{0D108BD9-81ED-4DB2-BD59-A6C34878D82A}">
                    <a16:rowId xmlns:a16="http://schemas.microsoft.com/office/drawing/2014/main" val="14129830"/>
                  </a:ext>
                </a:extLst>
              </a:tr>
              <a:tr h="190500">
                <a:tc>
                  <a:txBody>
                    <a:bodyPr/>
                    <a:lstStyle/>
                    <a:p>
                      <a:pPr algn="ctr" fontAlgn="b"/>
                      <a:r>
                        <a:rPr lang="en-US" sz="1600" u="none" strike="noStrike" dirty="0">
                          <a:effectLst/>
                        </a:rPr>
                        <a:t> </a:t>
                      </a:r>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1600" u="none" strike="noStrike" dirty="0" err="1">
                          <a:effectLst/>
                        </a:rPr>
                        <a:t>Prob</a:t>
                      </a:r>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1600" u="none" strike="noStrike" dirty="0">
                          <a:effectLst/>
                        </a:rPr>
                        <a:t>0.3</a:t>
                      </a:r>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a:effectLst/>
                        </a:rPr>
                        <a:t>0.5</a:t>
                      </a:r>
                      <a:endParaRPr lang="en-US" sz="1600" b="0"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dirty="0">
                          <a:effectLst/>
                        </a:rPr>
                        <a:t>0.2</a:t>
                      </a:r>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extLst>
                  <a:ext uri="{0D108BD9-81ED-4DB2-BD59-A6C34878D82A}">
                    <a16:rowId xmlns:a16="http://schemas.microsoft.com/office/drawing/2014/main" val="3042800791"/>
                  </a:ext>
                </a:extLst>
              </a:tr>
              <a:tr h="190500">
                <a:tc>
                  <a:txBody>
                    <a:bodyPr/>
                    <a:lstStyle/>
                    <a:p>
                      <a:pPr algn="ctr" fontAlgn="b"/>
                      <a:r>
                        <a:rPr lang="en-US" sz="1600" u="none" strike="noStrike">
                          <a:effectLst/>
                        </a:rPr>
                        <a:t>1</a:t>
                      </a:r>
                      <a:endParaRPr lang="en-US" sz="1600" b="0" i="0" u="none" strike="noStrike">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1600" u="none" strike="noStrike" dirty="0">
                          <a:effectLst/>
                        </a:rPr>
                        <a:t>0.5</a:t>
                      </a:r>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dirty="0">
                          <a:effectLst/>
                        </a:rPr>
                        <a:t>3</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59433256"/>
                  </a:ext>
                </a:extLst>
              </a:tr>
              <a:tr h="190500">
                <a:tc>
                  <a:txBody>
                    <a:bodyPr/>
                    <a:lstStyle/>
                    <a:p>
                      <a:pPr algn="ctr" fontAlgn="b"/>
                      <a:r>
                        <a:rPr lang="en-US" sz="1600" u="none" strike="noStrike">
                          <a:effectLst/>
                        </a:rPr>
                        <a:t>2</a:t>
                      </a:r>
                      <a:endParaRPr lang="en-US" sz="1600" b="0" i="0" u="none" strike="noStrike">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1600" u="none" strike="noStrike" dirty="0">
                          <a:effectLst/>
                        </a:rPr>
                        <a:t>0.5</a:t>
                      </a:r>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dirty="0">
                          <a:effectLst/>
                        </a:rPr>
                        <a:t>4</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05982770"/>
                  </a:ext>
                </a:extLst>
              </a:tr>
              <a:tr h="190500">
                <a:tc>
                  <a:txBody>
                    <a:bodyPr/>
                    <a:lstStyle/>
                    <a:p>
                      <a:pPr algn="ctr" fontAlgn="b"/>
                      <a:r>
                        <a:rPr lang="en-US" sz="1600" u="none" strike="noStrike" dirty="0">
                          <a:effectLst/>
                        </a:rPr>
                        <a:t>3</a:t>
                      </a:r>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30496318"/>
                  </a:ext>
                </a:extLst>
              </a:tr>
            </a:tbl>
          </a:graphicData>
        </a:graphic>
      </p:graphicFrame>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1749232061"/>
                  </p:ext>
                </p:extLst>
              </p:nvPr>
            </p:nvGraphicFramePr>
            <p:xfrm>
              <a:off x="7141511" y="1119463"/>
              <a:ext cx="723527" cy="1266825"/>
            </p:xfrm>
            <a:graphic>
              <a:graphicData uri="http://schemas.openxmlformats.org/drawingml/2006/table">
                <a:tbl>
                  <a:tblPr>
                    <a:tableStyleId>{5C22544A-7EE6-4342-B048-85BDC9FD1C3A}</a:tableStyleId>
                  </a:tblPr>
                  <a:tblGrid>
                    <a:gridCol w="723527">
                      <a:extLst>
                        <a:ext uri="{9D8B030D-6E8A-4147-A177-3AD203B41FA5}">
                          <a16:colId xmlns:a16="http://schemas.microsoft.com/office/drawing/2014/main" val="780740917"/>
                        </a:ext>
                      </a:extLst>
                    </a:gridCol>
                  </a:tblGrid>
                  <a:tr h="190500">
                    <a:tc>
                      <a:txBody>
                        <a:body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tx2"/>
                        </a:solidFill>
                      </a:tcPr>
                    </a:tc>
                    <a:extLst>
                      <a:ext uri="{0D108BD9-81ED-4DB2-BD59-A6C34878D82A}">
                        <a16:rowId xmlns:a16="http://schemas.microsoft.com/office/drawing/2014/main" val="1935583098"/>
                      </a:ext>
                    </a:extLst>
                  </a:tr>
                  <a:tr h="190500">
                    <a:tc>
                      <a:txBody>
                        <a:bodyPr/>
                        <a:lstStyle/>
                        <a:p>
                          <a:pPr algn="ctr" fontAlgn="b"/>
                          <a14:m>
                            <m:oMathPara xmlns:m="http://schemas.openxmlformats.org/officeDocument/2006/math">
                              <m:oMathParaPr>
                                <m:jc m:val="centerGroup"/>
                              </m:oMathParaPr>
                              <m:oMath xmlns:m="http://schemas.openxmlformats.org/officeDocument/2006/math">
                                <m:r>
                                  <a:rPr lang="en-US" sz="1600" b="0" i="1" u="none" strike="noStrike" smtClean="0">
                                    <a:solidFill>
                                      <a:srgbClr val="000000"/>
                                    </a:solidFill>
                                    <a:effectLst/>
                                    <a:latin typeface="Cambria Math" panose="02040503050406030204" pitchFamily="18" charset="0"/>
                                    <a:ea typeface="Cambria Math" panose="02040503050406030204" pitchFamily="18" charset="0"/>
                                  </a:rPr>
                                  <m:t>𝜇</m:t>
                                </m:r>
                                <m:r>
                                  <a:rPr lang="en-US" sz="1600" b="0" i="1" u="none" strike="noStrike" smtClean="0">
                                    <a:solidFill>
                                      <a:srgbClr val="000000"/>
                                    </a:solidFill>
                                    <a:effectLst/>
                                    <a:latin typeface="Cambria Math" panose="02040503050406030204" pitchFamily="18" charset="0"/>
                                    <a:ea typeface="Cambria Math" panose="02040503050406030204" pitchFamily="18" charset="0"/>
                                  </a:rPr>
                                  <m:t>(</m:t>
                                </m:r>
                                <m:sSub>
                                  <m:sSubPr>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sSubPr>
                                  <m:e>
                                    <m:r>
                                      <a:rPr lang="en-US" sz="1600" b="0" i="1" u="none" strike="noStrike" smtClean="0">
                                        <a:solidFill>
                                          <a:srgbClr val="000000"/>
                                        </a:solidFill>
                                        <a:effectLst/>
                                        <a:latin typeface="Cambria Math" panose="02040503050406030204" pitchFamily="18" charset="0"/>
                                        <a:ea typeface="Cambria Math" panose="02040503050406030204" pitchFamily="18" charset="0"/>
                                      </a:rPr>
                                      <m:t>𝑥</m:t>
                                    </m:r>
                                  </m:e>
                                  <m:sub>
                                    <m:r>
                                      <a:rPr lang="en-US" sz="1600" b="0" i="1" u="none" strike="noStrike" smtClean="0">
                                        <a:solidFill>
                                          <a:srgbClr val="000000"/>
                                        </a:solidFill>
                                        <a:effectLst/>
                                        <a:latin typeface="Cambria Math" panose="02040503050406030204" pitchFamily="18" charset="0"/>
                                        <a:ea typeface="Cambria Math" panose="02040503050406030204" pitchFamily="18" charset="0"/>
                                      </a:rPr>
                                      <m:t>𝑖</m:t>
                                    </m:r>
                                  </m:sub>
                                </m:sSub>
                                <m:r>
                                  <a:rPr lang="en-US" sz="1600" b="0" i="1" u="none" strike="noStrike" smtClean="0">
                                    <a:solidFill>
                                      <a:srgbClr val="000000"/>
                                    </a:solidFill>
                                    <a:effectLst/>
                                    <a:latin typeface="Cambria Math" panose="02040503050406030204" pitchFamily="18" charset="0"/>
                                    <a:ea typeface="Cambria Math" panose="02040503050406030204" pitchFamily="18" charset="0"/>
                                  </a:rPr>
                                  <m:t>)</m:t>
                                </m:r>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extLst>
                      <a:ext uri="{0D108BD9-81ED-4DB2-BD59-A6C34878D82A}">
                        <a16:rowId xmlns:a16="http://schemas.microsoft.com/office/drawing/2014/main" val="4178472227"/>
                      </a:ext>
                    </a:extLst>
                  </a:tr>
                  <a:tr h="190500">
                    <a:tc>
                      <a:txBody>
                        <a:bodyPr/>
                        <a:lstStyle/>
                        <a:p>
                          <a:pPr algn="ctr" fontAlgn="b"/>
                          <a:r>
                            <a:rPr lang="en-US" sz="1600" u="none" strike="noStrike" dirty="0">
                              <a:effectLst/>
                            </a:rPr>
                            <a:t>1.80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40935072"/>
                      </a:ext>
                    </a:extLst>
                  </a:tr>
                  <a:tr h="190500">
                    <a:tc>
                      <a:txBody>
                        <a:bodyPr/>
                        <a:lstStyle/>
                        <a:p>
                          <a:pPr algn="ctr" fontAlgn="b"/>
                          <a:r>
                            <a:rPr lang="en-US" sz="1600" u="none" strike="noStrike" dirty="0">
                              <a:effectLst/>
                            </a:rPr>
                            <a:t>1.90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04948610"/>
                      </a:ext>
                    </a:extLst>
                  </a:tr>
                  <a:tr h="190500">
                    <a:tc>
                      <a:txBody>
                        <a:bodyPr/>
                        <a:lstStyle/>
                        <a:p>
                          <a:pPr algn="ctr" fontAlgn="b"/>
                          <a:r>
                            <a:rPr lang="en-US" sz="1600" u="none" strike="noStrike" dirty="0">
                              <a:effectLst/>
                            </a:rPr>
                            <a:t>1.60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25899638"/>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1749232061"/>
                  </p:ext>
                </p:extLst>
              </p:nvPr>
            </p:nvGraphicFramePr>
            <p:xfrm>
              <a:off x="7141511" y="1119463"/>
              <a:ext cx="723527" cy="1266825"/>
            </p:xfrm>
            <a:graphic>
              <a:graphicData uri="http://schemas.openxmlformats.org/drawingml/2006/table">
                <a:tbl>
                  <a:tblPr>
                    <a:tableStyleId>{5C22544A-7EE6-4342-B048-85BDC9FD1C3A}</a:tableStyleId>
                  </a:tblPr>
                  <a:tblGrid>
                    <a:gridCol w="723527">
                      <a:extLst>
                        <a:ext uri="{9D8B030D-6E8A-4147-A177-3AD203B41FA5}">
                          <a16:colId xmlns:a16="http://schemas.microsoft.com/office/drawing/2014/main" val="780740917"/>
                        </a:ext>
                      </a:extLst>
                    </a:gridCol>
                  </a:tblGrid>
                  <a:tr h="253365">
                    <a:tc>
                      <a:txBody>
                        <a:body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tx2"/>
                        </a:solidFill>
                      </a:tcPr>
                    </a:tc>
                    <a:extLst>
                      <a:ext uri="{0D108BD9-81ED-4DB2-BD59-A6C34878D82A}">
                        <a16:rowId xmlns:a16="http://schemas.microsoft.com/office/drawing/2014/main" val="1935583098"/>
                      </a:ext>
                    </a:extLst>
                  </a:tr>
                  <a:tr h="253365">
                    <a:tc>
                      <a:txBody>
                        <a:bodyPr/>
                        <a:lstStyle/>
                        <a:p>
                          <a:endParaRPr lang="en-US"/>
                        </a:p>
                      </a:txBody>
                      <a:tcPr marL="9525" marR="9525" marT="9525" marB="0" anchor="b">
                        <a:blipFill>
                          <a:blip r:embed="rId3"/>
                          <a:stretch>
                            <a:fillRect l="-833" t="-102381" r="-1667" b="-347619"/>
                          </a:stretch>
                        </a:blipFill>
                      </a:tcPr>
                    </a:tc>
                    <a:extLst>
                      <a:ext uri="{0D108BD9-81ED-4DB2-BD59-A6C34878D82A}">
                        <a16:rowId xmlns:a16="http://schemas.microsoft.com/office/drawing/2014/main" val="4178472227"/>
                      </a:ext>
                    </a:extLst>
                  </a:tr>
                  <a:tr h="253365">
                    <a:tc>
                      <a:txBody>
                        <a:bodyPr/>
                        <a:lstStyle/>
                        <a:p>
                          <a:pPr algn="ctr" fontAlgn="b"/>
                          <a:r>
                            <a:rPr lang="en-US" sz="1600" u="none" strike="noStrike" dirty="0">
                              <a:effectLst/>
                            </a:rPr>
                            <a:t>1.80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40935072"/>
                      </a:ext>
                    </a:extLst>
                  </a:tr>
                  <a:tr h="253365">
                    <a:tc>
                      <a:txBody>
                        <a:bodyPr/>
                        <a:lstStyle/>
                        <a:p>
                          <a:pPr algn="ctr" fontAlgn="b"/>
                          <a:r>
                            <a:rPr lang="en-US" sz="1600" u="none" strike="noStrike" dirty="0">
                              <a:effectLst/>
                            </a:rPr>
                            <a:t>1.90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04948610"/>
                      </a:ext>
                    </a:extLst>
                  </a:tr>
                  <a:tr h="253365">
                    <a:tc>
                      <a:txBody>
                        <a:bodyPr/>
                        <a:lstStyle/>
                        <a:p>
                          <a:pPr algn="ctr" fontAlgn="b"/>
                          <a:r>
                            <a:rPr lang="en-US" sz="1600" u="none" strike="noStrike" dirty="0">
                              <a:effectLst/>
                            </a:rPr>
                            <a:t>1.60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25899638"/>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7" name="Table 6"/>
              <p:cNvGraphicFramePr>
                <a:graphicFrameLocks noGrp="1"/>
              </p:cNvGraphicFramePr>
              <p:nvPr>
                <p:extLst>
                  <p:ext uri="{D42A27DB-BD31-4B8C-83A1-F6EECF244321}">
                    <p14:modId xmlns:p14="http://schemas.microsoft.com/office/powerpoint/2010/main" val="311653144"/>
                  </p:ext>
                </p:extLst>
              </p:nvPr>
            </p:nvGraphicFramePr>
            <p:xfrm>
              <a:off x="3901025" y="2390155"/>
              <a:ext cx="3240489" cy="253365"/>
            </p:xfrm>
            <a:graphic>
              <a:graphicData uri="http://schemas.openxmlformats.org/drawingml/2006/table">
                <a:tbl>
                  <a:tblPr>
                    <a:tableStyleId>{5C22544A-7EE6-4342-B048-85BDC9FD1C3A}</a:tableStyleId>
                  </a:tblPr>
                  <a:tblGrid>
                    <a:gridCol w="1299717">
                      <a:extLst>
                        <a:ext uri="{9D8B030D-6E8A-4147-A177-3AD203B41FA5}">
                          <a16:colId xmlns:a16="http://schemas.microsoft.com/office/drawing/2014/main" val="1659885154"/>
                        </a:ext>
                      </a:extLst>
                    </a:gridCol>
                    <a:gridCol w="648072">
                      <a:extLst>
                        <a:ext uri="{9D8B030D-6E8A-4147-A177-3AD203B41FA5}">
                          <a16:colId xmlns:a16="http://schemas.microsoft.com/office/drawing/2014/main" val="838963423"/>
                        </a:ext>
                      </a:extLst>
                    </a:gridCol>
                    <a:gridCol w="648072">
                      <a:extLst>
                        <a:ext uri="{9D8B030D-6E8A-4147-A177-3AD203B41FA5}">
                          <a16:colId xmlns:a16="http://schemas.microsoft.com/office/drawing/2014/main" val="3656921445"/>
                        </a:ext>
                      </a:extLst>
                    </a:gridCol>
                    <a:gridCol w="644628">
                      <a:extLst>
                        <a:ext uri="{9D8B030D-6E8A-4147-A177-3AD203B41FA5}">
                          <a16:colId xmlns:a16="http://schemas.microsoft.com/office/drawing/2014/main" val="2401808"/>
                        </a:ext>
                      </a:extLst>
                    </a:gridCol>
                  </a:tblGrid>
                  <a:tr h="190500">
                    <a:tc>
                      <a:txBody>
                        <a:bodyPr/>
                        <a:lstStyle/>
                        <a:p>
                          <a:pPr algn="ctr" fontAlgn="b"/>
                          <a14:m>
                            <m:oMathPara xmlns:m="http://schemas.openxmlformats.org/officeDocument/2006/math">
                              <m:oMathParaPr>
                                <m:jc m:val="center"/>
                              </m:oMathParaPr>
                              <m:oMath xmlns:m="http://schemas.openxmlformats.org/officeDocument/2006/math">
                                <m:r>
                                  <a:rPr lang="en-US" sz="1600" b="0" i="1" u="none" strike="noStrike" smtClean="0">
                                    <a:solidFill>
                                      <a:srgbClr val="000000"/>
                                    </a:solidFill>
                                    <a:effectLst/>
                                    <a:latin typeface="Cambria Math" panose="02040503050406030204" pitchFamily="18" charset="0"/>
                                    <a:ea typeface="Cambria Math" panose="02040503050406030204" pitchFamily="18" charset="0"/>
                                  </a:rPr>
                                  <m:t>𝜇</m:t>
                                </m:r>
                                <m:r>
                                  <a:rPr lang="en-US" sz="1600" b="0" i="1" u="none" strike="noStrike" smtClean="0">
                                    <a:solidFill>
                                      <a:srgbClr val="000000"/>
                                    </a:solidFill>
                                    <a:effectLst/>
                                    <a:latin typeface="Cambria Math" panose="02040503050406030204" pitchFamily="18" charset="0"/>
                                    <a:ea typeface="Cambria Math" panose="02040503050406030204" pitchFamily="18" charset="0"/>
                                  </a:rPr>
                                  <m:t>(</m:t>
                                </m:r>
                                <m:sSub>
                                  <m:sSubPr>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sSubPr>
                                  <m:e>
                                    <m:r>
                                      <a:rPr lang="en-US" sz="1600" b="0" i="1" u="none" strike="noStrike" smtClean="0">
                                        <a:solidFill>
                                          <a:srgbClr val="000000"/>
                                        </a:solidFill>
                                        <a:effectLst/>
                                        <a:latin typeface="Cambria Math" panose="02040503050406030204" pitchFamily="18" charset="0"/>
                                        <a:ea typeface="Cambria Math" panose="02040503050406030204" pitchFamily="18" charset="0"/>
                                      </a:rPr>
                                      <m:t>𝑦</m:t>
                                    </m:r>
                                  </m:e>
                                  <m:sub>
                                    <m:r>
                                      <a:rPr lang="en-US" sz="1600" b="0" i="1" u="none" strike="noStrike" smtClean="0">
                                        <a:solidFill>
                                          <a:srgbClr val="000000"/>
                                        </a:solidFill>
                                        <a:effectLst/>
                                        <a:latin typeface="Cambria Math" panose="02040503050406030204" pitchFamily="18" charset="0"/>
                                        <a:ea typeface="Cambria Math" panose="02040503050406030204" pitchFamily="18" charset="0"/>
                                      </a:rPr>
                                      <m:t>𝑖</m:t>
                                    </m:r>
                                  </m:sub>
                                </m:sSub>
                                <m:r>
                                  <a:rPr lang="en-US" sz="1600" b="0" i="1" u="none" strike="noStrike" smtClean="0">
                                    <a:solidFill>
                                      <a:srgbClr val="000000"/>
                                    </a:solidFill>
                                    <a:effectLst/>
                                    <a:latin typeface="Cambria Math" panose="02040503050406030204" pitchFamily="18" charset="0"/>
                                    <a:ea typeface="Cambria Math" panose="02040503050406030204" pitchFamily="18" charset="0"/>
                                  </a:rPr>
                                  <m:t>)</m:t>
                                </m:r>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dirty="0">
                              <a:effectLst/>
                            </a:rPr>
                            <a:t>3. 50</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1.5</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822019464"/>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311653144"/>
                  </p:ext>
                </p:extLst>
              </p:nvPr>
            </p:nvGraphicFramePr>
            <p:xfrm>
              <a:off x="3901025" y="2390155"/>
              <a:ext cx="3240489" cy="253365"/>
            </p:xfrm>
            <a:graphic>
              <a:graphicData uri="http://schemas.openxmlformats.org/drawingml/2006/table">
                <a:tbl>
                  <a:tblPr>
                    <a:tableStyleId>{5C22544A-7EE6-4342-B048-85BDC9FD1C3A}</a:tableStyleId>
                  </a:tblPr>
                  <a:tblGrid>
                    <a:gridCol w="1299717">
                      <a:extLst>
                        <a:ext uri="{9D8B030D-6E8A-4147-A177-3AD203B41FA5}">
                          <a16:colId xmlns:a16="http://schemas.microsoft.com/office/drawing/2014/main" val="1659885154"/>
                        </a:ext>
                      </a:extLst>
                    </a:gridCol>
                    <a:gridCol w="648072">
                      <a:extLst>
                        <a:ext uri="{9D8B030D-6E8A-4147-A177-3AD203B41FA5}">
                          <a16:colId xmlns:a16="http://schemas.microsoft.com/office/drawing/2014/main" val="838963423"/>
                        </a:ext>
                      </a:extLst>
                    </a:gridCol>
                    <a:gridCol w="648072">
                      <a:extLst>
                        <a:ext uri="{9D8B030D-6E8A-4147-A177-3AD203B41FA5}">
                          <a16:colId xmlns:a16="http://schemas.microsoft.com/office/drawing/2014/main" val="3656921445"/>
                        </a:ext>
                      </a:extLst>
                    </a:gridCol>
                    <a:gridCol w="644628">
                      <a:extLst>
                        <a:ext uri="{9D8B030D-6E8A-4147-A177-3AD203B41FA5}">
                          <a16:colId xmlns:a16="http://schemas.microsoft.com/office/drawing/2014/main" val="2401808"/>
                        </a:ext>
                      </a:extLst>
                    </a:gridCol>
                  </a:tblGrid>
                  <a:tr h="253365">
                    <a:tc>
                      <a:txBody>
                        <a:bodyPr/>
                        <a:lstStyle/>
                        <a:p>
                          <a:endParaRPr lang="en-US"/>
                        </a:p>
                      </a:txBody>
                      <a:tcPr marL="9525" marR="9525" marT="9525" marB="0" anchor="b">
                        <a:blipFill>
                          <a:blip r:embed="rId4"/>
                          <a:stretch>
                            <a:fillRect l="-467" t="-19048" r="-150000" b="-50000"/>
                          </a:stretch>
                        </a:blipFill>
                      </a:tcPr>
                    </a:tc>
                    <a:tc>
                      <a:txBody>
                        <a:bodyPr/>
                        <a:lstStyle/>
                        <a:p>
                          <a:pPr algn="ctr" fontAlgn="b"/>
                          <a:r>
                            <a:rPr lang="en-US" sz="1600" u="none" strike="noStrike" dirty="0">
                              <a:effectLst/>
                            </a:rPr>
                            <a:t>3. 50</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1.5</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822019464"/>
                      </a:ext>
                    </a:extLst>
                  </a:tr>
                </a:tbl>
              </a:graphicData>
            </a:graphic>
          </p:graphicFrame>
        </mc:Fallback>
      </mc:AlternateContent>
      <mc:AlternateContent xmlns:mc="http://schemas.openxmlformats.org/markup-compatibility/2006" xmlns:a14="http://schemas.microsoft.com/office/drawing/2010/main">
        <mc:Choice Requires="a14">
          <p:sp>
            <p:nvSpPr>
              <p:cNvPr id="8" name="Rectangle 7"/>
              <p:cNvSpPr/>
              <p:nvPr/>
            </p:nvSpPr>
            <p:spPr>
              <a:xfrm>
                <a:off x="1044502" y="3137002"/>
                <a:ext cx="7272422" cy="400110"/>
              </a:xfrm>
              <a:prstGeom prst="rect">
                <a:avLst/>
              </a:prstGeom>
            </p:spPr>
            <p:txBody>
              <a:bodyPr wrap="square">
                <a:spAutoFit/>
              </a:bodyPr>
              <a:lstStyle/>
              <a:p>
                <a14:m>
                  <m:oMath xmlns:m="http://schemas.openxmlformats.org/officeDocument/2006/math">
                    <m:r>
                      <a:rPr lang="en-US" sz="2000" i="1" dirty="0" smtClean="0">
                        <a:latin typeface="Cambria Math" panose="02040503050406030204" pitchFamily="18" charset="0"/>
                      </a:rPr>
                      <m:t>𝑋</m:t>
                    </m:r>
                  </m:oMath>
                </a14:m>
                <a:r>
                  <a:rPr lang="en-US" sz="2000" dirty="0"/>
                  <a:t> prefers to choose strategy 1 or 2  and  </a:t>
                </a:r>
                <a14:m>
                  <m:oMath xmlns:m="http://schemas.openxmlformats.org/officeDocument/2006/math">
                    <m:r>
                      <a:rPr lang="en-US" sz="2000" i="1" dirty="0" smtClean="0">
                        <a:latin typeface="Cambria Math" panose="02040503050406030204" pitchFamily="18" charset="0"/>
                      </a:rPr>
                      <m:t>𝑌</m:t>
                    </m:r>
                  </m:oMath>
                </a14:m>
                <a:r>
                  <a:rPr lang="en-US" sz="2000" dirty="0"/>
                  <a:t> chooses strategy 2 or 3  </a:t>
                </a:r>
              </a:p>
            </p:txBody>
          </p:sp>
        </mc:Choice>
        <mc:Fallback xmlns="">
          <p:sp>
            <p:nvSpPr>
              <p:cNvPr id="8" name="Rectangle 7"/>
              <p:cNvSpPr>
                <a:spLocks noRot="1" noChangeAspect="1" noMove="1" noResize="1" noEditPoints="1" noAdjustHandles="1" noChangeArrowheads="1" noChangeShapeType="1" noTextEdit="1"/>
              </p:cNvSpPr>
              <p:nvPr/>
            </p:nvSpPr>
            <p:spPr>
              <a:xfrm>
                <a:off x="1044502" y="3137002"/>
                <a:ext cx="7272422" cy="400110"/>
              </a:xfrm>
              <a:prstGeom prst="rect">
                <a:avLst/>
              </a:prstGeom>
              <a:blipFill>
                <a:blip r:embed="rId5"/>
                <a:stretch>
                  <a:fillRect t="-9231" b="-27692"/>
                </a:stretch>
              </a:blipFill>
            </p:spPr>
            <p:txBody>
              <a:bodyPr/>
              <a:lstStyle/>
              <a:p>
                <a:r>
                  <a:rPr lang="en-US">
                    <a:noFill/>
                  </a:rPr>
                  <a:t> </a:t>
                </a:r>
              </a:p>
            </p:txBody>
          </p:sp>
        </mc:Fallback>
      </mc:AlternateContent>
      <p:sp>
        <p:nvSpPr>
          <p:cNvPr id="9" name="Rectangle 8"/>
          <p:cNvSpPr/>
          <p:nvPr/>
        </p:nvSpPr>
        <p:spPr>
          <a:xfrm>
            <a:off x="808744" y="2766219"/>
            <a:ext cx="4716035" cy="400110"/>
          </a:xfrm>
          <a:prstGeom prst="rect">
            <a:avLst/>
          </a:prstGeom>
        </p:spPr>
        <p:txBody>
          <a:bodyPr wrap="none">
            <a:spAutoFit/>
          </a:bodyPr>
          <a:lstStyle/>
          <a:p>
            <a:r>
              <a:rPr lang="en-US" sz="2000" dirty="0"/>
              <a:t>Playing </a:t>
            </a:r>
            <a:r>
              <a:rPr lang="en-US" sz="2000" dirty="0" err="1"/>
              <a:t>maxmin</a:t>
            </a:r>
            <a:r>
              <a:rPr lang="en-US" sz="2000" dirty="0"/>
              <a:t> and </a:t>
            </a:r>
            <a:r>
              <a:rPr lang="en-US" sz="2000" dirty="0" err="1"/>
              <a:t>minmax</a:t>
            </a:r>
            <a:r>
              <a:rPr lang="en-US" sz="2000" dirty="0"/>
              <a:t> strategy then  </a:t>
            </a:r>
          </a:p>
        </p:txBody>
      </p:sp>
      <mc:AlternateContent xmlns:mc="http://schemas.openxmlformats.org/markup-compatibility/2006" xmlns:a14="http://schemas.microsoft.com/office/drawing/2010/main">
        <mc:Choice Requires="a14">
          <p:sp>
            <p:nvSpPr>
              <p:cNvPr id="10" name="Rectangle 9"/>
              <p:cNvSpPr/>
              <p:nvPr/>
            </p:nvSpPr>
            <p:spPr>
              <a:xfrm>
                <a:off x="1044502" y="4774698"/>
                <a:ext cx="7272422" cy="400110"/>
              </a:xfrm>
              <a:prstGeom prst="rect">
                <a:avLst/>
              </a:prstGeom>
            </p:spPr>
            <p:txBody>
              <a:bodyPr wrap="square">
                <a:spAutoFit/>
              </a:bodyPr>
              <a:lstStyle/>
              <a:p>
                <a14:m>
                  <m:oMath xmlns:m="http://schemas.openxmlformats.org/officeDocument/2006/math">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 </m:t>
                    </m:r>
                  </m:oMath>
                </a14:m>
                <a:r>
                  <a:rPr lang="en-US" sz="2000" dirty="0"/>
                  <a:t>A prefer choose strategy 2  and  B prefer choose strategy 2    why ?  </a:t>
                </a:r>
              </a:p>
            </p:txBody>
          </p:sp>
        </mc:Choice>
        <mc:Fallback xmlns="">
          <p:sp>
            <p:nvSpPr>
              <p:cNvPr id="10" name="Rectangle 9"/>
              <p:cNvSpPr>
                <a:spLocks noRot="1" noChangeAspect="1" noMove="1" noResize="1" noEditPoints="1" noAdjustHandles="1" noChangeArrowheads="1" noChangeShapeType="1" noTextEdit="1"/>
              </p:cNvSpPr>
              <p:nvPr/>
            </p:nvSpPr>
            <p:spPr>
              <a:xfrm>
                <a:off x="1044502" y="4774698"/>
                <a:ext cx="7272422" cy="400110"/>
              </a:xfrm>
              <a:prstGeom prst="rect">
                <a:avLst/>
              </a:prstGeom>
              <a:blipFill>
                <a:blip r:embed="rId6"/>
                <a:stretch>
                  <a:fillRect t="-7576" r="-1760" b="-25758"/>
                </a:stretch>
              </a:blipFill>
            </p:spPr>
            <p:txBody>
              <a:bodyPr/>
              <a:lstStyle/>
              <a:p>
                <a:r>
                  <a:rPr lang="en-US">
                    <a:noFill/>
                  </a:rPr>
                  <a:t> </a:t>
                </a:r>
              </a:p>
            </p:txBody>
          </p:sp>
        </mc:Fallback>
      </mc:AlternateContent>
      <p:sp>
        <p:nvSpPr>
          <p:cNvPr id="11" name="Rectangle 10"/>
          <p:cNvSpPr/>
          <p:nvPr/>
        </p:nvSpPr>
        <p:spPr>
          <a:xfrm>
            <a:off x="808744" y="3537112"/>
            <a:ext cx="2910990" cy="400110"/>
          </a:xfrm>
          <a:prstGeom prst="rect">
            <a:avLst/>
          </a:prstGeom>
        </p:spPr>
        <p:txBody>
          <a:bodyPr wrap="none">
            <a:spAutoFit/>
          </a:bodyPr>
          <a:lstStyle/>
          <a:p>
            <a:r>
              <a:rPr lang="en-US" sz="2000" dirty="0"/>
              <a:t>Playing mix strategy then  </a:t>
            </a:r>
          </a:p>
        </p:txBody>
      </p:sp>
      <mc:AlternateContent xmlns:mc="http://schemas.openxmlformats.org/markup-compatibility/2006" xmlns:a14="http://schemas.microsoft.com/office/drawing/2010/main">
        <mc:Choice Requires="a14">
          <p:sp>
            <p:nvSpPr>
              <p:cNvPr id="12" name="Rectangle 11"/>
              <p:cNvSpPr/>
              <p:nvPr/>
            </p:nvSpPr>
            <p:spPr>
              <a:xfrm>
                <a:off x="1289571" y="3954109"/>
                <a:ext cx="4450561" cy="369332"/>
              </a:xfrm>
              <a:prstGeom prst="rect">
                <a:avLst/>
              </a:prstGeom>
            </p:spPr>
            <p:txBody>
              <a:bodyPr wrap="square">
                <a:spAutoFit/>
              </a:bodyPr>
              <a:lstStyle/>
              <a:p>
                <a:pPr algn="ctr" fontAlgn="b"/>
                <a14:m>
                  <m:oMathPara xmlns:m="http://schemas.openxmlformats.org/officeDocument/2006/math">
                    <m:oMathParaPr>
                      <m:jc m:val="centerGroup"/>
                    </m:oMathParaPr>
                    <m:oMath xmlns:m="http://schemas.openxmlformats.org/officeDocument/2006/math">
                      <m:r>
                        <a:rPr lang="en-US" i="1" smtClean="0">
                          <a:solidFill>
                            <a:srgbClr val="000000"/>
                          </a:solidFill>
                          <a:latin typeface="Cambria Math" panose="02040503050406030204" pitchFamily="18" charset="0"/>
                          <a:ea typeface="Cambria Math" panose="02040503050406030204" pitchFamily="18" charset="0"/>
                        </a:rPr>
                        <m:t>𝜇</m:t>
                      </m:r>
                      <m:d>
                        <m:dPr>
                          <m:ctrlPr>
                            <a:rPr lang="en-US" i="1">
                              <a:solidFill>
                                <a:srgbClr val="000000"/>
                              </a:solidFill>
                              <a:latin typeface="Cambria Math" panose="02040503050406030204" pitchFamily="18" charset="0"/>
                              <a:ea typeface="Cambria Math" panose="02040503050406030204" pitchFamily="18" charset="0"/>
                            </a:rPr>
                          </m:ctrlPr>
                        </m:dPr>
                        <m:e>
                          <m:sSub>
                            <m:sSubPr>
                              <m:ctrlPr>
                                <a:rPr lang="en-US" i="1">
                                  <a:solidFill>
                                    <a:srgbClr val="000000"/>
                                  </a:solidFill>
                                  <a:latin typeface="Cambria Math" panose="02040503050406030204" pitchFamily="18" charset="0"/>
                                  <a:ea typeface="Cambria Math" panose="02040503050406030204" pitchFamily="18" charset="0"/>
                                </a:rPr>
                              </m:ctrlPr>
                            </m:sSubPr>
                            <m:e>
                              <m:r>
                                <a:rPr lang="en-US" b="0" i="1" smtClean="0">
                                  <a:solidFill>
                                    <a:srgbClr val="000000"/>
                                  </a:solidFill>
                                  <a:latin typeface="Cambria Math" panose="02040503050406030204" pitchFamily="18" charset="0"/>
                                  <a:ea typeface="Cambria Math" panose="02040503050406030204" pitchFamily="18" charset="0"/>
                                </a:rPr>
                                <m:t>𝑥</m:t>
                              </m:r>
                            </m:e>
                            <m:sub>
                              <m:r>
                                <a:rPr lang="en-US" b="0" i="1" smtClean="0">
                                  <a:solidFill>
                                    <a:srgbClr val="000000"/>
                                  </a:solidFill>
                                  <a:latin typeface="Cambria Math" panose="02040503050406030204" pitchFamily="18" charset="0"/>
                                  <a:ea typeface="Cambria Math" panose="02040503050406030204" pitchFamily="18" charset="0"/>
                                </a:rPr>
                                <m:t>1</m:t>
                              </m:r>
                            </m:sub>
                          </m:sSub>
                        </m:e>
                      </m:d>
                      <m:r>
                        <a:rPr lang="en-US" b="0" i="1" smtClean="0">
                          <a:solidFill>
                            <a:srgbClr val="000000"/>
                          </a:solidFill>
                          <a:latin typeface="Cambria Math" panose="02040503050406030204" pitchFamily="18" charset="0"/>
                          <a:ea typeface="Cambria Math" panose="02040503050406030204" pitchFamily="18" charset="0"/>
                        </a:rPr>
                        <m:t>=0.3∙3+0.5∙1+0.2∙2=1.80</m:t>
                      </m:r>
                    </m:oMath>
                  </m:oMathPara>
                </a14:m>
                <a:endParaRPr lang="en-US" dirty="0">
                  <a:solidFill>
                    <a:srgbClr val="000000"/>
                  </a:solidFill>
                  <a:latin typeface="Calibri" panose="020F0502020204030204" pitchFamily="34" charset="0"/>
                </a:endParaRPr>
              </a:p>
            </p:txBody>
          </p:sp>
        </mc:Choice>
        <mc:Fallback xmlns="">
          <p:sp>
            <p:nvSpPr>
              <p:cNvPr id="12" name="Rectangle 11"/>
              <p:cNvSpPr>
                <a:spLocks noRot="1" noChangeAspect="1" noMove="1" noResize="1" noEditPoints="1" noAdjustHandles="1" noChangeArrowheads="1" noChangeShapeType="1" noTextEdit="1"/>
              </p:cNvSpPr>
              <p:nvPr/>
            </p:nvSpPr>
            <p:spPr>
              <a:xfrm>
                <a:off x="1289571" y="3954109"/>
                <a:ext cx="4450561" cy="369332"/>
              </a:xfrm>
              <a:prstGeom prst="rect">
                <a:avLst/>
              </a:prstGeom>
              <a:blipFill>
                <a:blip r:embed="rId7"/>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1210037" y="4405366"/>
                <a:ext cx="4450561" cy="369332"/>
              </a:xfrm>
              <a:prstGeom prst="rect">
                <a:avLst/>
              </a:prstGeom>
            </p:spPr>
            <p:txBody>
              <a:bodyPr wrap="square">
                <a:spAutoFit/>
              </a:bodyPr>
              <a:lstStyle/>
              <a:p>
                <a:pPr algn="ctr" fontAlgn="b"/>
                <a14:m>
                  <m:oMathPara xmlns:m="http://schemas.openxmlformats.org/officeDocument/2006/math">
                    <m:oMathParaPr>
                      <m:jc m:val="centerGroup"/>
                    </m:oMathParaPr>
                    <m:oMath xmlns:m="http://schemas.openxmlformats.org/officeDocument/2006/math">
                      <m:r>
                        <a:rPr lang="en-US" i="1" smtClean="0">
                          <a:solidFill>
                            <a:srgbClr val="000000"/>
                          </a:solidFill>
                          <a:latin typeface="Cambria Math" panose="02040503050406030204" pitchFamily="18" charset="0"/>
                          <a:ea typeface="Cambria Math" panose="02040503050406030204" pitchFamily="18" charset="0"/>
                        </a:rPr>
                        <m:t>𝜇</m:t>
                      </m:r>
                      <m:d>
                        <m:dPr>
                          <m:ctrlPr>
                            <a:rPr lang="en-US" i="1">
                              <a:solidFill>
                                <a:srgbClr val="000000"/>
                              </a:solidFill>
                              <a:latin typeface="Cambria Math" panose="02040503050406030204" pitchFamily="18" charset="0"/>
                              <a:ea typeface="Cambria Math" panose="02040503050406030204" pitchFamily="18" charset="0"/>
                            </a:rPr>
                          </m:ctrlPr>
                        </m:dPr>
                        <m:e>
                          <m:sSub>
                            <m:sSubPr>
                              <m:ctrlPr>
                                <a:rPr lang="en-US" i="1">
                                  <a:solidFill>
                                    <a:srgbClr val="000000"/>
                                  </a:solidFill>
                                  <a:latin typeface="Cambria Math" panose="02040503050406030204" pitchFamily="18" charset="0"/>
                                  <a:ea typeface="Cambria Math" panose="02040503050406030204" pitchFamily="18" charset="0"/>
                                </a:rPr>
                              </m:ctrlPr>
                            </m:sSubPr>
                            <m:e>
                              <m:r>
                                <a:rPr lang="en-US" b="0" i="1" smtClean="0">
                                  <a:solidFill>
                                    <a:srgbClr val="000000"/>
                                  </a:solidFill>
                                  <a:latin typeface="Cambria Math" panose="02040503050406030204" pitchFamily="18" charset="0"/>
                                  <a:ea typeface="Cambria Math" panose="02040503050406030204" pitchFamily="18" charset="0"/>
                                </a:rPr>
                                <m:t>𝑦</m:t>
                              </m:r>
                            </m:e>
                            <m:sub>
                              <m:r>
                                <a:rPr lang="en-US" b="0" i="1" smtClean="0">
                                  <a:solidFill>
                                    <a:srgbClr val="000000"/>
                                  </a:solidFill>
                                  <a:latin typeface="Cambria Math" panose="02040503050406030204" pitchFamily="18" charset="0"/>
                                  <a:ea typeface="Cambria Math" panose="02040503050406030204" pitchFamily="18" charset="0"/>
                                </a:rPr>
                                <m:t>1</m:t>
                              </m:r>
                            </m:sub>
                          </m:sSub>
                        </m:e>
                      </m:d>
                      <m:r>
                        <a:rPr lang="en-US" b="0" i="1" smtClean="0">
                          <a:solidFill>
                            <a:srgbClr val="000000"/>
                          </a:solidFill>
                          <a:latin typeface="Cambria Math" panose="02040503050406030204" pitchFamily="18" charset="0"/>
                          <a:ea typeface="Cambria Math" panose="02040503050406030204" pitchFamily="18" charset="0"/>
                        </a:rPr>
                        <m:t>=0.5∙3+0.5∙4+0.∙2=3.50</m:t>
                      </m:r>
                    </m:oMath>
                  </m:oMathPara>
                </a14:m>
                <a:endParaRPr lang="en-US" dirty="0">
                  <a:solidFill>
                    <a:srgbClr val="000000"/>
                  </a:solidFill>
                  <a:latin typeface="Calibri" panose="020F0502020204030204" pitchFamily="34" charset="0"/>
                </a:endParaRPr>
              </a:p>
            </p:txBody>
          </p:sp>
        </mc:Choice>
        <mc:Fallback xmlns="">
          <p:sp>
            <p:nvSpPr>
              <p:cNvPr id="13" name="Rectangle 12"/>
              <p:cNvSpPr>
                <a:spLocks noRot="1" noChangeAspect="1" noMove="1" noResize="1" noEditPoints="1" noAdjustHandles="1" noChangeArrowheads="1" noChangeShapeType="1" noTextEdit="1"/>
              </p:cNvSpPr>
              <p:nvPr/>
            </p:nvSpPr>
            <p:spPr>
              <a:xfrm>
                <a:off x="1210037" y="4405366"/>
                <a:ext cx="4450561" cy="369332"/>
              </a:xfrm>
              <a:prstGeom prst="rect">
                <a:avLst/>
              </a:prstGeom>
              <a:blipFill>
                <a:blip r:embed="rId8"/>
                <a:stretch>
                  <a:fillRect b="-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970122" y="5556455"/>
                <a:ext cx="4864409" cy="369332"/>
              </a:xfrm>
              <a:prstGeom prst="rect">
                <a:avLst/>
              </a:prstGeom>
            </p:spPr>
            <p:txBody>
              <a:bodyPr wrap="none">
                <a:spAutoFit/>
              </a:bodyPr>
              <a:lstStyle/>
              <a:p>
                <a:pPr algn="ctr" fontAlgn="b"/>
                <a14:m>
                  <m:oMathPara xmlns:m="http://schemas.openxmlformats.org/officeDocument/2006/math">
                    <m:oMathParaPr>
                      <m:jc m:val="center"/>
                    </m:oMathParaPr>
                    <m:oMath xmlns:m="http://schemas.openxmlformats.org/officeDocument/2006/math">
                      <m:r>
                        <a:rPr lang="en-US" i="1" smtClean="0">
                          <a:solidFill>
                            <a:srgbClr val="000000"/>
                          </a:solidFill>
                          <a:latin typeface="Cambria Math" panose="02040503050406030204" pitchFamily="18" charset="0"/>
                          <a:ea typeface="Cambria Math" panose="02040503050406030204" pitchFamily="18" charset="0"/>
                        </a:rPr>
                        <m:t>𝜇</m:t>
                      </m:r>
                      <m:d>
                        <m:dPr>
                          <m:ctrlPr>
                            <a:rPr lang="en-US" b="0" i="1" smtClean="0">
                              <a:solidFill>
                                <a:srgbClr val="000000"/>
                              </a:solidFill>
                              <a:latin typeface="Cambria Math" panose="02040503050406030204" pitchFamily="18" charset="0"/>
                              <a:ea typeface="Cambria Math" panose="02040503050406030204" pitchFamily="18" charset="0"/>
                            </a:rPr>
                          </m:ctrlPr>
                        </m:dPr>
                        <m:e>
                          <m:sSup>
                            <m:sSupPr>
                              <m:ctrlPr>
                                <a:rPr lang="en-US" b="0" i="1" smtClean="0">
                                  <a:solidFill>
                                    <a:srgbClr val="000000"/>
                                  </a:solidFill>
                                  <a:latin typeface="Cambria Math" panose="02040503050406030204" pitchFamily="18" charset="0"/>
                                  <a:ea typeface="Cambria Math" panose="02040503050406030204" pitchFamily="18" charset="0"/>
                                </a:rPr>
                              </m:ctrlPr>
                            </m:sSupPr>
                            <m:e>
                              <m:r>
                                <a:rPr lang="en-US" b="0" i="1" smtClean="0">
                                  <a:solidFill>
                                    <a:srgbClr val="000000"/>
                                  </a:solidFill>
                                  <a:latin typeface="Cambria Math" panose="02040503050406030204" pitchFamily="18" charset="0"/>
                                  <a:ea typeface="Cambria Math" panose="02040503050406030204" pitchFamily="18" charset="0"/>
                                </a:rPr>
                                <m:t>𝑥</m:t>
                              </m:r>
                            </m:e>
                            <m:sup>
                              <m:r>
                                <a:rPr lang="en-US" b="0" i="1" smtClean="0">
                                  <a:solidFill>
                                    <a:srgbClr val="000000"/>
                                  </a:solidFill>
                                  <a:latin typeface="Cambria Math" panose="02040503050406030204" pitchFamily="18" charset="0"/>
                                  <a:ea typeface="Cambria Math" panose="02040503050406030204" pitchFamily="18" charset="0"/>
                                </a:rPr>
                                <m:t>∗</m:t>
                              </m:r>
                            </m:sup>
                          </m:sSup>
                        </m:e>
                      </m:d>
                      <m:r>
                        <a:rPr lang="en-US" b="0" i="1" smtClean="0">
                          <a:solidFill>
                            <a:srgbClr val="000000"/>
                          </a:solidFill>
                          <a:latin typeface="Cambria Math" panose="02040503050406030204" pitchFamily="18" charset="0"/>
                          <a:ea typeface="Cambria Math" panose="02040503050406030204" pitchFamily="18" charset="0"/>
                        </a:rPr>
                        <m:t>=</m:t>
                      </m:r>
                      <m:func>
                        <m:funcPr>
                          <m:ctrlPr>
                            <a:rPr lang="en-US" b="0" i="1" smtClean="0">
                              <a:solidFill>
                                <a:srgbClr val="000000"/>
                              </a:solidFill>
                              <a:latin typeface="Cambria Math" panose="02040503050406030204" pitchFamily="18" charset="0"/>
                              <a:ea typeface="Cambria Math" panose="02040503050406030204" pitchFamily="18" charset="0"/>
                            </a:rPr>
                          </m:ctrlPr>
                        </m:funcPr>
                        <m:fName>
                          <m:r>
                            <m:rPr>
                              <m:sty m:val="p"/>
                            </m:rPr>
                            <a:rPr lang="en-US" b="0" i="0" smtClean="0">
                              <a:solidFill>
                                <a:srgbClr val="000000"/>
                              </a:solidFill>
                              <a:latin typeface="Cambria Math" panose="02040503050406030204" pitchFamily="18" charset="0"/>
                              <a:ea typeface="Cambria Math" panose="02040503050406030204" pitchFamily="18" charset="0"/>
                            </a:rPr>
                            <m:t>max</m:t>
                          </m:r>
                        </m:fName>
                        <m:e>
                          <m:d>
                            <m:dPr>
                              <m:begChr m:val="{"/>
                              <m:endChr m:val="}"/>
                              <m:ctrlPr>
                                <a:rPr lang="en-US" b="0" i="1" smtClean="0">
                                  <a:solidFill>
                                    <a:srgbClr val="000000"/>
                                  </a:solidFill>
                                  <a:latin typeface="Cambria Math" panose="02040503050406030204" pitchFamily="18" charset="0"/>
                                  <a:ea typeface="Cambria Math" panose="02040503050406030204" pitchFamily="18" charset="0"/>
                                </a:rPr>
                              </m:ctrlPr>
                            </m:dPr>
                            <m:e>
                              <m:r>
                                <a:rPr lang="en-US" i="1">
                                  <a:solidFill>
                                    <a:srgbClr val="000000"/>
                                  </a:solidFill>
                                  <a:latin typeface="Cambria Math" panose="02040503050406030204" pitchFamily="18" charset="0"/>
                                  <a:ea typeface="Cambria Math" panose="02040503050406030204" pitchFamily="18" charset="0"/>
                                </a:rPr>
                                <m:t>𝜇</m:t>
                              </m:r>
                              <m:d>
                                <m:dPr>
                                  <m:ctrlPr>
                                    <a:rPr lang="en-US" i="1">
                                      <a:solidFill>
                                        <a:srgbClr val="000000"/>
                                      </a:solidFill>
                                      <a:latin typeface="Cambria Math" panose="02040503050406030204" pitchFamily="18" charset="0"/>
                                      <a:ea typeface="Cambria Math" panose="02040503050406030204" pitchFamily="18" charset="0"/>
                                    </a:rPr>
                                  </m:ctrlPr>
                                </m:dPr>
                                <m:e>
                                  <m:sSub>
                                    <m:sSubPr>
                                      <m:ctrlPr>
                                        <a:rPr lang="en-US" i="1">
                                          <a:solidFill>
                                            <a:srgbClr val="000000"/>
                                          </a:solidFill>
                                          <a:latin typeface="Cambria Math" panose="02040503050406030204" pitchFamily="18" charset="0"/>
                                          <a:ea typeface="Cambria Math" panose="02040503050406030204" pitchFamily="18" charset="0"/>
                                        </a:rPr>
                                      </m:ctrlPr>
                                    </m:sSubPr>
                                    <m:e>
                                      <m:r>
                                        <a:rPr lang="en-US" b="0" i="1" smtClean="0">
                                          <a:solidFill>
                                            <a:srgbClr val="000000"/>
                                          </a:solidFill>
                                          <a:latin typeface="Cambria Math" panose="02040503050406030204" pitchFamily="18" charset="0"/>
                                          <a:ea typeface="Cambria Math" panose="02040503050406030204" pitchFamily="18" charset="0"/>
                                        </a:rPr>
                                        <m:t>𝑥</m:t>
                                      </m:r>
                                    </m:e>
                                    <m:sub>
                                      <m:r>
                                        <a:rPr lang="en-US" i="1">
                                          <a:solidFill>
                                            <a:srgbClr val="000000"/>
                                          </a:solidFill>
                                          <a:latin typeface="Cambria Math" panose="02040503050406030204" pitchFamily="18" charset="0"/>
                                          <a:ea typeface="Cambria Math" panose="02040503050406030204" pitchFamily="18" charset="0"/>
                                        </a:rPr>
                                        <m:t>𝑖</m:t>
                                      </m:r>
                                    </m:sub>
                                  </m:sSub>
                                </m:e>
                              </m:d>
                            </m:e>
                          </m:d>
                        </m:e>
                      </m:func>
                      <m:r>
                        <a:rPr lang="en-US" b="0" i="1" smtClean="0">
                          <a:solidFill>
                            <a:srgbClr val="000000"/>
                          </a:solidFill>
                          <a:latin typeface="Cambria Math" panose="02040503050406030204" pitchFamily="18" charset="0"/>
                          <a:ea typeface="Cambria Math" panose="02040503050406030204" pitchFamily="18" charset="0"/>
                        </a:rPr>
                        <m:t>=</m:t>
                      </m:r>
                      <m:func>
                        <m:funcPr>
                          <m:ctrlPr>
                            <a:rPr lang="en-US" i="1">
                              <a:solidFill>
                                <a:srgbClr val="000000"/>
                              </a:solidFill>
                              <a:latin typeface="Cambria Math" panose="02040503050406030204" pitchFamily="18" charset="0"/>
                              <a:ea typeface="Cambria Math" panose="02040503050406030204" pitchFamily="18" charset="0"/>
                            </a:rPr>
                          </m:ctrlPr>
                        </m:funcPr>
                        <m:fName>
                          <m:r>
                            <m:rPr>
                              <m:sty m:val="p"/>
                            </m:rPr>
                            <a:rPr lang="en-US" b="0" i="0" smtClean="0">
                              <a:solidFill>
                                <a:srgbClr val="000000"/>
                              </a:solidFill>
                              <a:latin typeface="Cambria Math" panose="02040503050406030204" pitchFamily="18" charset="0"/>
                              <a:ea typeface="Cambria Math" panose="02040503050406030204" pitchFamily="18" charset="0"/>
                            </a:rPr>
                            <m:t>max</m:t>
                          </m:r>
                        </m:fName>
                        <m:e>
                          <m:d>
                            <m:dPr>
                              <m:begChr m:val="{"/>
                              <m:endChr m:val="}"/>
                              <m:ctrlPr>
                                <a:rPr lang="en-US" i="1">
                                  <a:solidFill>
                                    <a:srgbClr val="000000"/>
                                  </a:solidFill>
                                  <a:latin typeface="Cambria Math" panose="02040503050406030204" pitchFamily="18" charset="0"/>
                                  <a:ea typeface="Cambria Math" panose="02040503050406030204" pitchFamily="18" charset="0"/>
                                </a:rPr>
                              </m:ctrlPr>
                            </m:dPr>
                            <m:e>
                              <m:r>
                                <a:rPr lang="en-US" b="0" i="1" smtClean="0">
                                  <a:solidFill>
                                    <a:srgbClr val="000000"/>
                                  </a:solidFill>
                                  <a:latin typeface="Cambria Math" panose="02040503050406030204" pitchFamily="18" charset="0"/>
                                  <a:ea typeface="Cambria Math" panose="02040503050406030204" pitchFamily="18" charset="0"/>
                                </a:rPr>
                                <m:t>1.8,1.9,1.6</m:t>
                              </m:r>
                            </m:e>
                          </m:d>
                          <m:r>
                            <a:rPr lang="en-US" b="0" i="1" smtClean="0">
                              <a:solidFill>
                                <a:srgbClr val="000000"/>
                              </a:solidFill>
                              <a:latin typeface="Cambria Math" panose="02040503050406030204" pitchFamily="18" charset="0"/>
                              <a:ea typeface="Cambria Math" panose="02040503050406030204" pitchFamily="18" charset="0"/>
                            </a:rPr>
                            <m:t>=1.9</m:t>
                          </m:r>
                        </m:e>
                      </m:func>
                    </m:oMath>
                  </m:oMathPara>
                </a14:m>
                <a:endParaRPr lang="en-US" dirty="0">
                  <a:solidFill>
                    <a:srgbClr val="000000"/>
                  </a:solidFill>
                  <a:latin typeface="Calibri" panose="020F0502020204030204" pitchFamily="34" charset="0"/>
                </a:endParaRPr>
              </a:p>
            </p:txBody>
          </p:sp>
        </mc:Choice>
        <mc:Fallback xmlns="">
          <p:sp>
            <p:nvSpPr>
              <p:cNvPr id="14" name="Rectangle 13"/>
              <p:cNvSpPr>
                <a:spLocks noRot="1" noChangeAspect="1" noMove="1" noResize="1" noEditPoints="1" noAdjustHandles="1" noChangeArrowheads="1" noChangeShapeType="1" noTextEdit="1"/>
              </p:cNvSpPr>
              <p:nvPr/>
            </p:nvSpPr>
            <p:spPr>
              <a:xfrm>
                <a:off x="970122" y="5556455"/>
                <a:ext cx="4864409" cy="369332"/>
              </a:xfrm>
              <a:prstGeom prst="rect">
                <a:avLst/>
              </a:prstGeom>
              <a:blipFill>
                <a:blip r:embed="rId9"/>
                <a:stretch>
                  <a:fillRect b="-49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962472" y="5202885"/>
                <a:ext cx="4463978" cy="369332"/>
              </a:xfrm>
              <a:prstGeom prst="rect">
                <a:avLst/>
              </a:prstGeom>
            </p:spPr>
            <p:txBody>
              <a:bodyPr wrap="none">
                <a:spAutoFit/>
              </a:bodyPr>
              <a:lstStyle/>
              <a:p>
                <a:pPr algn="ctr" fontAlgn="b"/>
                <a14:m>
                  <m:oMathPara xmlns:m="http://schemas.openxmlformats.org/officeDocument/2006/math">
                    <m:oMathParaPr>
                      <m:jc m:val="center"/>
                    </m:oMathParaPr>
                    <m:oMath xmlns:m="http://schemas.openxmlformats.org/officeDocument/2006/math">
                      <m:r>
                        <a:rPr lang="en-US" i="1" smtClean="0">
                          <a:solidFill>
                            <a:srgbClr val="000000"/>
                          </a:solidFill>
                          <a:latin typeface="Cambria Math" panose="02040503050406030204" pitchFamily="18" charset="0"/>
                          <a:ea typeface="Cambria Math" panose="02040503050406030204" pitchFamily="18" charset="0"/>
                        </a:rPr>
                        <m:t>𝜇</m:t>
                      </m:r>
                      <m:d>
                        <m:dPr>
                          <m:ctrlPr>
                            <a:rPr lang="en-US" b="0" i="1" smtClean="0">
                              <a:solidFill>
                                <a:srgbClr val="000000"/>
                              </a:solidFill>
                              <a:latin typeface="Cambria Math" panose="02040503050406030204" pitchFamily="18" charset="0"/>
                              <a:ea typeface="Cambria Math" panose="02040503050406030204" pitchFamily="18" charset="0"/>
                            </a:rPr>
                          </m:ctrlPr>
                        </m:dPr>
                        <m:e>
                          <m:sSup>
                            <m:sSupPr>
                              <m:ctrlPr>
                                <a:rPr lang="en-US" b="0" i="1" smtClean="0">
                                  <a:solidFill>
                                    <a:srgbClr val="000000"/>
                                  </a:solidFill>
                                  <a:latin typeface="Cambria Math" panose="02040503050406030204" pitchFamily="18" charset="0"/>
                                  <a:ea typeface="Cambria Math" panose="02040503050406030204" pitchFamily="18" charset="0"/>
                                </a:rPr>
                              </m:ctrlPr>
                            </m:sSupPr>
                            <m:e>
                              <m:r>
                                <a:rPr lang="en-US" b="0" i="1" smtClean="0">
                                  <a:solidFill>
                                    <a:srgbClr val="000000"/>
                                  </a:solidFill>
                                  <a:latin typeface="Cambria Math" panose="02040503050406030204" pitchFamily="18" charset="0"/>
                                  <a:ea typeface="Cambria Math" panose="02040503050406030204" pitchFamily="18" charset="0"/>
                                </a:rPr>
                                <m:t>𝑦</m:t>
                              </m:r>
                            </m:e>
                            <m:sup>
                              <m:r>
                                <a:rPr lang="en-US" b="0" i="1" smtClean="0">
                                  <a:solidFill>
                                    <a:srgbClr val="000000"/>
                                  </a:solidFill>
                                  <a:latin typeface="Cambria Math" panose="02040503050406030204" pitchFamily="18" charset="0"/>
                                  <a:ea typeface="Cambria Math" panose="02040503050406030204" pitchFamily="18" charset="0"/>
                                </a:rPr>
                                <m:t>∗</m:t>
                              </m:r>
                            </m:sup>
                          </m:sSup>
                        </m:e>
                      </m:d>
                      <m:r>
                        <a:rPr lang="en-US" b="0" i="1" smtClean="0">
                          <a:solidFill>
                            <a:srgbClr val="000000"/>
                          </a:solidFill>
                          <a:latin typeface="Cambria Math" panose="02040503050406030204" pitchFamily="18" charset="0"/>
                          <a:ea typeface="Cambria Math" panose="02040503050406030204" pitchFamily="18" charset="0"/>
                        </a:rPr>
                        <m:t>=</m:t>
                      </m:r>
                      <m:func>
                        <m:funcPr>
                          <m:ctrlPr>
                            <a:rPr lang="en-US" b="0" i="1" smtClean="0">
                              <a:solidFill>
                                <a:srgbClr val="000000"/>
                              </a:solidFill>
                              <a:latin typeface="Cambria Math" panose="02040503050406030204" pitchFamily="18" charset="0"/>
                              <a:ea typeface="Cambria Math" panose="02040503050406030204" pitchFamily="18" charset="0"/>
                            </a:rPr>
                          </m:ctrlPr>
                        </m:funcPr>
                        <m:fName>
                          <m:r>
                            <m:rPr>
                              <m:sty m:val="p"/>
                            </m:rPr>
                            <a:rPr lang="en-US" b="0" i="0" smtClean="0">
                              <a:solidFill>
                                <a:srgbClr val="000000"/>
                              </a:solidFill>
                              <a:latin typeface="Cambria Math" panose="02040503050406030204" pitchFamily="18" charset="0"/>
                              <a:ea typeface="Cambria Math" panose="02040503050406030204" pitchFamily="18" charset="0"/>
                            </a:rPr>
                            <m:t>min</m:t>
                          </m:r>
                        </m:fName>
                        <m:e>
                          <m:d>
                            <m:dPr>
                              <m:begChr m:val="{"/>
                              <m:endChr m:val="}"/>
                              <m:ctrlPr>
                                <a:rPr lang="en-US" b="0" i="1" smtClean="0">
                                  <a:solidFill>
                                    <a:srgbClr val="000000"/>
                                  </a:solidFill>
                                  <a:latin typeface="Cambria Math" panose="02040503050406030204" pitchFamily="18" charset="0"/>
                                  <a:ea typeface="Cambria Math" panose="02040503050406030204" pitchFamily="18" charset="0"/>
                                </a:rPr>
                              </m:ctrlPr>
                            </m:dPr>
                            <m:e>
                              <m:r>
                                <a:rPr lang="en-US" i="1">
                                  <a:solidFill>
                                    <a:srgbClr val="000000"/>
                                  </a:solidFill>
                                  <a:latin typeface="Cambria Math" panose="02040503050406030204" pitchFamily="18" charset="0"/>
                                  <a:ea typeface="Cambria Math" panose="02040503050406030204" pitchFamily="18" charset="0"/>
                                </a:rPr>
                                <m:t>𝜇</m:t>
                              </m:r>
                              <m:d>
                                <m:dPr>
                                  <m:ctrlPr>
                                    <a:rPr lang="en-US" i="1">
                                      <a:solidFill>
                                        <a:srgbClr val="000000"/>
                                      </a:solidFill>
                                      <a:latin typeface="Cambria Math" panose="02040503050406030204" pitchFamily="18" charset="0"/>
                                      <a:ea typeface="Cambria Math" panose="02040503050406030204" pitchFamily="18" charset="0"/>
                                    </a:rPr>
                                  </m:ctrlPr>
                                </m:dPr>
                                <m:e>
                                  <m:sSub>
                                    <m:sSubPr>
                                      <m:ctrlPr>
                                        <a:rPr lang="en-US" i="1">
                                          <a:solidFill>
                                            <a:srgbClr val="000000"/>
                                          </a:solidFill>
                                          <a:latin typeface="Cambria Math" panose="02040503050406030204" pitchFamily="18" charset="0"/>
                                          <a:ea typeface="Cambria Math" panose="02040503050406030204" pitchFamily="18" charset="0"/>
                                        </a:rPr>
                                      </m:ctrlPr>
                                    </m:sSubPr>
                                    <m:e>
                                      <m:r>
                                        <a:rPr lang="en-US" b="0" i="1" smtClean="0">
                                          <a:solidFill>
                                            <a:srgbClr val="000000"/>
                                          </a:solidFill>
                                          <a:latin typeface="Cambria Math" panose="02040503050406030204" pitchFamily="18" charset="0"/>
                                          <a:ea typeface="Cambria Math" panose="02040503050406030204" pitchFamily="18" charset="0"/>
                                        </a:rPr>
                                        <m:t>𝑦</m:t>
                                      </m:r>
                                    </m:e>
                                    <m:sub>
                                      <m:r>
                                        <a:rPr lang="en-US" i="1">
                                          <a:solidFill>
                                            <a:srgbClr val="000000"/>
                                          </a:solidFill>
                                          <a:latin typeface="Cambria Math" panose="02040503050406030204" pitchFamily="18" charset="0"/>
                                          <a:ea typeface="Cambria Math" panose="02040503050406030204" pitchFamily="18" charset="0"/>
                                        </a:rPr>
                                        <m:t>𝑖</m:t>
                                      </m:r>
                                    </m:sub>
                                  </m:sSub>
                                </m:e>
                              </m:d>
                            </m:e>
                          </m:d>
                        </m:e>
                      </m:func>
                      <m:r>
                        <a:rPr lang="en-US" b="0" i="1" smtClean="0">
                          <a:solidFill>
                            <a:srgbClr val="000000"/>
                          </a:solidFill>
                          <a:latin typeface="Cambria Math" panose="02040503050406030204" pitchFamily="18" charset="0"/>
                          <a:ea typeface="Cambria Math" panose="02040503050406030204" pitchFamily="18" charset="0"/>
                        </a:rPr>
                        <m:t>=</m:t>
                      </m:r>
                      <m:func>
                        <m:funcPr>
                          <m:ctrlPr>
                            <a:rPr lang="en-US" i="1">
                              <a:solidFill>
                                <a:srgbClr val="000000"/>
                              </a:solidFill>
                              <a:latin typeface="Cambria Math" panose="02040503050406030204" pitchFamily="18" charset="0"/>
                              <a:ea typeface="Cambria Math" panose="02040503050406030204" pitchFamily="18" charset="0"/>
                            </a:rPr>
                          </m:ctrlPr>
                        </m:funcPr>
                        <m:fName>
                          <m:r>
                            <m:rPr>
                              <m:sty m:val="p"/>
                            </m:rPr>
                            <a:rPr lang="en-US">
                              <a:solidFill>
                                <a:srgbClr val="000000"/>
                              </a:solidFill>
                              <a:latin typeface="Cambria Math" panose="02040503050406030204" pitchFamily="18" charset="0"/>
                              <a:ea typeface="Cambria Math" panose="02040503050406030204" pitchFamily="18" charset="0"/>
                            </a:rPr>
                            <m:t>min</m:t>
                          </m:r>
                        </m:fName>
                        <m:e>
                          <m:d>
                            <m:dPr>
                              <m:begChr m:val="{"/>
                              <m:endChr m:val="}"/>
                              <m:ctrlPr>
                                <a:rPr lang="en-US" i="1">
                                  <a:solidFill>
                                    <a:srgbClr val="000000"/>
                                  </a:solidFill>
                                  <a:latin typeface="Cambria Math" panose="02040503050406030204" pitchFamily="18" charset="0"/>
                                  <a:ea typeface="Cambria Math" panose="02040503050406030204" pitchFamily="18" charset="0"/>
                                </a:rPr>
                              </m:ctrlPr>
                            </m:dPr>
                            <m:e>
                              <m:r>
                                <a:rPr lang="en-US" b="0" i="1" smtClean="0">
                                  <a:solidFill>
                                    <a:srgbClr val="000000"/>
                                  </a:solidFill>
                                  <a:latin typeface="Cambria Math" panose="02040503050406030204" pitchFamily="18" charset="0"/>
                                  <a:ea typeface="Cambria Math" panose="02040503050406030204" pitchFamily="18" charset="0"/>
                                </a:rPr>
                                <m:t>3.5,1,1.5</m:t>
                              </m:r>
                            </m:e>
                          </m:d>
                          <m:r>
                            <a:rPr lang="en-US" b="0" i="1" smtClean="0">
                              <a:solidFill>
                                <a:srgbClr val="000000"/>
                              </a:solidFill>
                              <a:latin typeface="Cambria Math" panose="02040503050406030204" pitchFamily="18" charset="0"/>
                              <a:ea typeface="Cambria Math" panose="02040503050406030204" pitchFamily="18" charset="0"/>
                            </a:rPr>
                            <m:t>=1</m:t>
                          </m:r>
                        </m:e>
                      </m:func>
                    </m:oMath>
                  </m:oMathPara>
                </a14:m>
                <a:endParaRPr lang="en-US" dirty="0">
                  <a:solidFill>
                    <a:srgbClr val="000000"/>
                  </a:solidFill>
                  <a:latin typeface="Calibri" panose="020F0502020204030204" pitchFamily="34" charset="0"/>
                </a:endParaRPr>
              </a:p>
            </p:txBody>
          </p:sp>
        </mc:Choice>
        <mc:Fallback xmlns="">
          <p:sp>
            <p:nvSpPr>
              <p:cNvPr id="15" name="Rectangle 14"/>
              <p:cNvSpPr>
                <a:spLocks noRot="1" noChangeAspect="1" noMove="1" noResize="1" noEditPoints="1" noAdjustHandles="1" noChangeArrowheads="1" noChangeShapeType="1" noTextEdit="1"/>
              </p:cNvSpPr>
              <p:nvPr/>
            </p:nvSpPr>
            <p:spPr>
              <a:xfrm>
                <a:off x="962472" y="5202885"/>
                <a:ext cx="4463978" cy="369332"/>
              </a:xfrm>
              <a:prstGeom prst="rect">
                <a:avLst/>
              </a:prstGeom>
              <a:blipFill>
                <a:blip r:embed="rId10"/>
                <a:stretch>
                  <a:fillRect b="-81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5718666" y="5556455"/>
                <a:ext cx="2715102" cy="369332"/>
              </a:xfrm>
              <a:prstGeom prst="rect">
                <a:avLst/>
              </a:prstGeom>
            </p:spPr>
            <p:txBody>
              <a:bodyPr wrap="none">
                <a:spAutoFit/>
              </a:bodyPr>
              <a:lstStyle/>
              <a:p>
                <a:r>
                  <a:rPr lang="en-US" dirty="0"/>
                  <a:t>means of all strategies of </a:t>
                </a:r>
                <a14:m>
                  <m:oMath xmlns:m="http://schemas.openxmlformats.org/officeDocument/2006/math">
                    <m:r>
                      <a:rPr lang="en-US" i="1" dirty="0" smtClean="0">
                        <a:latin typeface="Cambria Math" panose="02040503050406030204" pitchFamily="18" charset="0"/>
                      </a:rPr>
                      <m:t>𝑌</m:t>
                    </m:r>
                  </m:oMath>
                </a14:m>
                <a:endParaRPr lang="en-US" dirty="0"/>
              </a:p>
            </p:txBody>
          </p:sp>
        </mc:Choice>
        <mc:Fallback xmlns="">
          <p:sp>
            <p:nvSpPr>
              <p:cNvPr id="16" name="Rectangle 15"/>
              <p:cNvSpPr>
                <a:spLocks noRot="1" noChangeAspect="1" noMove="1" noResize="1" noEditPoints="1" noAdjustHandles="1" noChangeArrowheads="1" noChangeShapeType="1" noTextEdit="1"/>
              </p:cNvSpPr>
              <p:nvPr/>
            </p:nvSpPr>
            <p:spPr>
              <a:xfrm>
                <a:off x="5718666" y="5556455"/>
                <a:ext cx="2715102" cy="369332"/>
              </a:xfrm>
              <a:prstGeom prst="rect">
                <a:avLst/>
              </a:prstGeom>
              <a:blipFill>
                <a:blip r:embed="rId11"/>
                <a:stretch>
                  <a:fillRect l="-1798"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5710893" y="5229101"/>
                <a:ext cx="2715102" cy="369332"/>
              </a:xfrm>
              <a:prstGeom prst="rect">
                <a:avLst/>
              </a:prstGeom>
            </p:spPr>
            <p:txBody>
              <a:bodyPr wrap="none">
                <a:spAutoFit/>
              </a:bodyPr>
              <a:lstStyle/>
              <a:p>
                <a:r>
                  <a:rPr lang="en-US" dirty="0"/>
                  <a:t>means of all strategies of </a:t>
                </a:r>
                <a14:m>
                  <m:oMath xmlns:m="http://schemas.openxmlformats.org/officeDocument/2006/math">
                    <m:r>
                      <a:rPr lang="en-US" i="1" dirty="0" smtClean="0">
                        <a:latin typeface="Cambria Math" panose="02040503050406030204" pitchFamily="18" charset="0"/>
                      </a:rPr>
                      <m:t>𝑋</m:t>
                    </m:r>
                  </m:oMath>
                </a14:m>
                <a:endParaRPr lang="en-US" dirty="0"/>
              </a:p>
            </p:txBody>
          </p:sp>
        </mc:Choice>
        <mc:Fallback xmlns="">
          <p:sp>
            <p:nvSpPr>
              <p:cNvPr id="17" name="Rectangle 16"/>
              <p:cNvSpPr>
                <a:spLocks noRot="1" noChangeAspect="1" noMove="1" noResize="1" noEditPoints="1" noAdjustHandles="1" noChangeArrowheads="1" noChangeShapeType="1" noTextEdit="1"/>
              </p:cNvSpPr>
              <p:nvPr/>
            </p:nvSpPr>
            <p:spPr>
              <a:xfrm>
                <a:off x="5710893" y="5229101"/>
                <a:ext cx="2715102" cy="369332"/>
              </a:xfrm>
              <a:prstGeom prst="rect">
                <a:avLst/>
              </a:prstGeom>
              <a:blipFill>
                <a:blip r:embed="rId12"/>
                <a:stretch>
                  <a:fillRect l="-2022"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1142842" y="5962074"/>
                <a:ext cx="5788572" cy="342786"/>
              </a:xfrm>
              <a:prstGeom prst="rect">
                <a:avLst/>
              </a:prstGeom>
              <a:noFill/>
            </p:spPr>
            <p:txBody>
              <a:bodyPr wrap="none" lIns="0" tIns="0" rIns="0" bIns="0" rtlCol="0">
                <a:spAutoFit/>
              </a:bodyPr>
              <a:lstStyle/>
              <a:p>
                <a14:m>
                  <m:oMath xmlns:m="http://schemas.openxmlformats.org/officeDocument/2006/math">
                    <m:r>
                      <a:rPr lang="en-US" sz="2000" b="0" i="1" smtClean="0">
                        <a:latin typeface="Cambria Math" panose="02040503050406030204" pitchFamily="18" charset="0"/>
                      </a:rPr>
                      <m:t>𝑣</m:t>
                    </m:r>
                    <m:r>
                      <a:rPr lang="en-US" sz="2000" b="0" i="1" smtClean="0">
                        <a:latin typeface="Cambria Math" panose="02040503050406030204" pitchFamily="18" charset="0"/>
                      </a:rPr>
                      <m:t>=</m:t>
                    </m:r>
                    <m:nary>
                      <m:naryPr>
                        <m:chr m:val="∑"/>
                        <m:supHide m:val="on"/>
                        <m:ctrlPr>
                          <a:rPr lang="en-US" sz="2000" b="0" i="1" smtClean="0">
                            <a:latin typeface="Cambria Math" panose="02040503050406030204" pitchFamily="18" charset="0"/>
                          </a:rPr>
                        </m:ctrlPr>
                      </m:naryPr>
                      <m:sub>
                        <m:r>
                          <m:rPr>
                            <m:brk m:alnAt="25"/>
                          </m:rPr>
                          <a:rPr lang="en-US" sz="2000" i="1">
                            <a:latin typeface="Cambria Math" panose="02040503050406030204" pitchFamily="18" charset="0"/>
                          </a:rPr>
                          <m:t>1</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𝑖</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𝑚</m:t>
                        </m:r>
                        <m:r>
                          <a:rPr lang="en-US" sz="2000" i="1">
                            <a:latin typeface="Cambria Math" panose="02040503050406030204" pitchFamily="18" charset="0"/>
                            <a:ea typeface="Cambria Math" panose="02040503050406030204" pitchFamily="18" charset="0"/>
                          </a:rPr>
                          <m:t>,1≤</m:t>
                        </m:r>
                        <m:r>
                          <a:rPr lang="en-US" sz="2000" i="1">
                            <a:latin typeface="Cambria Math" panose="02040503050406030204" pitchFamily="18" charset="0"/>
                            <a:ea typeface="Cambria Math" panose="02040503050406030204" pitchFamily="18" charset="0"/>
                          </a:rPr>
                          <m:t>𝑗</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𝑛</m:t>
                        </m:r>
                      </m:sub>
                      <m:sup/>
                      <m:e>
                        <m:sSub>
                          <m:sSubPr>
                            <m:ctrlPr>
                              <a:rPr lang="en-US" sz="2000" i="1">
                                <a:latin typeface="Cambria Math" panose="02040503050406030204" pitchFamily="18" charset="0"/>
                              </a:rPr>
                            </m:ctrlPr>
                          </m:sSubPr>
                          <m:e>
                            <m:r>
                              <a:rPr lang="en-US" sz="2000" i="1">
                                <a:latin typeface="Cambria Math" panose="02040503050406030204" pitchFamily="18" charset="0"/>
                              </a:rPr>
                              <m:t>𝑐</m:t>
                            </m:r>
                          </m:e>
                          <m:sub>
                            <m:r>
                              <a:rPr lang="en-US" sz="2000" i="1">
                                <a:latin typeface="Cambria Math" panose="02040503050406030204" pitchFamily="18" charset="0"/>
                              </a:rPr>
                              <m:t>𝑖𝑗</m:t>
                            </m:r>
                          </m:sub>
                        </m:sSub>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𝑖</m:t>
                            </m:r>
                          </m:sub>
                        </m:sSub>
                        <m:sSub>
                          <m:sSubPr>
                            <m:ctrlPr>
                              <a:rPr lang="en-US" sz="2000" i="1">
                                <a:latin typeface="Cambria Math" panose="02040503050406030204" pitchFamily="18" charset="0"/>
                              </a:rPr>
                            </m:ctrlPr>
                          </m:sSubPr>
                          <m:e>
                            <m:r>
                              <a:rPr lang="en-US" sz="2000" i="1">
                                <a:latin typeface="Cambria Math" panose="02040503050406030204" pitchFamily="18" charset="0"/>
                              </a:rPr>
                              <m:t>𝑦</m:t>
                            </m:r>
                          </m:e>
                          <m:sub>
                            <m:r>
                              <a:rPr lang="en-US" sz="2000" i="1">
                                <a:latin typeface="Cambria Math" panose="02040503050406030204" pitchFamily="18" charset="0"/>
                              </a:rPr>
                              <m:t>𝑗</m:t>
                            </m:r>
                          </m:sub>
                        </m:sSub>
                        <m:r>
                          <a:rPr lang="en-US" sz="2000" b="0" i="1" smtClean="0">
                            <a:latin typeface="Cambria Math" panose="02040503050406030204" pitchFamily="18" charset="0"/>
                          </a:rPr>
                          <m:t>=</m:t>
                        </m:r>
                      </m:e>
                    </m:nary>
                  </m:oMath>
                </a14:m>
                <a:r>
                  <a:rPr lang="en-US" sz="2000" dirty="0"/>
                  <a:t>1.85  as a value of the game</a:t>
                </a:r>
              </a:p>
            </p:txBody>
          </p:sp>
        </mc:Choice>
        <mc:Fallback xmlns="">
          <p:sp>
            <p:nvSpPr>
              <p:cNvPr id="18" name="TextBox 17"/>
              <p:cNvSpPr txBox="1">
                <a:spLocks noRot="1" noChangeAspect="1" noMove="1" noResize="1" noEditPoints="1" noAdjustHandles="1" noChangeArrowheads="1" noChangeShapeType="1" noTextEdit="1"/>
              </p:cNvSpPr>
              <p:nvPr/>
            </p:nvSpPr>
            <p:spPr>
              <a:xfrm>
                <a:off x="1142842" y="5962074"/>
                <a:ext cx="5788572" cy="342786"/>
              </a:xfrm>
              <a:prstGeom prst="rect">
                <a:avLst/>
              </a:prstGeom>
              <a:blipFill>
                <a:blip r:embed="rId13"/>
                <a:stretch>
                  <a:fillRect l="-1053" t="-155357" r="-1895" b="-22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998240" y="1501486"/>
                <a:ext cx="2437077" cy="79585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𝑣</m:t>
                      </m:r>
                      <m:r>
                        <a:rPr lang="en-US" i="1">
                          <a:latin typeface="Cambria Math" panose="02040503050406030204" pitchFamily="18" charset="0"/>
                        </a:rPr>
                        <m:t>=</m:t>
                      </m:r>
                      <m:nary>
                        <m:naryPr>
                          <m:chr m:val="∑"/>
                          <m:supHide m:val="on"/>
                          <m:ctrlPr>
                            <a:rPr lang="en-US" i="1">
                              <a:latin typeface="Cambria Math" panose="02040503050406030204" pitchFamily="18" charset="0"/>
                            </a:rPr>
                          </m:ctrlPr>
                        </m:naryPr>
                        <m:sub>
                          <m:r>
                            <m:rPr>
                              <m:brk m:alnAt="25"/>
                            </m:rPr>
                            <a:rPr lang="en-US" i="1">
                              <a:latin typeface="Cambria Math" panose="02040503050406030204" pitchFamily="18" charset="0"/>
                            </a:rPr>
                            <m:t>1</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𝑚</m:t>
                          </m:r>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𝑗</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𝑛</m:t>
                          </m:r>
                        </m:sub>
                        <m:sup/>
                        <m:e>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𝑖𝑗</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𝑗</m:t>
                              </m:r>
                            </m:sub>
                          </m:sSub>
                        </m:e>
                      </m:nary>
                    </m:oMath>
                  </m:oMathPara>
                </a14:m>
                <a:endParaRPr lang="en-US" dirty="0"/>
              </a:p>
            </p:txBody>
          </p:sp>
        </mc:Choice>
        <mc:Fallback xmlns="">
          <p:sp>
            <p:nvSpPr>
              <p:cNvPr id="19" name="Rectangle 18"/>
              <p:cNvSpPr>
                <a:spLocks noRot="1" noChangeAspect="1" noMove="1" noResize="1" noEditPoints="1" noAdjustHandles="1" noChangeArrowheads="1" noChangeShapeType="1" noTextEdit="1"/>
              </p:cNvSpPr>
              <p:nvPr/>
            </p:nvSpPr>
            <p:spPr>
              <a:xfrm>
                <a:off x="998240" y="1501486"/>
                <a:ext cx="2437077" cy="795859"/>
              </a:xfrm>
              <a:prstGeom prst="rect">
                <a:avLst/>
              </a:prstGeom>
              <a:blipFill>
                <a:blip r:embed="rId1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825002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2" grpId="0"/>
      <p:bldP spid="13" grpId="0"/>
      <p:bldP spid="14" grpId="0"/>
      <p:bldP spid="15" grpId="0"/>
      <p:bldP spid="16" grpId="0"/>
      <p:bldP spid="17" grpId="0"/>
      <p:bldP spid="1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Title 1"/>
          <p:cNvSpPr txBox="1">
            <a:spLocks/>
          </p:cNvSpPr>
          <p:nvPr/>
        </p:nvSpPr>
        <p:spPr>
          <a:xfrm>
            <a:off x="611560" y="274638"/>
            <a:ext cx="7848872" cy="1143000"/>
          </a:xfrm>
          <a:prstGeom prst="rect">
            <a:avLst/>
          </a:prstGeom>
          <a:solidFill>
            <a:schemeClr val="accent5">
              <a:lumMod val="20000"/>
              <a:lumOff val="8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t>Equilibrium Pair</a:t>
            </a:r>
            <a:endParaRPr lang="en-US" dirty="0"/>
          </a:p>
        </p:txBody>
      </p:sp>
      <p:sp>
        <p:nvSpPr>
          <p:cNvPr id="5" name="Rectangle 4"/>
          <p:cNvSpPr/>
          <p:nvPr/>
        </p:nvSpPr>
        <p:spPr>
          <a:xfrm>
            <a:off x="582823" y="3687700"/>
            <a:ext cx="7848872" cy="1015663"/>
          </a:xfrm>
          <a:prstGeom prst="rect">
            <a:avLst/>
          </a:prstGeom>
        </p:spPr>
        <p:txBody>
          <a:bodyPr wrap="square">
            <a:spAutoFit/>
          </a:bodyPr>
          <a:lstStyle/>
          <a:p>
            <a:pPr algn="just"/>
            <a:r>
              <a:rPr lang="en-US" sz="2000" dirty="0"/>
              <a:t>Equilibrium pair is stable in the sense that it is unwise for a player to deviate from his mixed strategy in an equilibrium pair if his opponent plays the opponent’s mixed strategy of that pair.</a:t>
            </a:r>
          </a:p>
        </p:txBody>
      </p:sp>
      <mc:AlternateContent xmlns:mc="http://schemas.openxmlformats.org/markup-compatibility/2006" xmlns:a14="http://schemas.microsoft.com/office/drawing/2010/main">
        <mc:Choice Requires="a14">
          <p:sp>
            <p:nvSpPr>
              <p:cNvPr id="6" name="Rectangle 5"/>
              <p:cNvSpPr/>
              <p:nvPr/>
            </p:nvSpPr>
            <p:spPr>
              <a:xfrm>
                <a:off x="732105" y="5175441"/>
                <a:ext cx="2788969" cy="44691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rPr>
                        <m:t>𝑃</m:t>
                      </m:r>
                      <m:d>
                        <m:dPr>
                          <m:ctrlPr>
                            <a:rPr lang="en-US" sz="2000" i="1">
                              <a:latin typeface="Cambria Math" panose="02040503050406030204" pitchFamily="18" charset="0"/>
                            </a:rPr>
                          </m:ctrlPr>
                        </m:dPr>
                        <m:e>
                          <m:sSup>
                            <m:sSupPr>
                              <m:ctrlPr>
                                <a:rPr lang="en-US" sz="2000" i="1">
                                  <a:latin typeface="Cambria Math" panose="02040503050406030204" pitchFamily="18" charset="0"/>
                                </a:rPr>
                              </m:ctrlPr>
                            </m:sSupPr>
                            <m:e>
                              <m:r>
                                <a:rPr lang="en-US" sz="2000" i="1">
                                  <a:latin typeface="Cambria Math" panose="02040503050406030204" pitchFamily="18" charset="0"/>
                                </a:rPr>
                                <m:t>𝑥</m:t>
                              </m:r>
                            </m:e>
                            <m:sup>
                              <m:r>
                                <a:rPr lang="en-US" sz="2000" i="1">
                                  <a:latin typeface="Cambria Math" panose="02040503050406030204" pitchFamily="18" charset="0"/>
                                </a:rPr>
                                <m:t>∗</m:t>
                              </m:r>
                            </m:sup>
                          </m:sSup>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𝑦</m:t>
                              </m:r>
                            </m:e>
                            <m:sup>
                              <m:r>
                                <a:rPr lang="en-US" sz="2000" i="1">
                                  <a:latin typeface="Cambria Math" panose="02040503050406030204" pitchFamily="18" charset="0"/>
                                </a:rPr>
                                <m:t>∗</m:t>
                              </m:r>
                            </m:sup>
                          </m:sSup>
                        </m:e>
                      </m:d>
                      <m:r>
                        <a:rPr lang="en-US" sz="2000" i="1">
                          <a:latin typeface="Cambria Math" panose="02040503050406030204" pitchFamily="18" charset="0"/>
                          <a:ea typeface="Cambria Math" panose="02040503050406030204" pitchFamily="18" charset="0"/>
                        </a:rPr>
                        <m:t>≤</m:t>
                      </m:r>
                      <m:r>
                        <m:rPr>
                          <m:sty m:val="p"/>
                        </m:rPr>
                        <a:rPr lang="en-US" sz="2000" b="0" i="0" smtClean="0">
                          <a:latin typeface="Cambria Math" panose="02040503050406030204" pitchFamily="18" charset="0"/>
                        </a:rPr>
                        <m:t>min</m:t>
                      </m:r>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𝜇</m:t>
                          </m:r>
                          <m:d>
                            <m:dPr>
                              <m:ctrlPr>
                                <a:rPr lang="en-US" sz="2000" b="0" i="1" smtClean="0">
                                  <a:latin typeface="Cambria Math" panose="02040503050406030204" pitchFamily="18" charset="0"/>
                                  <a:ea typeface="Cambria Math" panose="02040503050406030204" pitchFamily="18" charset="0"/>
                                </a:rPr>
                              </m:ctrlPr>
                            </m:dPr>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𝑦</m:t>
                                  </m:r>
                                </m:e>
                                <m:sub>
                                  <m:r>
                                    <a:rPr lang="en-US" sz="2000" b="0" i="1" smtClean="0">
                                      <a:latin typeface="Cambria Math" panose="02040503050406030204" pitchFamily="18" charset="0"/>
                                      <a:ea typeface="Cambria Math" panose="02040503050406030204" pitchFamily="18" charset="0"/>
                                    </a:rPr>
                                    <m:t>𝑗</m:t>
                                  </m:r>
                                </m:sub>
                              </m:sSub>
                            </m:e>
                          </m:d>
                        </m:e>
                      </m:d>
                    </m:oMath>
                  </m:oMathPara>
                </a14:m>
                <a:endParaRPr lang="en-US" sz="2000" dirty="0"/>
              </a:p>
            </p:txBody>
          </p:sp>
        </mc:Choice>
        <mc:Fallback xmlns="">
          <p:sp>
            <p:nvSpPr>
              <p:cNvPr id="6" name="Rectangle 5"/>
              <p:cNvSpPr>
                <a:spLocks noRot="1" noChangeAspect="1" noMove="1" noResize="1" noEditPoints="1" noAdjustHandles="1" noChangeArrowheads="1" noChangeShapeType="1" noTextEdit="1"/>
              </p:cNvSpPr>
              <p:nvPr/>
            </p:nvSpPr>
            <p:spPr>
              <a:xfrm>
                <a:off x="732105" y="5175441"/>
                <a:ext cx="2788969" cy="446917"/>
              </a:xfrm>
              <a:prstGeom prst="rect">
                <a:avLst/>
              </a:prstGeom>
              <a:blipFill>
                <a:blip r:embed="rId2"/>
                <a:stretch>
                  <a:fillRect b="-82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4686039" y="5222248"/>
                <a:ext cx="2796278"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rPr>
                        <m:t>𝑃</m:t>
                      </m:r>
                      <m:d>
                        <m:dPr>
                          <m:ctrlPr>
                            <a:rPr lang="en-US" sz="2000" i="1">
                              <a:latin typeface="Cambria Math" panose="02040503050406030204" pitchFamily="18" charset="0"/>
                            </a:rPr>
                          </m:ctrlPr>
                        </m:dPr>
                        <m:e>
                          <m:sSup>
                            <m:sSupPr>
                              <m:ctrlPr>
                                <a:rPr lang="en-US" sz="2000" i="1">
                                  <a:latin typeface="Cambria Math" panose="02040503050406030204" pitchFamily="18" charset="0"/>
                                </a:rPr>
                              </m:ctrlPr>
                            </m:sSupPr>
                            <m:e>
                              <m:r>
                                <a:rPr lang="en-US" sz="2000" i="1">
                                  <a:latin typeface="Cambria Math" panose="02040503050406030204" pitchFamily="18" charset="0"/>
                                </a:rPr>
                                <m:t>𝑥</m:t>
                              </m:r>
                            </m:e>
                            <m:sup>
                              <m:r>
                                <a:rPr lang="en-US" sz="2000" i="1">
                                  <a:latin typeface="Cambria Math" panose="02040503050406030204" pitchFamily="18" charset="0"/>
                                </a:rPr>
                                <m:t>∗</m:t>
                              </m:r>
                            </m:sup>
                          </m:sSup>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𝑦</m:t>
                              </m:r>
                            </m:e>
                            <m:sup>
                              <m:r>
                                <a:rPr lang="en-US" sz="2000" i="1">
                                  <a:latin typeface="Cambria Math" panose="02040503050406030204" pitchFamily="18" charset="0"/>
                                </a:rPr>
                                <m:t>∗</m:t>
                              </m:r>
                            </m:sup>
                          </m:sSup>
                        </m:e>
                      </m:d>
                      <m:r>
                        <a:rPr lang="en-US" sz="2000" i="1">
                          <a:latin typeface="Cambria Math" panose="02040503050406030204" pitchFamily="18" charset="0"/>
                          <a:ea typeface="Cambria Math" panose="02040503050406030204" pitchFamily="18" charset="0"/>
                        </a:rPr>
                        <m:t>≥</m:t>
                      </m:r>
                      <m:r>
                        <m:rPr>
                          <m:sty m:val="p"/>
                        </m:rPr>
                        <a:rPr lang="en-US" sz="2000" b="0" i="0" smtClean="0">
                          <a:latin typeface="Cambria Math" panose="02040503050406030204" pitchFamily="18" charset="0"/>
                        </a:rPr>
                        <m:t>max</m:t>
                      </m:r>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𝜇</m:t>
                          </m:r>
                          <m:d>
                            <m:dPr>
                              <m:ctrlPr>
                                <a:rPr lang="en-US" sz="2000" b="0" i="1" smtClean="0">
                                  <a:latin typeface="Cambria Math" panose="02040503050406030204" pitchFamily="18" charset="0"/>
                                  <a:ea typeface="Cambria Math" panose="02040503050406030204" pitchFamily="18" charset="0"/>
                                </a:rPr>
                              </m:ctrlPr>
                            </m:dPr>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𝑥</m:t>
                                  </m:r>
                                </m:e>
                                <m:sub>
                                  <m:r>
                                    <a:rPr lang="en-US" sz="2000" b="0" i="1" smtClean="0">
                                      <a:latin typeface="Cambria Math" panose="02040503050406030204" pitchFamily="18" charset="0"/>
                                      <a:ea typeface="Cambria Math" panose="02040503050406030204" pitchFamily="18" charset="0"/>
                                    </a:rPr>
                                    <m:t>𝑖</m:t>
                                  </m:r>
                                </m:sub>
                              </m:sSub>
                            </m:e>
                          </m:d>
                        </m:e>
                      </m:d>
                    </m:oMath>
                  </m:oMathPara>
                </a14:m>
                <a:endParaRPr lang="en-US" sz="2000" dirty="0"/>
              </a:p>
            </p:txBody>
          </p:sp>
        </mc:Choice>
        <mc:Fallback xmlns="">
          <p:sp>
            <p:nvSpPr>
              <p:cNvPr id="7" name="Rectangle 6"/>
              <p:cNvSpPr>
                <a:spLocks noRot="1" noChangeAspect="1" noMove="1" noResize="1" noEditPoints="1" noAdjustHandles="1" noChangeArrowheads="1" noChangeShapeType="1" noTextEdit="1"/>
              </p:cNvSpPr>
              <p:nvPr/>
            </p:nvSpPr>
            <p:spPr>
              <a:xfrm>
                <a:off x="4686039" y="5222248"/>
                <a:ext cx="2796278" cy="400110"/>
              </a:xfrm>
              <a:prstGeom prst="rect">
                <a:avLst/>
              </a:prstGeom>
              <a:blipFill>
                <a:blip r:embed="rId3"/>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2975904448"/>
                  </p:ext>
                </p:extLst>
              </p:nvPr>
            </p:nvGraphicFramePr>
            <p:xfrm>
              <a:off x="2339752" y="1479900"/>
              <a:ext cx="3469085" cy="1784397"/>
            </p:xfrm>
            <a:graphic>
              <a:graphicData uri="http://schemas.openxmlformats.org/drawingml/2006/table">
                <a:tbl>
                  <a:tblPr>
                    <a:tableStyleId>{5C22544A-7EE6-4342-B048-85BDC9FD1C3A}</a:tableStyleId>
                  </a:tblPr>
                  <a:tblGrid>
                    <a:gridCol w="624253">
                      <a:extLst>
                        <a:ext uri="{9D8B030D-6E8A-4147-A177-3AD203B41FA5}">
                          <a16:colId xmlns:a16="http://schemas.microsoft.com/office/drawing/2014/main" val="465924444"/>
                        </a:ext>
                      </a:extLst>
                    </a:gridCol>
                    <a:gridCol w="692353">
                      <a:extLst>
                        <a:ext uri="{9D8B030D-6E8A-4147-A177-3AD203B41FA5}">
                          <a16:colId xmlns:a16="http://schemas.microsoft.com/office/drawing/2014/main" val="3738874413"/>
                        </a:ext>
                      </a:extLst>
                    </a:gridCol>
                    <a:gridCol w="784327">
                      <a:extLst>
                        <a:ext uri="{9D8B030D-6E8A-4147-A177-3AD203B41FA5}">
                          <a16:colId xmlns:a16="http://schemas.microsoft.com/office/drawing/2014/main" val="2454115107"/>
                        </a:ext>
                      </a:extLst>
                    </a:gridCol>
                    <a:gridCol w="504056">
                      <a:extLst>
                        <a:ext uri="{9D8B030D-6E8A-4147-A177-3AD203B41FA5}">
                          <a16:colId xmlns:a16="http://schemas.microsoft.com/office/drawing/2014/main" val="1795178663"/>
                        </a:ext>
                      </a:extLst>
                    </a:gridCol>
                    <a:gridCol w="864096">
                      <a:extLst>
                        <a:ext uri="{9D8B030D-6E8A-4147-A177-3AD203B41FA5}">
                          <a16:colId xmlns:a16="http://schemas.microsoft.com/office/drawing/2014/main" val="1284286733"/>
                        </a:ext>
                      </a:extLst>
                    </a:gridCol>
                  </a:tblGrid>
                  <a:tr h="347363">
                    <a:tc>
                      <a:txBody>
                        <a:bodyPr/>
                        <a:lstStyle/>
                        <a:p>
                          <a:pPr algn="ctr" fontAlgn="b"/>
                          <a:r>
                            <a:rPr lang="en-US" sz="2000" u="none" strike="noStrike" dirty="0">
                              <a:effectLst/>
                            </a:rPr>
                            <a:t>X/Y</a:t>
                          </a:r>
                          <a:endParaRPr lang="en-US" sz="20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2000" u="none" strike="noStrike">
                              <a:effectLst/>
                            </a:rPr>
                            <a:t> </a:t>
                          </a:r>
                          <a:endParaRPr lang="en-US" sz="2000" b="0" i="0" u="none" strike="noStrike">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2000" u="none" strike="noStrike">
                              <a:effectLst/>
                            </a:rPr>
                            <a:t>1</a:t>
                          </a:r>
                          <a:endParaRPr lang="en-US" sz="2000" b="0" i="0" u="none" strike="noStrike">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2000" u="none" strike="noStrike" dirty="0">
                              <a:effectLst/>
                            </a:rPr>
                            <a:t>…</a:t>
                          </a:r>
                          <a:endParaRPr lang="en-US" sz="20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2000" u="none" strike="noStrike" dirty="0">
                              <a:effectLst/>
                            </a:rPr>
                            <a:t>m</a:t>
                          </a:r>
                          <a:endParaRPr lang="en-US" sz="20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extLst>
                      <a:ext uri="{0D108BD9-81ED-4DB2-BD59-A6C34878D82A}">
                        <a16:rowId xmlns:a16="http://schemas.microsoft.com/office/drawing/2014/main" val="14129830"/>
                      </a:ext>
                    </a:extLst>
                  </a:tr>
                  <a:tr h="347363">
                    <a:tc>
                      <a:txBody>
                        <a:bodyPr/>
                        <a:lstStyle/>
                        <a:p>
                          <a:pPr algn="ctr" fontAlgn="b"/>
                          <a:r>
                            <a:rPr lang="en-US" sz="2000" u="none" strike="noStrike" dirty="0">
                              <a:effectLst/>
                            </a:rPr>
                            <a:t> </a:t>
                          </a:r>
                          <a:endParaRPr lang="en-US" sz="20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2000" u="none" strike="noStrike" dirty="0" err="1">
                              <a:effectLst/>
                            </a:rPr>
                            <a:t>Prob</a:t>
                          </a:r>
                          <a:endParaRPr lang="en-US" sz="20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2000" b="0" i="1" u="none" strike="noStrike" smtClean="0">
                                        <a:solidFill>
                                          <a:srgbClr val="000000"/>
                                        </a:solidFill>
                                        <a:effectLst/>
                                        <a:latin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rPr>
                                      <m:t>𝑦</m:t>
                                    </m:r>
                                  </m:e>
                                  <m:sub>
                                    <m:r>
                                      <a:rPr lang="en-US" sz="2000" b="0" i="1" u="none" strike="noStrike" smtClean="0">
                                        <a:solidFill>
                                          <a:srgbClr val="000000"/>
                                        </a:solidFill>
                                        <a:effectLst/>
                                        <a:latin typeface="Cambria Math" panose="02040503050406030204" pitchFamily="18" charset="0"/>
                                      </a:rPr>
                                      <m:t>1</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2000" u="none" strike="noStrike" dirty="0">
                              <a:effectLst/>
                            </a:rPr>
                            <a:t>…</a:t>
                          </a:r>
                          <a:endParaRPr lang="en-US"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2000" b="0" i="1" u="none" strike="noStrike" smtClean="0">
                                        <a:solidFill>
                                          <a:srgbClr val="000000"/>
                                        </a:solidFill>
                                        <a:effectLst/>
                                        <a:latin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rPr>
                                      <m:t>𝑦</m:t>
                                    </m:r>
                                  </m:e>
                                  <m:sub>
                                    <m:r>
                                      <a:rPr lang="en-US" sz="2000" b="0" i="1" u="none" strike="noStrike" smtClean="0">
                                        <a:solidFill>
                                          <a:srgbClr val="000000"/>
                                        </a:solidFill>
                                        <a:effectLst/>
                                        <a:latin typeface="Cambria Math" panose="02040503050406030204" pitchFamily="18" charset="0"/>
                                      </a:rPr>
                                      <m:t>𝑚</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extLst>
                      <a:ext uri="{0D108BD9-81ED-4DB2-BD59-A6C34878D82A}">
                        <a16:rowId xmlns:a16="http://schemas.microsoft.com/office/drawing/2014/main" val="3042800791"/>
                      </a:ext>
                    </a:extLst>
                  </a:tr>
                  <a:tr h="394945">
                    <a:tc>
                      <a:txBody>
                        <a:bodyPr/>
                        <a:lstStyle/>
                        <a:p>
                          <a:pPr algn="ctr" fontAlgn="b"/>
                          <a:r>
                            <a:rPr lang="en-US" sz="2000" u="none" strike="noStrike" dirty="0">
                              <a:effectLst/>
                            </a:rPr>
                            <a:t>1</a:t>
                          </a:r>
                          <a:endParaRPr lang="en-US" sz="20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2000" b="0" i="1" u="none" strike="noStrike" smtClean="0">
                                        <a:solidFill>
                                          <a:srgbClr val="000000"/>
                                        </a:solidFill>
                                        <a:effectLst/>
                                        <a:latin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rPr>
                                      <m:t>𝑥</m:t>
                                    </m:r>
                                  </m:e>
                                  <m:sub>
                                    <m:r>
                                      <a:rPr lang="en-US" sz="2000" b="0" i="1" u="none" strike="noStrike" smtClean="0">
                                        <a:solidFill>
                                          <a:srgbClr val="000000"/>
                                        </a:solidFill>
                                        <a:effectLst/>
                                        <a:latin typeface="Cambria Math" panose="02040503050406030204" pitchFamily="18" charset="0"/>
                                      </a:rPr>
                                      <m:t>1</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59433256"/>
                      </a:ext>
                    </a:extLst>
                  </a:tr>
                  <a:tr h="347363">
                    <a:tc>
                      <a:txBody>
                        <a:bodyPr/>
                        <a:lstStyle/>
                        <a:p>
                          <a:pPr algn="ctr" fontAlgn="b"/>
                          <a:r>
                            <a:rPr lang="en-US" sz="2000" b="0" i="0" u="none" strike="noStrike" dirty="0">
                              <a:solidFill>
                                <a:schemeClr val="dk1"/>
                              </a:solidFill>
                              <a:effectLst/>
                              <a:latin typeface="+mn-lt"/>
                            </a:rPr>
                            <a:t>…</a:t>
                          </a:r>
                          <a:endParaRPr lang="en-US" sz="20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2000" u="none" strike="noStrike" dirty="0">
                              <a:effectLst/>
                            </a:rPr>
                            <a:t>…</a:t>
                          </a:r>
                          <a:endParaRPr lang="en-US"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05982770"/>
                      </a:ext>
                    </a:extLst>
                  </a:tr>
                  <a:tr h="347363">
                    <a:tc>
                      <a:txBody>
                        <a:bodyPr/>
                        <a:lstStyle/>
                        <a:p>
                          <a:pPr algn="ctr" fontAlgn="b"/>
                          <a:r>
                            <a:rPr lang="en-US" sz="2000" u="none" strike="noStrike" dirty="0">
                              <a:effectLst/>
                            </a:rPr>
                            <a:t>n</a:t>
                          </a:r>
                          <a:endParaRPr lang="en-US" sz="20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2000" b="0" i="1" u="none" strike="noStrike" smtClean="0">
                                        <a:solidFill>
                                          <a:srgbClr val="000000"/>
                                        </a:solidFill>
                                        <a:effectLst/>
                                        <a:latin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rPr>
                                      <m:t>𝑥</m:t>
                                    </m:r>
                                  </m:e>
                                  <m:sub>
                                    <m:r>
                                      <a:rPr lang="en-US" sz="2000" b="0" i="1" u="none" strike="noStrike" smtClean="0">
                                        <a:solidFill>
                                          <a:srgbClr val="000000"/>
                                        </a:solidFill>
                                        <a:effectLst/>
                                        <a:latin typeface="Cambria Math" panose="02040503050406030204" pitchFamily="18" charset="0"/>
                                      </a:rPr>
                                      <m:t>𝑛</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30496318"/>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2975904448"/>
                  </p:ext>
                </p:extLst>
              </p:nvPr>
            </p:nvGraphicFramePr>
            <p:xfrm>
              <a:off x="2339752" y="1479900"/>
              <a:ext cx="3469085" cy="1784397"/>
            </p:xfrm>
            <a:graphic>
              <a:graphicData uri="http://schemas.openxmlformats.org/drawingml/2006/table">
                <a:tbl>
                  <a:tblPr>
                    <a:tableStyleId>{5C22544A-7EE6-4342-B048-85BDC9FD1C3A}</a:tableStyleId>
                  </a:tblPr>
                  <a:tblGrid>
                    <a:gridCol w="624253">
                      <a:extLst>
                        <a:ext uri="{9D8B030D-6E8A-4147-A177-3AD203B41FA5}">
                          <a16:colId xmlns:a16="http://schemas.microsoft.com/office/drawing/2014/main" val="465924444"/>
                        </a:ext>
                      </a:extLst>
                    </a:gridCol>
                    <a:gridCol w="692353">
                      <a:extLst>
                        <a:ext uri="{9D8B030D-6E8A-4147-A177-3AD203B41FA5}">
                          <a16:colId xmlns:a16="http://schemas.microsoft.com/office/drawing/2014/main" val="3738874413"/>
                        </a:ext>
                      </a:extLst>
                    </a:gridCol>
                    <a:gridCol w="784327">
                      <a:extLst>
                        <a:ext uri="{9D8B030D-6E8A-4147-A177-3AD203B41FA5}">
                          <a16:colId xmlns:a16="http://schemas.microsoft.com/office/drawing/2014/main" val="2454115107"/>
                        </a:ext>
                      </a:extLst>
                    </a:gridCol>
                    <a:gridCol w="504056">
                      <a:extLst>
                        <a:ext uri="{9D8B030D-6E8A-4147-A177-3AD203B41FA5}">
                          <a16:colId xmlns:a16="http://schemas.microsoft.com/office/drawing/2014/main" val="1795178663"/>
                        </a:ext>
                      </a:extLst>
                    </a:gridCol>
                    <a:gridCol w="864096">
                      <a:extLst>
                        <a:ext uri="{9D8B030D-6E8A-4147-A177-3AD203B41FA5}">
                          <a16:colId xmlns:a16="http://schemas.microsoft.com/office/drawing/2014/main" val="1284286733"/>
                        </a:ext>
                      </a:extLst>
                    </a:gridCol>
                  </a:tblGrid>
                  <a:tr h="347363">
                    <a:tc>
                      <a:txBody>
                        <a:bodyPr/>
                        <a:lstStyle/>
                        <a:p>
                          <a:pPr algn="ctr" fontAlgn="b"/>
                          <a:r>
                            <a:rPr lang="en-US" sz="2000" u="none" strike="noStrike" dirty="0">
                              <a:effectLst/>
                            </a:rPr>
                            <a:t>X/Y</a:t>
                          </a:r>
                          <a:endParaRPr lang="en-US" sz="20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2000" u="none" strike="noStrike">
                              <a:effectLst/>
                            </a:rPr>
                            <a:t> </a:t>
                          </a:r>
                          <a:endParaRPr lang="en-US" sz="2000" b="0" i="0" u="none" strike="noStrike">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2000" u="none" strike="noStrike">
                              <a:effectLst/>
                            </a:rPr>
                            <a:t>1</a:t>
                          </a:r>
                          <a:endParaRPr lang="en-US" sz="2000" b="0" i="0" u="none" strike="noStrike">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2000" u="none" strike="noStrike" dirty="0">
                              <a:effectLst/>
                            </a:rPr>
                            <a:t>…</a:t>
                          </a:r>
                          <a:endParaRPr lang="en-US" sz="20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2000" u="none" strike="noStrike" dirty="0">
                              <a:effectLst/>
                            </a:rPr>
                            <a:t>m</a:t>
                          </a:r>
                          <a:endParaRPr lang="en-US" sz="20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extLst>
                      <a:ext uri="{0D108BD9-81ED-4DB2-BD59-A6C34878D82A}">
                        <a16:rowId xmlns:a16="http://schemas.microsoft.com/office/drawing/2014/main" val="14129830"/>
                      </a:ext>
                    </a:extLst>
                  </a:tr>
                  <a:tr h="347363">
                    <a:tc>
                      <a:txBody>
                        <a:bodyPr/>
                        <a:lstStyle/>
                        <a:p>
                          <a:pPr algn="ctr" fontAlgn="b"/>
                          <a:r>
                            <a:rPr lang="en-US" sz="2000" u="none" strike="noStrike" dirty="0">
                              <a:effectLst/>
                            </a:rPr>
                            <a:t> </a:t>
                          </a:r>
                          <a:endParaRPr lang="en-US" sz="20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2000" u="none" strike="noStrike" dirty="0" err="1">
                              <a:effectLst/>
                            </a:rPr>
                            <a:t>Prob</a:t>
                          </a:r>
                          <a:endParaRPr lang="en-US" sz="20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endParaRPr lang="en-US"/>
                        </a:p>
                      </a:txBody>
                      <a:tcPr marL="9525" marR="9525" marT="9525" marB="0" anchor="b">
                        <a:blipFill>
                          <a:blip r:embed="rId4"/>
                          <a:stretch>
                            <a:fillRect l="-168217" t="-108772" r="-175969" b="-359649"/>
                          </a:stretch>
                        </a:blipFill>
                      </a:tcPr>
                    </a:tc>
                    <a:tc>
                      <a:txBody>
                        <a:bodyPr/>
                        <a:lstStyle/>
                        <a:p>
                          <a:pPr algn="ctr" fontAlgn="b"/>
                          <a:r>
                            <a:rPr lang="en-US" sz="2000" u="none" strike="noStrike" dirty="0">
                              <a:effectLst/>
                            </a:rPr>
                            <a:t>…</a:t>
                          </a:r>
                          <a:endParaRPr lang="en-US"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endParaRPr lang="en-US"/>
                        </a:p>
                      </a:txBody>
                      <a:tcPr marL="9525" marR="9525" marT="9525" marB="0" anchor="b">
                        <a:blipFill>
                          <a:blip r:embed="rId4"/>
                          <a:stretch>
                            <a:fillRect l="-302113" t="-108772" r="-1408" b="-359649"/>
                          </a:stretch>
                        </a:blipFill>
                      </a:tcPr>
                    </a:tc>
                    <a:extLst>
                      <a:ext uri="{0D108BD9-81ED-4DB2-BD59-A6C34878D82A}">
                        <a16:rowId xmlns:a16="http://schemas.microsoft.com/office/drawing/2014/main" val="3042800791"/>
                      </a:ext>
                    </a:extLst>
                  </a:tr>
                  <a:tr h="394945">
                    <a:tc>
                      <a:txBody>
                        <a:bodyPr/>
                        <a:lstStyle/>
                        <a:p>
                          <a:pPr algn="ctr" fontAlgn="b"/>
                          <a:r>
                            <a:rPr lang="en-US" sz="2000" u="none" strike="noStrike" dirty="0">
                              <a:effectLst/>
                            </a:rPr>
                            <a:t>1</a:t>
                          </a:r>
                          <a:endParaRPr lang="en-US" sz="20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endParaRPr lang="en-US"/>
                        </a:p>
                      </a:txBody>
                      <a:tcPr marL="9525" marR="9525" marT="9525" marB="0" anchor="b">
                        <a:blipFill>
                          <a:blip r:embed="rId4"/>
                          <a:stretch>
                            <a:fillRect l="-92035" t="-180303" r="-315044" b="-210606"/>
                          </a:stretch>
                        </a:blip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59433256"/>
                      </a:ext>
                    </a:extLst>
                  </a:tr>
                  <a:tr h="347363">
                    <a:tc>
                      <a:txBody>
                        <a:bodyPr/>
                        <a:lstStyle/>
                        <a:p>
                          <a:pPr algn="ctr" fontAlgn="b"/>
                          <a:r>
                            <a:rPr lang="en-US" sz="2000" b="0" i="0" u="none" strike="noStrike" dirty="0">
                              <a:solidFill>
                                <a:schemeClr val="dk1"/>
                              </a:solidFill>
                              <a:effectLst/>
                              <a:latin typeface="+mn-lt"/>
                            </a:rPr>
                            <a:t>…</a:t>
                          </a:r>
                          <a:endParaRPr lang="en-US" sz="20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2000" u="none" strike="noStrike" dirty="0">
                              <a:effectLst/>
                            </a:rPr>
                            <a:t>…</a:t>
                          </a:r>
                          <a:endParaRPr lang="en-US"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05982770"/>
                      </a:ext>
                    </a:extLst>
                  </a:tr>
                  <a:tr h="347363">
                    <a:tc>
                      <a:txBody>
                        <a:bodyPr/>
                        <a:lstStyle/>
                        <a:p>
                          <a:pPr algn="ctr" fontAlgn="b"/>
                          <a:r>
                            <a:rPr lang="en-US" sz="2000" u="none" strike="noStrike" dirty="0">
                              <a:effectLst/>
                            </a:rPr>
                            <a:t>n</a:t>
                          </a:r>
                          <a:endParaRPr lang="en-US" sz="20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endParaRPr lang="en-US"/>
                        </a:p>
                      </a:txBody>
                      <a:tcPr marL="9525" marR="9525" marT="9525" marB="0" anchor="b">
                        <a:blipFill>
                          <a:blip r:embed="rId4"/>
                          <a:stretch>
                            <a:fillRect l="-92035" t="-424561" r="-315044" b="-43860"/>
                          </a:stretch>
                        </a:blip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30496318"/>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9" name="Table 8"/>
              <p:cNvGraphicFramePr>
                <a:graphicFrameLocks noGrp="1"/>
              </p:cNvGraphicFramePr>
              <p:nvPr>
                <p:extLst>
                  <p:ext uri="{D42A27DB-BD31-4B8C-83A1-F6EECF244321}">
                    <p14:modId xmlns:p14="http://schemas.microsoft.com/office/powerpoint/2010/main" val="2865459081"/>
                  </p:ext>
                </p:extLst>
              </p:nvPr>
            </p:nvGraphicFramePr>
            <p:xfrm>
              <a:off x="5788557" y="1471664"/>
              <a:ext cx="723527" cy="1786019"/>
            </p:xfrm>
            <a:graphic>
              <a:graphicData uri="http://schemas.openxmlformats.org/drawingml/2006/table">
                <a:tbl>
                  <a:tblPr>
                    <a:tableStyleId>{5C22544A-7EE6-4342-B048-85BDC9FD1C3A}</a:tableStyleId>
                  </a:tblPr>
                  <a:tblGrid>
                    <a:gridCol w="723527">
                      <a:extLst>
                        <a:ext uri="{9D8B030D-6E8A-4147-A177-3AD203B41FA5}">
                          <a16:colId xmlns:a16="http://schemas.microsoft.com/office/drawing/2014/main" val="780740917"/>
                        </a:ext>
                      </a:extLst>
                    </a:gridCol>
                  </a:tblGrid>
                  <a:tr h="348815">
                    <a:tc>
                      <a:txBody>
                        <a:bodyPr/>
                        <a:lstStyle/>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solidFill>
                          <a:schemeClr val="tx2"/>
                        </a:solidFill>
                      </a:tcPr>
                    </a:tc>
                    <a:extLst>
                      <a:ext uri="{0D108BD9-81ED-4DB2-BD59-A6C34878D82A}">
                        <a16:rowId xmlns:a16="http://schemas.microsoft.com/office/drawing/2014/main" val="1935583098"/>
                      </a:ext>
                    </a:extLst>
                  </a:tr>
                  <a:tr h="348815">
                    <a:tc>
                      <a:txBody>
                        <a:bodyPr/>
                        <a:lstStyle/>
                        <a:p>
                          <a:pPr algn="ctr" fontAlgn="b"/>
                          <a14:m>
                            <m:oMathPara xmlns:m="http://schemas.openxmlformats.org/officeDocument/2006/math">
                              <m:oMathParaPr>
                                <m:jc m:val="centerGroup"/>
                              </m:oMathParaPr>
                              <m:oMath xmlns:m="http://schemas.openxmlformats.org/officeDocument/2006/math">
                                <m:r>
                                  <a:rPr lang="en-US" sz="1800" b="0" i="1" u="none" strike="noStrike" smtClean="0">
                                    <a:solidFill>
                                      <a:srgbClr val="000000"/>
                                    </a:solidFill>
                                    <a:effectLst/>
                                    <a:latin typeface="Cambria Math" panose="02040503050406030204" pitchFamily="18" charset="0"/>
                                    <a:ea typeface="Cambria Math" panose="02040503050406030204" pitchFamily="18" charset="0"/>
                                  </a:rPr>
                                  <m:t>𝜇</m:t>
                                </m:r>
                                <m:r>
                                  <a:rPr lang="en-US" sz="1800" b="0" i="1" u="none" strike="noStrike" smtClean="0">
                                    <a:solidFill>
                                      <a:srgbClr val="000000"/>
                                    </a:solidFill>
                                    <a:effectLst/>
                                    <a:latin typeface="Cambria Math" panose="02040503050406030204" pitchFamily="18" charset="0"/>
                                    <a:ea typeface="Cambria Math" panose="02040503050406030204" pitchFamily="18" charset="0"/>
                                  </a:rPr>
                                  <m:t>(</m:t>
                                </m:r>
                                <m:sSub>
                                  <m:sSubPr>
                                    <m:ctrlPr>
                                      <a:rPr lang="en-US" sz="1800" b="0" i="1" u="none" strike="noStrike" smtClean="0">
                                        <a:solidFill>
                                          <a:srgbClr val="000000"/>
                                        </a:solidFill>
                                        <a:effectLst/>
                                        <a:latin typeface="Cambria Math" panose="02040503050406030204" pitchFamily="18" charset="0"/>
                                        <a:ea typeface="Cambria Math" panose="02040503050406030204" pitchFamily="18" charset="0"/>
                                      </a:rPr>
                                    </m:ctrlPr>
                                  </m:sSubPr>
                                  <m:e>
                                    <m:r>
                                      <a:rPr lang="en-US" sz="1800" b="0" i="1" u="none" strike="noStrike" smtClean="0">
                                        <a:solidFill>
                                          <a:srgbClr val="000000"/>
                                        </a:solidFill>
                                        <a:effectLst/>
                                        <a:latin typeface="Cambria Math" panose="02040503050406030204" pitchFamily="18" charset="0"/>
                                        <a:ea typeface="Cambria Math" panose="02040503050406030204" pitchFamily="18" charset="0"/>
                                      </a:rPr>
                                      <m:t>𝑥</m:t>
                                    </m:r>
                                  </m:e>
                                  <m:sub>
                                    <m:r>
                                      <a:rPr lang="en-US" sz="1800" b="0" i="1" u="none" strike="noStrike" smtClean="0">
                                        <a:solidFill>
                                          <a:srgbClr val="000000"/>
                                        </a:solidFill>
                                        <a:effectLst/>
                                        <a:latin typeface="Cambria Math" panose="02040503050406030204" pitchFamily="18" charset="0"/>
                                        <a:ea typeface="Cambria Math" panose="02040503050406030204" pitchFamily="18" charset="0"/>
                                      </a:rPr>
                                      <m:t>𝑖</m:t>
                                    </m:r>
                                  </m:sub>
                                </m:sSub>
                                <m:r>
                                  <a:rPr lang="en-US" sz="1800" b="0" i="1" u="none" strike="noStrike" smtClean="0">
                                    <a:solidFill>
                                      <a:srgbClr val="000000"/>
                                    </a:solidFill>
                                    <a:effectLst/>
                                    <a:latin typeface="Cambria Math" panose="02040503050406030204" pitchFamily="18" charset="0"/>
                                    <a:ea typeface="Cambria Math" panose="02040503050406030204" pitchFamily="18" charset="0"/>
                                  </a:rPr>
                                  <m:t>)</m:t>
                                </m:r>
                              </m:oMath>
                            </m:oMathPara>
                          </a14:m>
                          <a:endParaRPr lang="en-US" sz="18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extLst>
                      <a:ext uri="{0D108BD9-81ED-4DB2-BD59-A6C34878D82A}">
                        <a16:rowId xmlns:a16="http://schemas.microsoft.com/office/drawing/2014/main" val="4178472227"/>
                      </a:ext>
                    </a:extLst>
                  </a:tr>
                  <a:tr h="400277">
                    <a:tc>
                      <a:txBody>
                        <a:bodyPr/>
                        <a:lstStyle/>
                        <a:p>
                          <a:pPr marL="0" marR="0" indent="0" algn="ctr" defTabSz="914400" rtl="0" eaLnBrk="1" fontAlgn="b"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0" i="1" u="none" strike="noStrike" smtClean="0">
                                    <a:solidFill>
                                      <a:srgbClr val="000000"/>
                                    </a:solidFill>
                                    <a:effectLst/>
                                    <a:latin typeface="Cambria Math" panose="02040503050406030204" pitchFamily="18" charset="0"/>
                                    <a:ea typeface="Cambria Math" panose="02040503050406030204" pitchFamily="18" charset="0"/>
                                  </a:rPr>
                                  <m:t>𝜇</m:t>
                                </m:r>
                                <m:r>
                                  <a:rPr lang="en-US" sz="1800" b="0" i="1" u="none" strike="noStrike" smtClean="0">
                                    <a:solidFill>
                                      <a:srgbClr val="000000"/>
                                    </a:solidFill>
                                    <a:effectLst/>
                                    <a:latin typeface="Cambria Math" panose="02040503050406030204" pitchFamily="18" charset="0"/>
                                    <a:ea typeface="Cambria Math" panose="02040503050406030204" pitchFamily="18" charset="0"/>
                                  </a:rPr>
                                  <m:t>(</m:t>
                                </m:r>
                                <m:sSub>
                                  <m:sSubPr>
                                    <m:ctrlPr>
                                      <a:rPr lang="en-US" sz="1800" b="0" i="1" u="none" strike="noStrike" smtClean="0">
                                        <a:solidFill>
                                          <a:srgbClr val="000000"/>
                                        </a:solidFill>
                                        <a:effectLst/>
                                        <a:latin typeface="Cambria Math" panose="02040503050406030204" pitchFamily="18" charset="0"/>
                                        <a:ea typeface="Cambria Math" panose="02040503050406030204" pitchFamily="18" charset="0"/>
                                      </a:rPr>
                                    </m:ctrlPr>
                                  </m:sSubPr>
                                  <m:e>
                                    <m:r>
                                      <a:rPr lang="en-US" sz="1800" b="0" i="1" u="none" strike="noStrike" smtClean="0">
                                        <a:solidFill>
                                          <a:srgbClr val="000000"/>
                                        </a:solidFill>
                                        <a:effectLst/>
                                        <a:latin typeface="Cambria Math" panose="02040503050406030204" pitchFamily="18" charset="0"/>
                                        <a:ea typeface="Cambria Math" panose="02040503050406030204" pitchFamily="18" charset="0"/>
                                      </a:rPr>
                                      <m:t>𝑥</m:t>
                                    </m:r>
                                  </m:e>
                                  <m:sub>
                                    <m:r>
                                      <a:rPr lang="en-US" sz="1800" b="0" i="1" u="none" strike="noStrike" smtClean="0">
                                        <a:solidFill>
                                          <a:srgbClr val="000000"/>
                                        </a:solidFill>
                                        <a:effectLst/>
                                        <a:latin typeface="Cambria Math" panose="02040503050406030204" pitchFamily="18" charset="0"/>
                                        <a:ea typeface="Cambria Math" panose="02040503050406030204" pitchFamily="18" charset="0"/>
                                      </a:rPr>
                                      <m:t>1</m:t>
                                    </m:r>
                                  </m:sub>
                                </m:sSub>
                                <m:r>
                                  <a:rPr lang="en-US" sz="1800" b="0" i="1" u="none" strike="noStrike" smtClean="0">
                                    <a:solidFill>
                                      <a:srgbClr val="000000"/>
                                    </a:solidFill>
                                    <a:effectLst/>
                                    <a:latin typeface="Cambria Math" panose="02040503050406030204" pitchFamily="18" charset="0"/>
                                    <a:ea typeface="Cambria Math" panose="02040503050406030204" pitchFamily="18" charset="0"/>
                                  </a:rPr>
                                  <m:t>)</m:t>
                                </m:r>
                              </m:oMath>
                            </m:oMathPara>
                          </a14:m>
                          <a:endParaRPr lang="en-US" sz="18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40935072"/>
                      </a:ext>
                    </a:extLst>
                  </a:tr>
                  <a:tr h="348815">
                    <a:tc>
                      <a:txBody>
                        <a:bodyPr/>
                        <a:lstStyle/>
                        <a:p>
                          <a:pPr algn="ctr" fontAlgn="b"/>
                          <a:r>
                            <a:rPr lang="en-US" sz="1800" u="none" strike="noStrike" dirty="0">
                              <a:effectLst/>
                            </a:rPr>
                            <a:t>…</a:t>
                          </a:r>
                          <a:endParaRPr lang="en-US" sz="18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04948610"/>
                      </a:ext>
                    </a:extLst>
                  </a:tr>
                  <a:tr h="339297">
                    <a:tc>
                      <a:txBody>
                        <a:bodyPr/>
                        <a:lstStyle/>
                        <a:p>
                          <a:pPr marL="0" marR="0" indent="0" algn="ctr" defTabSz="914400" rtl="0" eaLnBrk="1" fontAlgn="b"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0" i="1" u="none" strike="noStrike" smtClean="0">
                                    <a:solidFill>
                                      <a:srgbClr val="000000"/>
                                    </a:solidFill>
                                    <a:effectLst/>
                                    <a:latin typeface="Cambria Math" panose="02040503050406030204" pitchFamily="18" charset="0"/>
                                    <a:ea typeface="Cambria Math" panose="02040503050406030204" pitchFamily="18" charset="0"/>
                                  </a:rPr>
                                  <m:t>𝜇</m:t>
                                </m:r>
                                <m:r>
                                  <a:rPr lang="en-US" sz="1800" b="0" i="1" u="none" strike="noStrike" smtClean="0">
                                    <a:solidFill>
                                      <a:srgbClr val="000000"/>
                                    </a:solidFill>
                                    <a:effectLst/>
                                    <a:latin typeface="Cambria Math" panose="02040503050406030204" pitchFamily="18" charset="0"/>
                                    <a:ea typeface="Cambria Math" panose="02040503050406030204" pitchFamily="18" charset="0"/>
                                  </a:rPr>
                                  <m:t>(</m:t>
                                </m:r>
                                <m:sSub>
                                  <m:sSubPr>
                                    <m:ctrlPr>
                                      <a:rPr lang="en-US" sz="1800" b="0" i="1" u="none" strike="noStrike" smtClean="0">
                                        <a:solidFill>
                                          <a:srgbClr val="000000"/>
                                        </a:solidFill>
                                        <a:effectLst/>
                                        <a:latin typeface="Cambria Math" panose="02040503050406030204" pitchFamily="18" charset="0"/>
                                        <a:ea typeface="Cambria Math" panose="02040503050406030204" pitchFamily="18" charset="0"/>
                                      </a:rPr>
                                    </m:ctrlPr>
                                  </m:sSubPr>
                                  <m:e>
                                    <m:r>
                                      <a:rPr lang="en-US" sz="1800" b="0" i="1" u="none" strike="noStrike" smtClean="0">
                                        <a:solidFill>
                                          <a:srgbClr val="000000"/>
                                        </a:solidFill>
                                        <a:effectLst/>
                                        <a:latin typeface="Cambria Math" panose="02040503050406030204" pitchFamily="18" charset="0"/>
                                        <a:ea typeface="Cambria Math" panose="02040503050406030204" pitchFamily="18" charset="0"/>
                                      </a:rPr>
                                      <m:t>𝑥</m:t>
                                    </m:r>
                                  </m:e>
                                  <m:sub>
                                    <m:r>
                                      <a:rPr lang="en-US" sz="1800" b="0" i="1" u="none" strike="noStrike" smtClean="0">
                                        <a:solidFill>
                                          <a:srgbClr val="000000"/>
                                        </a:solidFill>
                                        <a:effectLst/>
                                        <a:latin typeface="Cambria Math" panose="02040503050406030204" pitchFamily="18" charset="0"/>
                                        <a:ea typeface="Cambria Math" panose="02040503050406030204" pitchFamily="18" charset="0"/>
                                      </a:rPr>
                                      <m:t>𝑛</m:t>
                                    </m:r>
                                  </m:sub>
                                </m:sSub>
                                <m:r>
                                  <a:rPr lang="en-US" sz="1800" b="0" i="1" u="none" strike="noStrike" smtClean="0">
                                    <a:solidFill>
                                      <a:srgbClr val="000000"/>
                                    </a:solidFill>
                                    <a:effectLst/>
                                    <a:latin typeface="Cambria Math" panose="02040503050406030204" pitchFamily="18" charset="0"/>
                                    <a:ea typeface="Cambria Math" panose="02040503050406030204" pitchFamily="18" charset="0"/>
                                  </a:rPr>
                                  <m:t>)</m:t>
                                </m:r>
                              </m:oMath>
                            </m:oMathPara>
                          </a14:m>
                          <a:endParaRPr lang="en-US" sz="18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25899638"/>
                      </a:ext>
                    </a:extLst>
                  </a:tr>
                </a:tbl>
              </a:graphicData>
            </a:graphic>
          </p:graphicFrame>
        </mc:Choice>
        <mc:Fallback xmlns="">
          <p:graphicFrame>
            <p:nvGraphicFramePr>
              <p:cNvPr id="9" name="Table 8"/>
              <p:cNvGraphicFramePr>
                <a:graphicFrameLocks noGrp="1"/>
              </p:cNvGraphicFramePr>
              <p:nvPr>
                <p:extLst>
                  <p:ext uri="{D42A27DB-BD31-4B8C-83A1-F6EECF244321}">
                    <p14:modId xmlns:p14="http://schemas.microsoft.com/office/powerpoint/2010/main" val="2865459081"/>
                  </p:ext>
                </p:extLst>
              </p:nvPr>
            </p:nvGraphicFramePr>
            <p:xfrm>
              <a:off x="5788557" y="1471664"/>
              <a:ext cx="723527" cy="1786019"/>
            </p:xfrm>
            <a:graphic>
              <a:graphicData uri="http://schemas.openxmlformats.org/drawingml/2006/table">
                <a:tbl>
                  <a:tblPr>
                    <a:tableStyleId>{5C22544A-7EE6-4342-B048-85BDC9FD1C3A}</a:tableStyleId>
                  </a:tblPr>
                  <a:tblGrid>
                    <a:gridCol w="723527">
                      <a:extLst>
                        <a:ext uri="{9D8B030D-6E8A-4147-A177-3AD203B41FA5}">
                          <a16:colId xmlns:a16="http://schemas.microsoft.com/office/drawing/2014/main" val="780740917"/>
                        </a:ext>
                      </a:extLst>
                    </a:gridCol>
                  </a:tblGrid>
                  <a:tr h="348815">
                    <a:tc>
                      <a:txBody>
                        <a:bodyPr/>
                        <a:lstStyle/>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solidFill>
                          <a:schemeClr val="tx2"/>
                        </a:solidFill>
                      </a:tcPr>
                    </a:tc>
                    <a:extLst>
                      <a:ext uri="{0D108BD9-81ED-4DB2-BD59-A6C34878D82A}">
                        <a16:rowId xmlns:a16="http://schemas.microsoft.com/office/drawing/2014/main" val="1935583098"/>
                      </a:ext>
                    </a:extLst>
                  </a:tr>
                  <a:tr h="348815">
                    <a:tc>
                      <a:txBody>
                        <a:bodyPr/>
                        <a:lstStyle/>
                        <a:p>
                          <a:endParaRPr lang="en-US"/>
                        </a:p>
                      </a:txBody>
                      <a:tcPr marL="9525" marR="9525" marT="9525" marB="0" anchor="b">
                        <a:blipFill>
                          <a:blip r:embed="rId5"/>
                          <a:stretch>
                            <a:fillRect l="-833" t="-100000" r="-1667" b="-336207"/>
                          </a:stretch>
                        </a:blipFill>
                      </a:tcPr>
                    </a:tc>
                    <a:extLst>
                      <a:ext uri="{0D108BD9-81ED-4DB2-BD59-A6C34878D82A}">
                        <a16:rowId xmlns:a16="http://schemas.microsoft.com/office/drawing/2014/main" val="4178472227"/>
                      </a:ext>
                    </a:extLst>
                  </a:tr>
                  <a:tr h="400277">
                    <a:tc>
                      <a:txBody>
                        <a:bodyPr/>
                        <a:lstStyle/>
                        <a:p>
                          <a:endParaRPr lang="en-US"/>
                        </a:p>
                      </a:txBody>
                      <a:tcPr marL="9525" marR="9525" marT="9525" marB="0" anchor="b">
                        <a:blipFill>
                          <a:blip r:embed="rId5"/>
                          <a:stretch>
                            <a:fillRect l="-833" t="-175758" r="-1667" b="-195455"/>
                          </a:stretch>
                        </a:blipFill>
                      </a:tcPr>
                    </a:tc>
                    <a:extLst>
                      <a:ext uri="{0D108BD9-81ED-4DB2-BD59-A6C34878D82A}">
                        <a16:rowId xmlns:a16="http://schemas.microsoft.com/office/drawing/2014/main" val="340935072"/>
                      </a:ext>
                    </a:extLst>
                  </a:tr>
                  <a:tr h="348815">
                    <a:tc>
                      <a:txBody>
                        <a:bodyPr/>
                        <a:lstStyle/>
                        <a:p>
                          <a:pPr algn="ctr" fontAlgn="b"/>
                          <a:r>
                            <a:rPr lang="en-US" sz="1800" u="none" strike="noStrike" dirty="0">
                              <a:effectLst/>
                            </a:rPr>
                            <a:t>…</a:t>
                          </a:r>
                          <a:endParaRPr lang="en-US" sz="18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04948610"/>
                      </a:ext>
                    </a:extLst>
                  </a:tr>
                  <a:tr h="339297">
                    <a:tc>
                      <a:txBody>
                        <a:bodyPr/>
                        <a:lstStyle/>
                        <a:p>
                          <a:endParaRPr lang="en-US"/>
                        </a:p>
                      </a:txBody>
                      <a:tcPr marL="9525" marR="9525" marT="9525" marB="0" anchor="b">
                        <a:blipFill>
                          <a:blip r:embed="rId5"/>
                          <a:stretch>
                            <a:fillRect l="-833" t="-426786" r="-1667" b="-28571"/>
                          </a:stretch>
                        </a:blipFill>
                      </a:tcPr>
                    </a:tc>
                    <a:extLst>
                      <a:ext uri="{0D108BD9-81ED-4DB2-BD59-A6C34878D82A}">
                        <a16:rowId xmlns:a16="http://schemas.microsoft.com/office/drawing/2014/main" val="1825899638"/>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0" name="Table 9"/>
              <p:cNvGraphicFramePr>
                <a:graphicFrameLocks noGrp="1"/>
              </p:cNvGraphicFramePr>
              <p:nvPr>
                <p:extLst>
                  <p:ext uri="{D42A27DB-BD31-4B8C-83A1-F6EECF244321}">
                    <p14:modId xmlns:p14="http://schemas.microsoft.com/office/powerpoint/2010/main" val="1452118235"/>
                  </p:ext>
                </p:extLst>
              </p:nvPr>
            </p:nvGraphicFramePr>
            <p:xfrm>
              <a:off x="2339752" y="3257683"/>
              <a:ext cx="3469214" cy="338773"/>
            </p:xfrm>
            <a:graphic>
              <a:graphicData uri="http://schemas.openxmlformats.org/drawingml/2006/table">
                <a:tbl>
                  <a:tblPr>
                    <a:tableStyleId>{5C22544A-7EE6-4342-B048-85BDC9FD1C3A}</a:tableStyleId>
                  </a:tblPr>
                  <a:tblGrid>
                    <a:gridCol w="1308845">
                      <a:extLst>
                        <a:ext uri="{9D8B030D-6E8A-4147-A177-3AD203B41FA5}">
                          <a16:colId xmlns:a16="http://schemas.microsoft.com/office/drawing/2014/main" val="1659885154"/>
                        </a:ext>
                      </a:extLst>
                    </a:gridCol>
                    <a:gridCol w="792216">
                      <a:extLst>
                        <a:ext uri="{9D8B030D-6E8A-4147-A177-3AD203B41FA5}">
                          <a16:colId xmlns:a16="http://schemas.microsoft.com/office/drawing/2014/main" val="838963423"/>
                        </a:ext>
                      </a:extLst>
                    </a:gridCol>
                    <a:gridCol w="504056">
                      <a:extLst>
                        <a:ext uri="{9D8B030D-6E8A-4147-A177-3AD203B41FA5}">
                          <a16:colId xmlns:a16="http://schemas.microsoft.com/office/drawing/2014/main" val="3656921445"/>
                        </a:ext>
                      </a:extLst>
                    </a:gridCol>
                    <a:gridCol w="864097">
                      <a:extLst>
                        <a:ext uri="{9D8B030D-6E8A-4147-A177-3AD203B41FA5}">
                          <a16:colId xmlns:a16="http://schemas.microsoft.com/office/drawing/2014/main" val="2401808"/>
                        </a:ext>
                      </a:extLst>
                    </a:gridCol>
                  </a:tblGrid>
                  <a:tr h="280125">
                    <a:tc>
                      <a:txBody>
                        <a:bodyPr/>
                        <a:lstStyle/>
                        <a:p>
                          <a:pPr algn="ctr" fontAlgn="b"/>
                          <a14:m>
                            <m:oMathPara xmlns:m="http://schemas.openxmlformats.org/officeDocument/2006/math">
                              <m:oMathParaPr>
                                <m:jc m:val="center"/>
                              </m:oMathParaPr>
                              <m:oMath xmlns:m="http://schemas.openxmlformats.org/officeDocument/2006/math">
                                <m:r>
                                  <a:rPr lang="en-US" sz="2000" b="0" i="1" u="none" strike="noStrike" smtClean="0">
                                    <a:solidFill>
                                      <a:srgbClr val="000000"/>
                                    </a:solidFill>
                                    <a:effectLst/>
                                    <a:latin typeface="Cambria Math" panose="02040503050406030204" pitchFamily="18" charset="0"/>
                                    <a:ea typeface="Cambria Math" panose="02040503050406030204" pitchFamily="18" charset="0"/>
                                  </a:rPr>
                                  <m:t>𝜇</m:t>
                                </m:r>
                                <m:r>
                                  <a:rPr lang="en-US" sz="2000" b="0" i="1" u="none" strike="noStrike" smtClean="0">
                                    <a:solidFill>
                                      <a:srgbClr val="000000"/>
                                    </a:solidFill>
                                    <a:effectLst/>
                                    <a:latin typeface="Cambria Math" panose="02040503050406030204" pitchFamily="18" charset="0"/>
                                    <a:ea typeface="Cambria Math" panose="02040503050406030204" pitchFamily="18" charset="0"/>
                                  </a:rPr>
                                  <m:t>(</m:t>
                                </m:r>
                                <m:sSub>
                                  <m:sSubPr>
                                    <m:ctrlPr>
                                      <a:rPr lang="en-US" sz="2000" b="0" i="1" u="none" strike="noStrike" smtClean="0">
                                        <a:solidFill>
                                          <a:srgbClr val="000000"/>
                                        </a:solidFill>
                                        <a:effectLst/>
                                        <a:latin typeface="Cambria Math" panose="02040503050406030204" pitchFamily="18" charset="0"/>
                                        <a:ea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ea typeface="Cambria Math" panose="02040503050406030204" pitchFamily="18" charset="0"/>
                                      </a:rPr>
                                      <m:t>𝑦</m:t>
                                    </m:r>
                                  </m:e>
                                  <m:sub>
                                    <m:r>
                                      <a:rPr lang="en-US" sz="2000" b="0" i="1" u="none" strike="noStrike" smtClean="0">
                                        <a:solidFill>
                                          <a:srgbClr val="000000"/>
                                        </a:solidFill>
                                        <a:effectLst/>
                                        <a:latin typeface="Cambria Math" panose="02040503050406030204" pitchFamily="18" charset="0"/>
                                        <a:ea typeface="Cambria Math" panose="02040503050406030204" pitchFamily="18" charset="0"/>
                                      </a:rPr>
                                      <m:t>𝑗</m:t>
                                    </m:r>
                                  </m:sub>
                                </m:sSub>
                                <m:r>
                                  <a:rPr lang="en-US" sz="2000" b="0" i="1" u="none" strike="noStrike" smtClean="0">
                                    <a:solidFill>
                                      <a:srgbClr val="000000"/>
                                    </a:solidFill>
                                    <a:effectLst/>
                                    <a:latin typeface="Cambria Math" panose="02040503050406030204" pitchFamily="18" charset="0"/>
                                    <a:ea typeface="Cambria Math" panose="02040503050406030204" pitchFamily="18" charset="0"/>
                                  </a:rPr>
                                  <m:t>)</m:t>
                                </m:r>
                              </m:oMath>
                            </m:oMathPara>
                          </a14:m>
                          <a:endParaRPr lang="en-US"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000" b="0" i="1" u="none" strike="noStrike" smtClean="0">
                                    <a:solidFill>
                                      <a:srgbClr val="000000"/>
                                    </a:solidFill>
                                    <a:effectLst/>
                                    <a:latin typeface="Cambria Math" panose="02040503050406030204" pitchFamily="18" charset="0"/>
                                    <a:ea typeface="Cambria Math" panose="02040503050406030204" pitchFamily="18" charset="0"/>
                                  </a:rPr>
                                  <m:t>𝜇</m:t>
                                </m:r>
                                <m:r>
                                  <a:rPr lang="en-US" sz="2000" b="0" i="1" u="none" strike="noStrike" smtClean="0">
                                    <a:solidFill>
                                      <a:srgbClr val="000000"/>
                                    </a:solidFill>
                                    <a:effectLst/>
                                    <a:latin typeface="Cambria Math" panose="02040503050406030204" pitchFamily="18" charset="0"/>
                                    <a:ea typeface="Cambria Math" panose="02040503050406030204" pitchFamily="18" charset="0"/>
                                  </a:rPr>
                                  <m:t>(</m:t>
                                </m:r>
                                <m:sSub>
                                  <m:sSubPr>
                                    <m:ctrlPr>
                                      <a:rPr lang="en-US" sz="2000" b="0" i="1" u="none" strike="noStrike" smtClean="0">
                                        <a:solidFill>
                                          <a:srgbClr val="000000"/>
                                        </a:solidFill>
                                        <a:effectLst/>
                                        <a:latin typeface="Cambria Math" panose="02040503050406030204" pitchFamily="18" charset="0"/>
                                        <a:ea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ea typeface="Cambria Math" panose="02040503050406030204" pitchFamily="18" charset="0"/>
                                      </a:rPr>
                                      <m:t>𝑦</m:t>
                                    </m:r>
                                  </m:e>
                                  <m:sub>
                                    <m:r>
                                      <a:rPr lang="en-US" sz="2000" b="0" i="1" u="none" strike="noStrike" smtClean="0">
                                        <a:solidFill>
                                          <a:srgbClr val="000000"/>
                                        </a:solidFill>
                                        <a:effectLst/>
                                        <a:latin typeface="Cambria Math" panose="02040503050406030204" pitchFamily="18" charset="0"/>
                                        <a:ea typeface="Cambria Math" panose="02040503050406030204" pitchFamily="18" charset="0"/>
                                      </a:rPr>
                                      <m:t>1</m:t>
                                    </m:r>
                                  </m:sub>
                                </m:sSub>
                                <m:r>
                                  <a:rPr lang="en-US" sz="2000" b="0" i="1" u="none" strike="noStrike" smtClean="0">
                                    <a:solidFill>
                                      <a:srgbClr val="000000"/>
                                    </a:solidFill>
                                    <a:effectLst/>
                                    <a:latin typeface="Cambria Math" panose="02040503050406030204" pitchFamily="18" charset="0"/>
                                    <a:ea typeface="Cambria Math" panose="02040503050406030204" pitchFamily="18" charset="0"/>
                                  </a:rPr>
                                  <m:t>)</m:t>
                                </m:r>
                              </m:oMath>
                            </m:oMathPara>
                          </a14:m>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2000" u="none" strike="noStrike" dirty="0">
                              <a:effectLst/>
                            </a:rPr>
                            <a:t>…</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000" b="0" i="1" u="none" strike="noStrike" smtClean="0">
                                    <a:solidFill>
                                      <a:srgbClr val="000000"/>
                                    </a:solidFill>
                                    <a:effectLst/>
                                    <a:latin typeface="Cambria Math" panose="02040503050406030204" pitchFamily="18" charset="0"/>
                                    <a:ea typeface="Cambria Math" panose="02040503050406030204" pitchFamily="18" charset="0"/>
                                  </a:rPr>
                                  <m:t>𝜇</m:t>
                                </m:r>
                                <m:r>
                                  <a:rPr lang="en-US" sz="2000" b="0" i="1" u="none" strike="noStrike" smtClean="0">
                                    <a:solidFill>
                                      <a:srgbClr val="000000"/>
                                    </a:solidFill>
                                    <a:effectLst/>
                                    <a:latin typeface="Cambria Math" panose="02040503050406030204" pitchFamily="18" charset="0"/>
                                    <a:ea typeface="Cambria Math" panose="02040503050406030204" pitchFamily="18" charset="0"/>
                                  </a:rPr>
                                  <m:t>(</m:t>
                                </m:r>
                                <m:sSub>
                                  <m:sSubPr>
                                    <m:ctrlPr>
                                      <a:rPr lang="en-US" sz="2000" b="0" i="1" u="none" strike="noStrike" smtClean="0">
                                        <a:solidFill>
                                          <a:srgbClr val="000000"/>
                                        </a:solidFill>
                                        <a:effectLst/>
                                        <a:latin typeface="Cambria Math" panose="02040503050406030204" pitchFamily="18" charset="0"/>
                                        <a:ea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ea typeface="Cambria Math" panose="02040503050406030204" pitchFamily="18" charset="0"/>
                                      </a:rPr>
                                      <m:t>𝑦</m:t>
                                    </m:r>
                                  </m:e>
                                  <m:sub>
                                    <m:r>
                                      <a:rPr lang="en-US" sz="2000" b="0" i="1" u="none" strike="noStrike" smtClean="0">
                                        <a:solidFill>
                                          <a:srgbClr val="000000"/>
                                        </a:solidFill>
                                        <a:effectLst/>
                                        <a:latin typeface="Cambria Math" panose="02040503050406030204" pitchFamily="18" charset="0"/>
                                        <a:ea typeface="Cambria Math" panose="02040503050406030204" pitchFamily="18" charset="0"/>
                                      </a:rPr>
                                      <m:t>𝑚</m:t>
                                    </m:r>
                                  </m:sub>
                                </m:sSub>
                                <m:r>
                                  <a:rPr lang="en-US" sz="2000" b="0" i="1" u="none" strike="noStrike" smtClean="0">
                                    <a:solidFill>
                                      <a:srgbClr val="000000"/>
                                    </a:solidFill>
                                    <a:effectLst/>
                                    <a:latin typeface="Cambria Math" panose="02040503050406030204" pitchFamily="18" charset="0"/>
                                    <a:ea typeface="Cambria Math" panose="02040503050406030204" pitchFamily="18" charset="0"/>
                                  </a:rPr>
                                  <m:t>)</m:t>
                                </m:r>
                              </m:oMath>
                            </m:oMathPara>
                          </a14:m>
                          <a:endParaRPr lang="en-US" sz="20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822019464"/>
                      </a:ext>
                    </a:extLst>
                  </a:tr>
                </a:tbl>
              </a:graphicData>
            </a:graphic>
          </p:graphicFrame>
        </mc:Choice>
        <mc:Fallback xmlns="">
          <p:graphicFrame>
            <p:nvGraphicFramePr>
              <p:cNvPr id="10" name="Table 9"/>
              <p:cNvGraphicFramePr>
                <a:graphicFrameLocks noGrp="1"/>
              </p:cNvGraphicFramePr>
              <p:nvPr>
                <p:extLst>
                  <p:ext uri="{D42A27DB-BD31-4B8C-83A1-F6EECF244321}">
                    <p14:modId xmlns:p14="http://schemas.microsoft.com/office/powerpoint/2010/main" val="1452118235"/>
                  </p:ext>
                </p:extLst>
              </p:nvPr>
            </p:nvGraphicFramePr>
            <p:xfrm>
              <a:off x="2339752" y="3257683"/>
              <a:ext cx="3469214" cy="338773"/>
            </p:xfrm>
            <a:graphic>
              <a:graphicData uri="http://schemas.openxmlformats.org/drawingml/2006/table">
                <a:tbl>
                  <a:tblPr>
                    <a:tableStyleId>{5C22544A-7EE6-4342-B048-85BDC9FD1C3A}</a:tableStyleId>
                  </a:tblPr>
                  <a:tblGrid>
                    <a:gridCol w="1308845">
                      <a:extLst>
                        <a:ext uri="{9D8B030D-6E8A-4147-A177-3AD203B41FA5}">
                          <a16:colId xmlns:a16="http://schemas.microsoft.com/office/drawing/2014/main" val="1659885154"/>
                        </a:ext>
                      </a:extLst>
                    </a:gridCol>
                    <a:gridCol w="792216">
                      <a:extLst>
                        <a:ext uri="{9D8B030D-6E8A-4147-A177-3AD203B41FA5}">
                          <a16:colId xmlns:a16="http://schemas.microsoft.com/office/drawing/2014/main" val="838963423"/>
                        </a:ext>
                      </a:extLst>
                    </a:gridCol>
                    <a:gridCol w="504056">
                      <a:extLst>
                        <a:ext uri="{9D8B030D-6E8A-4147-A177-3AD203B41FA5}">
                          <a16:colId xmlns:a16="http://schemas.microsoft.com/office/drawing/2014/main" val="3656921445"/>
                        </a:ext>
                      </a:extLst>
                    </a:gridCol>
                    <a:gridCol w="864097">
                      <a:extLst>
                        <a:ext uri="{9D8B030D-6E8A-4147-A177-3AD203B41FA5}">
                          <a16:colId xmlns:a16="http://schemas.microsoft.com/office/drawing/2014/main" val="2401808"/>
                        </a:ext>
                      </a:extLst>
                    </a:gridCol>
                  </a:tblGrid>
                  <a:tr h="338773">
                    <a:tc>
                      <a:txBody>
                        <a:bodyPr/>
                        <a:lstStyle/>
                        <a:p>
                          <a:endParaRPr lang="en-US"/>
                        </a:p>
                      </a:txBody>
                      <a:tcPr marL="9525" marR="9525" marT="9525" marB="0" anchor="b">
                        <a:blipFill>
                          <a:blip r:embed="rId6"/>
                          <a:stretch>
                            <a:fillRect l="-465" t="-12500" r="-166047" b="-44643"/>
                          </a:stretch>
                        </a:blipFill>
                      </a:tcPr>
                    </a:tc>
                    <a:tc>
                      <a:txBody>
                        <a:bodyPr/>
                        <a:lstStyle/>
                        <a:p>
                          <a:endParaRPr lang="en-US"/>
                        </a:p>
                      </a:txBody>
                      <a:tcPr marL="9525" marR="9525" marT="9525" marB="0" anchor="b">
                        <a:blipFill>
                          <a:blip r:embed="rId6"/>
                          <a:stretch>
                            <a:fillRect l="-166154" t="-12500" r="-174615" b="-44643"/>
                          </a:stretch>
                        </a:blipFill>
                      </a:tcPr>
                    </a:tc>
                    <a:tc>
                      <a:txBody>
                        <a:bodyPr/>
                        <a:lstStyle/>
                        <a:p>
                          <a:pPr algn="ctr" fontAlgn="b"/>
                          <a:r>
                            <a:rPr lang="en-US" sz="2000" u="none" strike="noStrike" dirty="0">
                              <a:effectLst/>
                            </a:rPr>
                            <a:t>…</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endParaRPr lang="en-US"/>
                        </a:p>
                      </a:txBody>
                      <a:tcPr marL="9525" marR="9525" marT="9525" marB="0" anchor="b">
                        <a:blipFill>
                          <a:blip r:embed="rId6"/>
                          <a:stretch>
                            <a:fillRect l="-302113" t="-12500" r="-1408" b="-44643"/>
                          </a:stretch>
                        </a:blipFill>
                      </a:tcPr>
                    </a:tc>
                    <a:extLst>
                      <a:ext uri="{0D108BD9-81ED-4DB2-BD59-A6C34878D82A}">
                        <a16:rowId xmlns:a16="http://schemas.microsoft.com/office/drawing/2014/main" val="822019464"/>
                      </a:ext>
                    </a:extLst>
                  </a:tr>
                </a:tbl>
              </a:graphicData>
            </a:graphic>
          </p:graphicFrame>
        </mc:Fallback>
      </mc:AlternateContent>
      <p:sp>
        <p:nvSpPr>
          <p:cNvPr id="11" name="TextBox 10"/>
          <p:cNvSpPr txBox="1"/>
          <p:nvPr/>
        </p:nvSpPr>
        <p:spPr>
          <a:xfrm>
            <a:off x="4358926" y="5206525"/>
            <a:ext cx="399918" cy="400110"/>
          </a:xfrm>
          <a:prstGeom prst="rect">
            <a:avLst/>
          </a:prstGeom>
          <a:noFill/>
        </p:spPr>
        <p:txBody>
          <a:bodyPr wrap="square" rtlCol="0">
            <a:spAutoFit/>
          </a:bodyPr>
          <a:lstStyle/>
          <a:p>
            <a:r>
              <a:rPr lang="en-US" sz="2000" dirty="0"/>
              <a:t>&amp;</a:t>
            </a:r>
          </a:p>
        </p:txBody>
      </p:sp>
      <mc:AlternateContent xmlns:mc="http://schemas.openxmlformats.org/markup-compatibility/2006" xmlns:a14="http://schemas.microsoft.com/office/drawing/2010/main">
        <mc:Choice Requires="a14">
          <p:sp>
            <p:nvSpPr>
              <p:cNvPr id="12" name="Rectangle 11"/>
              <p:cNvSpPr/>
              <p:nvPr/>
            </p:nvSpPr>
            <p:spPr>
              <a:xfrm>
                <a:off x="611560" y="4794607"/>
                <a:ext cx="7848872" cy="400110"/>
              </a:xfrm>
              <a:prstGeom prst="rect">
                <a:avLst/>
              </a:prstGeom>
            </p:spPr>
            <p:txBody>
              <a:bodyPr wrap="square">
                <a:spAutoFit/>
              </a:bodyPr>
              <a:lstStyle/>
              <a:p>
                <a:pPr algn="just">
                  <a:spcBef>
                    <a:spcPts val="1200"/>
                  </a:spcBef>
                </a:pPr>
                <a:r>
                  <a:rPr lang="en-US" sz="2000" dirty="0"/>
                  <a:t>Pair </a:t>
                </a:r>
                <a14:m>
                  <m:oMath xmlns:m="http://schemas.openxmlformats.org/officeDocument/2006/math">
                    <m:d>
                      <m:dPr>
                        <m:ctrlPr>
                          <a:rPr lang="en-US" sz="2000" i="1">
                            <a:latin typeface="Cambria Math" panose="02040503050406030204" pitchFamily="18" charset="0"/>
                          </a:rPr>
                        </m:ctrlPr>
                      </m:dPr>
                      <m:e>
                        <m:sSup>
                          <m:sSupPr>
                            <m:ctrlPr>
                              <a:rPr lang="en-US" sz="2000" i="1">
                                <a:latin typeface="Cambria Math" panose="02040503050406030204" pitchFamily="18" charset="0"/>
                              </a:rPr>
                            </m:ctrlPr>
                          </m:sSupPr>
                          <m:e>
                            <m:r>
                              <a:rPr lang="en-US" sz="2000" i="1">
                                <a:latin typeface="Cambria Math" panose="02040503050406030204" pitchFamily="18" charset="0"/>
                              </a:rPr>
                              <m:t>𝑥</m:t>
                            </m:r>
                          </m:e>
                          <m:sup>
                            <m:r>
                              <a:rPr lang="en-US" sz="2000" i="1">
                                <a:latin typeface="Cambria Math" panose="02040503050406030204" pitchFamily="18" charset="0"/>
                              </a:rPr>
                              <m:t>∗</m:t>
                            </m:r>
                          </m:sup>
                        </m:sSup>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𝑦</m:t>
                            </m:r>
                          </m:e>
                          <m:sup>
                            <m:r>
                              <a:rPr lang="en-US" sz="2000" i="1">
                                <a:latin typeface="Cambria Math" panose="02040503050406030204" pitchFamily="18" charset="0"/>
                              </a:rPr>
                              <m:t>∗</m:t>
                            </m:r>
                          </m:sup>
                        </m:sSup>
                      </m:e>
                    </m:d>
                  </m:oMath>
                </a14:m>
                <a:r>
                  <a:rPr lang="en-US" sz="2000" dirty="0"/>
                  <a:t> is an equilibrium pair if the following two conditions hold.</a:t>
                </a:r>
              </a:p>
            </p:txBody>
          </p:sp>
        </mc:Choice>
        <mc:Fallback xmlns="">
          <p:sp>
            <p:nvSpPr>
              <p:cNvPr id="12" name="Rectangle 11"/>
              <p:cNvSpPr>
                <a:spLocks noRot="1" noChangeAspect="1" noMove="1" noResize="1" noEditPoints="1" noAdjustHandles="1" noChangeArrowheads="1" noChangeShapeType="1" noTextEdit="1"/>
              </p:cNvSpPr>
              <p:nvPr/>
            </p:nvSpPr>
            <p:spPr>
              <a:xfrm>
                <a:off x="611560" y="4794607"/>
                <a:ext cx="7848872" cy="400110"/>
              </a:xfrm>
              <a:prstGeom prst="rect">
                <a:avLst/>
              </a:prstGeom>
              <a:blipFill>
                <a:blip r:embed="rId7"/>
                <a:stretch>
                  <a:fillRect l="-776" t="-9231" b="-2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611560" y="5751006"/>
                <a:ext cx="7848872" cy="707886"/>
              </a:xfrm>
              <a:prstGeom prst="rect">
                <a:avLst/>
              </a:prstGeom>
              <a:noFill/>
            </p:spPr>
            <p:txBody>
              <a:bodyPr wrap="square" rtlCol="0">
                <a:spAutoFit/>
              </a:bodyPr>
              <a:lstStyle/>
              <a:p>
                <a:r>
                  <a:rPr lang="en-US" sz="2000" dirty="0"/>
                  <a:t>It means the value of </a:t>
                </a:r>
                <a14:m>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𝑥</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𝑦</m:t>
                            </m:r>
                          </m:e>
                          <m:sup>
                            <m:r>
                              <a:rPr lang="en-US" sz="2000" b="0" i="1" smtClean="0">
                                <a:latin typeface="Cambria Math" panose="02040503050406030204" pitchFamily="18" charset="0"/>
                              </a:rPr>
                              <m:t>∗</m:t>
                            </m:r>
                          </m:sup>
                        </m:sSup>
                      </m:e>
                    </m:d>
                  </m:oMath>
                </a14:m>
                <a:r>
                  <a:rPr lang="en-US" sz="2000" dirty="0"/>
                  <a:t>  has to be bigger than </a:t>
                </a:r>
                <a14:m>
                  <m:oMath xmlns:m="http://schemas.openxmlformats.org/officeDocument/2006/math">
                    <m:r>
                      <m:rPr>
                        <m:sty m:val="p"/>
                      </m:rPr>
                      <a:rPr lang="en-US" sz="2000">
                        <a:latin typeface="Cambria Math" panose="02040503050406030204" pitchFamily="18" charset="0"/>
                      </a:rPr>
                      <m:t>max</m:t>
                    </m:r>
                    <m:r>
                      <a:rPr lang="en-US" sz="2000" i="1">
                        <a:latin typeface="Cambria Math" panose="02040503050406030204" pitchFamily="18" charset="0"/>
                      </a:rPr>
                      <m:t>⁡</m:t>
                    </m:r>
                    <m:d>
                      <m:dPr>
                        <m:begChr m:val="{"/>
                        <m:endChr m:val="}"/>
                        <m:ctrlPr>
                          <a:rPr lang="en-US" sz="2000" i="1">
                            <a:latin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𝜇</m:t>
                        </m:r>
                        <m:d>
                          <m:dPr>
                            <m:ctrlPr>
                              <a:rPr lang="en-US" sz="2000" i="1">
                                <a:latin typeface="Cambria Math" panose="02040503050406030204" pitchFamily="18" charset="0"/>
                                <a:ea typeface="Cambria Math" panose="02040503050406030204" pitchFamily="18" charset="0"/>
                              </a:rPr>
                            </m:ctrlPr>
                          </m:dPr>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𝑥</m:t>
                                </m:r>
                              </m:e>
                              <m:sub>
                                <m:r>
                                  <a:rPr lang="en-US" sz="2000" i="1">
                                    <a:latin typeface="Cambria Math" panose="02040503050406030204" pitchFamily="18" charset="0"/>
                                    <a:ea typeface="Cambria Math" panose="02040503050406030204" pitchFamily="18" charset="0"/>
                                  </a:rPr>
                                  <m:t>𝑖</m:t>
                                </m:r>
                              </m:sub>
                            </m:sSub>
                          </m:e>
                        </m:d>
                      </m:e>
                    </m:d>
                  </m:oMath>
                </a14:m>
                <a:r>
                  <a:rPr lang="en-US" sz="2000" dirty="0"/>
                  <a:t> but less than </a:t>
                </a:r>
                <a14:m>
                  <m:oMath xmlns:m="http://schemas.openxmlformats.org/officeDocument/2006/math">
                    <m:r>
                      <m:rPr>
                        <m:sty m:val="p"/>
                      </m:rPr>
                      <a:rPr lang="en-US" sz="2000">
                        <a:latin typeface="Cambria Math" panose="02040503050406030204" pitchFamily="18" charset="0"/>
                      </a:rPr>
                      <m:t>m</m:t>
                    </m:r>
                    <m:r>
                      <m:rPr>
                        <m:sty m:val="p"/>
                      </m:rPr>
                      <a:rPr lang="en-US" sz="2000" b="0" i="0" smtClean="0">
                        <a:latin typeface="Cambria Math" panose="02040503050406030204" pitchFamily="18" charset="0"/>
                      </a:rPr>
                      <m:t>in</m:t>
                    </m:r>
                    <m:r>
                      <a:rPr lang="en-US" sz="2000" i="1">
                        <a:latin typeface="Cambria Math" panose="02040503050406030204" pitchFamily="18" charset="0"/>
                      </a:rPr>
                      <m:t>⁡</m:t>
                    </m:r>
                    <m:d>
                      <m:dPr>
                        <m:begChr m:val="{"/>
                        <m:endChr m:val="}"/>
                        <m:ctrlPr>
                          <a:rPr lang="en-US" sz="2000" i="1">
                            <a:latin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𝜇</m:t>
                        </m:r>
                        <m:d>
                          <m:dPr>
                            <m:ctrlPr>
                              <a:rPr lang="en-US" sz="2000" i="1">
                                <a:latin typeface="Cambria Math" panose="02040503050406030204" pitchFamily="18" charset="0"/>
                                <a:ea typeface="Cambria Math" panose="02040503050406030204" pitchFamily="18" charset="0"/>
                              </a:rPr>
                            </m:ctrlPr>
                          </m:dPr>
                          <m:e>
                            <m:sSub>
                              <m:sSubPr>
                                <m:ctrlPr>
                                  <a:rPr lang="en-US" sz="2000" i="1">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𝑦</m:t>
                                </m:r>
                              </m:e>
                              <m:sub>
                                <m:r>
                                  <a:rPr lang="en-US" sz="2000" i="1">
                                    <a:latin typeface="Cambria Math" panose="02040503050406030204" pitchFamily="18" charset="0"/>
                                    <a:ea typeface="Cambria Math" panose="02040503050406030204" pitchFamily="18" charset="0"/>
                                  </a:rPr>
                                  <m:t>𝑖</m:t>
                                </m:r>
                              </m:sub>
                            </m:sSub>
                          </m:e>
                        </m:d>
                      </m:e>
                    </m:d>
                  </m:oMath>
                </a14:m>
                <a:r>
                  <a:rPr lang="en-US" sz="2000" dirty="0"/>
                  <a:t> </a:t>
                </a:r>
              </a:p>
            </p:txBody>
          </p:sp>
        </mc:Choice>
        <mc:Fallback xmlns="">
          <p:sp>
            <p:nvSpPr>
              <p:cNvPr id="14" name="TextBox 13"/>
              <p:cNvSpPr txBox="1">
                <a:spLocks noRot="1" noChangeAspect="1" noMove="1" noResize="1" noEditPoints="1" noAdjustHandles="1" noChangeArrowheads="1" noChangeShapeType="1" noTextEdit="1"/>
              </p:cNvSpPr>
              <p:nvPr/>
            </p:nvSpPr>
            <p:spPr>
              <a:xfrm>
                <a:off x="611560" y="5751006"/>
                <a:ext cx="7848872" cy="707886"/>
              </a:xfrm>
              <a:prstGeom prst="rect">
                <a:avLst/>
              </a:prstGeom>
              <a:blipFill>
                <a:blip r:embed="rId8"/>
                <a:stretch>
                  <a:fillRect l="-776" t="-4274" r="-1087" b="-13675"/>
                </a:stretch>
              </a:blipFill>
            </p:spPr>
            <p:txBody>
              <a:bodyPr/>
              <a:lstStyle/>
              <a:p>
                <a:r>
                  <a:rPr lang="en-US">
                    <a:noFill/>
                  </a:rPr>
                  <a:t> </a:t>
                </a:r>
              </a:p>
            </p:txBody>
          </p:sp>
        </mc:Fallback>
      </mc:AlternateContent>
    </p:spTree>
    <p:extLst>
      <p:ext uri="{BB962C8B-B14F-4D97-AF65-F5344CB8AC3E}">
        <p14:creationId xmlns:p14="http://schemas.microsoft.com/office/powerpoint/2010/main" val="1487237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1" grpId="0"/>
      <p:bldP spid="12" grpId="0"/>
      <p:bldP spid="1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p:cNvSpPr txBox="1"/>
              <p:nvPr/>
            </p:nvSpPr>
            <p:spPr>
              <a:xfrm>
                <a:off x="738935" y="3843434"/>
                <a:ext cx="4775987" cy="400110"/>
              </a:xfrm>
              <a:prstGeom prst="rect">
                <a:avLst/>
              </a:prstGeom>
              <a:noFill/>
            </p:spPr>
            <p:txBody>
              <a:bodyPr wrap="none" rtlCol="0">
                <a:spAutoFit/>
              </a:bodyPr>
              <a:lstStyle/>
              <a:p>
                <a:r>
                  <a:rPr lang="en-US" sz="2000" dirty="0"/>
                  <a:t>Find the value of equilibrium pair of </a:t>
                </a:r>
                <a14:m>
                  <m:oMath xmlns:m="http://schemas.openxmlformats.org/officeDocument/2006/math">
                    <m:r>
                      <a:rPr lang="en-US" sz="2000" b="0" i="1" dirty="0" smtClean="0">
                        <a:latin typeface="Cambria Math" panose="02040503050406030204" pitchFamily="18" charset="0"/>
                      </a:rPr>
                      <m:t>𝑥</m:t>
                    </m:r>
                  </m:oMath>
                </a14:m>
                <a:r>
                  <a:rPr lang="en-US" sz="2000" dirty="0"/>
                  <a:t> and </a:t>
                </a:r>
                <a14:m>
                  <m:oMath xmlns:m="http://schemas.openxmlformats.org/officeDocument/2006/math">
                    <m:r>
                      <a:rPr lang="en-US" sz="2000" b="0" i="1" smtClean="0">
                        <a:latin typeface="Cambria Math" panose="02040503050406030204" pitchFamily="18" charset="0"/>
                      </a:rPr>
                      <m:t>𝑦</m:t>
                    </m:r>
                  </m:oMath>
                </a14:m>
                <a:endParaRPr lang="en-US" sz="2000" dirty="0"/>
              </a:p>
            </p:txBody>
          </p:sp>
        </mc:Choice>
        <mc:Fallback xmlns="">
          <p:sp>
            <p:nvSpPr>
              <p:cNvPr id="4" name="TextBox 3"/>
              <p:cNvSpPr txBox="1">
                <a:spLocks noRot="1" noChangeAspect="1" noMove="1" noResize="1" noEditPoints="1" noAdjustHandles="1" noChangeArrowheads="1" noChangeShapeType="1" noTextEdit="1"/>
              </p:cNvSpPr>
              <p:nvPr/>
            </p:nvSpPr>
            <p:spPr>
              <a:xfrm>
                <a:off x="738935" y="3843434"/>
                <a:ext cx="4775987" cy="400110"/>
              </a:xfrm>
              <a:prstGeom prst="rect">
                <a:avLst/>
              </a:prstGeom>
              <a:blipFill>
                <a:blip r:embed="rId2"/>
                <a:stretch>
                  <a:fillRect l="-1276" t="-7576" b="-257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2751057293"/>
                  </p:ext>
                </p:extLst>
              </p:nvPr>
            </p:nvGraphicFramePr>
            <p:xfrm>
              <a:off x="867076" y="4302292"/>
              <a:ext cx="1970892" cy="1044990"/>
            </p:xfrm>
            <a:graphic>
              <a:graphicData uri="http://schemas.openxmlformats.org/drawingml/2006/table">
                <a:tbl>
                  <a:tblPr>
                    <a:tableStyleId>{5C22544A-7EE6-4342-B048-85BDC9FD1C3A}</a:tableStyleId>
                  </a:tblPr>
                  <a:tblGrid>
                    <a:gridCol w="511593">
                      <a:extLst>
                        <a:ext uri="{9D8B030D-6E8A-4147-A177-3AD203B41FA5}">
                          <a16:colId xmlns:a16="http://schemas.microsoft.com/office/drawing/2014/main" val="3738874413"/>
                        </a:ext>
                      </a:extLst>
                    </a:gridCol>
                    <a:gridCol w="451187">
                      <a:extLst>
                        <a:ext uri="{9D8B030D-6E8A-4147-A177-3AD203B41FA5}">
                          <a16:colId xmlns:a16="http://schemas.microsoft.com/office/drawing/2014/main" val="2454115107"/>
                        </a:ext>
                      </a:extLst>
                    </a:gridCol>
                    <a:gridCol w="432048">
                      <a:extLst>
                        <a:ext uri="{9D8B030D-6E8A-4147-A177-3AD203B41FA5}">
                          <a16:colId xmlns:a16="http://schemas.microsoft.com/office/drawing/2014/main" val="1795178663"/>
                        </a:ext>
                      </a:extLst>
                    </a:gridCol>
                    <a:gridCol w="576064">
                      <a:extLst>
                        <a:ext uri="{9D8B030D-6E8A-4147-A177-3AD203B41FA5}">
                          <a16:colId xmlns:a16="http://schemas.microsoft.com/office/drawing/2014/main" val="1284286733"/>
                        </a:ext>
                      </a:extLst>
                    </a:gridCol>
                  </a:tblGrid>
                  <a:tr h="190500">
                    <a:tc>
                      <a:txBody>
                        <a:bodyPr/>
                        <a:lstStyle/>
                        <a:p>
                          <a:pPr algn="ctr" fontAlgn="b"/>
                          <a:r>
                            <a:rPr lang="en-US" sz="1600" u="none" strike="noStrike" dirty="0" err="1">
                              <a:effectLst/>
                            </a:rPr>
                            <a:t>Prob</a:t>
                          </a:r>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𝑦</m:t>
                                    </m:r>
                                  </m:e>
                                  <m:sub>
                                    <m:r>
                                      <a:rPr lang="en-US" sz="1600" b="0" i="1" u="none" strike="noStrike" dirty="0" smtClean="0">
                                        <a:effectLst/>
                                        <a:latin typeface="Cambria Math" panose="02040503050406030204" pitchFamily="18" charset="0"/>
                                      </a:rPr>
                                      <m:t>1</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𝑦</m:t>
                                    </m:r>
                                  </m:e>
                                  <m:sub>
                                    <m:r>
                                      <a:rPr lang="en-US" sz="1600" b="0" i="1" u="none" strike="noStrike" dirty="0" smtClean="0">
                                        <a:effectLst/>
                                        <a:latin typeface="Cambria Math" panose="02040503050406030204" pitchFamily="18" charset="0"/>
                                      </a:rPr>
                                      <m:t>2</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𝑦</m:t>
                                    </m:r>
                                  </m:e>
                                  <m:sub>
                                    <m:r>
                                      <a:rPr lang="en-US" sz="1600" b="0" i="1" u="none" strike="noStrike" dirty="0" smtClean="0">
                                        <a:effectLst/>
                                        <a:latin typeface="Cambria Math" panose="02040503050406030204" pitchFamily="18" charset="0"/>
                                      </a:rPr>
                                      <m:t>3</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extLst>
                      <a:ext uri="{0D108BD9-81ED-4DB2-BD59-A6C34878D82A}">
                        <a16:rowId xmlns:a16="http://schemas.microsoft.com/office/drawing/2014/main" val="3042800791"/>
                      </a:ext>
                    </a:extLst>
                  </a:tr>
                  <a:tr h="284895">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𝑥</m:t>
                                    </m:r>
                                  </m:e>
                                  <m:sub>
                                    <m:r>
                                      <a:rPr lang="en-US" sz="1600" b="0" i="1" u="none" strike="noStrike" dirty="0" smtClean="0">
                                        <a:effectLst/>
                                        <a:latin typeface="Cambria Math" panose="02040503050406030204" pitchFamily="18" charset="0"/>
                                      </a:rPr>
                                      <m:t>1</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59433256"/>
                      </a:ext>
                    </a:extLst>
                  </a:tr>
                  <a:tr h="190500">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𝑥</m:t>
                                    </m:r>
                                  </m:e>
                                  <m:sub>
                                    <m:r>
                                      <a:rPr lang="en-US" sz="1600" b="0" i="1" u="none" strike="noStrike" dirty="0" smtClean="0">
                                        <a:effectLst/>
                                        <a:latin typeface="Cambria Math" panose="02040503050406030204" pitchFamily="18" charset="0"/>
                                      </a:rPr>
                                      <m:t>2</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b="0" i="0" u="none" strike="noStrike" dirty="0">
                              <a:solidFill>
                                <a:schemeClr val="dk1"/>
                              </a:solidFill>
                              <a:effectLst/>
                              <a:latin typeface="+mn-lt"/>
                            </a:rPr>
                            <a:t>3</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05982770"/>
                      </a:ext>
                    </a:extLst>
                  </a:tr>
                  <a:tr h="201942">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𝑥</m:t>
                                    </m:r>
                                  </m:e>
                                  <m:sub>
                                    <m:r>
                                      <a:rPr lang="en-US" sz="1600" b="0" i="1" u="none" strike="noStrike" dirty="0" smtClean="0">
                                        <a:effectLst/>
                                        <a:latin typeface="Cambria Math" panose="02040503050406030204" pitchFamily="18" charset="0"/>
                                      </a:rPr>
                                      <m:t>3</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30496318"/>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2751057293"/>
                  </p:ext>
                </p:extLst>
              </p:nvPr>
            </p:nvGraphicFramePr>
            <p:xfrm>
              <a:off x="867076" y="4302292"/>
              <a:ext cx="1970892" cy="1044990"/>
            </p:xfrm>
            <a:graphic>
              <a:graphicData uri="http://schemas.openxmlformats.org/drawingml/2006/table">
                <a:tbl>
                  <a:tblPr>
                    <a:tableStyleId>{5C22544A-7EE6-4342-B048-85BDC9FD1C3A}</a:tableStyleId>
                  </a:tblPr>
                  <a:tblGrid>
                    <a:gridCol w="511593">
                      <a:extLst>
                        <a:ext uri="{9D8B030D-6E8A-4147-A177-3AD203B41FA5}">
                          <a16:colId xmlns:a16="http://schemas.microsoft.com/office/drawing/2014/main" val="3738874413"/>
                        </a:ext>
                      </a:extLst>
                    </a:gridCol>
                    <a:gridCol w="451187">
                      <a:extLst>
                        <a:ext uri="{9D8B030D-6E8A-4147-A177-3AD203B41FA5}">
                          <a16:colId xmlns:a16="http://schemas.microsoft.com/office/drawing/2014/main" val="2454115107"/>
                        </a:ext>
                      </a:extLst>
                    </a:gridCol>
                    <a:gridCol w="432048">
                      <a:extLst>
                        <a:ext uri="{9D8B030D-6E8A-4147-A177-3AD203B41FA5}">
                          <a16:colId xmlns:a16="http://schemas.microsoft.com/office/drawing/2014/main" val="1795178663"/>
                        </a:ext>
                      </a:extLst>
                    </a:gridCol>
                    <a:gridCol w="576064">
                      <a:extLst>
                        <a:ext uri="{9D8B030D-6E8A-4147-A177-3AD203B41FA5}">
                          <a16:colId xmlns:a16="http://schemas.microsoft.com/office/drawing/2014/main" val="1284286733"/>
                        </a:ext>
                      </a:extLst>
                    </a:gridCol>
                  </a:tblGrid>
                  <a:tr h="253365">
                    <a:tc>
                      <a:txBody>
                        <a:bodyPr/>
                        <a:lstStyle/>
                        <a:p>
                          <a:pPr algn="ctr" fontAlgn="b"/>
                          <a:r>
                            <a:rPr lang="en-US" sz="1600" u="none" strike="noStrike" dirty="0" err="1">
                              <a:effectLst/>
                            </a:rPr>
                            <a:t>Prob</a:t>
                          </a:r>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endParaRPr lang="en-US"/>
                        </a:p>
                      </a:txBody>
                      <a:tcPr marL="9525" marR="9525" marT="9525" marB="0" anchor="b">
                        <a:blipFill>
                          <a:blip r:embed="rId3"/>
                          <a:stretch>
                            <a:fillRect l="-114865" t="-16667" r="-227027" b="-361905"/>
                          </a:stretch>
                        </a:blipFill>
                      </a:tcPr>
                    </a:tc>
                    <a:tc>
                      <a:txBody>
                        <a:bodyPr/>
                        <a:lstStyle/>
                        <a:p>
                          <a:endParaRPr lang="en-US"/>
                        </a:p>
                      </a:txBody>
                      <a:tcPr marL="9525" marR="9525" marT="9525" marB="0" anchor="b">
                        <a:blipFill>
                          <a:blip r:embed="rId3"/>
                          <a:stretch>
                            <a:fillRect l="-223944" t="-16667" r="-136620" b="-361905"/>
                          </a:stretch>
                        </a:blipFill>
                      </a:tcPr>
                    </a:tc>
                    <a:tc>
                      <a:txBody>
                        <a:bodyPr/>
                        <a:lstStyle/>
                        <a:p>
                          <a:endParaRPr lang="en-US"/>
                        </a:p>
                      </a:txBody>
                      <a:tcPr marL="9525" marR="9525" marT="9525" marB="0" anchor="b">
                        <a:blipFill>
                          <a:blip r:embed="rId3"/>
                          <a:stretch>
                            <a:fillRect l="-242105" t="-16667" r="-2105" b="-361905"/>
                          </a:stretch>
                        </a:blipFill>
                      </a:tcPr>
                    </a:tc>
                    <a:extLst>
                      <a:ext uri="{0D108BD9-81ED-4DB2-BD59-A6C34878D82A}">
                        <a16:rowId xmlns:a16="http://schemas.microsoft.com/office/drawing/2014/main" val="3042800791"/>
                      </a:ext>
                    </a:extLst>
                  </a:tr>
                  <a:tr h="284895">
                    <a:tc>
                      <a:txBody>
                        <a:bodyPr/>
                        <a:lstStyle/>
                        <a:p>
                          <a:endParaRPr lang="en-US"/>
                        </a:p>
                      </a:txBody>
                      <a:tcPr marL="9525" marR="9525" marT="9525" marB="0" anchor="b">
                        <a:blipFill>
                          <a:blip r:embed="rId3"/>
                          <a:stretch>
                            <a:fillRect l="-1190" t="-104255" r="-288095" b="-223404"/>
                          </a:stretch>
                        </a:blipFill>
                      </a:tcPr>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59433256"/>
                      </a:ext>
                    </a:extLst>
                  </a:tr>
                  <a:tr h="253365">
                    <a:tc>
                      <a:txBody>
                        <a:bodyPr/>
                        <a:lstStyle/>
                        <a:p>
                          <a:endParaRPr lang="en-US"/>
                        </a:p>
                      </a:txBody>
                      <a:tcPr marL="9525" marR="9525" marT="9525" marB="0" anchor="b">
                        <a:blipFill>
                          <a:blip r:embed="rId3"/>
                          <a:stretch>
                            <a:fillRect l="-1190" t="-228571" r="-288095" b="-150000"/>
                          </a:stretch>
                        </a:blipFill>
                      </a:tcPr>
                    </a:tc>
                    <a:tc>
                      <a:txBody>
                        <a:bodyPr/>
                        <a:lstStyle/>
                        <a:p>
                          <a:pPr algn="ctr" fontAlgn="b"/>
                          <a:r>
                            <a:rPr lang="en-US" sz="1600" b="0" i="0" u="none" strike="noStrike" dirty="0">
                              <a:solidFill>
                                <a:schemeClr val="dk1"/>
                              </a:solidFill>
                              <a:effectLst/>
                              <a:latin typeface="+mn-lt"/>
                            </a:rPr>
                            <a:t>3</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05982770"/>
                      </a:ext>
                    </a:extLst>
                  </a:tr>
                  <a:tr h="253365">
                    <a:tc>
                      <a:txBody>
                        <a:bodyPr/>
                        <a:lstStyle/>
                        <a:p>
                          <a:endParaRPr lang="en-US"/>
                        </a:p>
                      </a:txBody>
                      <a:tcPr marL="9525" marR="9525" marT="9525" marB="0" anchor="b">
                        <a:blipFill>
                          <a:blip r:embed="rId3"/>
                          <a:stretch>
                            <a:fillRect l="-1190" t="-328571" r="-288095" b="-50000"/>
                          </a:stretch>
                        </a:blipFill>
                      </a:tcPr>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30496318"/>
                      </a:ext>
                    </a:extLst>
                  </a:tr>
                </a:tbl>
              </a:graphicData>
            </a:graphic>
          </p:graphicFrame>
        </mc:Fallback>
      </mc:AlternateContent>
      <mc:AlternateContent xmlns:mc="http://schemas.openxmlformats.org/markup-compatibility/2006" xmlns:a14="http://schemas.microsoft.com/office/drawing/2010/main">
        <mc:Choice Requires="a14">
          <p:sp>
            <p:nvSpPr>
              <p:cNvPr id="6" name="TextBox 5"/>
              <p:cNvSpPr txBox="1"/>
              <p:nvPr/>
            </p:nvSpPr>
            <p:spPr>
              <a:xfrm>
                <a:off x="3059498" y="4377896"/>
                <a:ext cx="2733184" cy="99988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600" i="1" smtClean="0">
                              <a:latin typeface="Cambria Math" panose="02040503050406030204" pitchFamily="18" charset="0"/>
                            </a:rPr>
                          </m:ctrlPr>
                        </m:dPr>
                        <m:e>
                          <m:eqArr>
                            <m:eqArrPr>
                              <m:ctrlPr>
                                <a:rPr lang="en-US" sz="1600" i="1" smtClean="0">
                                  <a:latin typeface="Cambria Math" panose="02040503050406030204" pitchFamily="18" charset="0"/>
                                </a:rPr>
                              </m:ctrlPr>
                            </m:eqArrPr>
                            <m:e>
                              <m:r>
                                <a:rPr lang="en-US" sz="1600" i="1">
                                  <a:solidFill>
                                    <a:srgbClr val="000000"/>
                                  </a:solidFill>
                                  <a:latin typeface="Cambria Math" panose="02040503050406030204" pitchFamily="18" charset="0"/>
                                  <a:ea typeface="Cambria Math" panose="02040503050406030204" pitchFamily="18" charset="0"/>
                                </a:rPr>
                                <m:t>𝜇</m:t>
                              </m:r>
                              <m:d>
                                <m:dPr>
                                  <m:ctrlPr>
                                    <a:rPr lang="en-US" sz="1600" i="1">
                                      <a:solidFill>
                                        <a:srgbClr val="000000"/>
                                      </a:solidFill>
                                      <a:latin typeface="Cambria Math" panose="02040503050406030204" pitchFamily="18" charset="0"/>
                                      <a:ea typeface="Cambria Math" panose="02040503050406030204" pitchFamily="18" charset="0"/>
                                    </a:rPr>
                                  </m:ctrlPr>
                                </m:dPr>
                                <m:e>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i="1">
                                          <a:solidFill>
                                            <a:srgbClr val="000000"/>
                                          </a:solidFill>
                                          <a:latin typeface="Cambria Math" panose="02040503050406030204" pitchFamily="18" charset="0"/>
                                          <a:ea typeface="Cambria Math" panose="02040503050406030204" pitchFamily="18" charset="0"/>
                                        </a:rPr>
                                        <m:t>𝑦</m:t>
                                      </m:r>
                                    </m:e>
                                    <m:sub>
                                      <m:r>
                                        <a:rPr lang="en-US" sz="1600" i="1">
                                          <a:solidFill>
                                            <a:srgbClr val="000000"/>
                                          </a:solidFill>
                                          <a:latin typeface="Cambria Math" panose="02040503050406030204" pitchFamily="18" charset="0"/>
                                          <a:ea typeface="Cambria Math" panose="02040503050406030204" pitchFamily="18" charset="0"/>
                                        </a:rPr>
                                        <m:t>1</m:t>
                                      </m:r>
                                    </m:sub>
                                  </m:sSub>
                                </m:e>
                              </m:d>
                              <m:r>
                                <a:rPr lang="en-US" sz="1600" i="1">
                                  <a:solidFill>
                                    <a:srgbClr val="000000"/>
                                  </a:solidFill>
                                  <a:latin typeface="Cambria Math" panose="02040503050406030204" pitchFamily="18" charset="0"/>
                                  <a:ea typeface="Cambria Math" panose="02040503050406030204" pitchFamily="18" charset="0"/>
                                </a:rPr>
                                <m:t>=3</m:t>
                              </m:r>
                              <m:sSub>
                                <m:sSubPr>
                                  <m:ctrlPr>
                                    <a:rPr lang="en-US" sz="1600" i="1" dirty="0">
                                      <a:solidFill>
                                        <a:srgbClr val="000000"/>
                                      </a:solidFill>
                                      <a:latin typeface="Cambria Math" panose="02040503050406030204" pitchFamily="18" charset="0"/>
                                    </a:rPr>
                                  </m:ctrlPr>
                                </m:sSubPr>
                                <m:e>
                                  <m:r>
                                    <a:rPr lang="en-US" sz="1600" i="1" dirty="0">
                                      <a:solidFill>
                                        <a:srgbClr val="000000"/>
                                      </a:solidFill>
                                      <a:latin typeface="Cambria Math" panose="02040503050406030204" pitchFamily="18" charset="0"/>
                                    </a:rPr>
                                    <m:t>𝑥</m:t>
                                  </m:r>
                                </m:e>
                                <m:sub>
                                  <m:r>
                                    <a:rPr lang="en-US" sz="1600" i="1" dirty="0">
                                      <a:solidFill>
                                        <a:srgbClr val="000000"/>
                                      </a:solidFill>
                                      <a:latin typeface="Cambria Math" panose="02040503050406030204" pitchFamily="18" charset="0"/>
                                    </a:rPr>
                                    <m:t>2</m:t>
                                  </m:r>
                                </m:sub>
                              </m:sSub>
                              <m:r>
                                <a:rPr lang="en-US" sz="1600" i="1" dirty="0">
                                  <a:solidFill>
                                    <a:srgbClr val="000000"/>
                                  </a:solidFill>
                                  <a:latin typeface="Cambria Math" panose="02040503050406030204" pitchFamily="18" charset="0"/>
                                </a:rPr>
                                <m:t>−2</m:t>
                              </m:r>
                              <m:sSub>
                                <m:sSubPr>
                                  <m:ctrlPr>
                                    <a:rPr lang="en-US" sz="1600" i="1" dirty="0">
                                      <a:solidFill>
                                        <a:srgbClr val="000000"/>
                                      </a:solidFill>
                                      <a:latin typeface="Cambria Math" panose="02040503050406030204" pitchFamily="18" charset="0"/>
                                    </a:rPr>
                                  </m:ctrlPr>
                                </m:sSubPr>
                                <m:e>
                                  <m:r>
                                    <a:rPr lang="en-US" sz="1600" i="1" dirty="0">
                                      <a:solidFill>
                                        <a:srgbClr val="000000"/>
                                      </a:solidFill>
                                      <a:latin typeface="Cambria Math" panose="02040503050406030204" pitchFamily="18" charset="0"/>
                                    </a:rPr>
                                    <m:t>𝑥</m:t>
                                  </m:r>
                                </m:e>
                                <m:sub>
                                  <m:r>
                                    <a:rPr lang="en-US" sz="1600" i="1" dirty="0">
                                      <a:solidFill>
                                        <a:srgbClr val="000000"/>
                                      </a:solidFill>
                                      <a:latin typeface="Cambria Math" panose="02040503050406030204" pitchFamily="18" charset="0"/>
                                    </a:rPr>
                                    <m:t>3</m:t>
                                  </m:r>
                                </m:sub>
                              </m:sSub>
                              <m:r>
                                <a:rPr lang="en-US" sz="1600" i="1">
                                  <a:solidFill>
                                    <a:srgbClr val="000000"/>
                                  </a:solidFill>
                                  <a:latin typeface="Cambria Math" panose="02040503050406030204" pitchFamily="18" charset="0"/>
                                  <a:ea typeface="Cambria Math" panose="02040503050406030204" pitchFamily="18" charset="0"/>
                                </a:rPr>
                                <m:t>=</m:t>
                              </m:r>
                              <m:r>
                                <a:rPr lang="en-US" sz="1600" i="1">
                                  <a:solidFill>
                                    <a:srgbClr val="000000"/>
                                  </a:solidFill>
                                  <a:latin typeface="Cambria Math" panose="02040503050406030204" pitchFamily="18" charset="0"/>
                                  <a:ea typeface="Cambria Math" panose="02040503050406030204" pitchFamily="18" charset="0"/>
                                </a:rPr>
                                <m:t>𝑣</m:t>
                              </m:r>
                              <m:r>
                                <m:rPr>
                                  <m:nor/>
                                </m:rPr>
                                <a:rPr lang="en-US" sz="1600" dirty="0">
                                  <a:solidFill>
                                    <a:srgbClr val="000000"/>
                                  </a:solidFill>
                                  <a:latin typeface="Calibri" panose="020F0502020204030204" pitchFamily="34" charset="0"/>
                                </a:rPr>
                                <m:t> </m:t>
                              </m:r>
                            </m:e>
                            <m:e>
                              <m:r>
                                <a:rPr lang="en-US" sz="1600" i="1">
                                  <a:solidFill>
                                    <a:srgbClr val="000000"/>
                                  </a:solidFill>
                                  <a:latin typeface="Cambria Math" panose="02040503050406030204" pitchFamily="18" charset="0"/>
                                  <a:ea typeface="Cambria Math" panose="02040503050406030204" pitchFamily="18" charset="0"/>
                                </a:rPr>
                                <m:t>𝜇</m:t>
                              </m:r>
                              <m:d>
                                <m:dPr>
                                  <m:ctrlPr>
                                    <a:rPr lang="en-US" sz="1600" i="1">
                                      <a:solidFill>
                                        <a:srgbClr val="000000"/>
                                      </a:solidFill>
                                      <a:latin typeface="Cambria Math" panose="02040503050406030204" pitchFamily="18" charset="0"/>
                                      <a:ea typeface="Cambria Math" panose="02040503050406030204" pitchFamily="18" charset="0"/>
                                    </a:rPr>
                                  </m:ctrlPr>
                                </m:dPr>
                                <m:e>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i="1">
                                          <a:solidFill>
                                            <a:srgbClr val="000000"/>
                                          </a:solidFill>
                                          <a:latin typeface="Cambria Math" panose="02040503050406030204" pitchFamily="18" charset="0"/>
                                          <a:ea typeface="Cambria Math" panose="02040503050406030204" pitchFamily="18" charset="0"/>
                                        </a:rPr>
                                        <m:t>𝑦</m:t>
                                      </m:r>
                                    </m:e>
                                    <m:sub>
                                      <m:r>
                                        <a:rPr lang="en-US" sz="1600" i="1">
                                          <a:solidFill>
                                            <a:srgbClr val="000000"/>
                                          </a:solidFill>
                                          <a:latin typeface="Cambria Math" panose="02040503050406030204" pitchFamily="18" charset="0"/>
                                          <a:ea typeface="Cambria Math" panose="02040503050406030204" pitchFamily="18" charset="0"/>
                                        </a:rPr>
                                        <m:t>2</m:t>
                                      </m:r>
                                    </m:sub>
                                  </m:sSub>
                                </m:e>
                              </m:d>
                              <m:r>
                                <a:rPr lang="en-US" sz="1600" i="1">
                                  <a:solidFill>
                                    <a:srgbClr val="000000"/>
                                  </a:solidFill>
                                  <a:latin typeface="Cambria Math" panose="02040503050406030204" pitchFamily="18" charset="0"/>
                                  <a:ea typeface="Cambria Math" panose="02040503050406030204" pitchFamily="18" charset="0"/>
                                </a:rPr>
                                <m:t>=−</m:t>
                              </m:r>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i="1">
                                      <a:solidFill>
                                        <a:srgbClr val="000000"/>
                                      </a:solidFill>
                                      <a:latin typeface="Cambria Math" panose="02040503050406030204" pitchFamily="18" charset="0"/>
                                      <a:ea typeface="Cambria Math" panose="02040503050406030204" pitchFamily="18" charset="0"/>
                                    </a:rPr>
                                    <m:t>𝑥</m:t>
                                  </m:r>
                                </m:e>
                                <m:sub>
                                  <m:r>
                                    <a:rPr lang="en-US" sz="1600" i="1">
                                      <a:solidFill>
                                        <a:srgbClr val="000000"/>
                                      </a:solidFill>
                                      <a:latin typeface="Cambria Math" panose="02040503050406030204" pitchFamily="18" charset="0"/>
                                      <a:ea typeface="Cambria Math" panose="02040503050406030204" pitchFamily="18" charset="0"/>
                                    </a:rPr>
                                    <m:t>1</m:t>
                                  </m:r>
                                </m:sub>
                              </m:sSub>
                              <m:r>
                                <a:rPr lang="en-US" sz="1600" i="1">
                                  <a:solidFill>
                                    <a:srgbClr val="000000"/>
                                  </a:solidFill>
                                  <a:latin typeface="Cambria Math" panose="02040503050406030204" pitchFamily="18" charset="0"/>
                                  <a:ea typeface="Cambria Math" panose="02040503050406030204" pitchFamily="18" charset="0"/>
                                </a:rPr>
                                <m:t>+</m:t>
                              </m:r>
                              <m:sSub>
                                <m:sSubPr>
                                  <m:ctrlPr>
                                    <a:rPr lang="en-US" sz="1600" i="1" dirty="0">
                                      <a:solidFill>
                                        <a:srgbClr val="000000"/>
                                      </a:solidFill>
                                      <a:latin typeface="Cambria Math" panose="02040503050406030204" pitchFamily="18" charset="0"/>
                                    </a:rPr>
                                  </m:ctrlPr>
                                </m:sSubPr>
                                <m:e>
                                  <m:r>
                                    <a:rPr lang="en-US" sz="1600" i="1" dirty="0">
                                      <a:solidFill>
                                        <a:srgbClr val="000000"/>
                                      </a:solidFill>
                                      <a:latin typeface="Cambria Math" panose="02040503050406030204" pitchFamily="18" charset="0"/>
                                    </a:rPr>
                                    <m:t>𝑥</m:t>
                                  </m:r>
                                </m:e>
                                <m:sub>
                                  <m:r>
                                    <a:rPr lang="en-US" sz="1600" i="1" dirty="0">
                                      <a:solidFill>
                                        <a:srgbClr val="000000"/>
                                      </a:solidFill>
                                      <a:latin typeface="Cambria Math" panose="02040503050406030204" pitchFamily="18" charset="0"/>
                                    </a:rPr>
                                    <m:t>2</m:t>
                                  </m:r>
                                </m:sub>
                              </m:sSub>
                              <m:r>
                                <a:rPr lang="en-US" sz="1600" i="1" dirty="0">
                                  <a:solidFill>
                                    <a:srgbClr val="000000"/>
                                  </a:solidFill>
                                  <a:latin typeface="Cambria Math" panose="02040503050406030204" pitchFamily="18" charset="0"/>
                                </a:rPr>
                                <m:t>+2</m:t>
                              </m:r>
                              <m:sSub>
                                <m:sSubPr>
                                  <m:ctrlPr>
                                    <a:rPr lang="en-US" sz="1600" i="1" dirty="0">
                                      <a:solidFill>
                                        <a:srgbClr val="000000"/>
                                      </a:solidFill>
                                      <a:latin typeface="Cambria Math" panose="02040503050406030204" pitchFamily="18" charset="0"/>
                                    </a:rPr>
                                  </m:ctrlPr>
                                </m:sSubPr>
                                <m:e>
                                  <m:r>
                                    <a:rPr lang="en-US" sz="1600" i="1" dirty="0">
                                      <a:solidFill>
                                        <a:srgbClr val="000000"/>
                                      </a:solidFill>
                                      <a:latin typeface="Cambria Math" panose="02040503050406030204" pitchFamily="18" charset="0"/>
                                    </a:rPr>
                                    <m:t>𝑥</m:t>
                                  </m:r>
                                </m:e>
                                <m:sub>
                                  <m:r>
                                    <a:rPr lang="en-US" sz="1600" i="1" dirty="0">
                                      <a:solidFill>
                                        <a:srgbClr val="000000"/>
                                      </a:solidFill>
                                      <a:latin typeface="Cambria Math" panose="02040503050406030204" pitchFamily="18" charset="0"/>
                                    </a:rPr>
                                    <m:t>3</m:t>
                                  </m:r>
                                </m:sub>
                              </m:sSub>
                              <m:r>
                                <a:rPr lang="en-US" sz="1600" i="1">
                                  <a:solidFill>
                                    <a:srgbClr val="000000"/>
                                  </a:solidFill>
                                  <a:latin typeface="Cambria Math" panose="02040503050406030204" pitchFamily="18" charset="0"/>
                                  <a:ea typeface="Cambria Math" panose="02040503050406030204" pitchFamily="18" charset="0"/>
                                </a:rPr>
                                <m:t>=</m:t>
                              </m:r>
                              <m:r>
                                <a:rPr lang="en-US" sz="1600" i="1">
                                  <a:solidFill>
                                    <a:srgbClr val="000000"/>
                                  </a:solidFill>
                                  <a:latin typeface="Cambria Math" panose="02040503050406030204" pitchFamily="18" charset="0"/>
                                  <a:ea typeface="Cambria Math" panose="02040503050406030204" pitchFamily="18" charset="0"/>
                                </a:rPr>
                                <m:t>𝑣</m:t>
                              </m:r>
                              <m:r>
                                <m:rPr>
                                  <m:nor/>
                                </m:rPr>
                                <a:rPr lang="en-US" sz="1600" dirty="0">
                                  <a:solidFill>
                                    <a:srgbClr val="000000"/>
                                  </a:solidFill>
                                  <a:latin typeface="Calibri" panose="020F0502020204030204" pitchFamily="34" charset="0"/>
                                </a:rPr>
                                <m:t> </m:t>
                              </m:r>
                            </m:e>
                            <m:e>
                              <m:r>
                                <a:rPr lang="en-US" sz="1600" i="1">
                                  <a:solidFill>
                                    <a:srgbClr val="000000"/>
                                  </a:solidFill>
                                  <a:latin typeface="Cambria Math" panose="02040503050406030204" pitchFamily="18" charset="0"/>
                                  <a:ea typeface="Cambria Math" panose="02040503050406030204" pitchFamily="18" charset="0"/>
                                </a:rPr>
                                <m:t>𝜇</m:t>
                              </m:r>
                              <m:d>
                                <m:dPr>
                                  <m:ctrlPr>
                                    <a:rPr lang="en-US" sz="1600" i="1">
                                      <a:solidFill>
                                        <a:srgbClr val="000000"/>
                                      </a:solidFill>
                                      <a:latin typeface="Cambria Math" panose="02040503050406030204" pitchFamily="18" charset="0"/>
                                      <a:ea typeface="Cambria Math" panose="02040503050406030204" pitchFamily="18" charset="0"/>
                                    </a:rPr>
                                  </m:ctrlPr>
                                </m:dPr>
                                <m:e>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i="1">
                                          <a:solidFill>
                                            <a:srgbClr val="000000"/>
                                          </a:solidFill>
                                          <a:latin typeface="Cambria Math" panose="02040503050406030204" pitchFamily="18" charset="0"/>
                                          <a:ea typeface="Cambria Math" panose="02040503050406030204" pitchFamily="18" charset="0"/>
                                        </a:rPr>
                                        <m:t>𝑦</m:t>
                                      </m:r>
                                    </m:e>
                                    <m:sub>
                                      <m:r>
                                        <a:rPr lang="en-US" sz="1600" i="1">
                                          <a:solidFill>
                                            <a:srgbClr val="000000"/>
                                          </a:solidFill>
                                          <a:latin typeface="Cambria Math" panose="02040503050406030204" pitchFamily="18" charset="0"/>
                                          <a:ea typeface="Cambria Math" panose="02040503050406030204" pitchFamily="18" charset="0"/>
                                        </a:rPr>
                                        <m:t>3</m:t>
                                      </m:r>
                                    </m:sub>
                                  </m:sSub>
                                </m:e>
                              </m:d>
                              <m:r>
                                <a:rPr lang="en-US" sz="1600" i="1">
                                  <a:solidFill>
                                    <a:srgbClr val="000000"/>
                                  </a:solidFill>
                                  <a:latin typeface="Cambria Math" panose="02040503050406030204" pitchFamily="18" charset="0"/>
                                  <a:ea typeface="Cambria Math" panose="02040503050406030204" pitchFamily="18" charset="0"/>
                                </a:rPr>
                                <m:t>=2</m:t>
                              </m:r>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i="1">
                                      <a:solidFill>
                                        <a:srgbClr val="000000"/>
                                      </a:solidFill>
                                      <a:latin typeface="Cambria Math" panose="02040503050406030204" pitchFamily="18" charset="0"/>
                                      <a:ea typeface="Cambria Math" panose="02040503050406030204" pitchFamily="18" charset="0"/>
                                    </a:rPr>
                                    <m:t>𝑥</m:t>
                                  </m:r>
                                </m:e>
                                <m:sub>
                                  <m:r>
                                    <a:rPr lang="en-US" sz="1600" i="1">
                                      <a:solidFill>
                                        <a:srgbClr val="000000"/>
                                      </a:solidFill>
                                      <a:latin typeface="Cambria Math" panose="02040503050406030204" pitchFamily="18" charset="0"/>
                                      <a:ea typeface="Cambria Math" panose="02040503050406030204" pitchFamily="18" charset="0"/>
                                    </a:rPr>
                                    <m:t>1</m:t>
                                  </m:r>
                                </m:sub>
                              </m:sSub>
                              <m:r>
                                <a:rPr lang="en-US" sz="1600" i="1">
                                  <a:solidFill>
                                    <a:srgbClr val="000000"/>
                                  </a:solidFill>
                                  <a:latin typeface="Cambria Math" panose="02040503050406030204" pitchFamily="18" charset="0"/>
                                  <a:ea typeface="Cambria Math" panose="02040503050406030204" pitchFamily="18" charset="0"/>
                                </a:rPr>
                                <m:t>+</m:t>
                              </m:r>
                              <m:sSub>
                                <m:sSubPr>
                                  <m:ctrlPr>
                                    <a:rPr lang="en-US" sz="1600" i="1" dirty="0">
                                      <a:solidFill>
                                        <a:srgbClr val="000000"/>
                                      </a:solidFill>
                                      <a:latin typeface="Cambria Math" panose="02040503050406030204" pitchFamily="18" charset="0"/>
                                    </a:rPr>
                                  </m:ctrlPr>
                                </m:sSubPr>
                                <m:e>
                                  <m:r>
                                    <a:rPr lang="en-US" sz="1600" i="1" dirty="0">
                                      <a:solidFill>
                                        <a:srgbClr val="000000"/>
                                      </a:solidFill>
                                      <a:latin typeface="Cambria Math" panose="02040503050406030204" pitchFamily="18" charset="0"/>
                                    </a:rPr>
                                    <m:t>𝑥</m:t>
                                  </m:r>
                                </m:e>
                                <m:sub>
                                  <m:r>
                                    <a:rPr lang="en-US" sz="1600" i="1" dirty="0">
                                      <a:solidFill>
                                        <a:srgbClr val="000000"/>
                                      </a:solidFill>
                                      <a:latin typeface="Cambria Math" panose="02040503050406030204" pitchFamily="18" charset="0"/>
                                    </a:rPr>
                                    <m:t>3</m:t>
                                  </m:r>
                                </m:sub>
                              </m:sSub>
                              <m:r>
                                <a:rPr lang="en-US" sz="1600" i="1">
                                  <a:solidFill>
                                    <a:srgbClr val="000000"/>
                                  </a:solidFill>
                                  <a:latin typeface="Cambria Math" panose="02040503050406030204" pitchFamily="18" charset="0"/>
                                  <a:ea typeface="Cambria Math" panose="02040503050406030204" pitchFamily="18" charset="0"/>
                                </a:rPr>
                                <m:t>=</m:t>
                              </m:r>
                              <m:r>
                                <a:rPr lang="en-US" sz="1600" i="1">
                                  <a:solidFill>
                                    <a:srgbClr val="000000"/>
                                  </a:solidFill>
                                  <a:latin typeface="Cambria Math" panose="02040503050406030204" pitchFamily="18" charset="0"/>
                                  <a:ea typeface="Cambria Math" panose="02040503050406030204" pitchFamily="18" charset="0"/>
                                </a:rPr>
                                <m:t>𝑣</m:t>
                              </m:r>
                              <m:r>
                                <m:rPr>
                                  <m:nor/>
                                </m:rPr>
                                <a:rPr lang="en-US" sz="1600" dirty="0">
                                  <a:solidFill>
                                    <a:srgbClr val="000000"/>
                                  </a:solidFill>
                                  <a:latin typeface="Calibri" panose="020F0502020204030204" pitchFamily="34" charset="0"/>
                                </a:rPr>
                                <m:t> </m:t>
                              </m:r>
                            </m:e>
                            <m:e>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i="1">
                                      <a:solidFill>
                                        <a:srgbClr val="000000"/>
                                      </a:solidFill>
                                      <a:latin typeface="Cambria Math" panose="02040503050406030204" pitchFamily="18" charset="0"/>
                                      <a:ea typeface="Cambria Math" panose="02040503050406030204" pitchFamily="18" charset="0"/>
                                    </a:rPr>
                                    <m:t>𝑥</m:t>
                                  </m:r>
                                </m:e>
                                <m:sub>
                                  <m:r>
                                    <a:rPr lang="en-US" sz="1600" i="1">
                                      <a:solidFill>
                                        <a:srgbClr val="000000"/>
                                      </a:solidFill>
                                      <a:latin typeface="Cambria Math" panose="02040503050406030204" pitchFamily="18" charset="0"/>
                                      <a:ea typeface="Cambria Math" panose="02040503050406030204" pitchFamily="18" charset="0"/>
                                    </a:rPr>
                                    <m:t>1</m:t>
                                  </m:r>
                                </m:sub>
                              </m:sSub>
                              <m:r>
                                <a:rPr lang="en-US" sz="1600" i="1">
                                  <a:solidFill>
                                    <a:srgbClr val="000000"/>
                                  </a:solidFill>
                                  <a:latin typeface="Cambria Math" panose="02040503050406030204" pitchFamily="18" charset="0"/>
                                  <a:ea typeface="Cambria Math" panose="02040503050406030204" pitchFamily="18" charset="0"/>
                                </a:rPr>
                                <m:t>+</m:t>
                              </m:r>
                              <m:sSub>
                                <m:sSubPr>
                                  <m:ctrlPr>
                                    <a:rPr lang="en-US" sz="1600" i="1" dirty="0">
                                      <a:solidFill>
                                        <a:srgbClr val="000000"/>
                                      </a:solidFill>
                                      <a:latin typeface="Cambria Math" panose="02040503050406030204" pitchFamily="18" charset="0"/>
                                    </a:rPr>
                                  </m:ctrlPr>
                                </m:sSubPr>
                                <m:e>
                                  <m:r>
                                    <a:rPr lang="en-US" sz="1600" i="1" dirty="0">
                                      <a:solidFill>
                                        <a:srgbClr val="000000"/>
                                      </a:solidFill>
                                      <a:latin typeface="Cambria Math" panose="02040503050406030204" pitchFamily="18" charset="0"/>
                                    </a:rPr>
                                    <m:t>𝑥</m:t>
                                  </m:r>
                                </m:e>
                                <m:sub>
                                  <m:r>
                                    <a:rPr lang="en-US" sz="1600" i="1" dirty="0">
                                      <a:solidFill>
                                        <a:srgbClr val="000000"/>
                                      </a:solidFill>
                                      <a:latin typeface="Cambria Math" panose="02040503050406030204" pitchFamily="18" charset="0"/>
                                    </a:rPr>
                                    <m:t>2</m:t>
                                  </m:r>
                                </m:sub>
                              </m:sSub>
                              <m:r>
                                <a:rPr lang="en-US" sz="1600" i="1" dirty="0">
                                  <a:solidFill>
                                    <a:srgbClr val="000000"/>
                                  </a:solidFill>
                                  <a:latin typeface="Cambria Math" panose="02040503050406030204" pitchFamily="18" charset="0"/>
                                </a:rPr>
                                <m:t>+</m:t>
                              </m:r>
                              <m:sSub>
                                <m:sSubPr>
                                  <m:ctrlPr>
                                    <a:rPr lang="en-US" sz="1600" i="1" dirty="0">
                                      <a:solidFill>
                                        <a:srgbClr val="000000"/>
                                      </a:solidFill>
                                      <a:latin typeface="Cambria Math" panose="02040503050406030204" pitchFamily="18" charset="0"/>
                                    </a:rPr>
                                  </m:ctrlPr>
                                </m:sSubPr>
                                <m:e>
                                  <m:r>
                                    <a:rPr lang="en-US" sz="1600" i="1" dirty="0">
                                      <a:solidFill>
                                        <a:srgbClr val="000000"/>
                                      </a:solidFill>
                                      <a:latin typeface="Cambria Math" panose="02040503050406030204" pitchFamily="18" charset="0"/>
                                    </a:rPr>
                                    <m:t>𝑥</m:t>
                                  </m:r>
                                </m:e>
                                <m:sub>
                                  <m:r>
                                    <a:rPr lang="en-US" sz="1600" i="1" dirty="0">
                                      <a:solidFill>
                                        <a:srgbClr val="000000"/>
                                      </a:solidFill>
                                      <a:latin typeface="Cambria Math" panose="02040503050406030204" pitchFamily="18" charset="0"/>
                                    </a:rPr>
                                    <m:t>3</m:t>
                                  </m:r>
                                </m:sub>
                              </m:sSub>
                              <m:r>
                                <a:rPr lang="en-US" sz="1600" i="1">
                                  <a:solidFill>
                                    <a:srgbClr val="000000"/>
                                  </a:solidFill>
                                  <a:latin typeface="Cambria Math" panose="02040503050406030204" pitchFamily="18" charset="0"/>
                                  <a:ea typeface="Cambria Math" panose="02040503050406030204" pitchFamily="18" charset="0"/>
                                </a:rPr>
                                <m:t>=1</m:t>
                              </m:r>
                            </m:e>
                          </m:eqArr>
                        </m:e>
                      </m:d>
                    </m:oMath>
                  </m:oMathPara>
                </a14:m>
                <a:endParaRPr lang="en-US" sz="1600" dirty="0"/>
              </a:p>
            </p:txBody>
          </p:sp>
        </mc:Choice>
        <mc:Fallback xmlns="">
          <p:sp>
            <p:nvSpPr>
              <p:cNvPr id="6" name="TextBox 5"/>
              <p:cNvSpPr txBox="1">
                <a:spLocks noRot="1" noChangeAspect="1" noMove="1" noResize="1" noEditPoints="1" noAdjustHandles="1" noChangeArrowheads="1" noChangeShapeType="1" noTextEdit="1"/>
              </p:cNvSpPr>
              <p:nvPr/>
            </p:nvSpPr>
            <p:spPr>
              <a:xfrm>
                <a:off x="3059498" y="4377896"/>
                <a:ext cx="2733184" cy="99988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727375" y="5606529"/>
                <a:ext cx="3585533" cy="484043"/>
              </a:xfrm>
              <a:prstGeom prst="rect">
                <a:avLst/>
              </a:prstGeom>
            </p:spPr>
            <p:txBody>
              <a:bodyPr wrap="none">
                <a:spAutoFit/>
              </a:bodyPr>
              <a:lstStyle/>
              <a:p>
                <a14:m>
                  <m:oMath xmlns:m="http://schemas.openxmlformats.org/officeDocument/2006/math">
                    <m:r>
                      <a:rPr lang="en-US"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6</m:t>
                        </m:r>
                      </m:num>
                      <m:den>
                        <m:r>
                          <a:rPr lang="en-US" i="1">
                            <a:latin typeface="Cambria Math" panose="02040503050406030204" pitchFamily="18" charset="0"/>
                            <a:ea typeface="Cambria Math" panose="02040503050406030204" pitchFamily="18" charset="0"/>
                          </a:rPr>
                          <m:t>24</m:t>
                        </m:r>
                      </m:den>
                    </m:f>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11</m:t>
                        </m:r>
                      </m:num>
                      <m:den>
                        <m:r>
                          <a:rPr lang="en-US" i="1">
                            <a:latin typeface="Cambria Math" panose="02040503050406030204" pitchFamily="18" charset="0"/>
                            <a:ea typeface="Cambria Math" panose="02040503050406030204" pitchFamily="18" charset="0"/>
                          </a:rPr>
                          <m:t>24</m:t>
                        </m:r>
                      </m:den>
                    </m:f>
                    <m:r>
                      <a:rPr lang="en-US" i="1">
                        <a:latin typeface="Cambria Math" panose="02040503050406030204" pitchFamily="18" charset="0"/>
                        <a:ea typeface="Cambria Math" panose="02040503050406030204" pitchFamily="18" charset="0"/>
                      </a:rPr>
                      <m:t>,</m:t>
                    </m:r>
                  </m:oMath>
                </a14:m>
                <a:r>
                  <a:rPr lang="en-US" dirty="0">
                    <a:ea typeface="Cambria Math" panose="02040503050406030204" pitchFamily="18" charset="0"/>
                  </a:rPr>
                  <a: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3</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7</m:t>
                        </m:r>
                      </m:num>
                      <m:den>
                        <m:r>
                          <a:rPr lang="en-US" i="1">
                            <a:latin typeface="Cambria Math" panose="02040503050406030204" pitchFamily="18" charset="0"/>
                            <a:ea typeface="Cambria Math" panose="02040503050406030204" pitchFamily="18" charset="0"/>
                          </a:rPr>
                          <m:t>24</m:t>
                        </m:r>
                      </m:den>
                    </m:f>
                    <m:r>
                      <a:rPr lang="en-US" i="1">
                        <a:latin typeface="Cambria Math" panose="02040503050406030204" pitchFamily="18" charset="0"/>
                        <a:ea typeface="Cambria Math" panose="02040503050406030204" pitchFamily="18" charset="0"/>
                      </a:rPr>
                      <m:t>,</m:t>
                    </m:r>
                  </m:oMath>
                </a14:m>
                <a:r>
                  <a:rPr lang="en-US" dirty="0">
                    <a:ea typeface="Cambria Math" panose="02040503050406030204" pitchFamily="18" charset="0"/>
                  </a:rPr>
                  <a:t> </a:t>
                </a:r>
                <a14:m>
                  <m:oMath xmlns:m="http://schemas.openxmlformats.org/officeDocument/2006/math">
                    <m:r>
                      <a:rPr lang="en-US" i="1" smtClean="0">
                        <a:latin typeface="Cambria Math" panose="02040503050406030204" pitchFamily="18" charset="0"/>
                        <a:ea typeface="Cambria Math" panose="02040503050406030204" pitchFamily="18" charset="0"/>
                      </a:rPr>
                      <m:t>𝑣</m:t>
                    </m:r>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19</m:t>
                        </m:r>
                      </m:num>
                      <m:den>
                        <m:r>
                          <a:rPr lang="en-US" i="1">
                            <a:latin typeface="Cambria Math" panose="02040503050406030204" pitchFamily="18" charset="0"/>
                            <a:ea typeface="Cambria Math" panose="02040503050406030204" pitchFamily="18" charset="0"/>
                          </a:rPr>
                          <m:t>24</m:t>
                        </m:r>
                      </m:den>
                    </m:f>
                  </m:oMath>
                </a14:m>
                <a:endParaRPr lang="en-US" dirty="0"/>
              </a:p>
            </p:txBody>
          </p:sp>
        </mc:Choice>
        <mc:Fallback xmlns="">
          <p:sp>
            <p:nvSpPr>
              <p:cNvPr id="7" name="Rectangle 6"/>
              <p:cNvSpPr>
                <a:spLocks noRot="1" noChangeAspect="1" noMove="1" noResize="1" noEditPoints="1" noAdjustHandles="1" noChangeArrowheads="1" noChangeShapeType="1" noTextEdit="1"/>
              </p:cNvSpPr>
              <p:nvPr/>
            </p:nvSpPr>
            <p:spPr>
              <a:xfrm>
                <a:off x="727375" y="5606529"/>
                <a:ext cx="3585533" cy="484043"/>
              </a:xfrm>
              <a:prstGeom prst="rect">
                <a:avLst/>
              </a:prstGeom>
              <a:blipFill>
                <a:blip r:embed="rId5"/>
                <a:stretch>
                  <a:fillRect b="-25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5049074" y="5603766"/>
                <a:ext cx="3585533" cy="484043"/>
              </a:xfrm>
              <a:prstGeom prst="rect">
                <a:avLst/>
              </a:prstGeom>
            </p:spPr>
            <p:txBody>
              <a:bodyPr wrap="none">
                <a:spAutoFit/>
              </a:bodyPr>
              <a:lstStyle/>
              <a:p>
                <a14:m>
                  <m:oMath xmlns:m="http://schemas.openxmlformats.org/officeDocument/2006/math">
                    <m:r>
                      <a:rPr lang="en-US"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𝑦</m:t>
                        </m:r>
                      </m:e>
                      <m:sub>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4</m:t>
                        </m:r>
                      </m:num>
                      <m:den>
                        <m:r>
                          <a:rPr lang="en-US" i="1">
                            <a:latin typeface="Cambria Math" panose="02040503050406030204" pitchFamily="18" charset="0"/>
                            <a:ea typeface="Cambria Math" panose="02040503050406030204" pitchFamily="18" charset="0"/>
                          </a:rPr>
                          <m:t>24</m:t>
                        </m:r>
                      </m:den>
                    </m:f>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𝑦</m:t>
                        </m:r>
                      </m:e>
                      <m:sub>
                        <m:r>
                          <a:rPr lang="en-US" b="0" i="1" smtClean="0">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7</m:t>
                        </m:r>
                      </m:num>
                      <m:den>
                        <m:r>
                          <a:rPr lang="en-US" i="1">
                            <a:latin typeface="Cambria Math" panose="02040503050406030204" pitchFamily="18" charset="0"/>
                            <a:ea typeface="Cambria Math" panose="02040503050406030204" pitchFamily="18" charset="0"/>
                          </a:rPr>
                          <m:t>24</m:t>
                        </m:r>
                      </m:den>
                    </m:f>
                    <m:r>
                      <a:rPr lang="en-US" i="1">
                        <a:latin typeface="Cambria Math" panose="02040503050406030204" pitchFamily="18" charset="0"/>
                        <a:ea typeface="Cambria Math" panose="02040503050406030204" pitchFamily="18" charset="0"/>
                      </a:rPr>
                      <m:t>,</m:t>
                    </m:r>
                  </m:oMath>
                </a14:m>
                <a:r>
                  <a:rPr lang="en-US" dirty="0">
                    <a:ea typeface="Cambria Math" panose="02040503050406030204" pitchFamily="18" charset="0"/>
                  </a:rPr>
                  <a: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𝑦</m:t>
                        </m:r>
                      </m:e>
                      <m:sub>
                        <m:r>
                          <a:rPr lang="en-US" b="0" i="1" smtClean="0">
                            <a:latin typeface="Cambria Math" panose="02040503050406030204" pitchFamily="18" charset="0"/>
                            <a:ea typeface="Cambria Math" panose="02040503050406030204" pitchFamily="18" charset="0"/>
                          </a:rPr>
                          <m:t>3</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13</m:t>
                        </m:r>
                      </m:num>
                      <m:den>
                        <m:r>
                          <a:rPr lang="en-US" i="1">
                            <a:latin typeface="Cambria Math" panose="02040503050406030204" pitchFamily="18" charset="0"/>
                            <a:ea typeface="Cambria Math" panose="02040503050406030204" pitchFamily="18" charset="0"/>
                          </a:rPr>
                          <m:t>24</m:t>
                        </m:r>
                      </m:den>
                    </m:f>
                    <m:r>
                      <a:rPr lang="en-US" i="1">
                        <a:latin typeface="Cambria Math" panose="02040503050406030204" pitchFamily="18" charset="0"/>
                        <a:ea typeface="Cambria Math" panose="02040503050406030204" pitchFamily="18" charset="0"/>
                      </a:rPr>
                      <m:t>,</m:t>
                    </m:r>
                  </m:oMath>
                </a14:m>
                <a:r>
                  <a:rPr lang="en-US" dirty="0">
                    <a:ea typeface="Cambria Math" panose="02040503050406030204" pitchFamily="18" charset="0"/>
                  </a:rPr>
                  <a:t> </a:t>
                </a:r>
                <a14:m>
                  <m:oMath xmlns:m="http://schemas.openxmlformats.org/officeDocument/2006/math">
                    <m:r>
                      <a:rPr lang="en-US" i="1" smtClean="0">
                        <a:latin typeface="Cambria Math" panose="02040503050406030204" pitchFamily="18" charset="0"/>
                        <a:ea typeface="Cambria Math" panose="02040503050406030204" pitchFamily="18" charset="0"/>
                      </a:rPr>
                      <m:t>𝑣</m:t>
                    </m:r>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19</m:t>
                        </m:r>
                      </m:num>
                      <m:den>
                        <m:r>
                          <a:rPr lang="en-US" i="1">
                            <a:latin typeface="Cambria Math" panose="02040503050406030204" pitchFamily="18" charset="0"/>
                            <a:ea typeface="Cambria Math" panose="02040503050406030204" pitchFamily="18" charset="0"/>
                          </a:rPr>
                          <m:t>24</m:t>
                        </m:r>
                      </m:den>
                    </m:f>
                  </m:oMath>
                </a14:m>
                <a:endParaRPr lang="en-US" dirty="0"/>
              </a:p>
            </p:txBody>
          </p:sp>
        </mc:Choice>
        <mc:Fallback xmlns="">
          <p:sp>
            <p:nvSpPr>
              <p:cNvPr id="8" name="Rectangle 7"/>
              <p:cNvSpPr>
                <a:spLocks noRot="1" noChangeAspect="1" noMove="1" noResize="1" noEditPoints="1" noAdjustHandles="1" noChangeArrowheads="1" noChangeShapeType="1" noTextEdit="1"/>
              </p:cNvSpPr>
              <p:nvPr/>
            </p:nvSpPr>
            <p:spPr>
              <a:xfrm>
                <a:off x="5049074" y="5603766"/>
                <a:ext cx="3585533" cy="484043"/>
              </a:xfrm>
              <a:prstGeom prst="rect">
                <a:avLst/>
              </a:prstGeom>
              <a:blipFill>
                <a:blip r:embed="rId6"/>
                <a:stretch>
                  <a:fillRect b="-12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6122553" y="3893641"/>
                <a:ext cx="2496389" cy="369332"/>
              </a:xfrm>
              <a:prstGeom prst="rect">
                <a:avLst/>
              </a:prstGeom>
              <a:noFill/>
            </p:spPr>
            <p:txBody>
              <a:bodyPr wrap="none" rtlCol="0">
                <a:spAutoFit/>
              </a:bodyPr>
              <a:lstStyle/>
              <a:p>
                <a:r>
                  <a:rPr lang="en-US" dirty="0"/>
                  <a:t>It is also apply to </a:t>
                </a:r>
                <a14:m>
                  <m:oMath xmlns:m="http://schemas.openxmlformats.org/officeDocument/2006/math">
                    <m:r>
                      <a:rPr lang="en-US" b="0" i="1" dirty="0" smtClean="0">
                        <a:latin typeface="Cambria Math" panose="02040503050406030204" pitchFamily="18" charset="0"/>
                      </a:rPr>
                      <m:t>𝑦</m:t>
                    </m:r>
                  </m:oMath>
                </a14:m>
                <a:r>
                  <a:rPr lang="en-US" dirty="0"/>
                  <a:t> then </a:t>
                </a:r>
              </a:p>
            </p:txBody>
          </p:sp>
        </mc:Choice>
        <mc:Fallback xmlns="">
          <p:sp>
            <p:nvSpPr>
              <p:cNvPr id="9" name="TextBox 8"/>
              <p:cNvSpPr txBox="1">
                <a:spLocks noRot="1" noChangeAspect="1" noMove="1" noResize="1" noEditPoints="1" noAdjustHandles="1" noChangeArrowheads="1" noChangeShapeType="1" noTextEdit="1"/>
              </p:cNvSpPr>
              <p:nvPr/>
            </p:nvSpPr>
            <p:spPr>
              <a:xfrm>
                <a:off x="6122553" y="3893641"/>
                <a:ext cx="2496389" cy="369332"/>
              </a:xfrm>
              <a:prstGeom prst="rect">
                <a:avLst/>
              </a:prstGeom>
              <a:blipFill>
                <a:blip r:embed="rId7"/>
                <a:stretch>
                  <a:fillRect l="-1951" t="-10000" r="-732"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757191" y="563827"/>
                <a:ext cx="7856031" cy="923330"/>
              </a:xfrm>
              <a:prstGeom prst="rect">
                <a:avLst/>
              </a:prstGeom>
              <a:solidFill>
                <a:schemeClr val="accent6">
                  <a:lumMod val="20000"/>
                  <a:lumOff val="80000"/>
                </a:schemeClr>
              </a:solidFill>
            </p:spPr>
            <p:txBody>
              <a:bodyPr wrap="square">
                <a:spAutoFit/>
              </a:bodyPr>
              <a:lstStyle/>
              <a:p>
                <a:r>
                  <a:rPr lang="en-US" dirty="0"/>
                  <a:t>For any </a:t>
                </a:r>
                <a14:m>
                  <m:oMath xmlns:m="http://schemas.openxmlformats.org/officeDocument/2006/math">
                    <m:r>
                      <a:rPr lang="en-US" i="1" dirty="0" smtClean="0">
                        <a:latin typeface="Cambria Math" panose="02040503050406030204" pitchFamily="18" charset="0"/>
                      </a:rPr>
                      <m:t>𝑥</m:t>
                    </m:r>
                  </m:oMath>
                </a14:m>
                <a:r>
                  <a:rPr lang="en-US" dirty="0"/>
                  <a:t>* and </a:t>
                </a:r>
                <a14:m>
                  <m:oMath xmlns:m="http://schemas.openxmlformats.org/officeDocument/2006/math">
                    <m:r>
                      <a:rPr lang="en-US" b="0" i="1" dirty="0" smtClean="0">
                        <a:latin typeface="Cambria Math" panose="02040503050406030204" pitchFamily="18" charset="0"/>
                      </a:rPr>
                      <m:t>𝑦</m:t>
                    </m:r>
                  </m:oMath>
                </a14:m>
                <a:r>
                  <a:rPr lang="en-US" dirty="0"/>
                  <a:t>*, (</a:t>
                </a:r>
                <a14:m>
                  <m:oMath xmlns:m="http://schemas.openxmlformats.org/officeDocument/2006/math">
                    <m:r>
                      <a:rPr lang="en-US" i="1" dirty="0">
                        <a:latin typeface="Cambria Math" panose="02040503050406030204" pitchFamily="18" charset="0"/>
                      </a:rPr>
                      <m:t>𝑥</m:t>
                    </m:r>
                  </m:oMath>
                </a14:m>
                <a:r>
                  <a:rPr lang="en-US" dirty="0"/>
                  <a:t>*, </a:t>
                </a:r>
                <a14:m>
                  <m:oMath xmlns:m="http://schemas.openxmlformats.org/officeDocument/2006/math">
                    <m:r>
                      <a:rPr lang="en-US" b="0" i="1" dirty="0" smtClean="0">
                        <a:latin typeface="Cambria Math" panose="02040503050406030204" pitchFamily="18" charset="0"/>
                      </a:rPr>
                      <m:t>𝑦</m:t>
                    </m:r>
                  </m:oMath>
                </a14:m>
                <a:r>
                  <a:rPr lang="en-US" dirty="0"/>
                  <a:t>*) is an equilibrium pair if and only if </a:t>
                </a:r>
                <a14:m>
                  <m:oMath xmlns:m="http://schemas.openxmlformats.org/officeDocument/2006/math">
                    <m:r>
                      <a:rPr lang="en-US" i="1" smtClean="0">
                        <a:latin typeface="Cambria Math" panose="02040503050406030204" pitchFamily="18" charset="0"/>
                        <a:ea typeface="Cambria Math" panose="02040503050406030204" pitchFamily="18" charset="0"/>
                      </a:rPr>
                      <m:t>𝜇</m:t>
                    </m:r>
                    <m:d>
                      <m:dPr>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𝑥</m:t>
                            </m:r>
                          </m:e>
                          <m:sup>
                            <m:r>
                              <a:rPr lang="en-US" b="0" i="1" smtClean="0">
                                <a:latin typeface="Cambria Math" panose="02040503050406030204" pitchFamily="18" charset="0"/>
                                <a:ea typeface="Cambria Math" panose="02040503050406030204" pitchFamily="18" charset="0"/>
                              </a:rPr>
                              <m:t>∗</m:t>
                            </m:r>
                          </m:sup>
                        </m:sSup>
                      </m:e>
                    </m:d>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𝜇</m:t>
                    </m:r>
                    <m:d>
                      <m:dPr>
                        <m:ctrlPr>
                          <a:rPr lang="en-US" i="1">
                            <a:latin typeface="Cambria Math" panose="02040503050406030204" pitchFamily="18" charset="0"/>
                            <a:ea typeface="Cambria Math" panose="02040503050406030204" pitchFamily="18" charset="0"/>
                          </a:rPr>
                        </m:ctrlPr>
                      </m:dPr>
                      <m:e>
                        <m:sSup>
                          <m:sSupPr>
                            <m:ctrlPr>
                              <a:rPr lang="en-US" i="1">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𝑦</m:t>
                            </m:r>
                          </m:e>
                          <m:sup>
                            <m:r>
                              <a:rPr lang="en-US" i="1">
                                <a:latin typeface="Cambria Math" panose="02040503050406030204" pitchFamily="18" charset="0"/>
                                <a:ea typeface="Cambria Math" panose="02040503050406030204" pitchFamily="18" charset="0"/>
                              </a:rPr>
                              <m:t>∗</m:t>
                            </m:r>
                          </m:sup>
                        </m:sSup>
                      </m:e>
                    </m:d>
                    <m:r>
                      <a:rPr lang="en-US" b="0" i="1" smtClean="0">
                        <a:latin typeface="Cambria Math" panose="02040503050406030204" pitchFamily="18" charset="0"/>
                        <a:ea typeface="Cambria Math" panose="02040503050406030204" pitchFamily="18" charset="0"/>
                      </a:rPr>
                      <m:t>.</m:t>
                    </m:r>
                  </m:oMath>
                </a14:m>
                <a:r>
                  <a:rPr lang="en-US" dirty="0"/>
                  <a:t> Moreover, for any equilibrium pair (</a:t>
                </a:r>
                <a14:m>
                  <m:oMath xmlns:m="http://schemas.openxmlformats.org/officeDocument/2006/math">
                    <m:sSup>
                      <m:sSupPr>
                        <m:ctrlPr>
                          <a:rPr lang="en-US" i="1" dirty="0" smtClean="0">
                            <a:latin typeface="Cambria Math" panose="02040503050406030204" pitchFamily="18" charset="0"/>
                          </a:rPr>
                        </m:ctrlPr>
                      </m:sSupPr>
                      <m:e>
                        <m:r>
                          <a:rPr lang="en-US" b="0" i="1" dirty="0" smtClean="0">
                            <a:latin typeface="Cambria Math" panose="02040503050406030204" pitchFamily="18" charset="0"/>
                          </a:rPr>
                          <m:t>𝑥</m:t>
                        </m:r>
                      </m:e>
                      <m:sup>
                        <m:r>
                          <a:rPr lang="en-US" b="0" i="1" dirty="0" smtClean="0">
                            <a:latin typeface="Cambria Math" panose="02040503050406030204" pitchFamily="18" charset="0"/>
                          </a:rPr>
                          <m:t>∗</m:t>
                        </m:r>
                      </m:sup>
                    </m:sSup>
                  </m:oMath>
                </a14:m>
                <a:r>
                  <a:rPr lang="en-US" dirty="0"/>
                  <a:t>,</a:t>
                </a:r>
                <a14:m>
                  <m:oMath xmlns:m="http://schemas.openxmlformats.org/officeDocument/2006/math">
                    <m:r>
                      <a:rPr lang="en-US" i="1" dirty="0" smtClean="0">
                        <a:latin typeface="Cambria Math" panose="02040503050406030204" pitchFamily="18" charset="0"/>
                      </a:rPr>
                      <m:t>𝑦</m:t>
                    </m:r>
                  </m:oMath>
                </a14:m>
                <a:r>
                  <a:rPr lang="en-US" dirty="0"/>
                  <a:t>*),</a:t>
                </a:r>
                <a:r>
                  <a:rPr lang="en-US" dirty="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𝜇</m:t>
                    </m:r>
                    <m:d>
                      <m:dPr>
                        <m:ctrlPr>
                          <a:rPr lang="en-US" i="1">
                            <a:latin typeface="Cambria Math" panose="02040503050406030204" pitchFamily="18" charset="0"/>
                            <a:ea typeface="Cambria Math" panose="02040503050406030204" pitchFamily="18" charset="0"/>
                          </a:rPr>
                        </m:ctrlPr>
                      </m:dPr>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𝑥</m:t>
                            </m:r>
                          </m:e>
                          <m:sup>
                            <m:r>
                              <a:rPr lang="en-US" i="1">
                                <a:latin typeface="Cambria Math" panose="02040503050406030204" pitchFamily="18" charset="0"/>
                                <a:ea typeface="Cambria Math" panose="02040503050406030204" pitchFamily="18" charset="0"/>
                              </a:rPr>
                              <m:t>∗</m:t>
                            </m:r>
                          </m:sup>
                        </m:sSup>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𝜇</m:t>
                    </m:r>
                    <m:d>
                      <m:dPr>
                        <m:ctrlPr>
                          <a:rPr lang="en-US" i="1">
                            <a:latin typeface="Cambria Math" panose="02040503050406030204" pitchFamily="18" charset="0"/>
                            <a:ea typeface="Cambria Math" panose="02040503050406030204" pitchFamily="18" charset="0"/>
                          </a:rPr>
                        </m:ctrlPr>
                      </m:dPr>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𝑦</m:t>
                            </m:r>
                          </m:e>
                          <m:sup>
                            <m:r>
                              <a:rPr lang="en-US" i="1">
                                <a:latin typeface="Cambria Math" panose="02040503050406030204" pitchFamily="18" charset="0"/>
                                <a:ea typeface="Cambria Math" panose="02040503050406030204" pitchFamily="18" charset="0"/>
                              </a:rPr>
                              <m:t>∗</m:t>
                            </m:r>
                          </m:sup>
                        </m:sSup>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𝑣</m:t>
                    </m:r>
                    <m:r>
                      <a:rPr lang="en-US" b="0" i="1" smtClean="0">
                        <a:latin typeface="Cambria Math" panose="02040503050406030204" pitchFamily="18" charset="0"/>
                        <a:ea typeface="Cambria Math" panose="02040503050406030204" pitchFamily="18" charset="0"/>
                      </a:rPr>
                      <m:t>,</m:t>
                    </m:r>
                  </m:oMath>
                </a14:m>
                <a:r>
                  <a:rPr lang="en-US" dirty="0"/>
                  <a:t>  </a:t>
                </a:r>
                <a14:m>
                  <m:oMath xmlns:m="http://schemas.openxmlformats.org/officeDocument/2006/math">
                    <m:r>
                      <a:rPr lang="en-US" i="1" dirty="0" smtClean="0">
                        <a:latin typeface="Cambria Math" panose="02040503050406030204" pitchFamily="18" charset="0"/>
                      </a:rPr>
                      <m:t>𝑣</m:t>
                    </m:r>
                  </m:oMath>
                </a14:m>
                <a:r>
                  <a:rPr lang="en-US" dirty="0"/>
                  <a:t> is the value of the game. If </a:t>
                </a:r>
                <a14:m>
                  <m:oMath xmlns:m="http://schemas.openxmlformats.org/officeDocument/2006/math">
                    <m:r>
                      <a:rPr lang="en-US" i="1" dirty="0" smtClean="0">
                        <a:latin typeface="Cambria Math" panose="02040503050406030204" pitchFamily="18" charset="0"/>
                      </a:rPr>
                      <m:t>𝑣</m:t>
                    </m:r>
                    <m:r>
                      <a:rPr lang="en-US" i="1" dirty="0" smtClean="0">
                        <a:latin typeface="Cambria Math" panose="02040503050406030204" pitchFamily="18" charset="0"/>
                      </a:rPr>
                      <m:t> = 0 </m:t>
                    </m:r>
                  </m:oMath>
                </a14:m>
                <a:r>
                  <a:rPr lang="en-US" dirty="0"/>
                  <a:t>then it is a fair game </a:t>
                </a:r>
              </a:p>
            </p:txBody>
          </p:sp>
        </mc:Choice>
        <mc:Fallback xmlns="">
          <p:sp>
            <p:nvSpPr>
              <p:cNvPr id="10" name="Rectangle 9"/>
              <p:cNvSpPr>
                <a:spLocks noRot="1" noChangeAspect="1" noMove="1" noResize="1" noEditPoints="1" noAdjustHandles="1" noChangeArrowheads="1" noChangeShapeType="1" noTextEdit="1"/>
              </p:cNvSpPr>
              <p:nvPr/>
            </p:nvSpPr>
            <p:spPr>
              <a:xfrm>
                <a:off x="757191" y="563827"/>
                <a:ext cx="7856031" cy="923330"/>
              </a:xfrm>
              <a:prstGeom prst="rect">
                <a:avLst/>
              </a:prstGeom>
              <a:blipFill>
                <a:blip r:embed="rId8"/>
                <a:stretch>
                  <a:fillRect l="-621" t="-3289"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6236963" y="4483599"/>
                <a:ext cx="2397644" cy="99988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600" i="1" smtClean="0">
                              <a:latin typeface="Cambria Math" panose="02040503050406030204" pitchFamily="18" charset="0"/>
                            </a:rPr>
                          </m:ctrlPr>
                        </m:dPr>
                        <m:e>
                          <m:eqArr>
                            <m:eqArrPr>
                              <m:ctrlPr>
                                <a:rPr lang="en-US" sz="1600" i="1" smtClean="0">
                                  <a:latin typeface="Cambria Math" panose="02040503050406030204" pitchFamily="18" charset="0"/>
                                </a:rPr>
                              </m:ctrlPr>
                            </m:eqArrPr>
                            <m:e>
                              <m:r>
                                <a:rPr lang="en-US" sz="1600" i="1">
                                  <a:solidFill>
                                    <a:srgbClr val="000000"/>
                                  </a:solidFill>
                                  <a:latin typeface="Cambria Math" panose="02040503050406030204" pitchFamily="18" charset="0"/>
                                  <a:ea typeface="Cambria Math" panose="02040503050406030204" pitchFamily="18" charset="0"/>
                                </a:rPr>
                                <m:t>𝜇</m:t>
                              </m:r>
                              <m:d>
                                <m:dPr>
                                  <m:ctrlPr>
                                    <a:rPr lang="en-US" sz="1600" i="1">
                                      <a:solidFill>
                                        <a:srgbClr val="000000"/>
                                      </a:solidFill>
                                      <a:latin typeface="Cambria Math" panose="02040503050406030204" pitchFamily="18" charset="0"/>
                                      <a:ea typeface="Cambria Math" panose="02040503050406030204" pitchFamily="18" charset="0"/>
                                    </a:rPr>
                                  </m:ctrlPr>
                                </m:dPr>
                                <m:e>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b="0" i="1" smtClean="0">
                                          <a:solidFill>
                                            <a:srgbClr val="000000"/>
                                          </a:solidFill>
                                          <a:latin typeface="Cambria Math" panose="02040503050406030204" pitchFamily="18" charset="0"/>
                                          <a:ea typeface="Cambria Math" panose="02040503050406030204" pitchFamily="18" charset="0"/>
                                        </a:rPr>
                                        <m:t>𝑥</m:t>
                                      </m:r>
                                    </m:e>
                                    <m:sub>
                                      <m:r>
                                        <a:rPr lang="en-US" sz="1600" i="1">
                                          <a:solidFill>
                                            <a:srgbClr val="000000"/>
                                          </a:solidFill>
                                          <a:latin typeface="Cambria Math" panose="02040503050406030204" pitchFamily="18" charset="0"/>
                                          <a:ea typeface="Cambria Math" panose="02040503050406030204" pitchFamily="18" charset="0"/>
                                        </a:rPr>
                                        <m:t>1</m:t>
                                      </m:r>
                                    </m:sub>
                                  </m:sSub>
                                </m:e>
                              </m:d>
                              <m:r>
                                <a:rPr lang="en-US" sz="1600" i="1">
                                  <a:solidFill>
                                    <a:srgbClr val="000000"/>
                                  </a:solidFill>
                                  <a:latin typeface="Cambria Math" panose="02040503050406030204" pitchFamily="18" charset="0"/>
                                  <a:ea typeface="Cambria Math" panose="02040503050406030204" pitchFamily="18" charset="0"/>
                                </a:rPr>
                                <m:t>=</m:t>
                              </m:r>
                              <m:r>
                                <a:rPr lang="en-US" sz="1600" b="0" i="1" smtClean="0">
                                  <a:solidFill>
                                    <a:srgbClr val="000000"/>
                                  </a:solidFill>
                                  <a:latin typeface="Cambria Math" panose="02040503050406030204" pitchFamily="18" charset="0"/>
                                  <a:ea typeface="Cambria Math" panose="02040503050406030204" pitchFamily="18" charset="0"/>
                                </a:rPr>
                                <m:t>−</m:t>
                              </m:r>
                              <m:sSub>
                                <m:sSubPr>
                                  <m:ctrlPr>
                                    <a:rPr lang="en-US" sz="1600" i="1" dirty="0">
                                      <a:solidFill>
                                        <a:srgbClr val="000000"/>
                                      </a:solidFill>
                                      <a:latin typeface="Cambria Math" panose="02040503050406030204" pitchFamily="18" charset="0"/>
                                    </a:rPr>
                                  </m:ctrlPr>
                                </m:sSubPr>
                                <m:e>
                                  <m:r>
                                    <a:rPr lang="en-US" sz="1600" b="0" i="1" dirty="0" smtClean="0">
                                      <a:solidFill>
                                        <a:srgbClr val="000000"/>
                                      </a:solidFill>
                                      <a:latin typeface="Cambria Math" panose="02040503050406030204" pitchFamily="18" charset="0"/>
                                    </a:rPr>
                                    <m:t>𝑦</m:t>
                                  </m:r>
                                </m:e>
                                <m:sub>
                                  <m:r>
                                    <a:rPr lang="en-US" sz="1600" i="1" dirty="0">
                                      <a:solidFill>
                                        <a:srgbClr val="000000"/>
                                      </a:solidFill>
                                      <a:latin typeface="Cambria Math" panose="02040503050406030204" pitchFamily="18" charset="0"/>
                                    </a:rPr>
                                    <m:t>2</m:t>
                                  </m:r>
                                </m:sub>
                              </m:sSub>
                              <m:r>
                                <a:rPr lang="en-US" sz="1600" b="0" i="1" dirty="0" smtClean="0">
                                  <a:solidFill>
                                    <a:srgbClr val="000000"/>
                                  </a:solidFill>
                                  <a:latin typeface="Cambria Math" panose="02040503050406030204" pitchFamily="18" charset="0"/>
                                </a:rPr>
                                <m:t>+</m:t>
                              </m:r>
                              <m:r>
                                <a:rPr lang="en-US" sz="1600" i="1" dirty="0">
                                  <a:solidFill>
                                    <a:srgbClr val="000000"/>
                                  </a:solidFill>
                                  <a:latin typeface="Cambria Math" panose="02040503050406030204" pitchFamily="18" charset="0"/>
                                </a:rPr>
                                <m:t>2</m:t>
                              </m:r>
                              <m:sSub>
                                <m:sSubPr>
                                  <m:ctrlPr>
                                    <a:rPr lang="en-US" sz="1600" i="1" dirty="0">
                                      <a:solidFill>
                                        <a:srgbClr val="000000"/>
                                      </a:solidFill>
                                      <a:latin typeface="Cambria Math" panose="02040503050406030204" pitchFamily="18" charset="0"/>
                                    </a:rPr>
                                  </m:ctrlPr>
                                </m:sSubPr>
                                <m:e>
                                  <m:r>
                                    <a:rPr lang="en-US" sz="1600" b="0" i="1" dirty="0" smtClean="0">
                                      <a:solidFill>
                                        <a:srgbClr val="000000"/>
                                      </a:solidFill>
                                      <a:latin typeface="Cambria Math" panose="02040503050406030204" pitchFamily="18" charset="0"/>
                                    </a:rPr>
                                    <m:t>𝑦</m:t>
                                  </m:r>
                                </m:e>
                                <m:sub>
                                  <m:r>
                                    <a:rPr lang="en-US" sz="1600" i="1" dirty="0">
                                      <a:solidFill>
                                        <a:srgbClr val="000000"/>
                                      </a:solidFill>
                                      <a:latin typeface="Cambria Math" panose="02040503050406030204" pitchFamily="18" charset="0"/>
                                    </a:rPr>
                                    <m:t>3</m:t>
                                  </m:r>
                                </m:sub>
                              </m:sSub>
                              <m:r>
                                <a:rPr lang="en-US" sz="1600" i="1">
                                  <a:solidFill>
                                    <a:srgbClr val="000000"/>
                                  </a:solidFill>
                                  <a:latin typeface="Cambria Math" panose="02040503050406030204" pitchFamily="18" charset="0"/>
                                  <a:ea typeface="Cambria Math" panose="02040503050406030204" pitchFamily="18" charset="0"/>
                                </a:rPr>
                                <m:t>=</m:t>
                              </m:r>
                              <m:r>
                                <a:rPr lang="en-US" sz="1600" i="1">
                                  <a:solidFill>
                                    <a:srgbClr val="000000"/>
                                  </a:solidFill>
                                  <a:latin typeface="Cambria Math" panose="02040503050406030204" pitchFamily="18" charset="0"/>
                                  <a:ea typeface="Cambria Math" panose="02040503050406030204" pitchFamily="18" charset="0"/>
                                </a:rPr>
                                <m:t>𝑣</m:t>
                              </m:r>
                              <m:r>
                                <m:rPr>
                                  <m:nor/>
                                </m:rPr>
                                <a:rPr lang="en-US" sz="1600" dirty="0">
                                  <a:solidFill>
                                    <a:srgbClr val="000000"/>
                                  </a:solidFill>
                                  <a:latin typeface="Calibri" panose="020F0502020204030204" pitchFamily="34" charset="0"/>
                                </a:rPr>
                                <m:t> </m:t>
                              </m:r>
                            </m:e>
                            <m:e>
                              <m:r>
                                <a:rPr lang="en-US" sz="1600" i="1">
                                  <a:solidFill>
                                    <a:srgbClr val="000000"/>
                                  </a:solidFill>
                                  <a:latin typeface="Cambria Math" panose="02040503050406030204" pitchFamily="18" charset="0"/>
                                  <a:ea typeface="Cambria Math" panose="02040503050406030204" pitchFamily="18" charset="0"/>
                                </a:rPr>
                                <m:t>𝜇</m:t>
                              </m:r>
                              <m:d>
                                <m:dPr>
                                  <m:ctrlPr>
                                    <a:rPr lang="en-US" sz="1600" i="1">
                                      <a:solidFill>
                                        <a:srgbClr val="000000"/>
                                      </a:solidFill>
                                      <a:latin typeface="Cambria Math" panose="02040503050406030204" pitchFamily="18" charset="0"/>
                                      <a:ea typeface="Cambria Math" panose="02040503050406030204" pitchFamily="18" charset="0"/>
                                    </a:rPr>
                                  </m:ctrlPr>
                                </m:dPr>
                                <m:e>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b="0" i="1" smtClean="0">
                                          <a:solidFill>
                                            <a:srgbClr val="000000"/>
                                          </a:solidFill>
                                          <a:latin typeface="Cambria Math" panose="02040503050406030204" pitchFamily="18" charset="0"/>
                                          <a:ea typeface="Cambria Math" panose="02040503050406030204" pitchFamily="18" charset="0"/>
                                        </a:rPr>
                                        <m:t>𝑥</m:t>
                                      </m:r>
                                    </m:e>
                                    <m:sub>
                                      <m:r>
                                        <a:rPr lang="en-US" sz="1600" i="1">
                                          <a:solidFill>
                                            <a:srgbClr val="000000"/>
                                          </a:solidFill>
                                          <a:latin typeface="Cambria Math" panose="02040503050406030204" pitchFamily="18" charset="0"/>
                                          <a:ea typeface="Cambria Math" panose="02040503050406030204" pitchFamily="18" charset="0"/>
                                        </a:rPr>
                                        <m:t>2</m:t>
                                      </m:r>
                                    </m:sub>
                                  </m:sSub>
                                </m:e>
                              </m:d>
                              <m:r>
                                <a:rPr lang="en-US" sz="1600" i="1">
                                  <a:solidFill>
                                    <a:srgbClr val="000000"/>
                                  </a:solidFill>
                                  <a:latin typeface="Cambria Math" panose="02040503050406030204" pitchFamily="18" charset="0"/>
                                  <a:ea typeface="Cambria Math" panose="02040503050406030204" pitchFamily="18" charset="0"/>
                                </a:rPr>
                                <m:t>=</m:t>
                              </m:r>
                              <m:r>
                                <a:rPr lang="en-US" sz="1600" b="0" i="1" smtClean="0">
                                  <a:solidFill>
                                    <a:srgbClr val="000000"/>
                                  </a:solidFill>
                                  <a:latin typeface="Cambria Math" panose="02040503050406030204" pitchFamily="18" charset="0"/>
                                  <a:ea typeface="Cambria Math" panose="02040503050406030204" pitchFamily="18" charset="0"/>
                                </a:rPr>
                                <m:t>3</m:t>
                              </m:r>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b="0" i="1" smtClean="0">
                                      <a:solidFill>
                                        <a:srgbClr val="000000"/>
                                      </a:solidFill>
                                      <a:latin typeface="Cambria Math" panose="02040503050406030204" pitchFamily="18" charset="0"/>
                                      <a:ea typeface="Cambria Math" panose="02040503050406030204" pitchFamily="18" charset="0"/>
                                    </a:rPr>
                                    <m:t>𝑦</m:t>
                                  </m:r>
                                </m:e>
                                <m:sub>
                                  <m:r>
                                    <a:rPr lang="en-US" sz="1600" i="1">
                                      <a:solidFill>
                                        <a:srgbClr val="000000"/>
                                      </a:solidFill>
                                      <a:latin typeface="Cambria Math" panose="02040503050406030204" pitchFamily="18" charset="0"/>
                                      <a:ea typeface="Cambria Math" panose="02040503050406030204" pitchFamily="18" charset="0"/>
                                    </a:rPr>
                                    <m:t>1</m:t>
                                  </m:r>
                                </m:sub>
                              </m:sSub>
                              <m:r>
                                <a:rPr lang="en-US" sz="1600" i="1">
                                  <a:solidFill>
                                    <a:srgbClr val="000000"/>
                                  </a:solidFill>
                                  <a:latin typeface="Cambria Math" panose="02040503050406030204" pitchFamily="18" charset="0"/>
                                  <a:ea typeface="Cambria Math" panose="02040503050406030204" pitchFamily="18" charset="0"/>
                                </a:rPr>
                                <m:t>+</m:t>
                              </m:r>
                              <m:sSub>
                                <m:sSubPr>
                                  <m:ctrlPr>
                                    <a:rPr lang="en-US" sz="1600" i="1" dirty="0">
                                      <a:solidFill>
                                        <a:srgbClr val="000000"/>
                                      </a:solidFill>
                                      <a:latin typeface="Cambria Math" panose="02040503050406030204" pitchFamily="18" charset="0"/>
                                    </a:rPr>
                                  </m:ctrlPr>
                                </m:sSubPr>
                                <m:e>
                                  <m:r>
                                    <a:rPr lang="en-US" sz="1600" b="0" i="1" dirty="0" smtClean="0">
                                      <a:solidFill>
                                        <a:srgbClr val="000000"/>
                                      </a:solidFill>
                                      <a:latin typeface="Cambria Math" panose="02040503050406030204" pitchFamily="18" charset="0"/>
                                    </a:rPr>
                                    <m:t>𝑦</m:t>
                                  </m:r>
                                </m:e>
                                <m:sub>
                                  <m:r>
                                    <a:rPr lang="en-US" sz="1600" i="1" dirty="0">
                                      <a:solidFill>
                                        <a:srgbClr val="000000"/>
                                      </a:solidFill>
                                      <a:latin typeface="Cambria Math" panose="02040503050406030204" pitchFamily="18" charset="0"/>
                                    </a:rPr>
                                    <m:t>2</m:t>
                                  </m:r>
                                </m:sub>
                              </m:sSub>
                              <m:r>
                                <a:rPr lang="en-US" sz="1600" i="1">
                                  <a:solidFill>
                                    <a:srgbClr val="000000"/>
                                  </a:solidFill>
                                  <a:latin typeface="Cambria Math" panose="02040503050406030204" pitchFamily="18" charset="0"/>
                                  <a:ea typeface="Cambria Math" panose="02040503050406030204" pitchFamily="18" charset="0"/>
                                </a:rPr>
                                <m:t>=</m:t>
                              </m:r>
                              <m:r>
                                <a:rPr lang="en-US" sz="1600" i="1">
                                  <a:solidFill>
                                    <a:srgbClr val="000000"/>
                                  </a:solidFill>
                                  <a:latin typeface="Cambria Math" panose="02040503050406030204" pitchFamily="18" charset="0"/>
                                  <a:ea typeface="Cambria Math" panose="02040503050406030204" pitchFamily="18" charset="0"/>
                                </a:rPr>
                                <m:t>𝑣</m:t>
                              </m:r>
                              <m:r>
                                <m:rPr>
                                  <m:nor/>
                                </m:rPr>
                                <a:rPr lang="en-US" sz="1600" dirty="0">
                                  <a:solidFill>
                                    <a:srgbClr val="000000"/>
                                  </a:solidFill>
                                  <a:latin typeface="Calibri" panose="020F0502020204030204" pitchFamily="34" charset="0"/>
                                </a:rPr>
                                <m:t> </m:t>
                              </m:r>
                            </m:e>
                            <m:e>
                              <m:r>
                                <a:rPr lang="en-US" sz="1600" i="1">
                                  <a:solidFill>
                                    <a:srgbClr val="000000"/>
                                  </a:solidFill>
                                  <a:latin typeface="Cambria Math" panose="02040503050406030204" pitchFamily="18" charset="0"/>
                                  <a:ea typeface="Cambria Math" panose="02040503050406030204" pitchFamily="18" charset="0"/>
                                </a:rPr>
                                <m:t>𝜇</m:t>
                              </m:r>
                              <m:d>
                                <m:dPr>
                                  <m:ctrlPr>
                                    <a:rPr lang="en-US" sz="1600" i="1">
                                      <a:solidFill>
                                        <a:srgbClr val="000000"/>
                                      </a:solidFill>
                                      <a:latin typeface="Cambria Math" panose="02040503050406030204" pitchFamily="18" charset="0"/>
                                      <a:ea typeface="Cambria Math" panose="02040503050406030204" pitchFamily="18" charset="0"/>
                                    </a:rPr>
                                  </m:ctrlPr>
                                </m:dPr>
                                <m:e>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b="0" i="1" smtClean="0">
                                          <a:solidFill>
                                            <a:srgbClr val="000000"/>
                                          </a:solidFill>
                                          <a:latin typeface="Cambria Math" panose="02040503050406030204" pitchFamily="18" charset="0"/>
                                          <a:ea typeface="Cambria Math" panose="02040503050406030204" pitchFamily="18" charset="0"/>
                                        </a:rPr>
                                        <m:t>𝑥</m:t>
                                      </m:r>
                                    </m:e>
                                    <m:sub>
                                      <m:r>
                                        <a:rPr lang="en-US" sz="1600" i="1">
                                          <a:solidFill>
                                            <a:srgbClr val="000000"/>
                                          </a:solidFill>
                                          <a:latin typeface="Cambria Math" panose="02040503050406030204" pitchFamily="18" charset="0"/>
                                          <a:ea typeface="Cambria Math" panose="02040503050406030204" pitchFamily="18" charset="0"/>
                                        </a:rPr>
                                        <m:t>3</m:t>
                                      </m:r>
                                    </m:sub>
                                  </m:sSub>
                                </m:e>
                              </m:d>
                              <m:r>
                                <a:rPr lang="en-US" sz="1600" i="1">
                                  <a:solidFill>
                                    <a:srgbClr val="000000"/>
                                  </a:solidFill>
                                  <a:latin typeface="Cambria Math" panose="02040503050406030204" pitchFamily="18" charset="0"/>
                                  <a:ea typeface="Cambria Math" panose="02040503050406030204" pitchFamily="18" charset="0"/>
                                </a:rPr>
                                <m:t>=</m:t>
                              </m:r>
                              <m:r>
                                <a:rPr lang="en-US" sz="1600" b="0" i="1" smtClean="0">
                                  <a:solidFill>
                                    <a:srgbClr val="000000"/>
                                  </a:solidFill>
                                  <a:latin typeface="Cambria Math" panose="02040503050406030204" pitchFamily="18" charset="0"/>
                                  <a:ea typeface="Cambria Math" panose="02040503050406030204" pitchFamily="18" charset="0"/>
                                </a:rPr>
                                <m:t>−</m:t>
                              </m:r>
                              <m:r>
                                <a:rPr lang="en-US" sz="1600" i="1">
                                  <a:solidFill>
                                    <a:srgbClr val="000000"/>
                                  </a:solidFill>
                                  <a:latin typeface="Cambria Math" panose="02040503050406030204" pitchFamily="18" charset="0"/>
                                  <a:ea typeface="Cambria Math" panose="02040503050406030204" pitchFamily="18" charset="0"/>
                                </a:rPr>
                                <m:t>2</m:t>
                              </m:r>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b="0" i="1" smtClean="0">
                                      <a:solidFill>
                                        <a:srgbClr val="000000"/>
                                      </a:solidFill>
                                      <a:latin typeface="Cambria Math" panose="02040503050406030204" pitchFamily="18" charset="0"/>
                                      <a:ea typeface="Cambria Math" panose="02040503050406030204" pitchFamily="18" charset="0"/>
                                    </a:rPr>
                                    <m:t>𝑦</m:t>
                                  </m:r>
                                </m:e>
                                <m:sub>
                                  <m:r>
                                    <a:rPr lang="en-US" sz="1600" i="1">
                                      <a:solidFill>
                                        <a:srgbClr val="000000"/>
                                      </a:solidFill>
                                      <a:latin typeface="Cambria Math" panose="02040503050406030204" pitchFamily="18" charset="0"/>
                                      <a:ea typeface="Cambria Math" panose="02040503050406030204" pitchFamily="18" charset="0"/>
                                    </a:rPr>
                                    <m:t>1</m:t>
                                  </m:r>
                                </m:sub>
                              </m:sSub>
                              <m:r>
                                <a:rPr lang="en-US" sz="1600" i="1">
                                  <a:solidFill>
                                    <a:srgbClr val="000000"/>
                                  </a:solidFill>
                                  <a:latin typeface="Cambria Math" panose="02040503050406030204" pitchFamily="18" charset="0"/>
                                  <a:ea typeface="Cambria Math" panose="02040503050406030204" pitchFamily="18" charset="0"/>
                                </a:rPr>
                                <m:t>+</m:t>
                              </m:r>
                              <m:r>
                                <a:rPr lang="en-US" sz="1600" b="0" i="1" smtClean="0">
                                  <a:solidFill>
                                    <a:srgbClr val="000000"/>
                                  </a:solidFill>
                                  <a:latin typeface="Cambria Math" panose="02040503050406030204" pitchFamily="18" charset="0"/>
                                  <a:ea typeface="Cambria Math" panose="02040503050406030204" pitchFamily="18" charset="0"/>
                                </a:rPr>
                                <m:t>2</m:t>
                              </m:r>
                              <m:sSub>
                                <m:sSubPr>
                                  <m:ctrlPr>
                                    <a:rPr lang="en-US" sz="1600" i="1" dirty="0">
                                      <a:solidFill>
                                        <a:srgbClr val="000000"/>
                                      </a:solidFill>
                                      <a:latin typeface="Cambria Math" panose="02040503050406030204" pitchFamily="18" charset="0"/>
                                    </a:rPr>
                                  </m:ctrlPr>
                                </m:sSubPr>
                                <m:e>
                                  <m:r>
                                    <a:rPr lang="en-US" sz="1600" b="0" i="1" dirty="0" smtClean="0">
                                      <a:solidFill>
                                        <a:srgbClr val="000000"/>
                                      </a:solidFill>
                                      <a:latin typeface="Cambria Math" panose="02040503050406030204" pitchFamily="18" charset="0"/>
                                    </a:rPr>
                                    <m:t>𝑦</m:t>
                                  </m:r>
                                </m:e>
                                <m:sub>
                                  <m:r>
                                    <a:rPr lang="en-US" sz="1600" b="0" i="1" dirty="0" smtClean="0">
                                      <a:solidFill>
                                        <a:srgbClr val="000000"/>
                                      </a:solidFill>
                                      <a:latin typeface="Cambria Math" panose="02040503050406030204" pitchFamily="18" charset="0"/>
                                    </a:rPr>
                                    <m:t>2</m:t>
                                  </m:r>
                                </m:sub>
                              </m:sSub>
                              <m:r>
                                <a:rPr lang="en-US" sz="1600" i="1">
                                  <a:solidFill>
                                    <a:srgbClr val="000000"/>
                                  </a:solidFill>
                                  <a:latin typeface="Cambria Math" panose="02040503050406030204" pitchFamily="18" charset="0"/>
                                  <a:ea typeface="Cambria Math" panose="02040503050406030204" pitchFamily="18" charset="0"/>
                                </a:rPr>
                                <m:t>=</m:t>
                              </m:r>
                              <m:r>
                                <a:rPr lang="en-US" sz="1600" i="1">
                                  <a:solidFill>
                                    <a:srgbClr val="000000"/>
                                  </a:solidFill>
                                  <a:latin typeface="Cambria Math" panose="02040503050406030204" pitchFamily="18" charset="0"/>
                                  <a:ea typeface="Cambria Math" panose="02040503050406030204" pitchFamily="18" charset="0"/>
                                </a:rPr>
                                <m:t>𝑣</m:t>
                              </m:r>
                              <m:r>
                                <m:rPr>
                                  <m:nor/>
                                </m:rPr>
                                <a:rPr lang="en-US" sz="1600" dirty="0">
                                  <a:solidFill>
                                    <a:srgbClr val="000000"/>
                                  </a:solidFill>
                                  <a:latin typeface="Calibri" panose="020F0502020204030204" pitchFamily="34" charset="0"/>
                                </a:rPr>
                                <m:t> </m:t>
                              </m:r>
                            </m:e>
                            <m:e>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b="0" i="1" smtClean="0">
                                      <a:solidFill>
                                        <a:srgbClr val="000000"/>
                                      </a:solidFill>
                                      <a:latin typeface="Cambria Math" panose="02040503050406030204" pitchFamily="18" charset="0"/>
                                      <a:ea typeface="Cambria Math" panose="02040503050406030204" pitchFamily="18" charset="0"/>
                                    </a:rPr>
                                    <m:t>𝑦</m:t>
                                  </m:r>
                                </m:e>
                                <m:sub>
                                  <m:r>
                                    <a:rPr lang="en-US" sz="1600" i="1">
                                      <a:solidFill>
                                        <a:srgbClr val="000000"/>
                                      </a:solidFill>
                                      <a:latin typeface="Cambria Math" panose="02040503050406030204" pitchFamily="18" charset="0"/>
                                      <a:ea typeface="Cambria Math" panose="02040503050406030204" pitchFamily="18" charset="0"/>
                                    </a:rPr>
                                    <m:t>1</m:t>
                                  </m:r>
                                </m:sub>
                              </m:sSub>
                              <m:r>
                                <a:rPr lang="en-US" sz="1600" i="1">
                                  <a:solidFill>
                                    <a:srgbClr val="000000"/>
                                  </a:solidFill>
                                  <a:latin typeface="Cambria Math" panose="02040503050406030204" pitchFamily="18" charset="0"/>
                                  <a:ea typeface="Cambria Math" panose="02040503050406030204" pitchFamily="18" charset="0"/>
                                </a:rPr>
                                <m:t>+</m:t>
                              </m:r>
                              <m:sSub>
                                <m:sSubPr>
                                  <m:ctrlPr>
                                    <a:rPr lang="en-US" sz="1600" i="1" dirty="0">
                                      <a:solidFill>
                                        <a:srgbClr val="000000"/>
                                      </a:solidFill>
                                      <a:latin typeface="Cambria Math" panose="02040503050406030204" pitchFamily="18" charset="0"/>
                                    </a:rPr>
                                  </m:ctrlPr>
                                </m:sSubPr>
                                <m:e>
                                  <m:r>
                                    <a:rPr lang="en-US" sz="1600" b="0" i="1" dirty="0" smtClean="0">
                                      <a:solidFill>
                                        <a:srgbClr val="000000"/>
                                      </a:solidFill>
                                      <a:latin typeface="Cambria Math" panose="02040503050406030204" pitchFamily="18" charset="0"/>
                                    </a:rPr>
                                    <m:t>𝑦</m:t>
                                  </m:r>
                                </m:e>
                                <m:sub>
                                  <m:r>
                                    <a:rPr lang="en-US" sz="1600" i="1" dirty="0">
                                      <a:solidFill>
                                        <a:srgbClr val="000000"/>
                                      </a:solidFill>
                                      <a:latin typeface="Cambria Math" panose="02040503050406030204" pitchFamily="18" charset="0"/>
                                    </a:rPr>
                                    <m:t>2</m:t>
                                  </m:r>
                                </m:sub>
                              </m:sSub>
                              <m:r>
                                <a:rPr lang="en-US" sz="1600" i="1" dirty="0">
                                  <a:solidFill>
                                    <a:srgbClr val="000000"/>
                                  </a:solidFill>
                                  <a:latin typeface="Cambria Math" panose="02040503050406030204" pitchFamily="18" charset="0"/>
                                </a:rPr>
                                <m:t>+</m:t>
                              </m:r>
                              <m:sSub>
                                <m:sSubPr>
                                  <m:ctrlPr>
                                    <a:rPr lang="en-US" sz="1600" i="1" dirty="0">
                                      <a:solidFill>
                                        <a:srgbClr val="000000"/>
                                      </a:solidFill>
                                      <a:latin typeface="Cambria Math" panose="02040503050406030204" pitchFamily="18" charset="0"/>
                                    </a:rPr>
                                  </m:ctrlPr>
                                </m:sSubPr>
                                <m:e>
                                  <m:r>
                                    <a:rPr lang="en-US" sz="1600" b="0" i="1" dirty="0" smtClean="0">
                                      <a:solidFill>
                                        <a:srgbClr val="000000"/>
                                      </a:solidFill>
                                      <a:latin typeface="Cambria Math" panose="02040503050406030204" pitchFamily="18" charset="0"/>
                                    </a:rPr>
                                    <m:t>𝑦</m:t>
                                  </m:r>
                                </m:e>
                                <m:sub>
                                  <m:r>
                                    <a:rPr lang="en-US" sz="1600" i="1" dirty="0">
                                      <a:solidFill>
                                        <a:srgbClr val="000000"/>
                                      </a:solidFill>
                                      <a:latin typeface="Cambria Math" panose="02040503050406030204" pitchFamily="18" charset="0"/>
                                    </a:rPr>
                                    <m:t>3</m:t>
                                  </m:r>
                                </m:sub>
                              </m:sSub>
                              <m:r>
                                <a:rPr lang="en-US" sz="1600" i="1">
                                  <a:solidFill>
                                    <a:srgbClr val="000000"/>
                                  </a:solidFill>
                                  <a:latin typeface="Cambria Math" panose="02040503050406030204" pitchFamily="18" charset="0"/>
                                  <a:ea typeface="Cambria Math" panose="02040503050406030204" pitchFamily="18" charset="0"/>
                                </a:rPr>
                                <m:t>=1</m:t>
                              </m:r>
                            </m:e>
                          </m:eqArr>
                        </m:e>
                      </m:d>
                    </m:oMath>
                  </m:oMathPara>
                </a14:m>
                <a:endParaRPr lang="en-US" sz="1600" dirty="0"/>
              </a:p>
            </p:txBody>
          </p:sp>
        </mc:Choice>
        <mc:Fallback xmlns="">
          <p:sp>
            <p:nvSpPr>
              <p:cNvPr id="11" name="TextBox 10"/>
              <p:cNvSpPr txBox="1">
                <a:spLocks noRot="1" noChangeAspect="1" noMove="1" noResize="1" noEditPoints="1" noAdjustHandles="1" noChangeArrowheads="1" noChangeShapeType="1" noTextEdit="1"/>
              </p:cNvSpPr>
              <p:nvPr/>
            </p:nvSpPr>
            <p:spPr>
              <a:xfrm>
                <a:off x="6236963" y="4483599"/>
                <a:ext cx="2397644" cy="999889"/>
              </a:xfrm>
              <a:prstGeom prst="rect">
                <a:avLst/>
              </a:prstGeom>
              <a:blipFill>
                <a:blip r:embed="rId9"/>
                <a:stretch>
                  <a:fillRect/>
                </a:stretch>
              </a:blipFill>
            </p:spPr>
            <p:txBody>
              <a:bodyPr/>
              <a:lstStyle/>
              <a:p>
                <a:r>
                  <a:rPr lang="en-US">
                    <a:noFill/>
                  </a:rPr>
                  <a:t> </a:t>
                </a:r>
              </a:p>
            </p:txBody>
          </p:sp>
        </mc:Fallback>
      </mc:AlternateContent>
      <p:sp>
        <p:nvSpPr>
          <p:cNvPr id="12" name="TextBox 11"/>
          <p:cNvSpPr txBox="1"/>
          <p:nvPr/>
        </p:nvSpPr>
        <p:spPr>
          <a:xfrm>
            <a:off x="738935" y="1607435"/>
            <a:ext cx="6192144" cy="400110"/>
          </a:xfrm>
          <a:prstGeom prst="rect">
            <a:avLst/>
          </a:prstGeom>
          <a:noFill/>
        </p:spPr>
        <p:txBody>
          <a:bodyPr wrap="none" rtlCol="0">
            <a:spAutoFit/>
          </a:bodyPr>
          <a:lstStyle/>
          <a:p>
            <a:r>
              <a:rPr lang="en-US" sz="2000" dirty="0"/>
              <a:t>Check whether  this pay-off has an equilibrium pair or not</a:t>
            </a:r>
          </a:p>
        </p:txBody>
      </p:sp>
      <p:graphicFrame>
        <p:nvGraphicFramePr>
          <p:cNvPr id="13" name="Table 12"/>
          <p:cNvGraphicFramePr>
            <a:graphicFrameLocks noGrp="1"/>
          </p:cNvGraphicFramePr>
          <p:nvPr>
            <p:extLst>
              <p:ext uri="{D42A27DB-BD31-4B8C-83A1-F6EECF244321}">
                <p14:modId xmlns:p14="http://schemas.microsoft.com/office/powerpoint/2010/main" val="381799398"/>
              </p:ext>
            </p:extLst>
          </p:nvPr>
        </p:nvGraphicFramePr>
        <p:xfrm>
          <a:off x="849837" y="2097988"/>
          <a:ext cx="3240360" cy="1266825"/>
        </p:xfrm>
        <a:graphic>
          <a:graphicData uri="http://schemas.openxmlformats.org/drawingml/2006/table">
            <a:tbl>
              <a:tblPr>
                <a:tableStyleId>{5C22544A-7EE6-4342-B048-85BDC9FD1C3A}</a:tableStyleId>
              </a:tblPr>
              <a:tblGrid>
                <a:gridCol w="614551">
                  <a:extLst>
                    <a:ext uri="{9D8B030D-6E8A-4147-A177-3AD203B41FA5}">
                      <a16:colId xmlns:a16="http://schemas.microsoft.com/office/drawing/2014/main" val="465924444"/>
                    </a:ext>
                  </a:extLst>
                </a:gridCol>
                <a:gridCol w="681593">
                  <a:extLst>
                    <a:ext uri="{9D8B030D-6E8A-4147-A177-3AD203B41FA5}">
                      <a16:colId xmlns:a16="http://schemas.microsoft.com/office/drawing/2014/main" val="3738874413"/>
                    </a:ext>
                  </a:extLst>
                </a:gridCol>
                <a:gridCol w="648072">
                  <a:extLst>
                    <a:ext uri="{9D8B030D-6E8A-4147-A177-3AD203B41FA5}">
                      <a16:colId xmlns:a16="http://schemas.microsoft.com/office/drawing/2014/main" val="2454115107"/>
                    </a:ext>
                  </a:extLst>
                </a:gridCol>
                <a:gridCol w="648072">
                  <a:extLst>
                    <a:ext uri="{9D8B030D-6E8A-4147-A177-3AD203B41FA5}">
                      <a16:colId xmlns:a16="http://schemas.microsoft.com/office/drawing/2014/main" val="1795178663"/>
                    </a:ext>
                  </a:extLst>
                </a:gridCol>
                <a:gridCol w="648072">
                  <a:extLst>
                    <a:ext uri="{9D8B030D-6E8A-4147-A177-3AD203B41FA5}">
                      <a16:colId xmlns:a16="http://schemas.microsoft.com/office/drawing/2014/main" val="1284286733"/>
                    </a:ext>
                  </a:extLst>
                </a:gridCol>
              </a:tblGrid>
              <a:tr h="190500">
                <a:tc>
                  <a:txBody>
                    <a:bodyPr/>
                    <a:lstStyle/>
                    <a:p>
                      <a:pPr algn="ctr" fontAlgn="b"/>
                      <a:r>
                        <a:rPr lang="en-US" sz="1600" u="none" strike="noStrike" dirty="0">
                          <a:effectLst/>
                        </a:rPr>
                        <a:t>X/Y</a:t>
                      </a:r>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1600" u="none" strike="noStrike">
                          <a:effectLst/>
                        </a:rPr>
                        <a:t> </a:t>
                      </a:r>
                      <a:endParaRPr lang="en-US" sz="1600" b="0" i="0" u="none" strike="noStrike">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1600" u="none" strike="noStrike">
                          <a:effectLst/>
                        </a:rPr>
                        <a:t>1</a:t>
                      </a:r>
                      <a:endParaRPr lang="en-US" sz="1600" b="0" i="0" u="none" strike="noStrike">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1600" u="none" strike="noStrike">
                          <a:effectLst/>
                        </a:rPr>
                        <a:t>2</a:t>
                      </a:r>
                      <a:endParaRPr lang="en-US" sz="1600" b="0" i="0" u="none" strike="noStrike">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1600" u="none" strike="noStrike" dirty="0">
                          <a:effectLst/>
                        </a:rPr>
                        <a:t>3</a:t>
                      </a:r>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extLst>
                  <a:ext uri="{0D108BD9-81ED-4DB2-BD59-A6C34878D82A}">
                    <a16:rowId xmlns:a16="http://schemas.microsoft.com/office/drawing/2014/main" val="14129830"/>
                  </a:ext>
                </a:extLst>
              </a:tr>
              <a:tr h="190500">
                <a:tc>
                  <a:txBody>
                    <a:bodyPr/>
                    <a:lstStyle/>
                    <a:p>
                      <a:pPr algn="ctr" fontAlgn="b"/>
                      <a:r>
                        <a:rPr lang="en-US" sz="1600" u="none" strike="noStrike" dirty="0">
                          <a:effectLst/>
                        </a:rPr>
                        <a:t> </a:t>
                      </a:r>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1600" u="none" strike="noStrike" dirty="0" err="1">
                          <a:effectLst/>
                        </a:rPr>
                        <a:t>Prob</a:t>
                      </a:r>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1600" u="none" strike="noStrike" dirty="0">
                          <a:effectLst/>
                        </a:rPr>
                        <a:t>0.3</a:t>
                      </a:r>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a:effectLst/>
                        </a:rPr>
                        <a:t>0.5</a:t>
                      </a:r>
                      <a:endParaRPr lang="en-US" sz="1600" b="0"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dirty="0">
                          <a:effectLst/>
                        </a:rPr>
                        <a:t>0.2</a:t>
                      </a:r>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extLst>
                  <a:ext uri="{0D108BD9-81ED-4DB2-BD59-A6C34878D82A}">
                    <a16:rowId xmlns:a16="http://schemas.microsoft.com/office/drawing/2014/main" val="3042800791"/>
                  </a:ext>
                </a:extLst>
              </a:tr>
              <a:tr h="190500">
                <a:tc>
                  <a:txBody>
                    <a:bodyPr/>
                    <a:lstStyle/>
                    <a:p>
                      <a:pPr algn="ctr" fontAlgn="b"/>
                      <a:r>
                        <a:rPr lang="en-US" sz="1600" u="none" strike="noStrike">
                          <a:effectLst/>
                        </a:rPr>
                        <a:t>1</a:t>
                      </a:r>
                      <a:endParaRPr lang="en-US" sz="1600" b="0" i="0" u="none" strike="noStrike">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1600" u="none" strike="noStrike" dirty="0">
                          <a:effectLst/>
                        </a:rPr>
                        <a:t>0.5</a:t>
                      </a:r>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dirty="0">
                          <a:effectLst/>
                        </a:rPr>
                        <a:t>3</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59433256"/>
                  </a:ext>
                </a:extLst>
              </a:tr>
              <a:tr h="190500">
                <a:tc>
                  <a:txBody>
                    <a:bodyPr/>
                    <a:lstStyle/>
                    <a:p>
                      <a:pPr algn="ctr" fontAlgn="b"/>
                      <a:r>
                        <a:rPr lang="en-US" sz="1600" u="none" strike="noStrike">
                          <a:effectLst/>
                        </a:rPr>
                        <a:t>2</a:t>
                      </a:r>
                      <a:endParaRPr lang="en-US" sz="1600" b="0" i="0" u="none" strike="noStrike">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1600" u="none" strike="noStrike" dirty="0">
                          <a:effectLst/>
                        </a:rPr>
                        <a:t>0.5</a:t>
                      </a:r>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dirty="0">
                          <a:effectLst/>
                        </a:rPr>
                        <a:t>4</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05982770"/>
                  </a:ext>
                </a:extLst>
              </a:tr>
              <a:tr h="190500">
                <a:tc>
                  <a:txBody>
                    <a:bodyPr/>
                    <a:lstStyle/>
                    <a:p>
                      <a:pPr algn="ctr" fontAlgn="b"/>
                      <a:r>
                        <a:rPr lang="en-US" sz="1600" u="none" strike="noStrike" dirty="0">
                          <a:effectLst/>
                        </a:rPr>
                        <a:t>3</a:t>
                      </a:r>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30496318"/>
                  </a:ext>
                </a:extLst>
              </a:tr>
            </a:tbl>
          </a:graphicData>
        </a:graphic>
      </p:graphicFrame>
      <mc:AlternateContent xmlns:mc="http://schemas.openxmlformats.org/markup-compatibility/2006" xmlns:a14="http://schemas.microsoft.com/office/drawing/2010/main">
        <mc:Choice Requires="a14">
          <p:graphicFrame>
            <p:nvGraphicFramePr>
              <p:cNvPr id="14" name="Table 13"/>
              <p:cNvGraphicFramePr>
                <a:graphicFrameLocks noGrp="1"/>
              </p:cNvGraphicFramePr>
              <p:nvPr>
                <p:extLst>
                  <p:ext uri="{D42A27DB-BD31-4B8C-83A1-F6EECF244321}">
                    <p14:modId xmlns:p14="http://schemas.microsoft.com/office/powerpoint/2010/main" val="2706119459"/>
                  </p:ext>
                </p:extLst>
              </p:nvPr>
            </p:nvGraphicFramePr>
            <p:xfrm>
              <a:off x="4078537" y="2107646"/>
              <a:ext cx="723527" cy="1266825"/>
            </p:xfrm>
            <a:graphic>
              <a:graphicData uri="http://schemas.openxmlformats.org/drawingml/2006/table">
                <a:tbl>
                  <a:tblPr>
                    <a:tableStyleId>{5C22544A-7EE6-4342-B048-85BDC9FD1C3A}</a:tableStyleId>
                  </a:tblPr>
                  <a:tblGrid>
                    <a:gridCol w="723527">
                      <a:extLst>
                        <a:ext uri="{9D8B030D-6E8A-4147-A177-3AD203B41FA5}">
                          <a16:colId xmlns:a16="http://schemas.microsoft.com/office/drawing/2014/main" val="780740917"/>
                        </a:ext>
                      </a:extLst>
                    </a:gridCol>
                  </a:tblGrid>
                  <a:tr h="190500">
                    <a:tc>
                      <a:txBody>
                        <a:body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tx2"/>
                        </a:solidFill>
                      </a:tcPr>
                    </a:tc>
                    <a:extLst>
                      <a:ext uri="{0D108BD9-81ED-4DB2-BD59-A6C34878D82A}">
                        <a16:rowId xmlns:a16="http://schemas.microsoft.com/office/drawing/2014/main" val="1935583098"/>
                      </a:ext>
                    </a:extLst>
                  </a:tr>
                  <a:tr h="190500">
                    <a:tc>
                      <a:txBody>
                        <a:bodyPr/>
                        <a:lstStyle/>
                        <a:p>
                          <a:pPr algn="ctr" fontAlgn="b"/>
                          <a14:m>
                            <m:oMathPara xmlns:m="http://schemas.openxmlformats.org/officeDocument/2006/math">
                              <m:oMathParaPr>
                                <m:jc m:val="centerGroup"/>
                              </m:oMathParaPr>
                              <m:oMath xmlns:m="http://schemas.openxmlformats.org/officeDocument/2006/math">
                                <m:r>
                                  <a:rPr lang="en-US" sz="1600" b="0" i="1" u="none" strike="noStrike" smtClean="0">
                                    <a:solidFill>
                                      <a:srgbClr val="000000"/>
                                    </a:solidFill>
                                    <a:effectLst/>
                                    <a:latin typeface="Cambria Math" panose="02040503050406030204" pitchFamily="18" charset="0"/>
                                    <a:ea typeface="Cambria Math" panose="02040503050406030204" pitchFamily="18" charset="0"/>
                                  </a:rPr>
                                  <m:t>𝜇</m:t>
                                </m:r>
                                <m:r>
                                  <a:rPr lang="en-US" sz="1600" b="0" i="1" u="none" strike="noStrike" smtClean="0">
                                    <a:solidFill>
                                      <a:srgbClr val="000000"/>
                                    </a:solidFill>
                                    <a:effectLst/>
                                    <a:latin typeface="Cambria Math" panose="02040503050406030204" pitchFamily="18" charset="0"/>
                                    <a:ea typeface="Cambria Math" panose="02040503050406030204" pitchFamily="18" charset="0"/>
                                  </a:rPr>
                                  <m:t>(</m:t>
                                </m:r>
                                <m:sSub>
                                  <m:sSubPr>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sSubPr>
                                  <m:e>
                                    <m:r>
                                      <a:rPr lang="en-US" sz="1600" b="0" i="1" u="none" strike="noStrike" smtClean="0">
                                        <a:solidFill>
                                          <a:srgbClr val="000000"/>
                                        </a:solidFill>
                                        <a:effectLst/>
                                        <a:latin typeface="Cambria Math" panose="02040503050406030204" pitchFamily="18" charset="0"/>
                                        <a:ea typeface="Cambria Math" panose="02040503050406030204" pitchFamily="18" charset="0"/>
                                      </a:rPr>
                                      <m:t>𝑥</m:t>
                                    </m:r>
                                  </m:e>
                                  <m:sub>
                                    <m:r>
                                      <a:rPr lang="en-US" sz="1600" b="0" i="1" u="none" strike="noStrike" smtClean="0">
                                        <a:solidFill>
                                          <a:srgbClr val="000000"/>
                                        </a:solidFill>
                                        <a:effectLst/>
                                        <a:latin typeface="Cambria Math" panose="02040503050406030204" pitchFamily="18" charset="0"/>
                                        <a:ea typeface="Cambria Math" panose="02040503050406030204" pitchFamily="18" charset="0"/>
                                      </a:rPr>
                                      <m:t>𝑖</m:t>
                                    </m:r>
                                  </m:sub>
                                </m:sSub>
                                <m:r>
                                  <a:rPr lang="en-US" sz="1600" b="0" i="1" u="none" strike="noStrike" smtClean="0">
                                    <a:solidFill>
                                      <a:srgbClr val="000000"/>
                                    </a:solidFill>
                                    <a:effectLst/>
                                    <a:latin typeface="Cambria Math" panose="02040503050406030204" pitchFamily="18" charset="0"/>
                                    <a:ea typeface="Cambria Math" panose="02040503050406030204" pitchFamily="18" charset="0"/>
                                  </a:rPr>
                                  <m:t>)</m:t>
                                </m:r>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extLst>
                      <a:ext uri="{0D108BD9-81ED-4DB2-BD59-A6C34878D82A}">
                        <a16:rowId xmlns:a16="http://schemas.microsoft.com/office/drawing/2014/main" val="4178472227"/>
                      </a:ext>
                    </a:extLst>
                  </a:tr>
                  <a:tr h="190500">
                    <a:tc>
                      <a:txBody>
                        <a:bodyPr/>
                        <a:lstStyle/>
                        <a:p>
                          <a:pPr algn="ctr" fontAlgn="b"/>
                          <a:r>
                            <a:rPr lang="en-US" sz="1600" u="none" strike="noStrike" dirty="0">
                              <a:effectLst/>
                            </a:rPr>
                            <a:t>1.80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40935072"/>
                      </a:ext>
                    </a:extLst>
                  </a:tr>
                  <a:tr h="190500">
                    <a:tc>
                      <a:txBody>
                        <a:bodyPr/>
                        <a:lstStyle/>
                        <a:p>
                          <a:pPr algn="ctr" fontAlgn="b"/>
                          <a:r>
                            <a:rPr lang="en-US" sz="1600" u="none" strike="noStrike" dirty="0">
                              <a:effectLst/>
                            </a:rPr>
                            <a:t>1.90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04948610"/>
                      </a:ext>
                    </a:extLst>
                  </a:tr>
                  <a:tr h="190500">
                    <a:tc>
                      <a:txBody>
                        <a:bodyPr/>
                        <a:lstStyle/>
                        <a:p>
                          <a:pPr algn="ctr" fontAlgn="b"/>
                          <a:r>
                            <a:rPr lang="en-US" sz="1600" u="none" strike="noStrike" dirty="0">
                              <a:effectLst/>
                            </a:rPr>
                            <a:t>1.60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25899638"/>
                      </a:ext>
                    </a:extLst>
                  </a:tr>
                </a:tbl>
              </a:graphicData>
            </a:graphic>
          </p:graphicFrame>
        </mc:Choice>
        <mc:Fallback xmlns="">
          <p:graphicFrame>
            <p:nvGraphicFramePr>
              <p:cNvPr id="14" name="Table 13"/>
              <p:cNvGraphicFramePr>
                <a:graphicFrameLocks noGrp="1"/>
              </p:cNvGraphicFramePr>
              <p:nvPr>
                <p:extLst>
                  <p:ext uri="{D42A27DB-BD31-4B8C-83A1-F6EECF244321}">
                    <p14:modId xmlns:p14="http://schemas.microsoft.com/office/powerpoint/2010/main" val="2706119459"/>
                  </p:ext>
                </p:extLst>
              </p:nvPr>
            </p:nvGraphicFramePr>
            <p:xfrm>
              <a:off x="4078537" y="2107646"/>
              <a:ext cx="723527" cy="1266825"/>
            </p:xfrm>
            <a:graphic>
              <a:graphicData uri="http://schemas.openxmlformats.org/drawingml/2006/table">
                <a:tbl>
                  <a:tblPr>
                    <a:tableStyleId>{5C22544A-7EE6-4342-B048-85BDC9FD1C3A}</a:tableStyleId>
                  </a:tblPr>
                  <a:tblGrid>
                    <a:gridCol w="723527">
                      <a:extLst>
                        <a:ext uri="{9D8B030D-6E8A-4147-A177-3AD203B41FA5}">
                          <a16:colId xmlns:a16="http://schemas.microsoft.com/office/drawing/2014/main" val="780740917"/>
                        </a:ext>
                      </a:extLst>
                    </a:gridCol>
                  </a:tblGrid>
                  <a:tr h="253365">
                    <a:tc>
                      <a:txBody>
                        <a:body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tx2"/>
                        </a:solidFill>
                      </a:tcPr>
                    </a:tc>
                    <a:extLst>
                      <a:ext uri="{0D108BD9-81ED-4DB2-BD59-A6C34878D82A}">
                        <a16:rowId xmlns:a16="http://schemas.microsoft.com/office/drawing/2014/main" val="1935583098"/>
                      </a:ext>
                    </a:extLst>
                  </a:tr>
                  <a:tr h="253365">
                    <a:tc>
                      <a:txBody>
                        <a:bodyPr/>
                        <a:lstStyle/>
                        <a:p>
                          <a:endParaRPr lang="en-US"/>
                        </a:p>
                      </a:txBody>
                      <a:tcPr marL="9525" marR="9525" marT="9525" marB="0" anchor="b">
                        <a:blipFill>
                          <a:blip r:embed="rId10"/>
                          <a:stretch>
                            <a:fillRect l="-840" t="-102381" r="-1681" b="-347619"/>
                          </a:stretch>
                        </a:blipFill>
                      </a:tcPr>
                    </a:tc>
                    <a:extLst>
                      <a:ext uri="{0D108BD9-81ED-4DB2-BD59-A6C34878D82A}">
                        <a16:rowId xmlns:a16="http://schemas.microsoft.com/office/drawing/2014/main" val="4178472227"/>
                      </a:ext>
                    </a:extLst>
                  </a:tr>
                  <a:tr h="253365">
                    <a:tc>
                      <a:txBody>
                        <a:bodyPr/>
                        <a:lstStyle/>
                        <a:p>
                          <a:pPr algn="ctr" fontAlgn="b"/>
                          <a:r>
                            <a:rPr lang="en-US" sz="1600" u="none" strike="noStrike" dirty="0">
                              <a:effectLst/>
                            </a:rPr>
                            <a:t>1.80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40935072"/>
                      </a:ext>
                    </a:extLst>
                  </a:tr>
                  <a:tr h="253365">
                    <a:tc>
                      <a:txBody>
                        <a:bodyPr/>
                        <a:lstStyle/>
                        <a:p>
                          <a:pPr algn="ctr" fontAlgn="b"/>
                          <a:r>
                            <a:rPr lang="en-US" sz="1600" u="none" strike="noStrike" dirty="0">
                              <a:effectLst/>
                            </a:rPr>
                            <a:t>1.90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04948610"/>
                      </a:ext>
                    </a:extLst>
                  </a:tr>
                  <a:tr h="253365">
                    <a:tc>
                      <a:txBody>
                        <a:bodyPr/>
                        <a:lstStyle/>
                        <a:p>
                          <a:pPr algn="ctr" fontAlgn="b"/>
                          <a:r>
                            <a:rPr lang="en-US" sz="1600" u="none" strike="noStrike" dirty="0">
                              <a:effectLst/>
                            </a:rPr>
                            <a:t>1.60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25899638"/>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5" name="Table 14"/>
              <p:cNvGraphicFramePr>
                <a:graphicFrameLocks noGrp="1"/>
              </p:cNvGraphicFramePr>
              <p:nvPr>
                <p:extLst>
                  <p:ext uri="{D42A27DB-BD31-4B8C-83A1-F6EECF244321}">
                    <p14:modId xmlns:p14="http://schemas.microsoft.com/office/powerpoint/2010/main" val="267367936"/>
                  </p:ext>
                </p:extLst>
              </p:nvPr>
            </p:nvGraphicFramePr>
            <p:xfrm>
              <a:off x="849708" y="3374471"/>
              <a:ext cx="3240489" cy="253365"/>
            </p:xfrm>
            <a:graphic>
              <a:graphicData uri="http://schemas.openxmlformats.org/drawingml/2006/table">
                <a:tbl>
                  <a:tblPr>
                    <a:tableStyleId>{5C22544A-7EE6-4342-B048-85BDC9FD1C3A}</a:tableStyleId>
                  </a:tblPr>
                  <a:tblGrid>
                    <a:gridCol w="1299717">
                      <a:extLst>
                        <a:ext uri="{9D8B030D-6E8A-4147-A177-3AD203B41FA5}">
                          <a16:colId xmlns:a16="http://schemas.microsoft.com/office/drawing/2014/main" val="1659885154"/>
                        </a:ext>
                      </a:extLst>
                    </a:gridCol>
                    <a:gridCol w="648072">
                      <a:extLst>
                        <a:ext uri="{9D8B030D-6E8A-4147-A177-3AD203B41FA5}">
                          <a16:colId xmlns:a16="http://schemas.microsoft.com/office/drawing/2014/main" val="838963423"/>
                        </a:ext>
                      </a:extLst>
                    </a:gridCol>
                    <a:gridCol w="648072">
                      <a:extLst>
                        <a:ext uri="{9D8B030D-6E8A-4147-A177-3AD203B41FA5}">
                          <a16:colId xmlns:a16="http://schemas.microsoft.com/office/drawing/2014/main" val="3656921445"/>
                        </a:ext>
                      </a:extLst>
                    </a:gridCol>
                    <a:gridCol w="644628">
                      <a:extLst>
                        <a:ext uri="{9D8B030D-6E8A-4147-A177-3AD203B41FA5}">
                          <a16:colId xmlns:a16="http://schemas.microsoft.com/office/drawing/2014/main" val="2401808"/>
                        </a:ext>
                      </a:extLst>
                    </a:gridCol>
                  </a:tblGrid>
                  <a:tr h="190500">
                    <a:tc>
                      <a:txBody>
                        <a:bodyPr/>
                        <a:lstStyle/>
                        <a:p>
                          <a:pPr algn="ctr" fontAlgn="b"/>
                          <a14:m>
                            <m:oMathPara xmlns:m="http://schemas.openxmlformats.org/officeDocument/2006/math">
                              <m:oMathParaPr>
                                <m:jc m:val="center"/>
                              </m:oMathParaPr>
                              <m:oMath xmlns:m="http://schemas.openxmlformats.org/officeDocument/2006/math">
                                <m:r>
                                  <a:rPr lang="en-US" sz="1600" b="0" i="1" u="none" strike="noStrike" smtClean="0">
                                    <a:solidFill>
                                      <a:srgbClr val="000000"/>
                                    </a:solidFill>
                                    <a:effectLst/>
                                    <a:latin typeface="Cambria Math" panose="02040503050406030204" pitchFamily="18" charset="0"/>
                                    <a:ea typeface="Cambria Math" panose="02040503050406030204" pitchFamily="18" charset="0"/>
                                  </a:rPr>
                                  <m:t>𝜇</m:t>
                                </m:r>
                                <m:r>
                                  <a:rPr lang="en-US" sz="1600" b="0" i="1" u="none" strike="noStrike" smtClean="0">
                                    <a:solidFill>
                                      <a:srgbClr val="000000"/>
                                    </a:solidFill>
                                    <a:effectLst/>
                                    <a:latin typeface="Cambria Math" panose="02040503050406030204" pitchFamily="18" charset="0"/>
                                    <a:ea typeface="Cambria Math" panose="02040503050406030204" pitchFamily="18" charset="0"/>
                                  </a:rPr>
                                  <m:t>(</m:t>
                                </m:r>
                                <m:sSub>
                                  <m:sSubPr>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sSubPr>
                                  <m:e>
                                    <m:r>
                                      <a:rPr lang="en-US" sz="1600" b="0" i="1" u="none" strike="noStrike" smtClean="0">
                                        <a:solidFill>
                                          <a:srgbClr val="000000"/>
                                        </a:solidFill>
                                        <a:effectLst/>
                                        <a:latin typeface="Cambria Math" panose="02040503050406030204" pitchFamily="18" charset="0"/>
                                        <a:ea typeface="Cambria Math" panose="02040503050406030204" pitchFamily="18" charset="0"/>
                                      </a:rPr>
                                      <m:t>𝑦</m:t>
                                    </m:r>
                                  </m:e>
                                  <m:sub>
                                    <m:r>
                                      <a:rPr lang="en-US" sz="1600" b="0" i="1" u="none" strike="noStrike" smtClean="0">
                                        <a:solidFill>
                                          <a:srgbClr val="000000"/>
                                        </a:solidFill>
                                        <a:effectLst/>
                                        <a:latin typeface="Cambria Math" panose="02040503050406030204" pitchFamily="18" charset="0"/>
                                        <a:ea typeface="Cambria Math" panose="02040503050406030204" pitchFamily="18" charset="0"/>
                                      </a:rPr>
                                      <m:t>𝑖</m:t>
                                    </m:r>
                                  </m:sub>
                                </m:sSub>
                                <m:r>
                                  <a:rPr lang="en-US" sz="1600" b="0" i="1" u="none" strike="noStrike" smtClean="0">
                                    <a:solidFill>
                                      <a:srgbClr val="000000"/>
                                    </a:solidFill>
                                    <a:effectLst/>
                                    <a:latin typeface="Cambria Math" panose="02040503050406030204" pitchFamily="18" charset="0"/>
                                    <a:ea typeface="Cambria Math" panose="02040503050406030204" pitchFamily="18" charset="0"/>
                                  </a:rPr>
                                  <m:t>)</m:t>
                                </m:r>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dirty="0">
                              <a:effectLst/>
                            </a:rPr>
                            <a:t>3. 50</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1.5</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822019464"/>
                      </a:ext>
                    </a:extLst>
                  </a:tr>
                </a:tbl>
              </a:graphicData>
            </a:graphic>
          </p:graphicFrame>
        </mc:Choice>
        <mc:Fallback xmlns="">
          <p:graphicFrame>
            <p:nvGraphicFramePr>
              <p:cNvPr id="15" name="Table 14"/>
              <p:cNvGraphicFramePr>
                <a:graphicFrameLocks noGrp="1"/>
              </p:cNvGraphicFramePr>
              <p:nvPr>
                <p:extLst>
                  <p:ext uri="{D42A27DB-BD31-4B8C-83A1-F6EECF244321}">
                    <p14:modId xmlns:p14="http://schemas.microsoft.com/office/powerpoint/2010/main" val="267367936"/>
                  </p:ext>
                </p:extLst>
              </p:nvPr>
            </p:nvGraphicFramePr>
            <p:xfrm>
              <a:off x="849708" y="3374471"/>
              <a:ext cx="3240489" cy="253365"/>
            </p:xfrm>
            <a:graphic>
              <a:graphicData uri="http://schemas.openxmlformats.org/drawingml/2006/table">
                <a:tbl>
                  <a:tblPr>
                    <a:tableStyleId>{5C22544A-7EE6-4342-B048-85BDC9FD1C3A}</a:tableStyleId>
                  </a:tblPr>
                  <a:tblGrid>
                    <a:gridCol w="1299717">
                      <a:extLst>
                        <a:ext uri="{9D8B030D-6E8A-4147-A177-3AD203B41FA5}">
                          <a16:colId xmlns:a16="http://schemas.microsoft.com/office/drawing/2014/main" val="1659885154"/>
                        </a:ext>
                      </a:extLst>
                    </a:gridCol>
                    <a:gridCol w="648072">
                      <a:extLst>
                        <a:ext uri="{9D8B030D-6E8A-4147-A177-3AD203B41FA5}">
                          <a16:colId xmlns:a16="http://schemas.microsoft.com/office/drawing/2014/main" val="838963423"/>
                        </a:ext>
                      </a:extLst>
                    </a:gridCol>
                    <a:gridCol w="648072">
                      <a:extLst>
                        <a:ext uri="{9D8B030D-6E8A-4147-A177-3AD203B41FA5}">
                          <a16:colId xmlns:a16="http://schemas.microsoft.com/office/drawing/2014/main" val="3656921445"/>
                        </a:ext>
                      </a:extLst>
                    </a:gridCol>
                    <a:gridCol w="644628">
                      <a:extLst>
                        <a:ext uri="{9D8B030D-6E8A-4147-A177-3AD203B41FA5}">
                          <a16:colId xmlns:a16="http://schemas.microsoft.com/office/drawing/2014/main" val="2401808"/>
                        </a:ext>
                      </a:extLst>
                    </a:gridCol>
                  </a:tblGrid>
                  <a:tr h="253365">
                    <a:tc>
                      <a:txBody>
                        <a:bodyPr/>
                        <a:lstStyle/>
                        <a:p>
                          <a:endParaRPr lang="en-US"/>
                        </a:p>
                      </a:txBody>
                      <a:tcPr marL="9525" marR="9525" marT="9525" marB="0" anchor="b">
                        <a:blipFill>
                          <a:blip r:embed="rId11"/>
                          <a:stretch>
                            <a:fillRect l="-469" t="-16279" r="-151174" b="-48837"/>
                          </a:stretch>
                        </a:blipFill>
                      </a:tcPr>
                    </a:tc>
                    <a:tc>
                      <a:txBody>
                        <a:bodyPr/>
                        <a:lstStyle/>
                        <a:p>
                          <a:pPr algn="ctr" fontAlgn="b"/>
                          <a:r>
                            <a:rPr lang="en-US" sz="1600" u="none" strike="noStrike" dirty="0">
                              <a:effectLst/>
                            </a:rPr>
                            <a:t>3. 50</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1.5</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822019464"/>
                      </a:ext>
                    </a:extLst>
                  </a:tr>
                </a:tbl>
              </a:graphicData>
            </a:graphic>
          </p:graphicFrame>
        </mc:Fallback>
      </mc:AlternateContent>
      <mc:AlternateContent xmlns:mc="http://schemas.openxmlformats.org/markup-compatibility/2006" xmlns:a14="http://schemas.microsoft.com/office/drawing/2010/main">
        <mc:Choice Requires="a14">
          <p:sp>
            <p:nvSpPr>
              <p:cNvPr id="16" name="Rectangle 15"/>
              <p:cNvSpPr/>
              <p:nvPr/>
            </p:nvSpPr>
            <p:spPr>
              <a:xfrm>
                <a:off x="5063285" y="2659533"/>
                <a:ext cx="2812501" cy="369332"/>
              </a:xfrm>
              <a:prstGeom prst="rect">
                <a:avLst/>
              </a:prstGeom>
            </p:spPr>
            <p:txBody>
              <a:bodyPr wrap="none">
                <a:spAutoFit/>
              </a:bodyPr>
              <a:lstStyle/>
              <a:p>
                <a:pPr algn="ctr" fontAlgn="b"/>
                <a14:m>
                  <m:oMathPara xmlns:m="http://schemas.openxmlformats.org/officeDocument/2006/math">
                    <m:oMathParaPr>
                      <m:jc m:val="center"/>
                    </m:oMathParaPr>
                    <m:oMath xmlns:m="http://schemas.openxmlformats.org/officeDocument/2006/math">
                      <m:r>
                        <a:rPr lang="en-US" i="1" smtClean="0">
                          <a:solidFill>
                            <a:srgbClr val="000000"/>
                          </a:solidFill>
                          <a:latin typeface="Cambria Math" panose="02040503050406030204" pitchFamily="18" charset="0"/>
                          <a:ea typeface="Cambria Math" panose="02040503050406030204" pitchFamily="18" charset="0"/>
                        </a:rPr>
                        <m:t>𝜇</m:t>
                      </m:r>
                      <m:d>
                        <m:dPr>
                          <m:ctrlPr>
                            <a:rPr lang="en-US" b="0" i="1" smtClean="0">
                              <a:solidFill>
                                <a:srgbClr val="000000"/>
                              </a:solidFill>
                              <a:latin typeface="Cambria Math" panose="02040503050406030204" pitchFamily="18" charset="0"/>
                              <a:ea typeface="Cambria Math" panose="02040503050406030204" pitchFamily="18" charset="0"/>
                            </a:rPr>
                          </m:ctrlPr>
                        </m:dPr>
                        <m:e>
                          <m:sSup>
                            <m:sSupPr>
                              <m:ctrlPr>
                                <a:rPr lang="en-US" b="0" i="1" smtClean="0">
                                  <a:solidFill>
                                    <a:srgbClr val="000000"/>
                                  </a:solidFill>
                                  <a:latin typeface="Cambria Math" panose="02040503050406030204" pitchFamily="18" charset="0"/>
                                  <a:ea typeface="Cambria Math" panose="02040503050406030204" pitchFamily="18" charset="0"/>
                                </a:rPr>
                              </m:ctrlPr>
                            </m:sSupPr>
                            <m:e>
                              <m:r>
                                <a:rPr lang="en-US" b="0" i="1" smtClean="0">
                                  <a:solidFill>
                                    <a:srgbClr val="000000"/>
                                  </a:solidFill>
                                  <a:latin typeface="Cambria Math" panose="02040503050406030204" pitchFamily="18" charset="0"/>
                                  <a:ea typeface="Cambria Math" panose="02040503050406030204" pitchFamily="18" charset="0"/>
                                </a:rPr>
                                <m:t>𝑥</m:t>
                              </m:r>
                            </m:e>
                            <m:sup>
                              <m:r>
                                <a:rPr lang="en-US" b="0" i="1" smtClean="0">
                                  <a:solidFill>
                                    <a:srgbClr val="000000"/>
                                  </a:solidFill>
                                  <a:latin typeface="Cambria Math" panose="02040503050406030204" pitchFamily="18" charset="0"/>
                                  <a:ea typeface="Cambria Math" panose="02040503050406030204" pitchFamily="18" charset="0"/>
                                </a:rPr>
                                <m:t>∗</m:t>
                              </m:r>
                            </m:sup>
                          </m:sSup>
                        </m:e>
                      </m:d>
                      <m:r>
                        <a:rPr lang="en-US" b="0" i="1" smtClean="0">
                          <a:solidFill>
                            <a:srgbClr val="000000"/>
                          </a:solidFill>
                          <a:latin typeface="Cambria Math" panose="02040503050406030204" pitchFamily="18" charset="0"/>
                          <a:ea typeface="Cambria Math" panose="02040503050406030204" pitchFamily="18" charset="0"/>
                        </a:rPr>
                        <m:t>=</m:t>
                      </m:r>
                      <m:func>
                        <m:funcPr>
                          <m:ctrlPr>
                            <a:rPr lang="en-US" b="0" i="1" smtClean="0">
                              <a:solidFill>
                                <a:srgbClr val="000000"/>
                              </a:solidFill>
                              <a:latin typeface="Cambria Math" panose="02040503050406030204" pitchFamily="18" charset="0"/>
                              <a:ea typeface="Cambria Math" panose="02040503050406030204" pitchFamily="18" charset="0"/>
                            </a:rPr>
                          </m:ctrlPr>
                        </m:funcPr>
                        <m:fName>
                          <m:r>
                            <m:rPr>
                              <m:sty m:val="p"/>
                            </m:rPr>
                            <a:rPr lang="en-US" b="0" i="0" smtClean="0">
                              <a:solidFill>
                                <a:srgbClr val="000000"/>
                              </a:solidFill>
                              <a:latin typeface="Cambria Math" panose="02040503050406030204" pitchFamily="18" charset="0"/>
                              <a:ea typeface="Cambria Math" panose="02040503050406030204" pitchFamily="18" charset="0"/>
                            </a:rPr>
                            <m:t>max</m:t>
                          </m:r>
                        </m:fName>
                        <m:e>
                          <m:d>
                            <m:dPr>
                              <m:begChr m:val="{"/>
                              <m:endChr m:val="}"/>
                              <m:ctrlPr>
                                <a:rPr lang="en-US" b="0" i="1" smtClean="0">
                                  <a:solidFill>
                                    <a:srgbClr val="000000"/>
                                  </a:solidFill>
                                  <a:latin typeface="Cambria Math" panose="02040503050406030204" pitchFamily="18" charset="0"/>
                                  <a:ea typeface="Cambria Math" panose="02040503050406030204" pitchFamily="18" charset="0"/>
                                </a:rPr>
                              </m:ctrlPr>
                            </m:dPr>
                            <m:e>
                              <m:r>
                                <a:rPr lang="en-US" i="1">
                                  <a:solidFill>
                                    <a:srgbClr val="000000"/>
                                  </a:solidFill>
                                  <a:latin typeface="Cambria Math" panose="02040503050406030204" pitchFamily="18" charset="0"/>
                                  <a:ea typeface="Cambria Math" panose="02040503050406030204" pitchFamily="18" charset="0"/>
                                </a:rPr>
                                <m:t>𝜇</m:t>
                              </m:r>
                              <m:d>
                                <m:dPr>
                                  <m:ctrlPr>
                                    <a:rPr lang="en-US" i="1">
                                      <a:solidFill>
                                        <a:srgbClr val="000000"/>
                                      </a:solidFill>
                                      <a:latin typeface="Cambria Math" panose="02040503050406030204" pitchFamily="18" charset="0"/>
                                      <a:ea typeface="Cambria Math" panose="02040503050406030204" pitchFamily="18" charset="0"/>
                                    </a:rPr>
                                  </m:ctrlPr>
                                </m:dPr>
                                <m:e>
                                  <m:sSub>
                                    <m:sSubPr>
                                      <m:ctrlPr>
                                        <a:rPr lang="en-US" i="1">
                                          <a:solidFill>
                                            <a:srgbClr val="000000"/>
                                          </a:solidFill>
                                          <a:latin typeface="Cambria Math" panose="02040503050406030204" pitchFamily="18" charset="0"/>
                                          <a:ea typeface="Cambria Math" panose="02040503050406030204" pitchFamily="18" charset="0"/>
                                        </a:rPr>
                                      </m:ctrlPr>
                                    </m:sSubPr>
                                    <m:e>
                                      <m:r>
                                        <a:rPr lang="en-US" b="0" i="1" smtClean="0">
                                          <a:solidFill>
                                            <a:srgbClr val="000000"/>
                                          </a:solidFill>
                                          <a:latin typeface="Cambria Math" panose="02040503050406030204" pitchFamily="18" charset="0"/>
                                          <a:ea typeface="Cambria Math" panose="02040503050406030204" pitchFamily="18" charset="0"/>
                                        </a:rPr>
                                        <m:t>𝑥</m:t>
                                      </m:r>
                                    </m:e>
                                    <m:sub>
                                      <m:r>
                                        <a:rPr lang="en-US" i="1">
                                          <a:solidFill>
                                            <a:srgbClr val="000000"/>
                                          </a:solidFill>
                                          <a:latin typeface="Cambria Math" panose="02040503050406030204" pitchFamily="18" charset="0"/>
                                          <a:ea typeface="Cambria Math" panose="02040503050406030204" pitchFamily="18" charset="0"/>
                                        </a:rPr>
                                        <m:t>𝑖</m:t>
                                      </m:r>
                                    </m:sub>
                                  </m:sSub>
                                </m:e>
                              </m:d>
                            </m:e>
                          </m:d>
                        </m:e>
                      </m:func>
                      <m:r>
                        <a:rPr lang="en-US" b="0" i="1" smtClean="0">
                          <a:solidFill>
                            <a:srgbClr val="000000"/>
                          </a:solidFill>
                          <a:latin typeface="Cambria Math" panose="02040503050406030204" pitchFamily="18" charset="0"/>
                          <a:ea typeface="Cambria Math" panose="02040503050406030204" pitchFamily="18" charset="0"/>
                        </a:rPr>
                        <m:t>=</m:t>
                      </m:r>
                      <m:r>
                        <a:rPr lang="en-US" i="1" smtClean="0">
                          <a:solidFill>
                            <a:srgbClr val="000000"/>
                          </a:solidFill>
                          <a:latin typeface="Cambria Math" panose="02040503050406030204" pitchFamily="18" charset="0"/>
                          <a:ea typeface="Cambria Math" panose="02040503050406030204" pitchFamily="18" charset="0"/>
                        </a:rPr>
                        <m:t>1</m:t>
                      </m:r>
                      <m:r>
                        <a:rPr lang="en-US" b="0" i="1" smtClean="0">
                          <a:solidFill>
                            <a:srgbClr val="000000"/>
                          </a:solidFill>
                          <a:latin typeface="Cambria Math" panose="02040503050406030204" pitchFamily="18" charset="0"/>
                          <a:ea typeface="Cambria Math" panose="02040503050406030204" pitchFamily="18" charset="0"/>
                        </a:rPr>
                        <m:t>.9</m:t>
                      </m:r>
                    </m:oMath>
                  </m:oMathPara>
                </a14:m>
                <a:endParaRPr lang="en-US" dirty="0">
                  <a:solidFill>
                    <a:srgbClr val="000000"/>
                  </a:solidFill>
                  <a:latin typeface="Calibri" panose="020F0502020204030204" pitchFamily="34" charset="0"/>
                </a:endParaRPr>
              </a:p>
            </p:txBody>
          </p:sp>
        </mc:Choice>
        <mc:Fallback xmlns="">
          <p:sp>
            <p:nvSpPr>
              <p:cNvPr id="16" name="Rectangle 15"/>
              <p:cNvSpPr>
                <a:spLocks noRot="1" noChangeAspect="1" noMove="1" noResize="1" noEditPoints="1" noAdjustHandles="1" noChangeArrowheads="1" noChangeShapeType="1" noTextEdit="1"/>
              </p:cNvSpPr>
              <p:nvPr/>
            </p:nvSpPr>
            <p:spPr>
              <a:xfrm>
                <a:off x="5063285" y="2659533"/>
                <a:ext cx="2812501" cy="369332"/>
              </a:xfrm>
              <a:prstGeom prst="rect">
                <a:avLst/>
              </a:prstGeom>
              <a:blipFill>
                <a:blip r:embed="rId12"/>
                <a:stretch>
                  <a:fillRect b="-49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5078871" y="2272631"/>
                <a:ext cx="2610843" cy="369332"/>
              </a:xfrm>
              <a:prstGeom prst="rect">
                <a:avLst/>
              </a:prstGeom>
            </p:spPr>
            <p:txBody>
              <a:bodyPr wrap="none">
                <a:spAutoFit/>
              </a:bodyPr>
              <a:lstStyle/>
              <a:p>
                <a:pPr algn="ctr" fontAlgn="b"/>
                <a14:m>
                  <m:oMathPara xmlns:m="http://schemas.openxmlformats.org/officeDocument/2006/math">
                    <m:oMathParaPr>
                      <m:jc m:val="center"/>
                    </m:oMathParaPr>
                    <m:oMath xmlns:m="http://schemas.openxmlformats.org/officeDocument/2006/math">
                      <m:r>
                        <a:rPr lang="en-US" i="1" smtClean="0">
                          <a:solidFill>
                            <a:srgbClr val="000000"/>
                          </a:solidFill>
                          <a:latin typeface="Cambria Math" panose="02040503050406030204" pitchFamily="18" charset="0"/>
                          <a:ea typeface="Cambria Math" panose="02040503050406030204" pitchFamily="18" charset="0"/>
                        </a:rPr>
                        <m:t>𝜇</m:t>
                      </m:r>
                      <m:d>
                        <m:dPr>
                          <m:ctrlPr>
                            <a:rPr lang="en-US" b="0" i="1" smtClean="0">
                              <a:solidFill>
                                <a:srgbClr val="000000"/>
                              </a:solidFill>
                              <a:latin typeface="Cambria Math" panose="02040503050406030204" pitchFamily="18" charset="0"/>
                              <a:ea typeface="Cambria Math" panose="02040503050406030204" pitchFamily="18" charset="0"/>
                            </a:rPr>
                          </m:ctrlPr>
                        </m:dPr>
                        <m:e>
                          <m:sSup>
                            <m:sSupPr>
                              <m:ctrlPr>
                                <a:rPr lang="en-US" b="0" i="1" smtClean="0">
                                  <a:solidFill>
                                    <a:srgbClr val="000000"/>
                                  </a:solidFill>
                                  <a:latin typeface="Cambria Math" panose="02040503050406030204" pitchFamily="18" charset="0"/>
                                  <a:ea typeface="Cambria Math" panose="02040503050406030204" pitchFamily="18" charset="0"/>
                                </a:rPr>
                              </m:ctrlPr>
                            </m:sSupPr>
                            <m:e>
                              <m:r>
                                <a:rPr lang="en-US" b="0" i="1" smtClean="0">
                                  <a:solidFill>
                                    <a:srgbClr val="000000"/>
                                  </a:solidFill>
                                  <a:latin typeface="Cambria Math" panose="02040503050406030204" pitchFamily="18" charset="0"/>
                                  <a:ea typeface="Cambria Math" panose="02040503050406030204" pitchFamily="18" charset="0"/>
                                </a:rPr>
                                <m:t>𝑦</m:t>
                              </m:r>
                            </m:e>
                            <m:sup>
                              <m:r>
                                <a:rPr lang="en-US" b="0" i="1" smtClean="0">
                                  <a:solidFill>
                                    <a:srgbClr val="000000"/>
                                  </a:solidFill>
                                  <a:latin typeface="Cambria Math" panose="02040503050406030204" pitchFamily="18" charset="0"/>
                                  <a:ea typeface="Cambria Math" panose="02040503050406030204" pitchFamily="18" charset="0"/>
                                </a:rPr>
                                <m:t>∗</m:t>
                              </m:r>
                            </m:sup>
                          </m:sSup>
                        </m:e>
                      </m:d>
                      <m:r>
                        <a:rPr lang="en-US" b="0" i="1" smtClean="0">
                          <a:solidFill>
                            <a:srgbClr val="000000"/>
                          </a:solidFill>
                          <a:latin typeface="Cambria Math" panose="02040503050406030204" pitchFamily="18" charset="0"/>
                          <a:ea typeface="Cambria Math" panose="02040503050406030204" pitchFamily="18" charset="0"/>
                        </a:rPr>
                        <m:t>=</m:t>
                      </m:r>
                      <m:func>
                        <m:funcPr>
                          <m:ctrlPr>
                            <a:rPr lang="en-US" b="0" i="1" smtClean="0">
                              <a:solidFill>
                                <a:srgbClr val="000000"/>
                              </a:solidFill>
                              <a:latin typeface="Cambria Math" panose="02040503050406030204" pitchFamily="18" charset="0"/>
                              <a:ea typeface="Cambria Math" panose="02040503050406030204" pitchFamily="18" charset="0"/>
                            </a:rPr>
                          </m:ctrlPr>
                        </m:funcPr>
                        <m:fName>
                          <m:r>
                            <m:rPr>
                              <m:sty m:val="p"/>
                            </m:rPr>
                            <a:rPr lang="en-US" b="0" i="0" smtClean="0">
                              <a:solidFill>
                                <a:srgbClr val="000000"/>
                              </a:solidFill>
                              <a:latin typeface="Cambria Math" panose="02040503050406030204" pitchFamily="18" charset="0"/>
                              <a:ea typeface="Cambria Math" panose="02040503050406030204" pitchFamily="18" charset="0"/>
                            </a:rPr>
                            <m:t>min</m:t>
                          </m:r>
                        </m:fName>
                        <m:e>
                          <m:d>
                            <m:dPr>
                              <m:begChr m:val="{"/>
                              <m:endChr m:val="}"/>
                              <m:ctrlPr>
                                <a:rPr lang="en-US" b="0" i="1" smtClean="0">
                                  <a:solidFill>
                                    <a:srgbClr val="000000"/>
                                  </a:solidFill>
                                  <a:latin typeface="Cambria Math" panose="02040503050406030204" pitchFamily="18" charset="0"/>
                                  <a:ea typeface="Cambria Math" panose="02040503050406030204" pitchFamily="18" charset="0"/>
                                </a:rPr>
                              </m:ctrlPr>
                            </m:dPr>
                            <m:e>
                              <m:r>
                                <a:rPr lang="en-US" i="1">
                                  <a:solidFill>
                                    <a:srgbClr val="000000"/>
                                  </a:solidFill>
                                  <a:latin typeface="Cambria Math" panose="02040503050406030204" pitchFamily="18" charset="0"/>
                                  <a:ea typeface="Cambria Math" panose="02040503050406030204" pitchFamily="18" charset="0"/>
                                </a:rPr>
                                <m:t>𝜇</m:t>
                              </m:r>
                              <m:d>
                                <m:dPr>
                                  <m:ctrlPr>
                                    <a:rPr lang="en-US" i="1">
                                      <a:solidFill>
                                        <a:srgbClr val="000000"/>
                                      </a:solidFill>
                                      <a:latin typeface="Cambria Math" panose="02040503050406030204" pitchFamily="18" charset="0"/>
                                      <a:ea typeface="Cambria Math" panose="02040503050406030204" pitchFamily="18" charset="0"/>
                                    </a:rPr>
                                  </m:ctrlPr>
                                </m:dPr>
                                <m:e>
                                  <m:sSub>
                                    <m:sSubPr>
                                      <m:ctrlPr>
                                        <a:rPr lang="en-US" i="1">
                                          <a:solidFill>
                                            <a:srgbClr val="000000"/>
                                          </a:solidFill>
                                          <a:latin typeface="Cambria Math" panose="02040503050406030204" pitchFamily="18" charset="0"/>
                                          <a:ea typeface="Cambria Math" panose="02040503050406030204" pitchFamily="18" charset="0"/>
                                        </a:rPr>
                                      </m:ctrlPr>
                                    </m:sSubPr>
                                    <m:e>
                                      <m:r>
                                        <a:rPr lang="en-US" b="0" i="1" smtClean="0">
                                          <a:solidFill>
                                            <a:srgbClr val="000000"/>
                                          </a:solidFill>
                                          <a:latin typeface="Cambria Math" panose="02040503050406030204" pitchFamily="18" charset="0"/>
                                          <a:ea typeface="Cambria Math" panose="02040503050406030204" pitchFamily="18" charset="0"/>
                                        </a:rPr>
                                        <m:t>𝑦</m:t>
                                      </m:r>
                                    </m:e>
                                    <m:sub>
                                      <m:r>
                                        <a:rPr lang="en-US" i="1">
                                          <a:solidFill>
                                            <a:srgbClr val="000000"/>
                                          </a:solidFill>
                                          <a:latin typeface="Cambria Math" panose="02040503050406030204" pitchFamily="18" charset="0"/>
                                          <a:ea typeface="Cambria Math" panose="02040503050406030204" pitchFamily="18" charset="0"/>
                                        </a:rPr>
                                        <m:t>𝑖</m:t>
                                      </m:r>
                                    </m:sub>
                                  </m:sSub>
                                </m:e>
                              </m:d>
                            </m:e>
                          </m:d>
                        </m:e>
                      </m:func>
                      <m:r>
                        <a:rPr lang="en-US" b="0" i="1" smtClean="0">
                          <a:solidFill>
                            <a:srgbClr val="000000"/>
                          </a:solidFill>
                          <a:latin typeface="Cambria Math" panose="02040503050406030204" pitchFamily="18" charset="0"/>
                          <a:ea typeface="Cambria Math" panose="02040503050406030204" pitchFamily="18" charset="0"/>
                        </a:rPr>
                        <m:t>=</m:t>
                      </m:r>
                      <m:r>
                        <a:rPr lang="en-US" i="1" smtClean="0">
                          <a:solidFill>
                            <a:srgbClr val="000000"/>
                          </a:solidFill>
                          <a:latin typeface="Cambria Math" panose="02040503050406030204" pitchFamily="18" charset="0"/>
                          <a:ea typeface="Cambria Math" panose="02040503050406030204" pitchFamily="18" charset="0"/>
                        </a:rPr>
                        <m:t>1</m:t>
                      </m:r>
                    </m:oMath>
                  </m:oMathPara>
                </a14:m>
                <a:endParaRPr lang="en-US" dirty="0">
                  <a:solidFill>
                    <a:srgbClr val="000000"/>
                  </a:solidFill>
                  <a:latin typeface="Calibri" panose="020F0502020204030204" pitchFamily="34" charset="0"/>
                </a:endParaRPr>
              </a:p>
            </p:txBody>
          </p:sp>
        </mc:Choice>
        <mc:Fallback xmlns="">
          <p:sp>
            <p:nvSpPr>
              <p:cNvPr id="17" name="Rectangle 16"/>
              <p:cNvSpPr>
                <a:spLocks noRot="1" noChangeAspect="1" noMove="1" noResize="1" noEditPoints="1" noAdjustHandles="1" noChangeArrowheads="1" noChangeShapeType="1" noTextEdit="1"/>
              </p:cNvSpPr>
              <p:nvPr/>
            </p:nvSpPr>
            <p:spPr>
              <a:xfrm>
                <a:off x="5078871" y="2272631"/>
                <a:ext cx="2610843" cy="369332"/>
              </a:xfrm>
              <a:prstGeom prst="rect">
                <a:avLst/>
              </a:prstGeom>
              <a:blipFill>
                <a:blip r:embed="rId13"/>
                <a:stretch>
                  <a:fillRect b="-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4879748" y="3187296"/>
                <a:ext cx="3733474" cy="646331"/>
              </a:xfrm>
              <a:prstGeom prst="rect">
                <a:avLst/>
              </a:prstGeom>
              <a:noFill/>
            </p:spPr>
            <p:txBody>
              <a:bodyPr wrap="square" rtlCol="0">
                <a:spAutoFit/>
              </a:bodyPr>
              <a:lstStyle/>
              <a:p>
                <a:r>
                  <a:rPr lang="en-US" dirty="0"/>
                  <a:t>Strategy </a:t>
                </a:r>
                <a14:m>
                  <m:oMath xmlns:m="http://schemas.openxmlformats.org/officeDocument/2006/math">
                    <m:r>
                      <a:rPr lang="en-US" i="1" dirty="0" smtClean="0">
                        <a:latin typeface="Cambria Math" panose="02040503050406030204" pitchFamily="18" charset="0"/>
                      </a:rPr>
                      <m:t>(</m:t>
                    </m:r>
                    <m:r>
                      <a:rPr lang="en-US" i="1" dirty="0" err="1" smtClean="0">
                        <a:latin typeface="Cambria Math" panose="02040503050406030204" pitchFamily="18" charset="0"/>
                      </a:rPr>
                      <m:t>𝑥</m:t>
                    </m:r>
                    <m:r>
                      <a:rPr lang="en-US" i="1" dirty="0" err="1" smtClean="0">
                        <a:latin typeface="Cambria Math" panose="02040503050406030204" pitchFamily="18" charset="0"/>
                      </a:rPr>
                      <m:t>,</m:t>
                    </m:r>
                    <m:r>
                      <a:rPr lang="en-US" i="1" dirty="0" err="1" smtClean="0">
                        <a:latin typeface="Cambria Math" panose="02040503050406030204" pitchFamily="18" charset="0"/>
                      </a:rPr>
                      <m:t>𝑦</m:t>
                    </m:r>
                    <m:r>
                      <a:rPr lang="en-US" i="1" dirty="0" smtClean="0">
                        <a:latin typeface="Cambria Math" panose="02040503050406030204" pitchFamily="18" charset="0"/>
                      </a:rPr>
                      <m:t>) = (2,2)</m:t>
                    </m:r>
                  </m:oMath>
                </a14:m>
                <a:r>
                  <a:rPr lang="en-US" dirty="0"/>
                  <a:t> is not an equilibrium </a:t>
                </a:r>
              </a:p>
            </p:txBody>
          </p:sp>
        </mc:Choice>
        <mc:Fallback xmlns="">
          <p:sp>
            <p:nvSpPr>
              <p:cNvPr id="18" name="TextBox 17"/>
              <p:cNvSpPr txBox="1">
                <a:spLocks noRot="1" noChangeAspect="1" noMove="1" noResize="1" noEditPoints="1" noAdjustHandles="1" noChangeArrowheads="1" noChangeShapeType="1" noTextEdit="1"/>
              </p:cNvSpPr>
              <p:nvPr/>
            </p:nvSpPr>
            <p:spPr>
              <a:xfrm>
                <a:off x="4879748" y="3187296"/>
                <a:ext cx="3733474" cy="646331"/>
              </a:xfrm>
              <a:prstGeom prst="rect">
                <a:avLst/>
              </a:prstGeom>
              <a:blipFill>
                <a:blip r:embed="rId14"/>
                <a:stretch>
                  <a:fillRect l="-1305" t="-5660"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3507819" y="6161707"/>
                <a:ext cx="2797112" cy="369332"/>
              </a:xfrm>
              <a:prstGeom prst="rect">
                <a:avLst/>
              </a:prstGeom>
              <a:noFill/>
            </p:spPr>
            <p:txBody>
              <a:bodyPr wrap="none" rtlCol="0">
                <a:spAutoFit/>
              </a:bodyPr>
              <a:lstStyle/>
              <a:p>
                <a14:m>
                  <m:oMath xmlns:m="http://schemas.openxmlformats.org/officeDocument/2006/math">
                    <m:r>
                      <a:rPr lang="en-US" i="1" dirty="0" smtClean="0">
                        <a:latin typeface="Cambria Math" panose="02040503050406030204" pitchFamily="18" charset="0"/>
                      </a:rPr>
                      <m:t>𝑣</m:t>
                    </m:r>
                    <m:r>
                      <a:rPr lang="en-US" b="0" i="1" dirty="0" smtClean="0">
                        <a:latin typeface="Cambria Math" panose="02040503050406030204" pitchFamily="18" charset="0"/>
                      </a:rPr>
                      <m:t> </m:t>
                    </m:r>
                    <m:r>
                      <a:rPr lang="en-US" b="0" i="1" dirty="0" smtClean="0">
                        <a:latin typeface="Cambria Math" panose="02040503050406030204" pitchFamily="18" charset="0"/>
                        <a:ea typeface="Cambria Math" panose="02040503050406030204" pitchFamily="18" charset="0"/>
                      </a:rPr>
                      <m:t>≠0,  </m:t>
                    </m:r>
                  </m:oMath>
                </a14:m>
                <a:r>
                  <a:rPr lang="en-US" dirty="0" err="1"/>
                  <a:t>The</a:t>
                </a:r>
                <a:r>
                  <a:rPr lang="en-US" dirty="0"/>
                  <a:t> game is not fair</a:t>
                </a:r>
              </a:p>
            </p:txBody>
          </p:sp>
        </mc:Choice>
        <mc:Fallback xmlns="">
          <p:sp>
            <p:nvSpPr>
              <p:cNvPr id="19" name="TextBox 18"/>
              <p:cNvSpPr txBox="1">
                <a:spLocks noRot="1" noChangeAspect="1" noMove="1" noResize="1" noEditPoints="1" noAdjustHandles="1" noChangeArrowheads="1" noChangeShapeType="1" noTextEdit="1"/>
              </p:cNvSpPr>
              <p:nvPr/>
            </p:nvSpPr>
            <p:spPr>
              <a:xfrm>
                <a:off x="3507819" y="6161707"/>
                <a:ext cx="2797112" cy="369332"/>
              </a:xfrm>
              <a:prstGeom prst="rect">
                <a:avLst/>
              </a:prstGeom>
              <a:blipFill>
                <a:blip r:embed="rId15"/>
                <a:stretch>
                  <a:fillRect t="-10000" r="-1089" b="-26667"/>
                </a:stretch>
              </a:blipFill>
            </p:spPr>
            <p:txBody>
              <a:bodyPr/>
              <a:lstStyle/>
              <a:p>
                <a:r>
                  <a:rPr lang="en-US">
                    <a:noFill/>
                  </a:rPr>
                  <a:t> </a:t>
                </a:r>
              </a:p>
            </p:txBody>
          </p:sp>
        </mc:Fallback>
      </mc:AlternateContent>
    </p:spTree>
    <p:extLst>
      <p:ext uri="{BB962C8B-B14F-4D97-AF65-F5344CB8AC3E}">
        <p14:creationId xmlns:p14="http://schemas.microsoft.com/office/powerpoint/2010/main" val="2237603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1" grpId="0"/>
      <p:bldP spid="16" grpId="0"/>
      <p:bldP spid="17" grpId="0"/>
      <p:bldP spid="18" grpId="0"/>
      <p:bldP spid="1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02</a:t>
            </a:r>
          </a:p>
        </p:txBody>
      </p:sp>
      <p:sp>
        <p:nvSpPr>
          <p:cNvPr id="4" name="TextBox 3"/>
          <p:cNvSpPr txBox="1"/>
          <p:nvPr/>
        </p:nvSpPr>
        <p:spPr>
          <a:xfrm>
            <a:off x="611560" y="1444085"/>
            <a:ext cx="7848872" cy="430887"/>
          </a:xfrm>
          <a:prstGeom prst="rect">
            <a:avLst/>
          </a:prstGeom>
          <a:noFill/>
        </p:spPr>
        <p:txBody>
          <a:bodyPr wrap="square" rtlCol="0">
            <a:spAutoFit/>
          </a:bodyPr>
          <a:lstStyle/>
          <a:p>
            <a:r>
              <a:rPr lang="en-US" sz="2200" dirty="0"/>
              <a:t>Scissors, Stone and Paper Game      </a:t>
            </a:r>
            <a:r>
              <a:rPr lang="en-US" dirty="0"/>
              <a:t>(Check whether the game is fair or not)</a:t>
            </a:r>
          </a:p>
        </p:txBody>
      </p:sp>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3277211467"/>
                  </p:ext>
                </p:extLst>
              </p:nvPr>
            </p:nvGraphicFramePr>
            <p:xfrm>
              <a:off x="646219" y="1918320"/>
              <a:ext cx="1970892" cy="1044990"/>
            </p:xfrm>
            <a:graphic>
              <a:graphicData uri="http://schemas.openxmlformats.org/drawingml/2006/table">
                <a:tbl>
                  <a:tblPr>
                    <a:tableStyleId>{5C22544A-7EE6-4342-B048-85BDC9FD1C3A}</a:tableStyleId>
                  </a:tblPr>
                  <a:tblGrid>
                    <a:gridCol w="511593">
                      <a:extLst>
                        <a:ext uri="{9D8B030D-6E8A-4147-A177-3AD203B41FA5}">
                          <a16:colId xmlns:a16="http://schemas.microsoft.com/office/drawing/2014/main" val="3738874413"/>
                        </a:ext>
                      </a:extLst>
                    </a:gridCol>
                    <a:gridCol w="451187">
                      <a:extLst>
                        <a:ext uri="{9D8B030D-6E8A-4147-A177-3AD203B41FA5}">
                          <a16:colId xmlns:a16="http://schemas.microsoft.com/office/drawing/2014/main" val="2454115107"/>
                        </a:ext>
                      </a:extLst>
                    </a:gridCol>
                    <a:gridCol w="432048">
                      <a:extLst>
                        <a:ext uri="{9D8B030D-6E8A-4147-A177-3AD203B41FA5}">
                          <a16:colId xmlns:a16="http://schemas.microsoft.com/office/drawing/2014/main" val="1795178663"/>
                        </a:ext>
                      </a:extLst>
                    </a:gridCol>
                    <a:gridCol w="576064">
                      <a:extLst>
                        <a:ext uri="{9D8B030D-6E8A-4147-A177-3AD203B41FA5}">
                          <a16:colId xmlns:a16="http://schemas.microsoft.com/office/drawing/2014/main" val="1284286733"/>
                        </a:ext>
                      </a:extLst>
                    </a:gridCol>
                  </a:tblGrid>
                  <a:tr h="190500">
                    <a:tc>
                      <a:txBody>
                        <a:bodyPr/>
                        <a:lstStyle/>
                        <a:p>
                          <a:pPr algn="ctr" fontAlgn="b"/>
                          <a:r>
                            <a:rPr lang="en-US" sz="1600" u="none" strike="noStrike" dirty="0">
                              <a:effectLst/>
                            </a:rPr>
                            <a:t>A/B</a:t>
                          </a:r>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𝑆𝐶</m:t>
                                    </m:r>
                                  </m:e>
                                  <m:sub>
                                    <m:r>
                                      <a:rPr lang="en-US" sz="1600" b="0" i="1" u="none" strike="noStrike" dirty="0" smtClean="0">
                                        <a:effectLst/>
                                        <a:latin typeface="Cambria Math" panose="02040503050406030204" pitchFamily="18" charset="0"/>
                                      </a:rPr>
                                      <m:t>𝐵</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𝑆𝑇</m:t>
                                    </m:r>
                                  </m:e>
                                  <m:sub>
                                    <m:r>
                                      <a:rPr lang="en-US" sz="1600" b="0" i="1" u="none" strike="noStrike" dirty="0" smtClean="0">
                                        <a:effectLst/>
                                        <a:latin typeface="Cambria Math" panose="02040503050406030204" pitchFamily="18" charset="0"/>
                                      </a:rPr>
                                      <m:t>𝐵</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𝑃</m:t>
                                    </m:r>
                                  </m:e>
                                  <m:sub>
                                    <m:r>
                                      <a:rPr lang="en-US" sz="1600" b="0" i="1" u="none" strike="noStrike" dirty="0" smtClean="0">
                                        <a:effectLst/>
                                        <a:latin typeface="Cambria Math" panose="02040503050406030204" pitchFamily="18" charset="0"/>
                                      </a:rPr>
                                      <m:t>𝐵</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extLst>
                      <a:ext uri="{0D108BD9-81ED-4DB2-BD59-A6C34878D82A}">
                        <a16:rowId xmlns:a16="http://schemas.microsoft.com/office/drawing/2014/main" val="3042800791"/>
                      </a:ext>
                    </a:extLst>
                  </a:tr>
                  <a:tr h="284895">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𝑆𝐶</m:t>
                                    </m:r>
                                  </m:e>
                                  <m:sub>
                                    <m:r>
                                      <a:rPr lang="en-US" sz="1600" b="0" i="1" u="none" strike="noStrike" dirty="0" smtClean="0">
                                        <a:effectLst/>
                                        <a:latin typeface="Cambria Math" panose="02040503050406030204" pitchFamily="18" charset="0"/>
                                      </a:rPr>
                                      <m:t>𝐴</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59433256"/>
                      </a:ext>
                    </a:extLst>
                  </a:tr>
                  <a:tr h="190500">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𝑆𝑇</m:t>
                                    </m:r>
                                  </m:e>
                                  <m:sub>
                                    <m:r>
                                      <a:rPr lang="en-US" sz="1600" b="0" i="1" u="none" strike="noStrike" dirty="0" smtClean="0">
                                        <a:effectLst/>
                                        <a:latin typeface="Cambria Math" panose="02040503050406030204" pitchFamily="18" charset="0"/>
                                      </a:rPr>
                                      <m:t>𝐴</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b="0" i="0" u="none" strike="noStrike" dirty="0">
                              <a:solidFill>
                                <a:schemeClr val="dk1"/>
                              </a:solidFill>
                              <a:effectLst/>
                              <a:latin typeface="+mn-l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05982770"/>
                      </a:ext>
                    </a:extLst>
                  </a:tr>
                  <a:tr h="201942">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𝑃</m:t>
                                    </m:r>
                                  </m:e>
                                  <m:sub>
                                    <m:r>
                                      <a:rPr lang="en-US" sz="1600" b="0" i="1" u="none" strike="noStrike" dirty="0" smtClean="0">
                                        <a:effectLst/>
                                        <a:latin typeface="Cambria Math" panose="02040503050406030204" pitchFamily="18" charset="0"/>
                                      </a:rPr>
                                      <m:t>𝐴</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30496318"/>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3277211467"/>
                  </p:ext>
                </p:extLst>
              </p:nvPr>
            </p:nvGraphicFramePr>
            <p:xfrm>
              <a:off x="646219" y="1918320"/>
              <a:ext cx="1970892" cy="1044990"/>
            </p:xfrm>
            <a:graphic>
              <a:graphicData uri="http://schemas.openxmlformats.org/drawingml/2006/table">
                <a:tbl>
                  <a:tblPr>
                    <a:tableStyleId>{5C22544A-7EE6-4342-B048-85BDC9FD1C3A}</a:tableStyleId>
                  </a:tblPr>
                  <a:tblGrid>
                    <a:gridCol w="511593">
                      <a:extLst>
                        <a:ext uri="{9D8B030D-6E8A-4147-A177-3AD203B41FA5}">
                          <a16:colId xmlns:a16="http://schemas.microsoft.com/office/drawing/2014/main" val="3738874413"/>
                        </a:ext>
                      </a:extLst>
                    </a:gridCol>
                    <a:gridCol w="451187">
                      <a:extLst>
                        <a:ext uri="{9D8B030D-6E8A-4147-A177-3AD203B41FA5}">
                          <a16:colId xmlns:a16="http://schemas.microsoft.com/office/drawing/2014/main" val="2454115107"/>
                        </a:ext>
                      </a:extLst>
                    </a:gridCol>
                    <a:gridCol w="432048">
                      <a:extLst>
                        <a:ext uri="{9D8B030D-6E8A-4147-A177-3AD203B41FA5}">
                          <a16:colId xmlns:a16="http://schemas.microsoft.com/office/drawing/2014/main" val="1795178663"/>
                        </a:ext>
                      </a:extLst>
                    </a:gridCol>
                    <a:gridCol w="576064">
                      <a:extLst>
                        <a:ext uri="{9D8B030D-6E8A-4147-A177-3AD203B41FA5}">
                          <a16:colId xmlns:a16="http://schemas.microsoft.com/office/drawing/2014/main" val="1284286733"/>
                        </a:ext>
                      </a:extLst>
                    </a:gridCol>
                  </a:tblGrid>
                  <a:tr h="253365">
                    <a:tc>
                      <a:txBody>
                        <a:bodyPr/>
                        <a:lstStyle/>
                        <a:p>
                          <a:pPr algn="ctr" fontAlgn="b"/>
                          <a:r>
                            <a:rPr lang="en-US" sz="1600" u="none" strike="noStrike" dirty="0">
                              <a:effectLst/>
                            </a:rPr>
                            <a:t>A/B</a:t>
                          </a:r>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endParaRPr lang="en-US"/>
                        </a:p>
                      </a:txBody>
                      <a:tcPr marL="9525" marR="9525" marT="9525" marB="0" anchor="b">
                        <a:blipFill>
                          <a:blip r:embed="rId2"/>
                          <a:stretch>
                            <a:fillRect l="-116216" t="-16667" r="-227027" b="-361905"/>
                          </a:stretch>
                        </a:blipFill>
                      </a:tcPr>
                    </a:tc>
                    <a:tc>
                      <a:txBody>
                        <a:bodyPr/>
                        <a:lstStyle/>
                        <a:p>
                          <a:endParaRPr lang="en-US"/>
                        </a:p>
                      </a:txBody>
                      <a:tcPr marL="9525" marR="9525" marT="9525" marB="0" anchor="b">
                        <a:blipFill>
                          <a:blip r:embed="rId2"/>
                          <a:stretch>
                            <a:fillRect l="-225352" t="-16667" r="-136620" b="-361905"/>
                          </a:stretch>
                        </a:blipFill>
                      </a:tcPr>
                    </a:tc>
                    <a:tc>
                      <a:txBody>
                        <a:bodyPr/>
                        <a:lstStyle/>
                        <a:p>
                          <a:endParaRPr lang="en-US"/>
                        </a:p>
                      </a:txBody>
                      <a:tcPr marL="9525" marR="9525" marT="9525" marB="0" anchor="b">
                        <a:blipFill>
                          <a:blip r:embed="rId2"/>
                          <a:stretch>
                            <a:fillRect l="-243158" t="-16667" r="-2105" b="-361905"/>
                          </a:stretch>
                        </a:blipFill>
                      </a:tcPr>
                    </a:tc>
                    <a:extLst>
                      <a:ext uri="{0D108BD9-81ED-4DB2-BD59-A6C34878D82A}">
                        <a16:rowId xmlns:a16="http://schemas.microsoft.com/office/drawing/2014/main" val="3042800791"/>
                      </a:ext>
                    </a:extLst>
                  </a:tr>
                  <a:tr h="284895">
                    <a:tc>
                      <a:txBody>
                        <a:bodyPr/>
                        <a:lstStyle/>
                        <a:p>
                          <a:endParaRPr lang="en-US"/>
                        </a:p>
                      </a:txBody>
                      <a:tcPr marL="9525" marR="9525" marT="9525" marB="0" anchor="b">
                        <a:blipFill>
                          <a:blip r:embed="rId2"/>
                          <a:stretch>
                            <a:fillRect l="-2381" t="-104255" r="-288095" b="-223404"/>
                          </a:stretch>
                        </a:blipFill>
                      </a:tcPr>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59433256"/>
                      </a:ext>
                    </a:extLst>
                  </a:tr>
                  <a:tr h="253365">
                    <a:tc>
                      <a:txBody>
                        <a:bodyPr/>
                        <a:lstStyle/>
                        <a:p>
                          <a:endParaRPr lang="en-US"/>
                        </a:p>
                      </a:txBody>
                      <a:tcPr marL="9525" marR="9525" marT="9525" marB="0" anchor="b">
                        <a:blipFill>
                          <a:blip r:embed="rId2"/>
                          <a:stretch>
                            <a:fillRect l="-2381" t="-228571" r="-288095" b="-150000"/>
                          </a:stretch>
                        </a:blipFill>
                      </a:tcPr>
                    </a:tc>
                    <a:tc>
                      <a:txBody>
                        <a:bodyPr/>
                        <a:lstStyle/>
                        <a:p>
                          <a:pPr algn="ctr" fontAlgn="b"/>
                          <a:r>
                            <a:rPr lang="en-US" sz="1600" b="0" i="0" u="none" strike="noStrike" dirty="0">
                              <a:solidFill>
                                <a:schemeClr val="dk1"/>
                              </a:solidFill>
                              <a:effectLst/>
                              <a:latin typeface="+mn-l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05982770"/>
                      </a:ext>
                    </a:extLst>
                  </a:tr>
                  <a:tr h="253365">
                    <a:tc>
                      <a:txBody>
                        <a:bodyPr/>
                        <a:lstStyle/>
                        <a:p>
                          <a:endParaRPr lang="en-US"/>
                        </a:p>
                      </a:txBody>
                      <a:tcPr marL="9525" marR="9525" marT="9525" marB="0" anchor="b">
                        <a:blipFill>
                          <a:blip r:embed="rId2"/>
                          <a:stretch>
                            <a:fillRect l="-2381" t="-328571" r="-288095" b="-50000"/>
                          </a:stretch>
                        </a:blipFill>
                      </a:tcPr>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30496318"/>
                      </a:ext>
                    </a:extLst>
                  </a:tr>
                </a:tbl>
              </a:graphicData>
            </a:graphic>
          </p:graphicFrame>
        </mc:Fallback>
      </mc:AlternateContent>
      <mc:AlternateContent xmlns:mc="http://schemas.openxmlformats.org/markup-compatibility/2006" xmlns:a14="http://schemas.microsoft.com/office/drawing/2010/main">
        <mc:Choice Requires="a14">
          <p:sp>
            <p:nvSpPr>
              <p:cNvPr id="7" name="TextBox 6"/>
              <p:cNvSpPr txBox="1"/>
              <p:nvPr/>
            </p:nvSpPr>
            <p:spPr>
              <a:xfrm>
                <a:off x="2987824" y="1918320"/>
                <a:ext cx="4806700" cy="369332"/>
              </a:xfrm>
              <a:prstGeom prst="rect">
                <a:avLst/>
              </a:prstGeom>
              <a:noFill/>
            </p:spPr>
            <p:txBody>
              <a:bodyPr wrap="none" rtlCol="0">
                <a:spAutoFit/>
              </a:bodyPr>
              <a:lstStyle/>
              <a:p>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d>
                      <m:dPr>
                        <m:ctrlPr>
                          <a:rPr lang="en-US" i="1" smtClean="0">
                            <a:latin typeface="Cambria Math" panose="02040503050406030204" pitchFamily="18" charset="0"/>
                          </a:rPr>
                        </m:ctrlPr>
                      </m:dPr>
                      <m:e>
                        <m:r>
                          <m:rPr>
                            <m:nor/>
                          </m:rPr>
                          <a:rPr lang="en-US" dirty="0"/>
                          <m:t>1/3,1/3,1/3</m:t>
                        </m:r>
                      </m:e>
                    </m:d>
                  </m:oMath>
                </a14:m>
                <a:r>
                  <a:rPr lang="en-US" dirty="0"/>
                  <a:t>  &amp;   </a:t>
                </a:r>
                <a14:m>
                  <m:oMath xmlns:m="http://schemas.openxmlformats.org/officeDocument/2006/math">
                    <m:r>
                      <a:rPr lang="en-US" i="1">
                        <a:latin typeface="Cambria Math" panose="02040503050406030204" pitchFamily="18" charset="0"/>
                      </a:rPr>
                      <m:t>𝑃</m:t>
                    </m:r>
                    <m:r>
                      <a:rPr lang="en-US" i="1">
                        <a:latin typeface="Cambria Math" panose="02040503050406030204" pitchFamily="18" charset="0"/>
                      </a:rPr>
                      <m:t>(</m:t>
                    </m:r>
                    <m:r>
                      <a:rPr lang="en-US" b="0" i="1" smtClean="0">
                        <a:latin typeface="Cambria Math" panose="02040503050406030204" pitchFamily="18" charset="0"/>
                      </a:rPr>
                      <m:t>𝐵</m:t>
                    </m:r>
                    <m:r>
                      <a:rPr lang="en-US" i="1">
                        <a:latin typeface="Cambria Math" panose="02040503050406030204" pitchFamily="18" charset="0"/>
                      </a:rPr>
                      <m:t>)=</m:t>
                    </m:r>
                    <m:d>
                      <m:dPr>
                        <m:ctrlPr>
                          <a:rPr lang="en-US" i="1">
                            <a:latin typeface="Cambria Math" panose="02040503050406030204" pitchFamily="18" charset="0"/>
                          </a:rPr>
                        </m:ctrlPr>
                      </m:dPr>
                      <m:e>
                        <m:r>
                          <m:rPr>
                            <m:nor/>
                          </m:rPr>
                          <a:rPr lang="en-US" dirty="0"/>
                          <m:t>1/3,1/3,1/3</m:t>
                        </m:r>
                      </m:e>
                    </m:d>
                  </m:oMath>
                </a14:m>
                <a:r>
                  <a:rPr lang="en-US" dirty="0"/>
                  <a:t> </a:t>
                </a:r>
              </a:p>
            </p:txBody>
          </p:sp>
        </mc:Choice>
        <mc:Fallback xmlns="">
          <p:sp>
            <p:nvSpPr>
              <p:cNvPr id="7" name="TextBox 6"/>
              <p:cNvSpPr txBox="1">
                <a:spLocks noRot="1" noChangeAspect="1" noMove="1" noResize="1" noEditPoints="1" noAdjustHandles="1" noChangeArrowheads="1" noChangeShapeType="1" noTextEdit="1"/>
              </p:cNvSpPr>
              <p:nvPr/>
            </p:nvSpPr>
            <p:spPr>
              <a:xfrm>
                <a:off x="2987824" y="1918320"/>
                <a:ext cx="4806700" cy="369332"/>
              </a:xfrm>
              <a:prstGeom prst="rect">
                <a:avLst/>
              </a:prstGeom>
              <a:blipFill>
                <a:blip r:embed="rId3"/>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2892826" y="2243052"/>
                <a:ext cx="2831302" cy="79585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𝑣</m:t>
                      </m:r>
                      <m:r>
                        <a:rPr lang="en-US" i="1" smtClean="0">
                          <a:latin typeface="Cambria Math" panose="02040503050406030204" pitchFamily="18" charset="0"/>
                        </a:rPr>
                        <m:t>=</m:t>
                      </m:r>
                      <m:nary>
                        <m:naryPr>
                          <m:chr m:val="∑"/>
                          <m:supHide m:val="on"/>
                          <m:ctrlPr>
                            <a:rPr lang="en-US" i="1">
                              <a:latin typeface="Cambria Math" panose="02040503050406030204" pitchFamily="18" charset="0"/>
                            </a:rPr>
                          </m:ctrlPr>
                        </m:naryPr>
                        <m:sub>
                          <m:r>
                            <m:rPr>
                              <m:brk m:alnAt="25"/>
                            </m:rPr>
                            <a:rPr lang="en-US" i="1">
                              <a:latin typeface="Cambria Math" panose="02040503050406030204" pitchFamily="18" charset="0"/>
                            </a:rPr>
                            <m:t>1</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≤3,1≤</m:t>
                          </m:r>
                          <m:r>
                            <a:rPr lang="en-US" i="1">
                              <a:latin typeface="Cambria Math" panose="02040503050406030204" pitchFamily="18" charset="0"/>
                              <a:ea typeface="Cambria Math" panose="02040503050406030204" pitchFamily="18" charset="0"/>
                            </a:rPr>
                            <m:t>𝑗</m:t>
                          </m:r>
                          <m:r>
                            <a:rPr lang="en-US" i="1">
                              <a:latin typeface="Cambria Math" panose="02040503050406030204" pitchFamily="18" charset="0"/>
                              <a:ea typeface="Cambria Math" panose="02040503050406030204" pitchFamily="18" charset="0"/>
                            </a:rPr>
                            <m:t>≤3</m:t>
                          </m:r>
                        </m:sub>
                        <m:sup/>
                        <m:e>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𝑖𝑗</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𝑗</m:t>
                              </m:r>
                            </m:sub>
                          </m:sSub>
                        </m:e>
                      </m:nary>
                      <m:r>
                        <a:rPr lang="en-US" b="0" i="1" smtClean="0">
                          <a:latin typeface="Cambria Math" panose="02040503050406030204" pitchFamily="18" charset="0"/>
                        </a:rPr>
                        <m:t>=0</m:t>
                      </m:r>
                    </m:oMath>
                  </m:oMathPara>
                </a14:m>
                <a:endParaRPr lang="en-US" dirty="0"/>
              </a:p>
            </p:txBody>
          </p:sp>
        </mc:Choice>
        <mc:Fallback xmlns="">
          <p:sp>
            <p:nvSpPr>
              <p:cNvPr id="8" name="Rectangle 7"/>
              <p:cNvSpPr>
                <a:spLocks noRot="1" noChangeAspect="1" noMove="1" noResize="1" noEditPoints="1" noAdjustHandles="1" noChangeArrowheads="1" noChangeShapeType="1" noTextEdit="1"/>
              </p:cNvSpPr>
              <p:nvPr/>
            </p:nvSpPr>
            <p:spPr>
              <a:xfrm>
                <a:off x="2892826" y="2243052"/>
                <a:ext cx="2831302" cy="79585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6300192" y="2456315"/>
                <a:ext cx="1897507" cy="369332"/>
              </a:xfrm>
              <a:prstGeom prst="rect">
                <a:avLst/>
              </a:prstGeom>
            </p:spPr>
            <p:txBody>
              <a:bodyPr wrap="none">
                <a:spAutoFit/>
              </a:bodyPr>
              <a:lstStyle/>
              <a:p>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oMath>
                </a14:m>
                <a:r>
                  <a:rPr lang="en-US" dirty="0"/>
                  <a:t>The game is fair </a:t>
                </a:r>
              </a:p>
            </p:txBody>
          </p:sp>
        </mc:Choice>
        <mc:Fallback xmlns="">
          <p:sp>
            <p:nvSpPr>
              <p:cNvPr id="9" name="Rectangle 8"/>
              <p:cNvSpPr>
                <a:spLocks noRot="1" noChangeAspect="1" noMove="1" noResize="1" noEditPoints="1" noAdjustHandles="1" noChangeArrowheads="1" noChangeShapeType="1" noTextEdit="1"/>
              </p:cNvSpPr>
              <p:nvPr/>
            </p:nvSpPr>
            <p:spPr>
              <a:xfrm>
                <a:off x="6300192" y="2456315"/>
                <a:ext cx="1897507" cy="369332"/>
              </a:xfrm>
              <a:prstGeom prst="rect">
                <a:avLst/>
              </a:prstGeom>
              <a:blipFill>
                <a:blip r:embed="rId5"/>
                <a:stretch>
                  <a:fillRect t="-9836" r="-1603"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1" name="Table 20"/>
              <p:cNvGraphicFramePr>
                <a:graphicFrameLocks noGrp="1"/>
              </p:cNvGraphicFramePr>
              <p:nvPr>
                <p:extLst>
                  <p:ext uri="{D42A27DB-BD31-4B8C-83A1-F6EECF244321}">
                    <p14:modId xmlns:p14="http://schemas.microsoft.com/office/powerpoint/2010/main" val="3907710452"/>
                  </p:ext>
                </p:extLst>
              </p:nvPr>
            </p:nvGraphicFramePr>
            <p:xfrm>
              <a:off x="643926" y="3364385"/>
              <a:ext cx="2742208" cy="1854200"/>
            </p:xfrm>
            <a:graphic>
              <a:graphicData uri="http://schemas.openxmlformats.org/drawingml/2006/table">
                <a:tbl>
                  <a:tblPr firstRow="1" bandRow="1">
                    <a:tableStyleId>{5C22544A-7EE6-4342-B048-85BDC9FD1C3A}</a:tableStyleId>
                  </a:tblPr>
                  <a:tblGrid>
                    <a:gridCol w="1237831">
                      <a:extLst>
                        <a:ext uri="{9D8B030D-6E8A-4147-A177-3AD203B41FA5}">
                          <a16:colId xmlns:a16="http://schemas.microsoft.com/office/drawing/2014/main" val="3258696081"/>
                        </a:ext>
                      </a:extLst>
                    </a:gridCol>
                    <a:gridCol w="792088">
                      <a:extLst>
                        <a:ext uri="{9D8B030D-6E8A-4147-A177-3AD203B41FA5}">
                          <a16:colId xmlns:a16="http://schemas.microsoft.com/office/drawing/2014/main" val="177284677"/>
                        </a:ext>
                      </a:extLst>
                    </a:gridCol>
                    <a:gridCol w="712289">
                      <a:extLst>
                        <a:ext uri="{9D8B030D-6E8A-4147-A177-3AD203B41FA5}">
                          <a16:colId xmlns:a16="http://schemas.microsoft.com/office/drawing/2014/main" val="358160766"/>
                        </a:ext>
                      </a:extLst>
                    </a:gridCol>
                  </a:tblGrid>
                  <a:tr h="370840">
                    <a:tc>
                      <a:txBody>
                        <a:bodyPr/>
                        <a:lstStyle/>
                        <a:p>
                          <a:pPr algn="ctr"/>
                          <a:r>
                            <a:rPr lang="en-US" dirty="0"/>
                            <a:t>A\B</a:t>
                          </a:r>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2</m:t>
                                    </m:r>
                                  </m:sub>
                                </m:sSub>
                              </m:oMath>
                            </m:oMathPara>
                          </a14:m>
                          <a:endParaRPr lang="en-US" dirty="0"/>
                        </a:p>
                      </a:txBody>
                      <a:tcPr/>
                    </a:tc>
                    <a:extLst>
                      <a:ext uri="{0D108BD9-81ED-4DB2-BD59-A6C34878D82A}">
                        <a16:rowId xmlns:a16="http://schemas.microsoft.com/office/drawing/2014/main" val="1802598019"/>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US" dirty="0"/>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3891779256"/>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𝑎</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oMath>
                            </m:oMathPara>
                          </a14:m>
                          <a:endParaRPr lang="en-US" dirty="0"/>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1086339649"/>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𝑎</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sub>
                                </m:sSub>
                              </m:oMath>
                            </m:oMathPara>
                          </a14:m>
                          <a:endParaRPr lang="en-US" dirty="0"/>
                        </a:p>
                      </a:txBody>
                      <a:tcPr/>
                    </a:tc>
                    <a:tc>
                      <a:txBody>
                        <a:bodyPr/>
                        <a:lstStyle/>
                        <a:p>
                          <a:pPr algn="ctr"/>
                          <a:r>
                            <a:rPr lang="en-US" dirty="0"/>
                            <a:t>0</a:t>
                          </a:r>
                        </a:p>
                      </a:txBody>
                      <a:tcPr/>
                    </a:tc>
                    <a:tc>
                      <a:txBody>
                        <a:bodyPr/>
                        <a:lstStyle/>
                        <a:p>
                          <a:pPr algn="ctr"/>
                          <a:r>
                            <a:rPr lang="en-US" dirty="0"/>
                            <a:t>-2</a:t>
                          </a:r>
                        </a:p>
                      </a:txBody>
                      <a:tcPr/>
                    </a:tc>
                    <a:extLst>
                      <a:ext uri="{0D108BD9-81ED-4DB2-BD59-A6C34878D82A}">
                        <a16:rowId xmlns:a16="http://schemas.microsoft.com/office/drawing/2014/main" val="269740577"/>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𝑎</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4</m:t>
                                    </m:r>
                                  </m:sub>
                                </m:sSub>
                              </m:oMath>
                            </m:oMathPara>
                          </a14:m>
                          <a:endParaRPr lang="en-US" dirty="0"/>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1408248920"/>
                      </a:ext>
                    </a:extLst>
                  </a:tr>
                </a:tbl>
              </a:graphicData>
            </a:graphic>
          </p:graphicFrame>
        </mc:Choice>
        <mc:Fallback xmlns="">
          <p:graphicFrame>
            <p:nvGraphicFramePr>
              <p:cNvPr id="21" name="Table 20"/>
              <p:cNvGraphicFramePr>
                <a:graphicFrameLocks noGrp="1"/>
              </p:cNvGraphicFramePr>
              <p:nvPr>
                <p:extLst>
                  <p:ext uri="{D42A27DB-BD31-4B8C-83A1-F6EECF244321}">
                    <p14:modId xmlns:p14="http://schemas.microsoft.com/office/powerpoint/2010/main" val="3907710452"/>
                  </p:ext>
                </p:extLst>
              </p:nvPr>
            </p:nvGraphicFramePr>
            <p:xfrm>
              <a:off x="643926" y="3364385"/>
              <a:ext cx="2742208" cy="1854200"/>
            </p:xfrm>
            <a:graphic>
              <a:graphicData uri="http://schemas.openxmlformats.org/drawingml/2006/table">
                <a:tbl>
                  <a:tblPr firstRow="1" bandRow="1">
                    <a:tableStyleId>{5C22544A-7EE6-4342-B048-85BDC9FD1C3A}</a:tableStyleId>
                  </a:tblPr>
                  <a:tblGrid>
                    <a:gridCol w="1237831">
                      <a:extLst>
                        <a:ext uri="{9D8B030D-6E8A-4147-A177-3AD203B41FA5}">
                          <a16:colId xmlns:a16="http://schemas.microsoft.com/office/drawing/2014/main" val="3258696081"/>
                        </a:ext>
                      </a:extLst>
                    </a:gridCol>
                    <a:gridCol w="792088">
                      <a:extLst>
                        <a:ext uri="{9D8B030D-6E8A-4147-A177-3AD203B41FA5}">
                          <a16:colId xmlns:a16="http://schemas.microsoft.com/office/drawing/2014/main" val="177284677"/>
                        </a:ext>
                      </a:extLst>
                    </a:gridCol>
                    <a:gridCol w="712289">
                      <a:extLst>
                        <a:ext uri="{9D8B030D-6E8A-4147-A177-3AD203B41FA5}">
                          <a16:colId xmlns:a16="http://schemas.microsoft.com/office/drawing/2014/main" val="358160766"/>
                        </a:ext>
                      </a:extLst>
                    </a:gridCol>
                  </a:tblGrid>
                  <a:tr h="370840">
                    <a:tc>
                      <a:txBody>
                        <a:bodyPr/>
                        <a:lstStyle/>
                        <a:p>
                          <a:pPr algn="ctr"/>
                          <a:r>
                            <a:rPr lang="en-US" dirty="0"/>
                            <a:t>A\B</a:t>
                          </a:r>
                        </a:p>
                      </a:txBody>
                      <a:tcPr/>
                    </a:tc>
                    <a:tc>
                      <a:txBody>
                        <a:bodyPr/>
                        <a:lstStyle/>
                        <a:p>
                          <a:endParaRPr lang="en-US"/>
                        </a:p>
                      </a:txBody>
                      <a:tcPr>
                        <a:blipFill>
                          <a:blip r:embed="rId6"/>
                          <a:stretch>
                            <a:fillRect l="-157692" t="-8197" r="-93077" b="-424590"/>
                          </a:stretch>
                        </a:blipFill>
                      </a:tcPr>
                    </a:tc>
                    <a:tc>
                      <a:txBody>
                        <a:bodyPr/>
                        <a:lstStyle/>
                        <a:p>
                          <a:endParaRPr lang="en-US"/>
                        </a:p>
                      </a:txBody>
                      <a:tcPr>
                        <a:blipFill>
                          <a:blip r:embed="rId6"/>
                          <a:stretch>
                            <a:fillRect l="-286325" t="-8197" r="-3419" b="-424590"/>
                          </a:stretch>
                        </a:blipFill>
                      </a:tcPr>
                    </a:tc>
                    <a:extLst>
                      <a:ext uri="{0D108BD9-81ED-4DB2-BD59-A6C34878D82A}">
                        <a16:rowId xmlns:a16="http://schemas.microsoft.com/office/drawing/2014/main" val="1802598019"/>
                      </a:ext>
                    </a:extLst>
                  </a:tr>
                  <a:tr h="370840">
                    <a:tc>
                      <a:txBody>
                        <a:bodyPr/>
                        <a:lstStyle/>
                        <a:p>
                          <a:endParaRPr lang="en-US"/>
                        </a:p>
                      </a:txBody>
                      <a:tcPr>
                        <a:blipFill>
                          <a:blip r:embed="rId6"/>
                          <a:stretch>
                            <a:fillRect l="-490" t="-108197" r="-123039" b="-324590"/>
                          </a:stretch>
                        </a:blipFill>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3891779256"/>
                      </a:ext>
                    </a:extLst>
                  </a:tr>
                  <a:tr h="370840">
                    <a:tc>
                      <a:txBody>
                        <a:bodyPr/>
                        <a:lstStyle/>
                        <a:p>
                          <a:endParaRPr lang="en-US"/>
                        </a:p>
                      </a:txBody>
                      <a:tcPr>
                        <a:blipFill>
                          <a:blip r:embed="rId6"/>
                          <a:stretch>
                            <a:fillRect l="-490" t="-204839" r="-123039" b="-219355"/>
                          </a:stretch>
                        </a:blipFill>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1086339649"/>
                      </a:ext>
                    </a:extLst>
                  </a:tr>
                  <a:tr h="370840">
                    <a:tc>
                      <a:txBody>
                        <a:bodyPr/>
                        <a:lstStyle/>
                        <a:p>
                          <a:endParaRPr lang="en-US"/>
                        </a:p>
                      </a:txBody>
                      <a:tcPr>
                        <a:blipFill>
                          <a:blip r:embed="rId6"/>
                          <a:stretch>
                            <a:fillRect l="-490" t="-309836" r="-123039" b="-122951"/>
                          </a:stretch>
                        </a:blipFill>
                      </a:tcPr>
                    </a:tc>
                    <a:tc>
                      <a:txBody>
                        <a:bodyPr/>
                        <a:lstStyle/>
                        <a:p>
                          <a:pPr algn="ctr"/>
                          <a:r>
                            <a:rPr lang="en-US" dirty="0"/>
                            <a:t>0</a:t>
                          </a:r>
                        </a:p>
                      </a:txBody>
                      <a:tcPr/>
                    </a:tc>
                    <a:tc>
                      <a:txBody>
                        <a:bodyPr/>
                        <a:lstStyle/>
                        <a:p>
                          <a:pPr algn="ctr"/>
                          <a:r>
                            <a:rPr lang="en-US" dirty="0"/>
                            <a:t>-2</a:t>
                          </a:r>
                        </a:p>
                      </a:txBody>
                      <a:tcPr/>
                    </a:tc>
                    <a:extLst>
                      <a:ext uri="{0D108BD9-81ED-4DB2-BD59-A6C34878D82A}">
                        <a16:rowId xmlns:a16="http://schemas.microsoft.com/office/drawing/2014/main" val="269740577"/>
                      </a:ext>
                    </a:extLst>
                  </a:tr>
                  <a:tr h="370840">
                    <a:tc>
                      <a:txBody>
                        <a:bodyPr/>
                        <a:lstStyle/>
                        <a:p>
                          <a:endParaRPr lang="en-US"/>
                        </a:p>
                      </a:txBody>
                      <a:tcPr>
                        <a:blipFill>
                          <a:blip r:embed="rId6"/>
                          <a:stretch>
                            <a:fillRect l="-490" t="-409836" r="-123039" b="-22951"/>
                          </a:stretch>
                        </a:blipFill>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1408248920"/>
                      </a:ext>
                    </a:extLst>
                  </a:tr>
                </a:tbl>
              </a:graphicData>
            </a:graphic>
          </p:graphicFrame>
        </mc:Fallback>
      </mc:AlternateContent>
      <p:sp>
        <p:nvSpPr>
          <p:cNvPr id="22" name="Rectangle 21"/>
          <p:cNvSpPr/>
          <p:nvPr/>
        </p:nvSpPr>
        <p:spPr>
          <a:xfrm>
            <a:off x="3476261" y="3241854"/>
            <a:ext cx="4647939" cy="430887"/>
          </a:xfrm>
          <a:prstGeom prst="rect">
            <a:avLst/>
          </a:prstGeom>
        </p:spPr>
        <p:txBody>
          <a:bodyPr wrap="none">
            <a:spAutoFit/>
          </a:bodyPr>
          <a:lstStyle/>
          <a:p>
            <a:r>
              <a:rPr lang="en-US" sz="2200" dirty="0"/>
              <a:t>Check whether the game is fair or not</a:t>
            </a:r>
            <a:endParaRPr lang="en-US" dirty="0"/>
          </a:p>
        </p:txBody>
      </p:sp>
      <mc:AlternateContent xmlns:mc="http://schemas.openxmlformats.org/markup-compatibility/2006" xmlns:a14="http://schemas.microsoft.com/office/drawing/2010/main">
        <mc:Choice Requires="a14">
          <p:graphicFrame>
            <p:nvGraphicFramePr>
              <p:cNvPr id="23" name="Table 22"/>
              <p:cNvGraphicFramePr>
                <a:graphicFrameLocks noGrp="1"/>
              </p:cNvGraphicFramePr>
              <p:nvPr>
                <p:extLst>
                  <p:ext uri="{D42A27DB-BD31-4B8C-83A1-F6EECF244321}">
                    <p14:modId xmlns:p14="http://schemas.microsoft.com/office/powerpoint/2010/main" val="1512826343"/>
                  </p:ext>
                </p:extLst>
              </p:nvPr>
            </p:nvGraphicFramePr>
            <p:xfrm>
              <a:off x="3555691" y="4106065"/>
              <a:ext cx="2742208" cy="1112520"/>
            </p:xfrm>
            <a:graphic>
              <a:graphicData uri="http://schemas.openxmlformats.org/drawingml/2006/table">
                <a:tbl>
                  <a:tblPr firstRow="1" bandRow="1">
                    <a:tableStyleId>{5C22544A-7EE6-4342-B048-85BDC9FD1C3A}</a:tableStyleId>
                  </a:tblPr>
                  <a:tblGrid>
                    <a:gridCol w="1237831">
                      <a:extLst>
                        <a:ext uri="{9D8B030D-6E8A-4147-A177-3AD203B41FA5}">
                          <a16:colId xmlns:a16="http://schemas.microsoft.com/office/drawing/2014/main" val="3258696081"/>
                        </a:ext>
                      </a:extLst>
                    </a:gridCol>
                    <a:gridCol w="792088">
                      <a:extLst>
                        <a:ext uri="{9D8B030D-6E8A-4147-A177-3AD203B41FA5}">
                          <a16:colId xmlns:a16="http://schemas.microsoft.com/office/drawing/2014/main" val="177284677"/>
                        </a:ext>
                      </a:extLst>
                    </a:gridCol>
                    <a:gridCol w="712289">
                      <a:extLst>
                        <a:ext uri="{9D8B030D-6E8A-4147-A177-3AD203B41FA5}">
                          <a16:colId xmlns:a16="http://schemas.microsoft.com/office/drawing/2014/main" val="358160766"/>
                        </a:ext>
                      </a:extLst>
                    </a:gridCol>
                  </a:tblGrid>
                  <a:tr h="370840">
                    <a:tc>
                      <a:txBody>
                        <a:bodyPr/>
                        <a:lstStyle/>
                        <a:p>
                          <a:pPr algn="ctr"/>
                          <a:r>
                            <a:rPr lang="en-US" dirty="0"/>
                            <a:t>A\B</a:t>
                          </a:r>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2</m:t>
                                    </m:r>
                                  </m:sub>
                                </m:sSub>
                              </m:oMath>
                            </m:oMathPara>
                          </a14:m>
                          <a:endParaRPr lang="en-US" dirty="0"/>
                        </a:p>
                      </a:txBody>
                      <a:tcPr/>
                    </a:tc>
                    <a:extLst>
                      <a:ext uri="{0D108BD9-81ED-4DB2-BD59-A6C34878D82A}">
                        <a16:rowId xmlns:a16="http://schemas.microsoft.com/office/drawing/2014/main" val="1802598019"/>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US" dirty="0"/>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3891779256"/>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𝑎</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oMath>
                            </m:oMathPara>
                          </a14:m>
                          <a:endParaRPr lang="en-US" dirty="0"/>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1086339649"/>
                      </a:ext>
                    </a:extLst>
                  </a:tr>
                </a:tbl>
              </a:graphicData>
            </a:graphic>
          </p:graphicFrame>
        </mc:Choice>
        <mc:Fallback xmlns="">
          <p:graphicFrame>
            <p:nvGraphicFramePr>
              <p:cNvPr id="23" name="Table 22"/>
              <p:cNvGraphicFramePr>
                <a:graphicFrameLocks noGrp="1"/>
              </p:cNvGraphicFramePr>
              <p:nvPr>
                <p:extLst>
                  <p:ext uri="{D42A27DB-BD31-4B8C-83A1-F6EECF244321}">
                    <p14:modId xmlns:p14="http://schemas.microsoft.com/office/powerpoint/2010/main" val="1512826343"/>
                  </p:ext>
                </p:extLst>
              </p:nvPr>
            </p:nvGraphicFramePr>
            <p:xfrm>
              <a:off x="3555691" y="4106065"/>
              <a:ext cx="2742208" cy="1112520"/>
            </p:xfrm>
            <a:graphic>
              <a:graphicData uri="http://schemas.openxmlformats.org/drawingml/2006/table">
                <a:tbl>
                  <a:tblPr firstRow="1" bandRow="1">
                    <a:tableStyleId>{5C22544A-7EE6-4342-B048-85BDC9FD1C3A}</a:tableStyleId>
                  </a:tblPr>
                  <a:tblGrid>
                    <a:gridCol w="1237831">
                      <a:extLst>
                        <a:ext uri="{9D8B030D-6E8A-4147-A177-3AD203B41FA5}">
                          <a16:colId xmlns:a16="http://schemas.microsoft.com/office/drawing/2014/main" val="3258696081"/>
                        </a:ext>
                      </a:extLst>
                    </a:gridCol>
                    <a:gridCol w="792088">
                      <a:extLst>
                        <a:ext uri="{9D8B030D-6E8A-4147-A177-3AD203B41FA5}">
                          <a16:colId xmlns:a16="http://schemas.microsoft.com/office/drawing/2014/main" val="177284677"/>
                        </a:ext>
                      </a:extLst>
                    </a:gridCol>
                    <a:gridCol w="712289">
                      <a:extLst>
                        <a:ext uri="{9D8B030D-6E8A-4147-A177-3AD203B41FA5}">
                          <a16:colId xmlns:a16="http://schemas.microsoft.com/office/drawing/2014/main" val="358160766"/>
                        </a:ext>
                      </a:extLst>
                    </a:gridCol>
                  </a:tblGrid>
                  <a:tr h="370840">
                    <a:tc>
                      <a:txBody>
                        <a:bodyPr/>
                        <a:lstStyle/>
                        <a:p>
                          <a:pPr algn="ctr"/>
                          <a:r>
                            <a:rPr lang="en-US" dirty="0"/>
                            <a:t>A\B</a:t>
                          </a:r>
                        </a:p>
                      </a:txBody>
                      <a:tcPr/>
                    </a:tc>
                    <a:tc>
                      <a:txBody>
                        <a:bodyPr/>
                        <a:lstStyle/>
                        <a:p>
                          <a:endParaRPr lang="en-US"/>
                        </a:p>
                      </a:txBody>
                      <a:tcPr>
                        <a:blipFill>
                          <a:blip r:embed="rId7"/>
                          <a:stretch>
                            <a:fillRect l="-157692" t="-8197" r="-93077" b="-224590"/>
                          </a:stretch>
                        </a:blipFill>
                      </a:tcPr>
                    </a:tc>
                    <a:tc>
                      <a:txBody>
                        <a:bodyPr/>
                        <a:lstStyle/>
                        <a:p>
                          <a:endParaRPr lang="en-US"/>
                        </a:p>
                      </a:txBody>
                      <a:tcPr>
                        <a:blipFill>
                          <a:blip r:embed="rId7"/>
                          <a:stretch>
                            <a:fillRect l="-286325" t="-8197" r="-3419" b="-224590"/>
                          </a:stretch>
                        </a:blipFill>
                      </a:tcPr>
                    </a:tc>
                    <a:extLst>
                      <a:ext uri="{0D108BD9-81ED-4DB2-BD59-A6C34878D82A}">
                        <a16:rowId xmlns:a16="http://schemas.microsoft.com/office/drawing/2014/main" val="1802598019"/>
                      </a:ext>
                    </a:extLst>
                  </a:tr>
                  <a:tr h="370840">
                    <a:tc>
                      <a:txBody>
                        <a:bodyPr/>
                        <a:lstStyle/>
                        <a:p>
                          <a:endParaRPr lang="en-US"/>
                        </a:p>
                      </a:txBody>
                      <a:tcPr>
                        <a:blipFill>
                          <a:blip r:embed="rId7"/>
                          <a:stretch>
                            <a:fillRect l="-490" t="-106452" r="-123039" b="-120968"/>
                          </a:stretch>
                        </a:blipFill>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3891779256"/>
                      </a:ext>
                    </a:extLst>
                  </a:tr>
                  <a:tr h="370840">
                    <a:tc>
                      <a:txBody>
                        <a:bodyPr/>
                        <a:lstStyle/>
                        <a:p>
                          <a:endParaRPr lang="en-US"/>
                        </a:p>
                      </a:txBody>
                      <a:tcPr>
                        <a:blipFill>
                          <a:blip r:embed="rId7"/>
                          <a:stretch>
                            <a:fillRect l="-490" t="-209836" r="-123039" b="-22951"/>
                          </a:stretch>
                        </a:blipFill>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1086339649"/>
                      </a:ext>
                    </a:extLst>
                  </a:tr>
                </a:tbl>
              </a:graphicData>
            </a:graphic>
          </p:graphicFrame>
        </mc:Fallback>
      </mc:AlternateContent>
      <mc:AlternateContent xmlns:mc="http://schemas.openxmlformats.org/markup-compatibility/2006" xmlns:a14="http://schemas.microsoft.com/office/drawing/2010/main">
        <mc:Choice Requires="a14">
          <p:sp>
            <p:nvSpPr>
              <p:cNvPr id="25" name="TextBox 24"/>
              <p:cNvSpPr txBox="1"/>
              <p:nvPr/>
            </p:nvSpPr>
            <p:spPr>
              <a:xfrm>
                <a:off x="3487502" y="3638775"/>
                <a:ext cx="4502130" cy="369332"/>
              </a:xfrm>
              <a:prstGeom prst="rect">
                <a:avLst/>
              </a:prstGeom>
              <a:noFill/>
            </p:spPr>
            <p:txBody>
              <a:bodyPr wrap="none" rtlCol="0">
                <a:spAutoFit/>
              </a:bodyPr>
              <a:lstStyle/>
              <a:p>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d>
                      <m:dPr>
                        <m:ctrlPr>
                          <a:rPr lang="en-US" i="1" smtClean="0">
                            <a:latin typeface="Cambria Math" panose="02040503050406030204" pitchFamily="18" charset="0"/>
                          </a:rPr>
                        </m:ctrlPr>
                      </m:dPr>
                      <m:e>
                        <m:r>
                          <m:rPr>
                            <m:nor/>
                          </m:rPr>
                          <a:rPr lang="en-US" dirty="0"/>
                          <m:t>1/</m:t>
                        </m:r>
                        <m:r>
                          <m:rPr>
                            <m:nor/>
                          </m:rPr>
                          <a:rPr lang="en-US" b="0" i="0" dirty="0" smtClean="0"/>
                          <m:t>2</m:t>
                        </m:r>
                        <m:r>
                          <m:rPr>
                            <m:nor/>
                          </m:rPr>
                          <a:rPr lang="en-US" dirty="0"/>
                          <m:t>,1/</m:t>
                        </m:r>
                        <m:r>
                          <m:rPr>
                            <m:nor/>
                          </m:rPr>
                          <a:rPr lang="en-US" b="0" i="0" dirty="0" smtClean="0"/>
                          <m:t>2</m:t>
                        </m:r>
                        <m:r>
                          <m:rPr>
                            <m:nor/>
                          </m:rPr>
                          <a:rPr lang="en-US" dirty="0"/>
                          <m:t>,</m:t>
                        </m:r>
                        <m:r>
                          <m:rPr>
                            <m:nor/>
                          </m:rPr>
                          <a:rPr lang="en-US" b="0" i="0" dirty="0" smtClean="0"/>
                          <m:t>0,0</m:t>
                        </m:r>
                      </m:e>
                    </m:d>
                  </m:oMath>
                </a14:m>
                <a:r>
                  <a:rPr lang="en-US" dirty="0"/>
                  <a:t>  &amp;   </a:t>
                </a:r>
                <a14:m>
                  <m:oMath xmlns:m="http://schemas.openxmlformats.org/officeDocument/2006/math">
                    <m:r>
                      <a:rPr lang="en-US" i="1">
                        <a:latin typeface="Cambria Math" panose="02040503050406030204" pitchFamily="18" charset="0"/>
                      </a:rPr>
                      <m:t>𝑃</m:t>
                    </m:r>
                    <m:r>
                      <a:rPr lang="en-US" i="1">
                        <a:latin typeface="Cambria Math" panose="02040503050406030204" pitchFamily="18" charset="0"/>
                      </a:rPr>
                      <m:t>(</m:t>
                    </m:r>
                    <m:r>
                      <a:rPr lang="en-US" b="0" i="1" smtClean="0">
                        <a:latin typeface="Cambria Math" panose="02040503050406030204" pitchFamily="18" charset="0"/>
                      </a:rPr>
                      <m:t>𝐵</m:t>
                    </m:r>
                    <m:r>
                      <a:rPr lang="en-US" i="1">
                        <a:latin typeface="Cambria Math" panose="02040503050406030204" pitchFamily="18" charset="0"/>
                      </a:rPr>
                      <m:t>)=</m:t>
                    </m:r>
                    <m:d>
                      <m:dPr>
                        <m:ctrlPr>
                          <a:rPr lang="en-US" i="1">
                            <a:latin typeface="Cambria Math" panose="02040503050406030204" pitchFamily="18" charset="0"/>
                          </a:rPr>
                        </m:ctrlPr>
                      </m:dPr>
                      <m:e>
                        <m:r>
                          <m:rPr>
                            <m:nor/>
                          </m:rPr>
                          <a:rPr lang="en-US" dirty="0"/>
                          <m:t>1/</m:t>
                        </m:r>
                        <m:r>
                          <m:rPr>
                            <m:nor/>
                          </m:rPr>
                          <a:rPr lang="en-US" b="0" i="0" dirty="0" smtClean="0"/>
                          <m:t>2</m:t>
                        </m:r>
                        <m:r>
                          <m:rPr>
                            <m:nor/>
                          </m:rPr>
                          <a:rPr lang="en-US" dirty="0"/>
                          <m:t>,1/</m:t>
                        </m:r>
                        <m:r>
                          <m:rPr>
                            <m:nor/>
                          </m:rPr>
                          <a:rPr lang="en-US" b="0" i="0" dirty="0" smtClean="0"/>
                          <m:t>2</m:t>
                        </m:r>
                      </m:e>
                    </m:d>
                  </m:oMath>
                </a14:m>
                <a:r>
                  <a:rPr lang="en-US" dirty="0"/>
                  <a:t> </a:t>
                </a:r>
              </a:p>
            </p:txBody>
          </p:sp>
        </mc:Choice>
        <mc:Fallback xmlns="">
          <p:sp>
            <p:nvSpPr>
              <p:cNvPr id="25" name="TextBox 24"/>
              <p:cNvSpPr txBox="1">
                <a:spLocks noRot="1" noChangeAspect="1" noMove="1" noResize="1" noEditPoints="1" noAdjustHandles="1" noChangeArrowheads="1" noChangeShapeType="1" noTextEdit="1"/>
              </p:cNvSpPr>
              <p:nvPr/>
            </p:nvSpPr>
            <p:spPr>
              <a:xfrm>
                <a:off x="3487502" y="3638775"/>
                <a:ext cx="4502130" cy="369332"/>
              </a:xfrm>
              <a:prstGeom prst="rect">
                <a:avLst/>
              </a:prstGeom>
              <a:blipFill>
                <a:blip r:embed="rId8"/>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779827" y="5390170"/>
                <a:ext cx="4318170"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𝜇</m:t>
                      </m:r>
                      <m:d>
                        <m:dPr>
                          <m:ctrlPr>
                            <a:rPr lang="en-US" sz="2000" b="0" i="1" smtClean="0">
                              <a:latin typeface="Cambria Math" panose="02040503050406030204" pitchFamily="18" charset="0"/>
                              <a:ea typeface="Cambria Math" panose="02040503050406030204" pitchFamily="18" charset="0"/>
                            </a:rPr>
                          </m:ctrlPr>
                        </m:dPr>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𝑎</m:t>
                              </m:r>
                            </m:e>
                            <m:sub>
                              <m:r>
                                <a:rPr lang="en-US" sz="2000" b="0" i="1" smtClean="0">
                                  <a:latin typeface="Cambria Math" panose="02040503050406030204" pitchFamily="18" charset="0"/>
                                  <a:ea typeface="Cambria Math" panose="02040503050406030204" pitchFamily="18" charset="0"/>
                                </a:rPr>
                                <m:t>1</m:t>
                              </m:r>
                            </m:sub>
                          </m:sSub>
                        </m:e>
                      </m:d>
                      <m:r>
                        <a:rPr lang="en-US" sz="2000" b="0" i="1" smtClean="0">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𝜇</m:t>
                      </m:r>
                      <m:d>
                        <m:dPr>
                          <m:ctrlPr>
                            <a:rPr lang="en-US" sz="2000" i="1">
                              <a:latin typeface="Cambria Math" panose="02040503050406030204" pitchFamily="18" charset="0"/>
                              <a:ea typeface="Cambria Math" panose="02040503050406030204" pitchFamily="18" charset="0"/>
                            </a:rPr>
                          </m:ctrlPr>
                        </m:dPr>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𝑎</m:t>
                              </m:r>
                            </m:e>
                            <m:sub>
                              <m:r>
                                <a:rPr lang="en-US" sz="2000" b="0" i="1" smtClean="0">
                                  <a:latin typeface="Cambria Math" panose="02040503050406030204" pitchFamily="18" charset="0"/>
                                  <a:ea typeface="Cambria Math" panose="02040503050406030204" pitchFamily="18" charset="0"/>
                                </a:rPr>
                                <m:t>2</m:t>
                              </m:r>
                            </m:sub>
                          </m:sSub>
                        </m:e>
                      </m:d>
                      <m:r>
                        <a:rPr lang="en-US" sz="2000" b="0" i="1" smtClean="0">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𝜇</m:t>
                      </m:r>
                      <m:d>
                        <m:dPr>
                          <m:ctrlPr>
                            <a:rPr lang="en-US" sz="2000" i="1">
                              <a:latin typeface="Cambria Math" panose="02040503050406030204" pitchFamily="18" charset="0"/>
                              <a:ea typeface="Cambria Math" panose="02040503050406030204" pitchFamily="18" charset="0"/>
                            </a:rPr>
                          </m:ctrlPr>
                        </m:dPr>
                        <m:e>
                          <m:sSub>
                            <m:sSubPr>
                              <m:ctrlPr>
                                <a:rPr lang="en-US" sz="2000" i="1">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𝑏</m:t>
                              </m:r>
                            </m:e>
                            <m:sub>
                              <m:r>
                                <a:rPr lang="en-US" sz="2000" i="1">
                                  <a:latin typeface="Cambria Math" panose="02040503050406030204" pitchFamily="18" charset="0"/>
                                  <a:ea typeface="Cambria Math" panose="02040503050406030204" pitchFamily="18" charset="0"/>
                                </a:rPr>
                                <m:t>1</m:t>
                              </m:r>
                            </m:sub>
                          </m:sSub>
                        </m:e>
                      </m:d>
                      <m:r>
                        <a:rPr lang="en-US" sz="2000" b="0" i="1" smtClean="0">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𝜇</m:t>
                      </m:r>
                      <m:d>
                        <m:dPr>
                          <m:ctrlPr>
                            <a:rPr lang="en-US" sz="2000" i="1">
                              <a:latin typeface="Cambria Math" panose="02040503050406030204" pitchFamily="18" charset="0"/>
                              <a:ea typeface="Cambria Math" panose="02040503050406030204" pitchFamily="18" charset="0"/>
                            </a:rPr>
                          </m:ctrlPr>
                        </m:dPr>
                        <m:e>
                          <m:sSub>
                            <m:sSubPr>
                              <m:ctrlPr>
                                <a:rPr lang="en-US" sz="2000" i="1">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𝑏</m:t>
                              </m:r>
                            </m:e>
                            <m:sub>
                              <m:r>
                                <a:rPr lang="en-US" sz="2000" b="0" i="1" smtClean="0">
                                  <a:latin typeface="Cambria Math" panose="02040503050406030204" pitchFamily="18" charset="0"/>
                                  <a:ea typeface="Cambria Math" panose="02040503050406030204" pitchFamily="18" charset="0"/>
                                </a:rPr>
                                <m:t>2</m:t>
                              </m:r>
                            </m:sub>
                          </m:sSub>
                        </m:e>
                      </m:d>
                      <m:r>
                        <a:rPr lang="en-US" sz="2000" b="0" i="1" smtClean="0">
                          <a:latin typeface="Cambria Math" panose="02040503050406030204" pitchFamily="18" charset="0"/>
                          <a:ea typeface="Cambria Math" panose="02040503050406030204" pitchFamily="18" charset="0"/>
                        </a:rPr>
                        <m:t>=1/2</m:t>
                      </m:r>
                    </m:oMath>
                  </m:oMathPara>
                </a14:m>
                <a:endParaRPr lang="en-US" sz="2000" dirty="0"/>
              </a:p>
            </p:txBody>
          </p:sp>
        </mc:Choice>
        <mc:Fallback xmlns="">
          <p:sp>
            <p:nvSpPr>
              <p:cNvPr id="27" name="TextBox 26"/>
              <p:cNvSpPr txBox="1">
                <a:spLocks noRot="1" noChangeAspect="1" noMove="1" noResize="1" noEditPoints="1" noAdjustHandles="1" noChangeArrowheads="1" noChangeShapeType="1" noTextEdit="1"/>
              </p:cNvSpPr>
              <p:nvPr/>
            </p:nvSpPr>
            <p:spPr>
              <a:xfrm>
                <a:off x="779827" y="5390170"/>
                <a:ext cx="4318170" cy="307777"/>
              </a:xfrm>
              <a:prstGeom prst="rect">
                <a:avLst/>
              </a:prstGeom>
              <a:blipFill>
                <a:blip r:embed="rId9"/>
                <a:stretch>
                  <a:fillRect l="-989" r="-989"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5446282" y="5380606"/>
                <a:ext cx="1158266" cy="307777"/>
              </a:xfrm>
              <a:prstGeom prst="rect">
                <a:avLst/>
              </a:prstGeom>
              <a:noFill/>
            </p:spPr>
            <p:txBody>
              <a:bodyPr wrap="none" lIns="0" tIns="0" rIns="0" bIns="0" rtlCol="0">
                <a:spAutoFit/>
              </a:bodyPr>
              <a:lstStyle/>
              <a:p>
                <a14:m>
                  <m:oMath xmlns:m="http://schemas.openxmlformats.org/officeDocument/2006/math">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  </m:t>
                    </m:r>
                    <m:r>
                      <a:rPr lang="en-US" sz="2000" i="1" smtClean="0">
                        <a:latin typeface="Cambria Math" panose="02040503050406030204" pitchFamily="18" charset="0"/>
                        <a:ea typeface="Cambria Math" panose="02040503050406030204" pitchFamily="18" charset="0"/>
                      </a:rPr>
                      <m:t>𝑣</m:t>
                    </m:r>
                    <m:r>
                      <a:rPr lang="en-US" sz="2000" b="0" i="1" smtClean="0">
                        <a:latin typeface="Cambria Math" panose="02040503050406030204" pitchFamily="18" charset="0"/>
                        <a:ea typeface="Cambria Math" panose="02040503050406030204" pitchFamily="18" charset="0"/>
                      </a:rPr>
                      <m:t>=</m:t>
                    </m:r>
                  </m:oMath>
                </a14:m>
                <a:r>
                  <a:rPr lang="en-US" sz="2000" dirty="0"/>
                  <a:t> 1/2</a:t>
                </a:r>
              </a:p>
            </p:txBody>
          </p:sp>
        </mc:Choice>
        <mc:Fallback xmlns="">
          <p:sp>
            <p:nvSpPr>
              <p:cNvPr id="28" name="TextBox 27"/>
              <p:cNvSpPr txBox="1">
                <a:spLocks noRot="1" noChangeAspect="1" noMove="1" noResize="1" noEditPoints="1" noAdjustHandles="1" noChangeArrowheads="1" noChangeShapeType="1" noTextEdit="1"/>
              </p:cNvSpPr>
              <p:nvPr/>
            </p:nvSpPr>
            <p:spPr>
              <a:xfrm>
                <a:off x="5446282" y="5380606"/>
                <a:ext cx="1158266" cy="307777"/>
              </a:xfrm>
              <a:prstGeom prst="rect">
                <a:avLst/>
              </a:prstGeom>
              <a:blipFill>
                <a:blip r:embed="rId10"/>
                <a:stretch>
                  <a:fillRect l="-5789" t="-26000" r="-12105"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Rectangle 28"/>
              <p:cNvSpPr/>
              <p:nvPr/>
            </p:nvSpPr>
            <p:spPr>
              <a:xfrm>
                <a:off x="609156" y="5869532"/>
                <a:ext cx="4809843" cy="369332"/>
              </a:xfrm>
              <a:prstGeom prst="rect">
                <a:avLst/>
              </a:prstGeom>
            </p:spPr>
            <p:txBody>
              <a:bodyPr wrap="none">
                <a:spAutoFit/>
              </a:bodyPr>
              <a:lstStyle/>
              <a:p>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oMath>
                </a14:m>
                <a:r>
                  <a:rPr lang="en-US" dirty="0"/>
                  <a:t>The game is not fair, player A has an advantage </a:t>
                </a:r>
              </a:p>
            </p:txBody>
          </p:sp>
        </mc:Choice>
        <mc:Fallback xmlns="">
          <p:sp>
            <p:nvSpPr>
              <p:cNvPr id="29" name="Rectangle 28"/>
              <p:cNvSpPr>
                <a:spLocks noRot="1" noChangeAspect="1" noMove="1" noResize="1" noEditPoints="1" noAdjustHandles="1" noChangeArrowheads="1" noChangeShapeType="1" noTextEdit="1"/>
              </p:cNvSpPr>
              <p:nvPr/>
            </p:nvSpPr>
            <p:spPr>
              <a:xfrm>
                <a:off x="609156" y="5869532"/>
                <a:ext cx="4809843" cy="369332"/>
              </a:xfrm>
              <a:prstGeom prst="rect">
                <a:avLst/>
              </a:prstGeom>
              <a:blipFill>
                <a:blip r:embed="rId11"/>
                <a:stretch>
                  <a:fillRect t="-10000" b="-26667"/>
                </a:stretch>
              </a:blipFill>
            </p:spPr>
            <p:txBody>
              <a:bodyPr/>
              <a:lstStyle/>
              <a:p>
                <a:r>
                  <a:rPr lang="en-US">
                    <a:noFill/>
                  </a:rPr>
                  <a:t> </a:t>
                </a:r>
              </a:p>
            </p:txBody>
          </p:sp>
        </mc:Fallback>
      </mc:AlternateContent>
    </p:spTree>
    <p:extLst>
      <p:ext uri="{BB962C8B-B14F-4D97-AF65-F5344CB8AC3E}">
        <p14:creationId xmlns:p14="http://schemas.microsoft.com/office/powerpoint/2010/main" val="2909830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22" grpId="0"/>
      <p:bldP spid="25" grpId="0"/>
      <p:bldP spid="27" grpId="0"/>
      <p:bldP spid="28" grpId="0"/>
      <p:bldP spid="2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Symmetric Game</a:t>
            </a:r>
          </a:p>
        </p:txBody>
      </p:sp>
      <mc:AlternateContent xmlns:mc="http://schemas.openxmlformats.org/markup-compatibility/2006" xmlns:a14="http://schemas.microsoft.com/office/drawing/2010/main">
        <mc:Choice Requires="a14">
          <p:sp>
            <p:nvSpPr>
              <p:cNvPr id="4" name="TextBox 3"/>
              <p:cNvSpPr txBox="1"/>
              <p:nvPr/>
            </p:nvSpPr>
            <p:spPr>
              <a:xfrm>
                <a:off x="611560" y="1556792"/>
                <a:ext cx="7848872" cy="1040349"/>
              </a:xfrm>
              <a:prstGeom prst="rect">
                <a:avLst/>
              </a:prstGeom>
              <a:noFill/>
            </p:spPr>
            <p:txBody>
              <a:bodyPr wrap="square" rtlCol="0">
                <a:spAutoFit/>
              </a:bodyPr>
              <a:lstStyle/>
              <a:p>
                <a:pPr algn="just"/>
                <a:r>
                  <a:rPr lang="en-US" sz="2000" dirty="0"/>
                  <a:t>The rules of the game treat players A and B in exactly the same way. Therefore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𝑐</m:t>
                        </m:r>
                      </m:e>
                      <m:sub>
                        <m:r>
                          <a:rPr lang="en-US" sz="2000" b="0" i="1" smtClean="0">
                            <a:latin typeface="Cambria Math" panose="02040503050406030204" pitchFamily="18" charset="0"/>
                          </a:rPr>
                          <m:t>𝑖𝑗</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𝑐</m:t>
                        </m:r>
                      </m:e>
                      <m:sub>
                        <m:r>
                          <a:rPr lang="en-US" sz="2000" b="0" i="1" smtClean="0">
                            <a:latin typeface="Cambria Math" panose="02040503050406030204" pitchFamily="18" charset="0"/>
                          </a:rPr>
                          <m:t>𝑗𝑖</m:t>
                        </m:r>
                      </m:sub>
                    </m:sSub>
                  </m:oMath>
                </a14:m>
                <a:r>
                  <a:rPr lang="en-US" sz="2000" dirty="0"/>
                  <a:t> for </a:t>
                </a:r>
                <a14:m>
                  <m:oMath xmlns:m="http://schemas.openxmlformats.org/officeDocument/2006/math">
                    <m:r>
                      <a:rPr lang="en-US" sz="2000" b="0" i="1" smtClean="0">
                        <a:latin typeface="Cambria Math" panose="02040503050406030204" pitchFamily="18" charset="0"/>
                      </a:rPr>
                      <m:t>𝑖</m:t>
                    </m:r>
                    <m:r>
                      <a:rPr lang="en-US" sz="2000" b="0" i="1" smtClean="0">
                        <a:latin typeface="Cambria Math" panose="02040503050406030204" pitchFamily="18" charset="0"/>
                        <a:ea typeface="Cambria Math" panose="02040503050406030204" pitchFamily="18" charset="0"/>
                      </a:rPr>
                      <m:t>≥1, </m:t>
                    </m:r>
                    <m:r>
                      <a:rPr lang="en-US" sz="2000" b="0" i="1" smtClean="0">
                        <a:latin typeface="Cambria Math" panose="02040503050406030204" pitchFamily="18" charset="0"/>
                        <a:ea typeface="Cambria Math" panose="02040503050406030204" pitchFamily="18" charset="0"/>
                      </a:rPr>
                      <m:t>𝑗</m:t>
                    </m:r>
                    <m:r>
                      <a:rPr lang="en-US" sz="2000" b="0" i="1" smtClean="0">
                        <a:latin typeface="Cambria Math" panose="02040503050406030204" pitchFamily="18" charset="0"/>
                        <a:ea typeface="Cambria Math" panose="02040503050406030204" pitchFamily="18" charset="0"/>
                      </a:rPr>
                      <m:t> ≥1, </m:t>
                    </m:r>
                    <m:r>
                      <a:rPr lang="en-US" sz="2000" b="0" i="1" smtClean="0">
                        <a:latin typeface="Cambria Math" panose="02040503050406030204" pitchFamily="18" charset="0"/>
                        <a:ea typeface="Cambria Math" panose="02040503050406030204" pitchFamily="18" charset="0"/>
                      </a:rPr>
                      <m:t>𝑖</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𝑗</m:t>
                    </m:r>
                  </m:oMath>
                </a14:m>
                <a:r>
                  <a:rPr lang="en-US" sz="2000" dirty="0"/>
                  <a:t> and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𝑐</m:t>
                        </m:r>
                      </m:e>
                      <m:sub>
                        <m:r>
                          <a:rPr lang="en-US" sz="2000" b="0" i="1" smtClean="0">
                            <a:latin typeface="Cambria Math" panose="02040503050406030204" pitchFamily="18" charset="0"/>
                          </a:rPr>
                          <m:t>𝑖𝑖</m:t>
                        </m:r>
                      </m:sub>
                    </m:sSub>
                    <m:r>
                      <a:rPr lang="en-US" sz="2000" b="0" i="1" smtClean="0">
                        <a:latin typeface="Cambria Math" panose="02040503050406030204" pitchFamily="18" charset="0"/>
                      </a:rPr>
                      <m:t>=</m:t>
                    </m:r>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𝑐</m:t>
                        </m:r>
                      </m:e>
                      <m:sub>
                        <m:r>
                          <a:rPr lang="en-US" sz="2000" b="0" i="1" smtClean="0">
                            <a:latin typeface="Cambria Math" panose="02040503050406030204" pitchFamily="18" charset="0"/>
                          </a:rPr>
                          <m:t>𝑗𝑗</m:t>
                        </m:r>
                      </m:sub>
                    </m:sSub>
                  </m:oMath>
                </a14:m>
                <a:r>
                  <a:rPr lang="en-US" sz="2000" b="0" dirty="0"/>
                  <a:t> for</a:t>
                </a:r>
                <a14:m>
                  <m:oMath xmlns:m="http://schemas.openxmlformats.org/officeDocument/2006/math">
                    <m:r>
                      <a:rPr lang="en-US" sz="2000" b="0" i="1" dirty="0" smtClean="0">
                        <a:latin typeface="Cambria Math" panose="02040503050406030204" pitchFamily="18" charset="0"/>
                      </a:rPr>
                      <m:t> </m:t>
                    </m:r>
                    <m:r>
                      <a:rPr lang="en-US" sz="2000" b="0" i="1" dirty="0" smtClean="0">
                        <a:latin typeface="Cambria Math" panose="02040503050406030204" pitchFamily="18" charset="0"/>
                      </a:rPr>
                      <m:t>𝑖</m:t>
                    </m:r>
                    <m:r>
                      <a:rPr lang="en-US" sz="2000" b="0" i="1" dirty="0" smtClean="0">
                        <a:latin typeface="Cambria Math" panose="02040503050406030204" pitchFamily="18" charset="0"/>
                      </a:rPr>
                      <m:t>=</m:t>
                    </m:r>
                    <m:r>
                      <a:rPr lang="en-US" sz="2000" b="0" i="1" dirty="0" smtClean="0">
                        <a:latin typeface="Cambria Math" panose="02040503050406030204" pitchFamily="18" charset="0"/>
                      </a:rPr>
                      <m:t>𝑗</m:t>
                    </m:r>
                  </m:oMath>
                </a14:m>
                <a:r>
                  <a:rPr lang="en-US" sz="2000" b="0" dirty="0"/>
                  <a:t>. If this condition applies then </a:t>
                </a:r>
                <a:r>
                  <a:rPr lang="en-US" sz="2000" dirty="0"/>
                  <a:t>the value </a:t>
                </a:r>
                <a14:m>
                  <m:oMath xmlns:m="http://schemas.openxmlformats.org/officeDocument/2006/math">
                    <m:r>
                      <a:rPr lang="en-US" sz="2000" i="1">
                        <a:latin typeface="Cambria Math" panose="02040503050406030204" pitchFamily="18" charset="0"/>
                      </a:rPr>
                      <m:t>𝑣</m:t>
                    </m:r>
                  </m:oMath>
                </a14:m>
                <a:r>
                  <a:rPr lang="en-US" sz="2000" dirty="0"/>
                  <a:t> for the symmetric game is zero</a:t>
                </a:r>
              </a:p>
            </p:txBody>
          </p:sp>
        </mc:Choice>
        <mc:Fallback xmlns="">
          <p:sp>
            <p:nvSpPr>
              <p:cNvPr id="4" name="TextBox 3"/>
              <p:cNvSpPr txBox="1">
                <a:spLocks noRot="1" noChangeAspect="1" noMove="1" noResize="1" noEditPoints="1" noAdjustHandles="1" noChangeArrowheads="1" noChangeShapeType="1" noTextEdit="1"/>
              </p:cNvSpPr>
              <p:nvPr/>
            </p:nvSpPr>
            <p:spPr>
              <a:xfrm>
                <a:off x="611560" y="1556792"/>
                <a:ext cx="7848872" cy="1040349"/>
              </a:xfrm>
              <a:prstGeom prst="rect">
                <a:avLst/>
              </a:prstGeom>
              <a:blipFill>
                <a:blip r:embed="rId2"/>
                <a:stretch>
                  <a:fillRect l="-776" t="-2924" r="-776" b="-93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654103834"/>
                  </p:ext>
                </p:extLst>
              </p:nvPr>
            </p:nvGraphicFramePr>
            <p:xfrm>
              <a:off x="723394" y="2721128"/>
              <a:ext cx="1970892" cy="1044990"/>
            </p:xfrm>
            <a:graphic>
              <a:graphicData uri="http://schemas.openxmlformats.org/drawingml/2006/table">
                <a:tbl>
                  <a:tblPr>
                    <a:tableStyleId>{5C22544A-7EE6-4342-B048-85BDC9FD1C3A}</a:tableStyleId>
                  </a:tblPr>
                  <a:tblGrid>
                    <a:gridCol w="511593">
                      <a:extLst>
                        <a:ext uri="{9D8B030D-6E8A-4147-A177-3AD203B41FA5}">
                          <a16:colId xmlns:a16="http://schemas.microsoft.com/office/drawing/2014/main" val="3738874413"/>
                        </a:ext>
                      </a:extLst>
                    </a:gridCol>
                    <a:gridCol w="451187">
                      <a:extLst>
                        <a:ext uri="{9D8B030D-6E8A-4147-A177-3AD203B41FA5}">
                          <a16:colId xmlns:a16="http://schemas.microsoft.com/office/drawing/2014/main" val="2454115107"/>
                        </a:ext>
                      </a:extLst>
                    </a:gridCol>
                    <a:gridCol w="432048">
                      <a:extLst>
                        <a:ext uri="{9D8B030D-6E8A-4147-A177-3AD203B41FA5}">
                          <a16:colId xmlns:a16="http://schemas.microsoft.com/office/drawing/2014/main" val="1795178663"/>
                        </a:ext>
                      </a:extLst>
                    </a:gridCol>
                    <a:gridCol w="576064">
                      <a:extLst>
                        <a:ext uri="{9D8B030D-6E8A-4147-A177-3AD203B41FA5}">
                          <a16:colId xmlns:a16="http://schemas.microsoft.com/office/drawing/2014/main" val="1284286733"/>
                        </a:ext>
                      </a:extLst>
                    </a:gridCol>
                  </a:tblGrid>
                  <a:tr h="190500">
                    <a:tc>
                      <a:txBody>
                        <a:bodyPr/>
                        <a:lstStyle/>
                        <a:p>
                          <a:pPr algn="ctr" fontAlgn="b"/>
                          <a:r>
                            <a:rPr lang="en-US" sz="1600" u="none" strike="noStrike" dirty="0" err="1">
                              <a:effectLst/>
                            </a:rPr>
                            <a:t>Prob</a:t>
                          </a:r>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𝑦</m:t>
                                    </m:r>
                                  </m:e>
                                  <m:sub>
                                    <m:r>
                                      <a:rPr lang="en-US" sz="1600" b="0" i="1" u="none" strike="noStrike" dirty="0" smtClean="0">
                                        <a:effectLst/>
                                        <a:latin typeface="Cambria Math" panose="02040503050406030204" pitchFamily="18" charset="0"/>
                                      </a:rPr>
                                      <m:t>1</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𝑦</m:t>
                                    </m:r>
                                  </m:e>
                                  <m:sub>
                                    <m:r>
                                      <a:rPr lang="en-US" sz="1600" b="0" i="1" u="none" strike="noStrike" dirty="0" smtClean="0">
                                        <a:effectLst/>
                                        <a:latin typeface="Cambria Math" panose="02040503050406030204" pitchFamily="18" charset="0"/>
                                      </a:rPr>
                                      <m:t>2</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𝑦</m:t>
                                    </m:r>
                                  </m:e>
                                  <m:sub>
                                    <m:r>
                                      <a:rPr lang="en-US" sz="1600" b="0" i="1" u="none" strike="noStrike" dirty="0" smtClean="0">
                                        <a:effectLst/>
                                        <a:latin typeface="Cambria Math" panose="02040503050406030204" pitchFamily="18" charset="0"/>
                                      </a:rPr>
                                      <m:t>3</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extLst>
                      <a:ext uri="{0D108BD9-81ED-4DB2-BD59-A6C34878D82A}">
                        <a16:rowId xmlns:a16="http://schemas.microsoft.com/office/drawing/2014/main" val="3042800791"/>
                      </a:ext>
                    </a:extLst>
                  </a:tr>
                  <a:tr h="284895">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𝑥</m:t>
                                    </m:r>
                                  </m:e>
                                  <m:sub>
                                    <m:r>
                                      <a:rPr lang="en-US" sz="1600" b="0" i="1" u="none" strike="noStrike" dirty="0" smtClean="0">
                                        <a:effectLst/>
                                        <a:latin typeface="Cambria Math" panose="02040503050406030204" pitchFamily="18" charset="0"/>
                                      </a:rPr>
                                      <m:t>1</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-3</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59433256"/>
                      </a:ext>
                    </a:extLst>
                  </a:tr>
                  <a:tr h="190500">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𝑥</m:t>
                                    </m:r>
                                  </m:e>
                                  <m:sub>
                                    <m:r>
                                      <a:rPr lang="en-US" sz="1600" b="0" i="1" u="none" strike="noStrike" dirty="0" smtClean="0">
                                        <a:effectLst/>
                                        <a:latin typeface="Cambria Math" panose="02040503050406030204" pitchFamily="18" charset="0"/>
                                      </a:rPr>
                                      <m:t>2</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b="0" i="0" u="none" strike="noStrike" dirty="0">
                              <a:solidFill>
                                <a:schemeClr val="dk1"/>
                              </a:solidFill>
                              <a:effectLst/>
                              <a:latin typeface="+mn-lt"/>
                            </a:rPr>
                            <a:t>-2</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4</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05982770"/>
                      </a:ext>
                    </a:extLst>
                  </a:tr>
                  <a:tr h="201942">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𝑥</m:t>
                                    </m:r>
                                  </m:e>
                                  <m:sub>
                                    <m:r>
                                      <a:rPr lang="en-US" sz="1600" b="0" i="1" u="none" strike="noStrike" dirty="0" smtClean="0">
                                        <a:effectLst/>
                                        <a:latin typeface="Cambria Math" panose="02040503050406030204" pitchFamily="18" charset="0"/>
                                      </a:rPr>
                                      <m:t>3</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dirty="0">
                              <a:effectLst/>
                            </a:rPr>
                            <a:t>3</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-4</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30496318"/>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654103834"/>
                  </p:ext>
                </p:extLst>
              </p:nvPr>
            </p:nvGraphicFramePr>
            <p:xfrm>
              <a:off x="723394" y="2721128"/>
              <a:ext cx="1970892" cy="1044990"/>
            </p:xfrm>
            <a:graphic>
              <a:graphicData uri="http://schemas.openxmlformats.org/drawingml/2006/table">
                <a:tbl>
                  <a:tblPr>
                    <a:tableStyleId>{5C22544A-7EE6-4342-B048-85BDC9FD1C3A}</a:tableStyleId>
                  </a:tblPr>
                  <a:tblGrid>
                    <a:gridCol w="511593">
                      <a:extLst>
                        <a:ext uri="{9D8B030D-6E8A-4147-A177-3AD203B41FA5}">
                          <a16:colId xmlns:a16="http://schemas.microsoft.com/office/drawing/2014/main" val="3738874413"/>
                        </a:ext>
                      </a:extLst>
                    </a:gridCol>
                    <a:gridCol w="451187">
                      <a:extLst>
                        <a:ext uri="{9D8B030D-6E8A-4147-A177-3AD203B41FA5}">
                          <a16:colId xmlns:a16="http://schemas.microsoft.com/office/drawing/2014/main" val="2454115107"/>
                        </a:ext>
                      </a:extLst>
                    </a:gridCol>
                    <a:gridCol w="432048">
                      <a:extLst>
                        <a:ext uri="{9D8B030D-6E8A-4147-A177-3AD203B41FA5}">
                          <a16:colId xmlns:a16="http://schemas.microsoft.com/office/drawing/2014/main" val="1795178663"/>
                        </a:ext>
                      </a:extLst>
                    </a:gridCol>
                    <a:gridCol w="576064">
                      <a:extLst>
                        <a:ext uri="{9D8B030D-6E8A-4147-A177-3AD203B41FA5}">
                          <a16:colId xmlns:a16="http://schemas.microsoft.com/office/drawing/2014/main" val="1284286733"/>
                        </a:ext>
                      </a:extLst>
                    </a:gridCol>
                  </a:tblGrid>
                  <a:tr h="253365">
                    <a:tc>
                      <a:txBody>
                        <a:bodyPr/>
                        <a:lstStyle/>
                        <a:p>
                          <a:pPr algn="ctr" fontAlgn="b"/>
                          <a:r>
                            <a:rPr lang="en-US" sz="1600" u="none" strike="noStrike" dirty="0" err="1">
                              <a:effectLst/>
                            </a:rPr>
                            <a:t>Prob</a:t>
                          </a:r>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endParaRPr lang="en-US"/>
                        </a:p>
                      </a:txBody>
                      <a:tcPr marL="9525" marR="9525" marT="9525" marB="0" anchor="b">
                        <a:blipFill>
                          <a:blip r:embed="rId3"/>
                          <a:stretch>
                            <a:fillRect l="-114865" t="-19048" r="-228378" b="-359524"/>
                          </a:stretch>
                        </a:blipFill>
                      </a:tcPr>
                    </a:tc>
                    <a:tc>
                      <a:txBody>
                        <a:bodyPr/>
                        <a:lstStyle/>
                        <a:p>
                          <a:endParaRPr lang="en-US"/>
                        </a:p>
                      </a:txBody>
                      <a:tcPr marL="9525" marR="9525" marT="9525" marB="0" anchor="b">
                        <a:blipFill>
                          <a:blip r:embed="rId3"/>
                          <a:stretch>
                            <a:fillRect l="-223944" t="-19048" r="-138028" b="-359524"/>
                          </a:stretch>
                        </a:blipFill>
                      </a:tcPr>
                    </a:tc>
                    <a:tc>
                      <a:txBody>
                        <a:bodyPr/>
                        <a:lstStyle/>
                        <a:p>
                          <a:endParaRPr lang="en-US"/>
                        </a:p>
                      </a:txBody>
                      <a:tcPr marL="9525" marR="9525" marT="9525" marB="0" anchor="b">
                        <a:blipFill>
                          <a:blip r:embed="rId3"/>
                          <a:stretch>
                            <a:fillRect l="-242105" t="-19048" r="-3158" b="-359524"/>
                          </a:stretch>
                        </a:blipFill>
                      </a:tcPr>
                    </a:tc>
                    <a:extLst>
                      <a:ext uri="{0D108BD9-81ED-4DB2-BD59-A6C34878D82A}">
                        <a16:rowId xmlns:a16="http://schemas.microsoft.com/office/drawing/2014/main" val="3042800791"/>
                      </a:ext>
                    </a:extLst>
                  </a:tr>
                  <a:tr h="284895">
                    <a:tc>
                      <a:txBody>
                        <a:bodyPr/>
                        <a:lstStyle/>
                        <a:p>
                          <a:endParaRPr lang="en-US"/>
                        </a:p>
                      </a:txBody>
                      <a:tcPr marL="9525" marR="9525" marT="9525" marB="0" anchor="b">
                        <a:blipFill>
                          <a:blip r:embed="rId3"/>
                          <a:stretch>
                            <a:fillRect l="-1190" t="-106383" r="-289286" b="-221277"/>
                          </a:stretch>
                        </a:blipFill>
                      </a:tcPr>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-3</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59433256"/>
                      </a:ext>
                    </a:extLst>
                  </a:tr>
                  <a:tr h="253365">
                    <a:tc>
                      <a:txBody>
                        <a:bodyPr/>
                        <a:lstStyle/>
                        <a:p>
                          <a:endParaRPr lang="en-US"/>
                        </a:p>
                      </a:txBody>
                      <a:tcPr marL="9525" marR="9525" marT="9525" marB="0" anchor="b">
                        <a:blipFill>
                          <a:blip r:embed="rId3"/>
                          <a:stretch>
                            <a:fillRect l="-1190" t="-236585" r="-289286" b="-153659"/>
                          </a:stretch>
                        </a:blipFill>
                      </a:tcPr>
                    </a:tc>
                    <a:tc>
                      <a:txBody>
                        <a:bodyPr/>
                        <a:lstStyle/>
                        <a:p>
                          <a:pPr algn="ctr" fontAlgn="b"/>
                          <a:r>
                            <a:rPr lang="en-US" sz="1600" b="0" i="0" u="none" strike="noStrike" dirty="0">
                              <a:solidFill>
                                <a:schemeClr val="dk1"/>
                              </a:solidFill>
                              <a:effectLst/>
                              <a:latin typeface="+mn-lt"/>
                            </a:rPr>
                            <a:t>-2</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4</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05982770"/>
                      </a:ext>
                    </a:extLst>
                  </a:tr>
                  <a:tr h="253365">
                    <a:tc>
                      <a:txBody>
                        <a:bodyPr/>
                        <a:lstStyle/>
                        <a:p>
                          <a:endParaRPr lang="en-US"/>
                        </a:p>
                      </a:txBody>
                      <a:tcPr marL="9525" marR="9525" marT="9525" marB="0" anchor="b">
                        <a:blipFill>
                          <a:blip r:embed="rId3"/>
                          <a:stretch>
                            <a:fillRect l="-1190" t="-328571" r="-289286" b="-50000"/>
                          </a:stretch>
                        </a:blipFill>
                      </a:tcPr>
                    </a:tc>
                    <a:tc>
                      <a:txBody>
                        <a:bodyPr/>
                        <a:lstStyle/>
                        <a:p>
                          <a:pPr algn="ctr" fontAlgn="b"/>
                          <a:r>
                            <a:rPr lang="en-US" sz="1600" u="none" strike="noStrike" dirty="0">
                              <a:effectLst/>
                            </a:rPr>
                            <a:t>3</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-4</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30496318"/>
                      </a:ext>
                    </a:extLst>
                  </a:tr>
                </a:tbl>
              </a:graphicData>
            </a:graphic>
          </p:graphicFrame>
        </mc:Fallback>
      </mc:AlternateContent>
      <mc:AlternateContent xmlns:mc="http://schemas.openxmlformats.org/markup-compatibility/2006" xmlns:a14="http://schemas.microsoft.com/office/drawing/2010/main">
        <mc:Choice Requires="a14">
          <p:sp>
            <p:nvSpPr>
              <p:cNvPr id="7" name="TextBox 6"/>
              <p:cNvSpPr txBox="1"/>
              <p:nvPr/>
            </p:nvSpPr>
            <p:spPr>
              <a:xfrm>
                <a:off x="5508104" y="2772515"/>
                <a:ext cx="2401427" cy="99988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600" i="1" smtClean="0">
                              <a:latin typeface="Cambria Math" panose="02040503050406030204" pitchFamily="18" charset="0"/>
                            </a:rPr>
                          </m:ctrlPr>
                        </m:dPr>
                        <m:e>
                          <m:eqArr>
                            <m:eqArrPr>
                              <m:ctrlPr>
                                <a:rPr lang="en-US" sz="1600" i="1" smtClean="0">
                                  <a:latin typeface="Cambria Math" panose="02040503050406030204" pitchFamily="18" charset="0"/>
                                </a:rPr>
                              </m:ctrlPr>
                            </m:eqArrPr>
                            <m:e>
                              <m:r>
                                <a:rPr lang="en-US" sz="1600" i="1">
                                  <a:solidFill>
                                    <a:srgbClr val="000000"/>
                                  </a:solidFill>
                                  <a:latin typeface="Cambria Math" panose="02040503050406030204" pitchFamily="18" charset="0"/>
                                  <a:ea typeface="Cambria Math" panose="02040503050406030204" pitchFamily="18" charset="0"/>
                                </a:rPr>
                                <m:t>𝜇</m:t>
                              </m:r>
                              <m:d>
                                <m:dPr>
                                  <m:ctrlPr>
                                    <a:rPr lang="en-US" sz="1600" i="1">
                                      <a:solidFill>
                                        <a:srgbClr val="000000"/>
                                      </a:solidFill>
                                      <a:latin typeface="Cambria Math" panose="02040503050406030204" pitchFamily="18" charset="0"/>
                                      <a:ea typeface="Cambria Math" panose="02040503050406030204" pitchFamily="18" charset="0"/>
                                    </a:rPr>
                                  </m:ctrlPr>
                                </m:dPr>
                                <m:e>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i="1">
                                          <a:solidFill>
                                            <a:srgbClr val="000000"/>
                                          </a:solidFill>
                                          <a:latin typeface="Cambria Math" panose="02040503050406030204" pitchFamily="18" charset="0"/>
                                          <a:ea typeface="Cambria Math" panose="02040503050406030204" pitchFamily="18" charset="0"/>
                                        </a:rPr>
                                        <m:t>𝑦</m:t>
                                      </m:r>
                                    </m:e>
                                    <m:sub>
                                      <m:r>
                                        <a:rPr lang="en-US" sz="1600" i="1">
                                          <a:solidFill>
                                            <a:srgbClr val="000000"/>
                                          </a:solidFill>
                                          <a:latin typeface="Cambria Math" panose="02040503050406030204" pitchFamily="18" charset="0"/>
                                          <a:ea typeface="Cambria Math" panose="02040503050406030204" pitchFamily="18" charset="0"/>
                                        </a:rPr>
                                        <m:t>1</m:t>
                                      </m:r>
                                    </m:sub>
                                  </m:sSub>
                                </m:e>
                              </m:d>
                              <m:r>
                                <a:rPr lang="en-US" sz="1600" i="1">
                                  <a:solidFill>
                                    <a:srgbClr val="000000"/>
                                  </a:solidFill>
                                  <a:latin typeface="Cambria Math" panose="02040503050406030204" pitchFamily="18" charset="0"/>
                                  <a:ea typeface="Cambria Math" panose="02040503050406030204" pitchFamily="18" charset="0"/>
                                </a:rPr>
                                <m:t>=</m:t>
                              </m:r>
                              <m:r>
                                <a:rPr lang="en-US" sz="1600" b="0" i="1" smtClean="0">
                                  <a:solidFill>
                                    <a:srgbClr val="000000"/>
                                  </a:solidFill>
                                  <a:latin typeface="Cambria Math" panose="02040503050406030204" pitchFamily="18" charset="0"/>
                                  <a:ea typeface="Cambria Math" panose="02040503050406030204" pitchFamily="18" charset="0"/>
                                </a:rPr>
                                <m:t>−2</m:t>
                              </m:r>
                              <m:sSub>
                                <m:sSubPr>
                                  <m:ctrlPr>
                                    <a:rPr lang="en-US" sz="1600" i="1" dirty="0">
                                      <a:solidFill>
                                        <a:srgbClr val="000000"/>
                                      </a:solidFill>
                                      <a:latin typeface="Cambria Math" panose="02040503050406030204" pitchFamily="18" charset="0"/>
                                    </a:rPr>
                                  </m:ctrlPr>
                                </m:sSubPr>
                                <m:e>
                                  <m:r>
                                    <a:rPr lang="en-US" sz="1600" i="1" dirty="0">
                                      <a:solidFill>
                                        <a:srgbClr val="000000"/>
                                      </a:solidFill>
                                      <a:latin typeface="Cambria Math" panose="02040503050406030204" pitchFamily="18" charset="0"/>
                                    </a:rPr>
                                    <m:t>𝑥</m:t>
                                  </m:r>
                                </m:e>
                                <m:sub>
                                  <m:r>
                                    <a:rPr lang="en-US" sz="1600" i="1" dirty="0">
                                      <a:solidFill>
                                        <a:srgbClr val="000000"/>
                                      </a:solidFill>
                                      <a:latin typeface="Cambria Math" panose="02040503050406030204" pitchFamily="18" charset="0"/>
                                    </a:rPr>
                                    <m:t>2</m:t>
                                  </m:r>
                                </m:sub>
                              </m:sSub>
                              <m:r>
                                <a:rPr lang="en-US" sz="1600" b="0" i="1" dirty="0" smtClean="0">
                                  <a:solidFill>
                                    <a:srgbClr val="000000"/>
                                  </a:solidFill>
                                  <a:latin typeface="Cambria Math" panose="02040503050406030204" pitchFamily="18" charset="0"/>
                                </a:rPr>
                                <m:t>+3</m:t>
                              </m:r>
                              <m:sSub>
                                <m:sSubPr>
                                  <m:ctrlPr>
                                    <a:rPr lang="en-US" sz="1600" i="1" dirty="0">
                                      <a:solidFill>
                                        <a:srgbClr val="000000"/>
                                      </a:solidFill>
                                      <a:latin typeface="Cambria Math" panose="02040503050406030204" pitchFamily="18" charset="0"/>
                                    </a:rPr>
                                  </m:ctrlPr>
                                </m:sSubPr>
                                <m:e>
                                  <m:r>
                                    <a:rPr lang="en-US" sz="1600" i="1" dirty="0">
                                      <a:solidFill>
                                        <a:srgbClr val="000000"/>
                                      </a:solidFill>
                                      <a:latin typeface="Cambria Math" panose="02040503050406030204" pitchFamily="18" charset="0"/>
                                    </a:rPr>
                                    <m:t>𝑥</m:t>
                                  </m:r>
                                </m:e>
                                <m:sub>
                                  <m:r>
                                    <a:rPr lang="en-US" sz="1600" i="1" dirty="0">
                                      <a:solidFill>
                                        <a:srgbClr val="000000"/>
                                      </a:solidFill>
                                      <a:latin typeface="Cambria Math" panose="02040503050406030204" pitchFamily="18" charset="0"/>
                                    </a:rPr>
                                    <m:t>3</m:t>
                                  </m:r>
                                </m:sub>
                              </m:sSub>
                              <m:r>
                                <a:rPr lang="en-US" sz="1600" i="1">
                                  <a:solidFill>
                                    <a:srgbClr val="000000"/>
                                  </a:solidFill>
                                  <a:latin typeface="Cambria Math" panose="02040503050406030204" pitchFamily="18" charset="0"/>
                                  <a:ea typeface="Cambria Math" panose="02040503050406030204" pitchFamily="18" charset="0"/>
                                </a:rPr>
                                <m:t>=</m:t>
                              </m:r>
                              <m:r>
                                <a:rPr lang="en-US" sz="1600" b="0" i="1" smtClean="0">
                                  <a:solidFill>
                                    <a:srgbClr val="000000"/>
                                  </a:solidFill>
                                  <a:latin typeface="Cambria Math" panose="02040503050406030204" pitchFamily="18" charset="0"/>
                                  <a:ea typeface="Cambria Math" panose="02040503050406030204" pitchFamily="18" charset="0"/>
                                </a:rPr>
                                <m:t>0</m:t>
                              </m:r>
                              <m:r>
                                <m:rPr>
                                  <m:nor/>
                                </m:rPr>
                                <a:rPr lang="en-US" sz="1600" dirty="0">
                                  <a:solidFill>
                                    <a:srgbClr val="000000"/>
                                  </a:solidFill>
                                  <a:latin typeface="Calibri" panose="020F0502020204030204" pitchFamily="34" charset="0"/>
                                </a:rPr>
                                <m:t> </m:t>
                              </m:r>
                            </m:e>
                            <m:e>
                              <m:r>
                                <a:rPr lang="en-US" sz="1600" i="1">
                                  <a:solidFill>
                                    <a:srgbClr val="000000"/>
                                  </a:solidFill>
                                  <a:latin typeface="Cambria Math" panose="02040503050406030204" pitchFamily="18" charset="0"/>
                                  <a:ea typeface="Cambria Math" panose="02040503050406030204" pitchFamily="18" charset="0"/>
                                </a:rPr>
                                <m:t>𝜇</m:t>
                              </m:r>
                              <m:d>
                                <m:dPr>
                                  <m:ctrlPr>
                                    <a:rPr lang="en-US" sz="1600" i="1">
                                      <a:solidFill>
                                        <a:srgbClr val="000000"/>
                                      </a:solidFill>
                                      <a:latin typeface="Cambria Math" panose="02040503050406030204" pitchFamily="18" charset="0"/>
                                      <a:ea typeface="Cambria Math" panose="02040503050406030204" pitchFamily="18" charset="0"/>
                                    </a:rPr>
                                  </m:ctrlPr>
                                </m:dPr>
                                <m:e>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i="1">
                                          <a:solidFill>
                                            <a:srgbClr val="000000"/>
                                          </a:solidFill>
                                          <a:latin typeface="Cambria Math" panose="02040503050406030204" pitchFamily="18" charset="0"/>
                                          <a:ea typeface="Cambria Math" panose="02040503050406030204" pitchFamily="18" charset="0"/>
                                        </a:rPr>
                                        <m:t>𝑦</m:t>
                                      </m:r>
                                    </m:e>
                                    <m:sub>
                                      <m:r>
                                        <a:rPr lang="en-US" sz="1600" i="1">
                                          <a:solidFill>
                                            <a:srgbClr val="000000"/>
                                          </a:solidFill>
                                          <a:latin typeface="Cambria Math" panose="02040503050406030204" pitchFamily="18" charset="0"/>
                                          <a:ea typeface="Cambria Math" panose="02040503050406030204" pitchFamily="18" charset="0"/>
                                        </a:rPr>
                                        <m:t>2</m:t>
                                      </m:r>
                                    </m:sub>
                                  </m:sSub>
                                </m:e>
                              </m:d>
                              <m:r>
                                <a:rPr lang="en-US" sz="1600" i="1">
                                  <a:solidFill>
                                    <a:srgbClr val="000000"/>
                                  </a:solidFill>
                                  <a:latin typeface="Cambria Math" panose="02040503050406030204" pitchFamily="18" charset="0"/>
                                  <a:ea typeface="Cambria Math" panose="02040503050406030204" pitchFamily="18" charset="0"/>
                                </a:rPr>
                                <m:t>=</m:t>
                              </m:r>
                              <m:r>
                                <a:rPr lang="en-US" sz="1600" b="0" i="1" smtClean="0">
                                  <a:solidFill>
                                    <a:srgbClr val="000000"/>
                                  </a:solidFill>
                                  <a:latin typeface="Cambria Math" panose="02040503050406030204" pitchFamily="18" charset="0"/>
                                  <a:ea typeface="Cambria Math" panose="02040503050406030204" pitchFamily="18" charset="0"/>
                                </a:rPr>
                                <m:t>2</m:t>
                              </m:r>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i="1">
                                      <a:solidFill>
                                        <a:srgbClr val="000000"/>
                                      </a:solidFill>
                                      <a:latin typeface="Cambria Math" panose="02040503050406030204" pitchFamily="18" charset="0"/>
                                      <a:ea typeface="Cambria Math" panose="02040503050406030204" pitchFamily="18" charset="0"/>
                                    </a:rPr>
                                    <m:t>𝑥</m:t>
                                  </m:r>
                                </m:e>
                                <m:sub>
                                  <m:r>
                                    <a:rPr lang="en-US" sz="1600" i="1">
                                      <a:solidFill>
                                        <a:srgbClr val="000000"/>
                                      </a:solidFill>
                                      <a:latin typeface="Cambria Math" panose="02040503050406030204" pitchFamily="18" charset="0"/>
                                      <a:ea typeface="Cambria Math" panose="02040503050406030204" pitchFamily="18" charset="0"/>
                                    </a:rPr>
                                    <m:t>1</m:t>
                                  </m:r>
                                </m:sub>
                              </m:sSub>
                              <m:r>
                                <a:rPr lang="en-US" sz="1600" b="0" i="1" smtClean="0">
                                  <a:solidFill>
                                    <a:srgbClr val="000000"/>
                                  </a:solidFill>
                                  <a:latin typeface="Cambria Math" panose="02040503050406030204" pitchFamily="18" charset="0"/>
                                  <a:ea typeface="Cambria Math" panose="02040503050406030204" pitchFamily="18" charset="0"/>
                                </a:rPr>
                                <m:t>−</m:t>
                              </m:r>
                              <m:r>
                                <a:rPr lang="en-US" sz="1600" b="0" i="1" dirty="0" smtClean="0">
                                  <a:solidFill>
                                    <a:srgbClr val="000000"/>
                                  </a:solidFill>
                                  <a:latin typeface="Cambria Math" panose="02040503050406030204" pitchFamily="18" charset="0"/>
                                </a:rPr>
                                <m:t>4</m:t>
                              </m:r>
                              <m:sSub>
                                <m:sSubPr>
                                  <m:ctrlPr>
                                    <a:rPr lang="en-US" sz="1600" i="1" dirty="0">
                                      <a:solidFill>
                                        <a:srgbClr val="000000"/>
                                      </a:solidFill>
                                      <a:latin typeface="Cambria Math" panose="02040503050406030204" pitchFamily="18" charset="0"/>
                                    </a:rPr>
                                  </m:ctrlPr>
                                </m:sSubPr>
                                <m:e>
                                  <m:r>
                                    <a:rPr lang="en-US" sz="1600" i="1" dirty="0">
                                      <a:solidFill>
                                        <a:srgbClr val="000000"/>
                                      </a:solidFill>
                                      <a:latin typeface="Cambria Math" panose="02040503050406030204" pitchFamily="18" charset="0"/>
                                    </a:rPr>
                                    <m:t>𝑥</m:t>
                                  </m:r>
                                </m:e>
                                <m:sub>
                                  <m:r>
                                    <a:rPr lang="en-US" sz="1600" i="1" dirty="0">
                                      <a:solidFill>
                                        <a:srgbClr val="000000"/>
                                      </a:solidFill>
                                      <a:latin typeface="Cambria Math" panose="02040503050406030204" pitchFamily="18" charset="0"/>
                                    </a:rPr>
                                    <m:t>3</m:t>
                                  </m:r>
                                </m:sub>
                              </m:sSub>
                              <m:r>
                                <a:rPr lang="en-US" sz="1600" i="1">
                                  <a:solidFill>
                                    <a:srgbClr val="000000"/>
                                  </a:solidFill>
                                  <a:latin typeface="Cambria Math" panose="02040503050406030204" pitchFamily="18" charset="0"/>
                                  <a:ea typeface="Cambria Math" panose="02040503050406030204" pitchFamily="18" charset="0"/>
                                </a:rPr>
                                <m:t>=</m:t>
                              </m:r>
                              <m:r>
                                <a:rPr lang="en-US" sz="1600" b="0" i="1" smtClean="0">
                                  <a:solidFill>
                                    <a:srgbClr val="000000"/>
                                  </a:solidFill>
                                  <a:latin typeface="Cambria Math" panose="02040503050406030204" pitchFamily="18" charset="0"/>
                                  <a:ea typeface="Cambria Math" panose="02040503050406030204" pitchFamily="18" charset="0"/>
                                </a:rPr>
                                <m:t>0</m:t>
                              </m:r>
                              <m:r>
                                <m:rPr>
                                  <m:nor/>
                                </m:rPr>
                                <a:rPr lang="en-US" sz="1600" dirty="0">
                                  <a:solidFill>
                                    <a:srgbClr val="000000"/>
                                  </a:solidFill>
                                  <a:latin typeface="Calibri" panose="020F0502020204030204" pitchFamily="34" charset="0"/>
                                </a:rPr>
                                <m:t> </m:t>
                              </m:r>
                            </m:e>
                            <m:e>
                              <m:r>
                                <a:rPr lang="en-US" sz="1600" i="1">
                                  <a:solidFill>
                                    <a:srgbClr val="000000"/>
                                  </a:solidFill>
                                  <a:latin typeface="Cambria Math" panose="02040503050406030204" pitchFamily="18" charset="0"/>
                                  <a:ea typeface="Cambria Math" panose="02040503050406030204" pitchFamily="18" charset="0"/>
                                </a:rPr>
                                <m:t>𝜇</m:t>
                              </m:r>
                              <m:d>
                                <m:dPr>
                                  <m:ctrlPr>
                                    <a:rPr lang="en-US" sz="1600" i="1">
                                      <a:solidFill>
                                        <a:srgbClr val="000000"/>
                                      </a:solidFill>
                                      <a:latin typeface="Cambria Math" panose="02040503050406030204" pitchFamily="18" charset="0"/>
                                      <a:ea typeface="Cambria Math" panose="02040503050406030204" pitchFamily="18" charset="0"/>
                                    </a:rPr>
                                  </m:ctrlPr>
                                </m:dPr>
                                <m:e>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i="1">
                                          <a:solidFill>
                                            <a:srgbClr val="000000"/>
                                          </a:solidFill>
                                          <a:latin typeface="Cambria Math" panose="02040503050406030204" pitchFamily="18" charset="0"/>
                                          <a:ea typeface="Cambria Math" panose="02040503050406030204" pitchFamily="18" charset="0"/>
                                        </a:rPr>
                                        <m:t>𝑦</m:t>
                                      </m:r>
                                    </m:e>
                                    <m:sub>
                                      <m:r>
                                        <a:rPr lang="en-US" sz="1600" i="1">
                                          <a:solidFill>
                                            <a:srgbClr val="000000"/>
                                          </a:solidFill>
                                          <a:latin typeface="Cambria Math" panose="02040503050406030204" pitchFamily="18" charset="0"/>
                                          <a:ea typeface="Cambria Math" panose="02040503050406030204" pitchFamily="18" charset="0"/>
                                        </a:rPr>
                                        <m:t>3</m:t>
                                      </m:r>
                                    </m:sub>
                                  </m:sSub>
                                </m:e>
                              </m:d>
                              <m:r>
                                <a:rPr lang="en-US" sz="1600" i="1">
                                  <a:solidFill>
                                    <a:srgbClr val="000000"/>
                                  </a:solidFill>
                                  <a:latin typeface="Cambria Math" panose="02040503050406030204" pitchFamily="18" charset="0"/>
                                  <a:ea typeface="Cambria Math" panose="02040503050406030204" pitchFamily="18" charset="0"/>
                                </a:rPr>
                                <m:t>=</m:t>
                              </m:r>
                              <m:r>
                                <a:rPr lang="en-US" sz="1600" b="0" i="1" smtClean="0">
                                  <a:solidFill>
                                    <a:srgbClr val="000000"/>
                                  </a:solidFill>
                                  <a:latin typeface="Cambria Math" panose="02040503050406030204" pitchFamily="18" charset="0"/>
                                  <a:ea typeface="Cambria Math" panose="02040503050406030204" pitchFamily="18" charset="0"/>
                                </a:rPr>
                                <m:t>−3</m:t>
                              </m:r>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i="1">
                                      <a:solidFill>
                                        <a:srgbClr val="000000"/>
                                      </a:solidFill>
                                      <a:latin typeface="Cambria Math" panose="02040503050406030204" pitchFamily="18" charset="0"/>
                                      <a:ea typeface="Cambria Math" panose="02040503050406030204" pitchFamily="18" charset="0"/>
                                    </a:rPr>
                                    <m:t>𝑥</m:t>
                                  </m:r>
                                </m:e>
                                <m:sub>
                                  <m:r>
                                    <a:rPr lang="en-US" sz="1600" i="1">
                                      <a:solidFill>
                                        <a:srgbClr val="000000"/>
                                      </a:solidFill>
                                      <a:latin typeface="Cambria Math" panose="02040503050406030204" pitchFamily="18" charset="0"/>
                                      <a:ea typeface="Cambria Math" panose="02040503050406030204" pitchFamily="18" charset="0"/>
                                    </a:rPr>
                                    <m:t>1</m:t>
                                  </m:r>
                                </m:sub>
                              </m:sSub>
                              <m:r>
                                <a:rPr lang="en-US" sz="1600" i="1">
                                  <a:solidFill>
                                    <a:srgbClr val="000000"/>
                                  </a:solidFill>
                                  <a:latin typeface="Cambria Math" panose="02040503050406030204" pitchFamily="18" charset="0"/>
                                  <a:ea typeface="Cambria Math" panose="02040503050406030204" pitchFamily="18" charset="0"/>
                                </a:rPr>
                                <m:t>+</m:t>
                              </m:r>
                              <m:r>
                                <a:rPr lang="en-US" sz="1600" b="0" i="1" smtClean="0">
                                  <a:solidFill>
                                    <a:srgbClr val="000000"/>
                                  </a:solidFill>
                                  <a:latin typeface="Cambria Math" panose="02040503050406030204" pitchFamily="18" charset="0"/>
                                  <a:ea typeface="Cambria Math" panose="02040503050406030204" pitchFamily="18" charset="0"/>
                                </a:rPr>
                                <m:t>4</m:t>
                              </m:r>
                              <m:sSub>
                                <m:sSubPr>
                                  <m:ctrlPr>
                                    <a:rPr lang="en-US" sz="1600" i="1" dirty="0">
                                      <a:solidFill>
                                        <a:srgbClr val="000000"/>
                                      </a:solidFill>
                                      <a:latin typeface="Cambria Math" panose="02040503050406030204" pitchFamily="18" charset="0"/>
                                    </a:rPr>
                                  </m:ctrlPr>
                                </m:sSubPr>
                                <m:e>
                                  <m:r>
                                    <a:rPr lang="en-US" sz="1600" i="1" dirty="0">
                                      <a:solidFill>
                                        <a:srgbClr val="000000"/>
                                      </a:solidFill>
                                      <a:latin typeface="Cambria Math" panose="02040503050406030204" pitchFamily="18" charset="0"/>
                                    </a:rPr>
                                    <m:t>𝑥</m:t>
                                  </m:r>
                                </m:e>
                                <m:sub>
                                  <m:r>
                                    <a:rPr lang="en-US" sz="1600" b="0" i="1" dirty="0" smtClean="0">
                                      <a:solidFill>
                                        <a:srgbClr val="000000"/>
                                      </a:solidFill>
                                      <a:latin typeface="Cambria Math" panose="02040503050406030204" pitchFamily="18" charset="0"/>
                                    </a:rPr>
                                    <m:t>2</m:t>
                                  </m:r>
                                </m:sub>
                              </m:sSub>
                              <m:r>
                                <a:rPr lang="en-US" sz="1600" i="1">
                                  <a:solidFill>
                                    <a:srgbClr val="000000"/>
                                  </a:solidFill>
                                  <a:latin typeface="Cambria Math" panose="02040503050406030204" pitchFamily="18" charset="0"/>
                                  <a:ea typeface="Cambria Math" panose="02040503050406030204" pitchFamily="18" charset="0"/>
                                </a:rPr>
                                <m:t>=</m:t>
                              </m:r>
                              <m:r>
                                <a:rPr lang="en-US" sz="1600" b="0" i="1" smtClean="0">
                                  <a:solidFill>
                                    <a:srgbClr val="000000"/>
                                  </a:solidFill>
                                  <a:latin typeface="Cambria Math" panose="02040503050406030204" pitchFamily="18" charset="0"/>
                                  <a:ea typeface="Cambria Math" panose="02040503050406030204" pitchFamily="18" charset="0"/>
                                </a:rPr>
                                <m:t>0</m:t>
                              </m:r>
                              <m:r>
                                <m:rPr>
                                  <m:nor/>
                                </m:rPr>
                                <a:rPr lang="en-US" sz="1600" dirty="0">
                                  <a:solidFill>
                                    <a:srgbClr val="000000"/>
                                  </a:solidFill>
                                  <a:latin typeface="Calibri" panose="020F0502020204030204" pitchFamily="34" charset="0"/>
                                </a:rPr>
                                <m:t> </m:t>
                              </m:r>
                            </m:e>
                            <m:e>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i="1">
                                      <a:solidFill>
                                        <a:srgbClr val="000000"/>
                                      </a:solidFill>
                                      <a:latin typeface="Cambria Math" panose="02040503050406030204" pitchFamily="18" charset="0"/>
                                      <a:ea typeface="Cambria Math" panose="02040503050406030204" pitchFamily="18" charset="0"/>
                                    </a:rPr>
                                    <m:t>𝑥</m:t>
                                  </m:r>
                                </m:e>
                                <m:sub>
                                  <m:r>
                                    <a:rPr lang="en-US" sz="1600" i="1">
                                      <a:solidFill>
                                        <a:srgbClr val="000000"/>
                                      </a:solidFill>
                                      <a:latin typeface="Cambria Math" panose="02040503050406030204" pitchFamily="18" charset="0"/>
                                      <a:ea typeface="Cambria Math" panose="02040503050406030204" pitchFamily="18" charset="0"/>
                                    </a:rPr>
                                    <m:t>1</m:t>
                                  </m:r>
                                </m:sub>
                              </m:sSub>
                              <m:r>
                                <a:rPr lang="en-US" sz="1600" i="1">
                                  <a:solidFill>
                                    <a:srgbClr val="000000"/>
                                  </a:solidFill>
                                  <a:latin typeface="Cambria Math" panose="02040503050406030204" pitchFamily="18" charset="0"/>
                                  <a:ea typeface="Cambria Math" panose="02040503050406030204" pitchFamily="18" charset="0"/>
                                </a:rPr>
                                <m:t>+</m:t>
                              </m:r>
                              <m:sSub>
                                <m:sSubPr>
                                  <m:ctrlPr>
                                    <a:rPr lang="en-US" sz="1600" i="1" dirty="0">
                                      <a:solidFill>
                                        <a:srgbClr val="000000"/>
                                      </a:solidFill>
                                      <a:latin typeface="Cambria Math" panose="02040503050406030204" pitchFamily="18" charset="0"/>
                                    </a:rPr>
                                  </m:ctrlPr>
                                </m:sSubPr>
                                <m:e>
                                  <m:r>
                                    <a:rPr lang="en-US" sz="1600" i="1" dirty="0">
                                      <a:solidFill>
                                        <a:srgbClr val="000000"/>
                                      </a:solidFill>
                                      <a:latin typeface="Cambria Math" panose="02040503050406030204" pitchFamily="18" charset="0"/>
                                    </a:rPr>
                                    <m:t>𝑥</m:t>
                                  </m:r>
                                </m:e>
                                <m:sub>
                                  <m:r>
                                    <a:rPr lang="en-US" sz="1600" i="1" dirty="0">
                                      <a:solidFill>
                                        <a:srgbClr val="000000"/>
                                      </a:solidFill>
                                      <a:latin typeface="Cambria Math" panose="02040503050406030204" pitchFamily="18" charset="0"/>
                                    </a:rPr>
                                    <m:t>2</m:t>
                                  </m:r>
                                </m:sub>
                              </m:sSub>
                              <m:r>
                                <a:rPr lang="en-US" sz="1600" i="1" dirty="0">
                                  <a:solidFill>
                                    <a:srgbClr val="000000"/>
                                  </a:solidFill>
                                  <a:latin typeface="Cambria Math" panose="02040503050406030204" pitchFamily="18" charset="0"/>
                                </a:rPr>
                                <m:t>+</m:t>
                              </m:r>
                              <m:sSub>
                                <m:sSubPr>
                                  <m:ctrlPr>
                                    <a:rPr lang="en-US" sz="1600" i="1" dirty="0">
                                      <a:solidFill>
                                        <a:srgbClr val="000000"/>
                                      </a:solidFill>
                                      <a:latin typeface="Cambria Math" panose="02040503050406030204" pitchFamily="18" charset="0"/>
                                    </a:rPr>
                                  </m:ctrlPr>
                                </m:sSubPr>
                                <m:e>
                                  <m:r>
                                    <a:rPr lang="en-US" sz="1600" i="1" dirty="0">
                                      <a:solidFill>
                                        <a:srgbClr val="000000"/>
                                      </a:solidFill>
                                      <a:latin typeface="Cambria Math" panose="02040503050406030204" pitchFamily="18" charset="0"/>
                                    </a:rPr>
                                    <m:t>𝑥</m:t>
                                  </m:r>
                                </m:e>
                                <m:sub>
                                  <m:r>
                                    <a:rPr lang="en-US" sz="1600" i="1" dirty="0">
                                      <a:solidFill>
                                        <a:srgbClr val="000000"/>
                                      </a:solidFill>
                                      <a:latin typeface="Cambria Math" panose="02040503050406030204" pitchFamily="18" charset="0"/>
                                    </a:rPr>
                                    <m:t>3</m:t>
                                  </m:r>
                                </m:sub>
                              </m:sSub>
                              <m:r>
                                <a:rPr lang="en-US" sz="1600" i="1">
                                  <a:solidFill>
                                    <a:srgbClr val="000000"/>
                                  </a:solidFill>
                                  <a:latin typeface="Cambria Math" panose="02040503050406030204" pitchFamily="18" charset="0"/>
                                  <a:ea typeface="Cambria Math" panose="02040503050406030204" pitchFamily="18" charset="0"/>
                                </a:rPr>
                                <m:t>=1</m:t>
                              </m:r>
                            </m:e>
                          </m:eqArr>
                        </m:e>
                      </m:d>
                    </m:oMath>
                  </m:oMathPara>
                </a14:m>
                <a:endParaRPr lang="en-US" sz="1600" dirty="0"/>
              </a:p>
            </p:txBody>
          </p:sp>
        </mc:Choice>
        <mc:Fallback xmlns="">
          <p:sp>
            <p:nvSpPr>
              <p:cNvPr id="7" name="TextBox 6"/>
              <p:cNvSpPr txBox="1">
                <a:spLocks noRot="1" noChangeAspect="1" noMove="1" noResize="1" noEditPoints="1" noAdjustHandles="1" noChangeArrowheads="1" noChangeShapeType="1" noTextEdit="1"/>
              </p:cNvSpPr>
              <p:nvPr/>
            </p:nvSpPr>
            <p:spPr>
              <a:xfrm>
                <a:off x="5508104" y="2772515"/>
                <a:ext cx="2401427" cy="99988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2902373" y="2743678"/>
                <a:ext cx="2361929" cy="10004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600" i="1" smtClean="0">
                              <a:latin typeface="Cambria Math" panose="02040503050406030204" pitchFamily="18" charset="0"/>
                            </a:rPr>
                          </m:ctrlPr>
                        </m:dPr>
                        <m:e>
                          <m:eqArr>
                            <m:eqArrPr>
                              <m:ctrlPr>
                                <a:rPr lang="en-US" sz="1600" i="1" smtClean="0">
                                  <a:latin typeface="Cambria Math" panose="02040503050406030204" pitchFamily="18" charset="0"/>
                                </a:rPr>
                              </m:ctrlPr>
                            </m:eqArrPr>
                            <m:e>
                              <m:r>
                                <a:rPr lang="en-US" sz="1600" i="1">
                                  <a:solidFill>
                                    <a:srgbClr val="000000"/>
                                  </a:solidFill>
                                  <a:latin typeface="Cambria Math" panose="02040503050406030204" pitchFamily="18" charset="0"/>
                                  <a:ea typeface="Cambria Math" panose="02040503050406030204" pitchFamily="18" charset="0"/>
                                </a:rPr>
                                <m:t>𝜇</m:t>
                              </m:r>
                              <m:d>
                                <m:dPr>
                                  <m:ctrlPr>
                                    <a:rPr lang="en-US" sz="1600" i="1">
                                      <a:solidFill>
                                        <a:srgbClr val="000000"/>
                                      </a:solidFill>
                                      <a:latin typeface="Cambria Math" panose="02040503050406030204" pitchFamily="18" charset="0"/>
                                      <a:ea typeface="Cambria Math" panose="02040503050406030204" pitchFamily="18" charset="0"/>
                                    </a:rPr>
                                  </m:ctrlPr>
                                </m:dPr>
                                <m:e>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b="0" i="1" smtClean="0">
                                          <a:solidFill>
                                            <a:srgbClr val="000000"/>
                                          </a:solidFill>
                                          <a:latin typeface="Cambria Math" panose="02040503050406030204" pitchFamily="18" charset="0"/>
                                          <a:ea typeface="Cambria Math" panose="02040503050406030204" pitchFamily="18" charset="0"/>
                                        </a:rPr>
                                        <m:t>𝑥</m:t>
                                      </m:r>
                                    </m:e>
                                    <m:sub>
                                      <m:r>
                                        <a:rPr lang="en-US" sz="1600" i="1">
                                          <a:solidFill>
                                            <a:srgbClr val="000000"/>
                                          </a:solidFill>
                                          <a:latin typeface="Cambria Math" panose="02040503050406030204" pitchFamily="18" charset="0"/>
                                          <a:ea typeface="Cambria Math" panose="02040503050406030204" pitchFamily="18" charset="0"/>
                                        </a:rPr>
                                        <m:t>1</m:t>
                                      </m:r>
                                    </m:sub>
                                  </m:sSub>
                                </m:e>
                              </m:d>
                              <m:r>
                                <a:rPr lang="en-US" sz="1600" i="1">
                                  <a:solidFill>
                                    <a:srgbClr val="000000"/>
                                  </a:solidFill>
                                  <a:latin typeface="Cambria Math" panose="02040503050406030204" pitchFamily="18" charset="0"/>
                                  <a:ea typeface="Cambria Math" panose="02040503050406030204" pitchFamily="18" charset="0"/>
                                </a:rPr>
                                <m:t>=</m:t>
                              </m:r>
                              <m:r>
                                <a:rPr lang="en-US" sz="1600" b="0" i="1" smtClean="0">
                                  <a:solidFill>
                                    <a:srgbClr val="000000"/>
                                  </a:solidFill>
                                  <a:latin typeface="Cambria Math" panose="02040503050406030204" pitchFamily="18" charset="0"/>
                                  <a:ea typeface="Cambria Math" panose="02040503050406030204" pitchFamily="18" charset="0"/>
                                </a:rPr>
                                <m:t>2</m:t>
                              </m:r>
                              <m:sSub>
                                <m:sSubPr>
                                  <m:ctrlPr>
                                    <a:rPr lang="en-US" sz="1600" i="1" dirty="0">
                                      <a:solidFill>
                                        <a:srgbClr val="000000"/>
                                      </a:solidFill>
                                      <a:latin typeface="Cambria Math" panose="02040503050406030204" pitchFamily="18" charset="0"/>
                                    </a:rPr>
                                  </m:ctrlPr>
                                </m:sSubPr>
                                <m:e>
                                  <m:r>
                                    <a:rPr lang="en-US" sz="1600" b="0" i="1" dirty="0" smtClean="0">
                                      <a:solidFill>
                                        <a:srgbClr val="000000"/>
                                      </a:solidFill>
                                      <a:latin typeface="Cambria Math" panose="02040503050406030204" pitchFamily="18" charset="0"/>
                                    </a:rPr>
                                    <m:t>𝑦</m:t>
                                  </m:r>
                                </m:e>
                                <m:sub>
                                  <m:r>
                                    <a:rPr lang="en-US" sz="1600" i="1" dirty="0">
                                      <a:solidFill>
                                        <a:srgbClr val="000000"/>
                                      </a:solidFill>
                                      <a:latin typeface="Cambria Math" panose="02040503050406030204" pitchFamily="18" charset="0"/>
                                    </a:rPr>
                                    <m:t>2</m:t>
                                  </m:r>
                                </m:sub>
                              </m:sSub>
                              <m:r>
                                <a:rPr lang="en-US" sz="1600" b="0" i="1" dirty="0" smtClean="0">
                                  <a:solidFill>
                                    <a:srgbClr val="000000"/>
                                  </a:solidFill>
                                  <a:latin typeface="Cambria Math" panose="02040503050406030204" pitchFamily="18" charset="0"/>
                                </a:rPr>
                                <m:t>−3</m:t>
                              </m:r>
                              <m:sSub>
                                <m:sSubPr>
                                  <m:ctrlPr>
                                    <a:rPr lang="en-US" sz="1600" i="1" dirty="0">
                                      <a:solidFill>
                                        <a:srgbClr val="000000"/>
                                      </a:solidFill>
                                      <a:latin typeface="Cambria Math" panose="02040503050406030204" pitchFamily="18" charset="0"/>
                                    </a:rPr>
                                  </m:ctrlPr>
                                </m:sSubPr>
                                <m:e>
                                  <m:r>
                                    <a:rPr lang="en-US" sz="1600" b="0" i="1" dirty="0" smtClean="0">
                                      <a:solidFill>
                                        <a:srgbClr val="000000"/>
                                      </a:solidFill>
                                      <a:latin typeface="Cambria Math" panose="02040503050406030204" pitchFamily="18" charset="0"/>
                                    </a:rPr>
                                    <m:t>𝑦</m:t>
                                  </m:r>
                                </m:e>
                                <m:sub>
                                  <m:r>
                                    <a:rPr lang="en-US" sz="1600" i="1" dirty="0">
                                      <a:solidFill>
                                        <a:srgbClr val="000000"/>
                                      </a:solidFill>
                                      <a:latin typeface="Cambria Math" panose="02040503050406030204" pitchFamily="18" charset="0"/>
                                    </a:rPr>
                                    <m:t>3</m:t>
                                  </m:r>
                                </m:sub>
                              </m:sSub>
                              <m:r>
                                <a:rPr lang="en-US" sz="1600" i="1">
                                  <a:solidFill>
                                    <a:srgbClr val="000000"/>
                                  </a:solidFill>
                                  <a:latin typeface="Cambria Math" panose="02040503050406030204" pitchFamily="18" charset="0"/>
                                  <a:ea typeface="Cambria Math" panose="02040503050406030204" pitchFamily="18" charset="0"/>
                                </a:rPr>
                                <m:t>=</m:t>
                              </m:r>
                              <m:r>
                                <a:rPr lang="en-US" sz="1600" b="0" i="1" smtClean="0">
                                  <a:solidFill>
                                    <a:srgbClr val="000000"/>
                                  </a:solidFill>
                                  <a:latin typeface="Cambria Math" panose="02040503050406030204" pitchFamily="18" charset="0"/>
                                  <a:ea typeface="Cambria Math" panose="02040503050406030204" pitchFamily="18" charset="0"/>
                                </a:rPr>
                                <m:t>0</m:t>
                              </m:r>
                              <m:r>
                                <m:rPr>
                                  <m:nor/>
                                </m:rPr>
                                <a:rPr lang="en-US" sz="1600" dirty="0">
                                  <a:solidFill>
                                    <a:srgbClr val="000000"/>
                                  </a:solidFill>
                                  <a:latin typeface="Calibri" panose="020F0502020204030204" pitchFamily="34" charset="0"/>
                                </a:rPr>
                                <m:t> </m:t>
                              </m:r>
                            </m:e>
                            <m:e>
                              <m:r>
                                <a:rPr lang="en-US" sz="1600" i="1">
                                  <a:solidFill>
                                    <a:srgbClr val="000000"/>
                                  </a:solidFill>
                                  <a:latin typeface="Cambria Math" panose="02040503050406030204" pitchFamily="18" charset="0"/>
                                  <a:ea typeface="Cambria Math" panose="02040503050406030204" pitchFamily="18" charset="0"/>
                                </a:rPr>
                                <m:t>𝜇</m:t>
                              </m:r>
                              <m:d>
                                <m:dPr>
                                  <m:ctrlPr>
                                    <a:rPr lang="en-US" sz="1600" i="1">
                                      <a:solidFill>
                                        <a:srgbClr val="000000"/>
                                      </a:solidFill>
                                      <a:latin typeface="Cambria Math" panose="02040503050406030204" pitchFamily="18" charset="0"/>
                                      <a:ea typeface="Cambria Math" panose="02040503050406030204" pitchFamily="18" charset="0"/>
                                    </a:rPr>
                                  </m:ctrlPr>
                                </m:dPr>
                                <m:e>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b="0" i="1" smtClean="0">
                                          <a:solidFill>
                                            <a:srgbClr val="000000"/>
                                          </a:solidFill>
                                          <a:latin typeface="Cambria Math" panose="02040503050406030204" pitchFamily="18" charset="0"/>
                                          <a:ea typeface="Cambria Math" panose="02040503050406030204" pitchFamily="18" charset="0"/>
                                        </a:rPr>
                                        <m:t>𝑥</m:t>
                                      </m:r>
                                    </m:e>
                                    <m:sub>
                                      <m:r>
                                        <a:rPr lang="en-US" sz="1600" i="1">
                                          <a:solidFill>
                                            <a:srgbClr val="000000"/>
                                          </a:solidFill>
                                          <a:latin typeface="Cambria Math" panose="02040503050406030204" pitchFamily="18" charset="0"/>
                                          <a:ea typeface="Cambria Math" panose="02040503050406030204" pitchFamily="18" charset="0"/>
                                        </a:rPr>
                                        <m:t>2</m:t>
                                      </m:r>
                                    </m:sub>
                                  </m:sSub>
                                </m:e>
                              </m:d>
                              <m:r>
                                <a:rPr lang="en-US" sz="1600" i="1">
                                  <a:solidFill>
                                    <a:srgbClr val="000000"/>
                                  </a:solidFill>
                                  <a:latin typeface="Cambria Math" panose="02040503050406030204" pitchFamily="18" charset="0"/>
                                  <a:ea typeface="Cambria Math" panose="02040503050406030204" pitchFamily="18" charset="0"/>
                                </a:rPr>
                                <m:t>=</m:t>
                              </m:r>
                              <m:r>
                                <a:rPr lang="en-US" sz="1600" b="0" i="1" smtClean="0">
                                  <a:solidFill>
                                    <a:srgbClr val="000000"/>
                                  </a:solidFill>
                                  <a:latin typeface="Cambria Math" panose="02040503050406030204" pitchFamily="18" charset="0"/>
                                  <a:ea typeface="Cambria Math" panose="02040503050406030204" pitchFamily="18" charset="0"/>
                                </a:rPr>
                                <m:t>−2</m:t>
                              </m:r>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b="0" i="1" smtClean="0">
                                      <a:solidFill>
                                        <a:srgbClr val="000000"/>
                                      </a:solidFill>
                                      <a:latin typeface="Cambria Math" panose="02040503050406030204" pitchFamily="18" charset="0"/>
                                      <a:ea typeface="Cambria Math" panose="02040503050406030204" pitchFamily="18" charset="0"/>
                                    </a:rPr>
                                    <m:t>𝑦</m:t>
                                  </m:r>
                                </m:e>
                                <m:sub>
                                  <m:r>
                                    <a:rPr lang="en-US" sz="1600" i="1">
                                      <a:solidFill>
                                        <a:srgbClr val="000000"/>
                                      </a:solidFill>
                                      <a:latin typeface="Cambria Math" panose="02040503050406030204" pitchFamily="18" charset="0"/>
                                      <a:ea typeface="Cambria Math" panose="02040503050406030204" pitchFamily="18" charset="0"/>
                                    </a:rPr>
                                    <m:t>1</m:t>
                                  </m:r>
                                </m:sub>
                              </m:sSub>
                              <m:r>
                                <a:rPr lang="en-US" sz="1600" i="1">
                                  <a:solidFill>
                                    <a:srgbClr val="000000"/>
                                  </a:solidFill>
                                  <a:latin typeface="Cambria Math" panose="02040503050406030204" pitchFamily="18" charset="0"/>
                                  <a:ea typeface="Cambria Math" panose="02040503050406030204" pitchFamily="18" charset="0"/>
                                </a:rPr>
                                <m:t>+</m:t>
                              </m:r>
                              <m:sSub>
                                <m:sSubPr>
                                  <m:ctrlPr>
                                    <a:rPr lang="en-US" sz="1600" i="1" dirty="0">
                                      <a:solidFill>
                                        <a:srgbClr val="000000"/>
                                      </a:solidFill>
                                      <a:latin typeface="Cambria Math" panose="02040503050406030204" pitchFamily="18" charset="0"/>
                                    </a:rPr>
                                  </m:ctrlPr>
                                </m:sSubPr>
                                <m:e>
                                  <m:r>
                                    <a:rPr lang="en-US" sz="1600" b="0" i="1" dirty="0" smtClean="0">
                                      <a:solidFill>
                                        <a:srgbClr val="000000"/>
                                      </a:solidFill>
                                      <a:latin typeface="Cambria Math" panose="02040503050406030204" pitchFamily="18" charset="0"/>
                                    </a:rPr>
                                    <m:t>𝑦</m:t>
                                  </m:r>
                                </m:e>
                                <m:sub>
                                  <m:r>
                                    <a:rPr lang="en-US" sz="1600" b="0" i="1" dirty="0" smtClean="0">
                                      <a:solidFill>
                                        <a:srgbClr val="000000"/>
                                      </a:solidFill>
                                      <a:latin typeface="Cambria Math" panose="02040503050406030204" pitchFamily="18" charset="0"/>
                                    </a:rPr>
                                    <m:t>3</m:t>
                                  </m:r>
                                </m:sub>
                              </m:sSub>
                              <m:r>
                                <a:rPr lang="en-US" sz="1600" i="1">
                                  <a:solidFill>
                                    <a:srgbClr val="000000"/>
                                  </a:solidFill>
                                  <a:latin typeface="Cambria Math" panose="02040503050406030204" pitchFamily="18" charset="0"/>
                                  <a:ea typeface="Cambria Math" panose="02040503050406030204" pitchFamily="18" charset="0"/>
                                </a:rPr>
                                <m:t>=</m:t>
                              </m:r>
                              <m:r>
                                <a:rPr lang="en-US" sz="1600" b="0" i="1" smtClean="0">
                                  <a:solidFill>
                                    <a:srgbClr val="000000"/>
                                  </a:solidFill>
                                  <a:latin typeface="Cambria Math" panose="02040503050406030204" pitchFamily="18" charset="0"/>
                                  <a:ea typeface="Cambria Math" panose="02040503050406030204" pitchFamily="18" charset="0"/>
                                </a:rPr>
                                <m:t>0</m:t>
                              </m:r>
                              <m:r>
                                <m:rPr>
                                  <m:nor/>
                                </m:rPr>
                                <a:rPr lang="en-US" sz="1600" dirty="0">
                                  <a:solidFill>
                                    <a:srgbClr val="000000"/>
                                  </a:solidFill>
                                  <a:latin typeface="Calibri" panose="020F0502020204030204" pitchFamily="34" charset="0"/>
                                </a:rPr>
                                <m:t> </m:t>
                              </m:r>
                            </m:e>
                            <m:e>
                              <m:r>
                                <a:rPr lang="en-US" sz="1600" i="1">
                                  <a:solidFill>
                                    <a:srgbClr val="000000"/>
                                  </a:solidFill>
                                  <a:latin typeface="Cambria Math" panose="02040503050406030204" pitchFamily="18" charset="0"/>
                                  <a:ea typeface="Cambria Math" panose="02040503050406030204" pitchFamily="18" charset="0"/>
                                </a:rPr>
                                <m:t>𝜇</m:t>
                              </m:r>
                              <m:d>
                                <m:dPr>
                                  <m:ctrlPr>
                                    <a:rPr lang="en-US" sz="1600" i="1">
                                      <a:solidFill>
                                        <a:srgbClr val="000000"/>
                                      </a:solidFill>
                                      <a:latin typeface="Cambria Math" panose="02040503050406030204" pitchFamily="18" charset="0"/>
                                      <a:ea typeface="Cambria Math" panose="02040503050406030204" pitchFamily="18" charset="0"/>
                                    </a:rPr>
                                  </m:ctrlPr>
                                </m:dPr>
                                <m:e>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b="0" i="1" smtClean="0">
                                          <a:solidFill>
                                            <a:srgbClr val="000000"/>
                                          </a:solidFill>
                                          <a:latin typeface="Cambria Math" panose="02040503050406030204" pitchFamily="18" charset="0"/>
                                          <a:ea typeface="Cambria Math" panose="02040503050406030204" pitchFamily="18" charset="0"/>
                                        </a:rPr>
                                        <m:t>𝑥</m:t>
                                      </m:r>
                                    </m:e>
                                    <m:sub>
                                      <m:r>
                                        <a:rPr lang="en-US" sz="1600" i="1">
                                          <a:solidFill>
                                            <a:srgbClr val="000000"/>
                                          </a:solidFill>
                                          <a:latin typeface="Cambria Math" panose="02040503050406030204" pitchFamily="18" charset="0"/>
                                          <a:ea typeface="Cambria Math" panose="02040503050406030204" pitchFamily="18" charset="0"/>
                                        </a:rPr>
                                        <m:t>3</m:t>
                                      </m:r>
                                    </m:sub>
                                  </m:sSub>
                                </m:e>
                              </m:d>
                              <m:r>
                                <a:rPr lang="en-US" sz="1600" i="1">
                                  <a:solidFill>
                                    <a:srgbClr val="000000"/>
                                  </a:solidFill>
                                  <a:latin typeface="Cambria Math" panose="02040503050406030204" pitchFamily="18" charset="0"/>
                                  <a:ea typeface="Cambria Math" panose="02040503050406030204" pitchFamily="18" charset="0"/>
                                </a:rPr>
                                <m:t>=</m:t>
                              </m:r>
                              <m:r>
                                <a:rPr lang="en-US" sz="1600" b="0" i="1" smtClean="0">
                                  <a:solidFill>
                                    <a:srgbClr val="000000"/>
                                  </a:solidFill>
                                  <a:latin typeface="Cambria Math" panose="02040503050406030204" pitchFamily="18" charset="0"/>
                                  <a:ea typeface="Cambria Math" panose="02040503050406030204" pitchFamily="18" charset="0"/>
                                </a:rPr>
                                <m:t>3</m:t>
                              </m:r>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b="0" i="1" smtClean="0">
                                      <a:solidFill>
                                        <a:srgbClr val="000000"/>
                                      </a:solidFill>
                                      <a:latin typeface="Cambria Math" panose="02040503050406030204" pitchFamily="18" charset="0"/>
                                      <a:ea typeface="Cambria Math" panose="02040503050406030204" pitchFamily="18" charset="0"/>
                                    </a:rPr>
                                    <m:t>𝑦</m:t>
                                  </m:r>
                                </m:e>
                                <m:sub>
                                  <m:r>
                                    <a:rPr lang="en-US" sz="1600" i="1">
                                      <a:solidFill>
                                        <a:srgbClr val="000000"/>
                                      </a:solidFill>
                                      <a:latin typeface="Cambria Math" panose="02040503050406030204" pitchFamily="18" charset="0"/>
                                      <a:ea typeface="Cambria Math" panose="02040503050406030204" pitchFamily="18" charset="0"/>
                                    </a:rPr>
                                    <m:t>1</m:t>
                                  </m:r>
                                </m:sub>
                              </m:sSub>
                              <m:r>
                                <a:rPr lang="en-US" sz="1600" b="0" i="1" smtClean="0">
                                  <a:solidFill>
                                    <a:srgbClr val="000000"/>
                                  </a:solidFill>
                                  <a:latin typeface="Cambria Math" panose="02040503050406030204" pitchFamily="18" charset="0"/>
                                  <a:ea typeface="Cambria Math" panose="02040503050406030204" pitchFamily="18" charset="0"/>
                                </a:rPr>
                                <m:t>−4</m:t>
                              </m:r>
                              <m:sSub>
                                <m:sSubPr>
                                  <m:ctrlPr>
                                    <a:rPr lang="en-US" sz="1600" i="1" dirty="0">
                                      <a:solidFill>
                                        <a:srgbClr val="000000"/>
                                      </a:solidFill>
                                      <a:latin typeface="Cambria Math" panose="02040503050406030204" pitchFamily="18" charset="0"/>
                                    </a:rPr>
                                  </m:ctrlPr>
                                </m:sSubPr>
                                <m:e>
                                  <m:r>
                                    <a:rPr lang="en-US" sz="1600" b="0" i="1" dirty="0" smtClean="0">
                                      <a:solidFill>
                                        <a:srgbClr val="000000"/>
                                      </a:solidFill>
                                      <a:latin typeface="Cambria Math" panose="02040503050406030204" pitchFamily="18" charset="0"/>
                                    </a:rPr>
                                    <m:t>𝑦</m:t>
                                  </m:r>
                                </m:e>
                                <m:sub>
                                  <m:r>
                                    <a:rPr lang="en-US" sz="1600" b="0" i="1" dirty="0" smtClean="0">
                                      <a:solidFill>
                                        <a:srgbClr val="000000"/>
                                      </a:solidFill>
                                      <a:latin typeface="Cambria Math" panose="02040503050406030204" pitchFamily="18" charset="0"/>
                                    </a:rPr>
                                    <m:t>2</m:t>
                                  </m:r>
                                </m:sub>
                              </m:sSub>
                              <m:r>
                                <a:rPr lang="en-US" sz="1600" i="1">
                                  <a:solidFill>
                                    <a:srgbClr val="000000"/>
                                  </a:solidFill>
                                  <a:latin typeface="Cambria Math" panose="02040503050406030204" pitchFamily="18" charset="0"/>
                                  <a:ea typeface="Cambria Math" panose="02040503050406030204" pitchFamily="18" charset="0"/>
                                </a:rPr>
                                <m:t>=</m:t>
                              </m:r>
                              <m:r>
                                <a:rPr lang="en-US" sz="1600" b="0" i="1" smtClean="0">
                                  <a:solidFill>
                                    <a:srgbClr val="000000"/>
                                  </a:solidFill>
                                  <a:latin typeface="Cambria Math" panose="02040503050406030204" pitchFamily="18" charset="0"/>
                                  <a:ea typeface="Cambria Math" panose="02040503050406030204" pitchFamily="18" charset="0"/>
                                </a:rPr>
                                <m:t>0</m:t>
                              </m:r>
                              <m:r>
                                <m:rPr>
                                  <m:nor/>
                                </m:rPr>
                                <a:rPr lang="en-US" sz="1600" dirty="0">
                                  <a:solidFill>
                                    <a:srgbClr val="000000"/>
                                  </a:solidFill>
                                  <a:latin typeface="Calibri" panose="020F0502020204030204" pitchFamily="34" charset="0"/>
                                </a:rPr>
                                <m:t> </m:t>
                              </m:r>
                            </m:e>
                            <m:e>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b="0" i="1" smtClean="0">
                                      <a:solidFill>
                                        <a:srgbClr val="000000"/>
                                      </a:solidFill>
                                      <a:latin typeface="Cambria Math" panose="02040503050406030204" pitchFamily="18" charset="0"/>
                                      <a:ea typeface="Cambria Math" panose="02040503050406030204" pitchFamily="18" charset="0"/>
                                    </a:rPr>
                                    <m:t>𝑦</m:t>
                                  </m:r>
                                </m:e>
                                <m:sub>
                                  <m:r>
                                    <a:rPr lang="en-US" sz="1600" i="1">
                                      <a:solidFill>
                                        <a:srgbClr val="000000"/>
                                      </a:solidFill>
                                      <a:latin typeface="Cambria Math" panose="02040503050406030204" pitchFamily="18" charset="0"/>
                                      <a:ea typeface="Cambria Math" panose="02040503050406030204" pitchFamily="18" charset="0"/>
                                    </a:rPr>
                                    <m:t>1</m:t>
                                  </m:r>
                                </m:sub>
                              </m:sSub>
                              <m:r>
                                <a:rPr lang="en-US" sz="1600" i="1">
                                  <a:solidFill>
                                    <a:srgbClr val="000000"/>
                                  </a:solidFill>
                                  <a:latin typeface="Cambria Math" panose="02040503050406030204" pitchFamily="18" charset="0"/>
                                  <a:ea typeface="Cambria Math" panose="02040503050406030204" pitchFamily="18" charset="0"/>
                                </a:rPr>
                                <m:t>+</m:t>
                              </m:r>
                              <m:sSub>
                                <m:sSubPr>
                                  <m:ctrlPr>
                                    <a:rPr lang="en-US" sz="1600" i="1" dirty="0">
                                      <a:solidFill>
                                        <a:srgbClr val="000000"/>
                                      </a:solidFill>
                                      <a:latin typeface="Cambria Math" panose="02040503050406030204" pitchFamily="18" charset="0"/>
                                    </a:rPr>
                                  </m:ctrlPr>
                                </m:sSubPr>
                                <m:e>
                                  <m:r>
                                    <a:rPr lang="en-US" sz="1600" b="0" i="1" dirty="0" smtClean="0">
                                      <a:solidFill>
                                        <a:srgbClr val="000000"/>
                                      </a:solidFill>
                                      <a:latin typeface="Cambria Math" panose="02040503050406030204" pitchFamily="18" charset="0"/>
                                    </a:rPr>
                                    <m:t>𝑦</m:t>
                                  </m:r>
                                </m:e>
                                <m:sub>
                                  <m:r>
                                    <a:rPr lang="en-US" sz="1600" i="1" dirty="0">
                                      <a:solidFill>
                                        <a:srgbClr val="000000"/>
                                      </a:solidFill>
                                      <a:latin typeface="Cambria Math" panose="02040503050406030204" pitchFamily="18" charset="0"/>
                                    </a:rPr>
                                    <m:t>2</m:t>
                                  </m:r>
                                </m:sub>
                              </m:sSub>
                              <m:r>
                                <a:rPr lang="en-US" sz="1600" i="1" dirty="0">
                                  <a:solidFill>
                                    <a:srgbClr val="000000"/>
                                  </a:solidFill>
                                  <a:latin typeface="Cambria Math" panose="02040503050406030204" pitchFamily="18" charset="0"/>
                                </a:rPr>
                                <m:t>+</m:t>
                              </m:r>
                              <m:sSub>
                                <m:sSubPr>
                                  <m:ctrlPr>
                                    <a:rPr lang="en-US" sz="1600" i="1" dirty="0">
                                      <a:solidFill>
                                        <a:srgbClr val="000000"/>
                                      </a:solidFill>
                                      <a:latin typeface="Cambria Math" panose="02040503050406030204" pitchFamily="18" charset="0"/>
                                    </a:rPr>
                                  </m:ctrlPr>
                                </m:sSubPr>
                                <m:e>
                                  <m:r>
                                    <a:rPr lang="en-US" sz="1600" b="0" i="1" dirty="0" smtClean="0">
                                      <a:solidFill>
                                        <a:srgbClr val="000000"/>
                                      </a:solidFill>
                                      <a:latin typeface="Cambria Math" panose="02040503050406030204" pitchFamily="18" charset="0"/>
                                    </a:rPr>
                                    <m:t>𝑦</m:t>
                                  </m:r>
                                </m:e>
                                <m:sub>
                                  <m:r>
                                    <a:rPr lang="en-US" sz="1600" i="1" dirty="0">
                                      <a:solidFill>
                                        <a:srgbClr val="000000"/>
                                      </a:solidFill>
                                      <a:latin typeface="Cambria Math" panose="02040503050406030204" pitchFamily="18" charset="0"/>
                                    </a:rPr>
                                    <m:t>3</m:t>
                                  </m:r>
                                </m:sub>
                              </m:sSub>
                              <m:r>
                                <a:rPr lang="en-US" sz="1600" i="1">
                                  <a:solidFill>
                                    <a:srgbClr val="000000"/>
                                  </a:solidFill>
                                  <a:latin typeface="Cambria Math" panose="02040503050406030204" pitchFamily="18" charset="0"/>
                                  <a:ea typeface="Cambria Math" panose="02040503050406030204" pitchFamily="18" charset="0"/>
                                </a:rPr>
                                <m:t>=1</m:t>
                              </m:r>
                            </m:e>
                          </m:eqArr>
                        </m:e>
                      </m:d>
                    </m:oMath>
                  </m:oMathPara>
                </a14:m>
                <a:endParaRPr lang="en-US" sz="1600" dirty="0"/>
              </a:p>
            </p:txBody>
          </p:sp>
        </mc:Choice>
        <mc:Fallback xmlns="">
          <p:sp>
            <p:nvSpPr>
              <p:cNvPr id="8" name="TextBox 7"/>
              <p:cNvSpPr txBox="1">
                <a:spLocks noRot="1" noChangeAspect="1" noMove="1" noResize="1" noEditPoints="1" noAdjustHandles="1" noChangeArrowheads="1" noChangeShapeType="1" noTextEdit="1"/>
              </p:cNvSpPr>
              <p:nvPr/>
            </p:nvSpPr>
            <p:spPr>
              <a:xfrm>
                <a:off x="2902373" y="2743678"/>
                <a:ext cx="2361929" cy="100040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634031" y="3953926"/>
                <a:ext cx="3224857" cy="485518"/>
              </a:xfrm>
              <a:prstGeom prst="rect">
                <a:avLst/>
              </a:prstGeom>
            </p:spPr>
            <p:txBody>
              <a:bodyPr wrap="none">
                <a:spAutoFit/>
              </a:bodyPr>
              <a:lstStyle/>
              <a:p>
                <a14:m>
                  <m:oMath xmlns:m="http://schemas.openxmlformats.org/officeDocument/2006/math">
                    <m:r>
                      <a:rPr lang="en-US"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4</m:t>
                        </m:r>
                      </m:num>
                      <m:den>
                        <m:r>
                          <a:rPr lang="en-US" b="0" i="1" smtClean="0">
                            <a:latin typeface="Cambria Math" panose="02040503050406030204" pitchFamily="18" charset="0"/>
                            <a:ea typeface="Cambria Math" panose="02040503050406030204" pitchFamily="18" charset="0"/>
                          </a:rPr>
                          <m:t>9</m:t>
                        </m:r>
                      </m:den>
                    </m:f>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3</m:t>
                        </m:r>
                      </m:num>
                      <m:den>
                        <m:r>
                          <a:rPr lang="en-US" b="0" i="1" smtClean="0">
                            <a:latin typeface="Cambria Math" panose="02040503050406030204" pitchFamily="18" charset="0"/>
                            <a:ea typeface="Cambria Math" panose="02040503050406030204" pitchFamily="18" charset="0"/>
                          </a:rPr>
                          <m:t>9</m:t>
                        </m:r>
                      </m:den>
                    </m:f>
                    <m:r>
                      <a:rPr lang="en-US" i="1">
                        <a:latin typeface="Cambria Math" panose="02040503050406030204" pitchFamily="18" charset="0"/>
                        <a:ea typeface="Cambria Math" panose="02040503050406030204" pitchFamily="18" charset="0"/>
                      </a:rPr>
                      <m:t>,</m:t>
                    </m:r>
                  </m:oMath>
                </a14:m>
                <a:r>
                  <a:rPr lang="en-US" dirty="0">
                    <a:ea typeface="Cambria Math" panose="02040503050406030204" pitchFamily="18" charset="0"/>
                  </a:rPr>
                  <a: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3</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2</m:t>
                        </m:r>
                      </m:num>
                      <m:den>
                        <m:r>
                          <a:rPr lang="en-US" b="0" i="1" smtClean="0">
                            <a:latin typeface="Cambria Math" panose="02040503050406030204" pitchFamily="18" charset="0"/>
                            <a:ea typeface="Cambria Math" panose="02040503050406030204" pitchFamily="18" charset="0"/>
                          </a:rPr>
                          <m:t>9</m:t>
                        </m:r>
                      </m:den>
                    </m:f>
                    <m:r>
                      <a:rPr lang="en-US" i="1">
                        <a:latin typeface="Cambria Math" panose="02040503050406030204" pitchFamily="18" charset="0"/>
                        <a:ea typeface="Cambria Math" panose="02040503050406030204" pitchFamily="18" charset="0"/>
                      </a:rPr>
                      <m:t>,</m:t>
                    </m:r>
                  </m:oMath>
                </a14:m>
                <a:r>
                  <a:rPr lang="en-US" dirty="0">
                    <a:ea typeface="Cambria Math" panose="02040503050406030204" pitchFamily="18" charset="0"/>
                  </a:rPr>
                  <a:t> </a:t>
                </a:r>
                <a14:m>
                  <m:oMath xmlns:m="http://schemas.openxmlformats.org/officeDocument/2006/math">
                    <m:r>
                      <a:rPr lang="en-US" i="1" smtClean="0">
                        <a:latin typeface="Cambria Math" panose="02040503050406030204" pitchFamily="18" charset="0"/>
                        <a:ea typeface="Cambria Math" panose="02040503050406030204" pitchFamily="18" charset="0"/>
                      </a:rPr>
                      <m:t>𝑣</m:t>
                    </m:r>
                    <m:r>
                      <a:rPr lang="en-US" i="1">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0</m:t>
                    </m:r>
                  </m:oMath>
                </a14:m>
                <a:endParaRPr lang="en-US" dirty="0"/>
              </a:p>
            </p:txBody>
          </p:sp>
        </mc:Choice>
        <mc:Fallback xmlns="">
          <p:sp>
            <p:nvSpPr>
              <p:cNvPr id="9" name="Rectangle 8"/>
              <p:cNvSpPr>
                <a:spLocks noRot="1" noChangeAspect="1" noMove="1" noResize="1" noEditPoints="1" noAdjustHandles="1" noChangeArrowheads="1" noChangeShapeType="1" noTextEdit="1"/>
              </p:cNvSpPr>
              <p:nvPr/>
            </p:nvSpPr>
            <p:spPr>
              <a:xfrm>
                <a:off x="634031" y="3953926"/>
                <a:ext cx="3224857" cy="485518"/>
              </a:xfrm>
              <a:prstGeom prst="rect">
                <a:avLst/>
              </a:prstGeom>
              <a:blipFill>
                <a:blip r:embed="rId6"/>
                <a:stretch>
                  <a:fillRect b="-25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4955730" y="3951163"/>
                <a:ext cx="3229859" cy="485518"/>
              </a:xfrm>
              <a:prstGeom prst="rect">
                <a:avLst/>
              </a:prstGeom>
            </p:spPr>
            <p:txBody>
              <a:bodyPr wrap="none">
                <a:spAutoFit/>
              </a:bodyPr>
              <a:lstStyle/>
              <a:p>
                <a14:m>
                  <m:oMath xmlns:m="http://schemas.openxmlformats.org/officeDocument/2006/math">
                    <m:r>
                      <a:rPr lang="en-US"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𝑦</m:t>
                        </m:r>
                      </m:e>
                      <m:sub>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4</m:t>
                        </m:r>
                      </m:num>
                      <m:den>
                        <m:r>
                          <a:rPr lang="en-US" b="0" i="1" smtClean="0">
                            <a:latin typeface="Cambria Math" panose="02040503050406030204" pitchFamily="18" charset="0"/>
                            <a:ea typeface="Cambria Math" panose="02040503050406030204" pitchFamily="18" charset="0"/>
                          </a:rPr>
                          <m:t>9</m:t>
                        </m:r>
                      </m:den>
                    </m:f>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𝑦</m:t>
                        </m:r>
                      </m:e>
                      <m:sub>
                        <m:r>
                          <a:rPr lang="en-US" b="0" i="1" smtClean="0">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3</m:t>
                        </m:r>
                      </m:num>
                      <m:den>
                        <m:r>
                          <a:rPr lang="en-US" b="0" i="1" smtClean="0">
                            <a:latin typeface="Cambria Math" panose="02040503050406030204" pitchFamily="18" charset="0"/>
                            <a:ea typeface="Cambria Math" panose="02040503050406030204" pitchFamily="18" charset="0"/>
                          </a:rPr>
                          <m:t>9</m:t>
                        </m:r>
                      </m:den>
                    </m:f>
                    <m:r>
                      <a:rPr lang="en-US" i="1">
                        <a:latin typeface="Cambria Math" panose="02040503050406030204" pitchFamily="18" charset="0"/>
                        <a:ea typeface="Cambria Math" panose="02040503050406030204" pitchFamily="18" charset="0"/>
                      </a:rPr>
                      <m:t>,</m:t>
                    </m:r>
                  </m:oMath>
                </a14:m>
                <a:r>
                  <a:rPr lang="en-US" dirty="0">
                    <a:ea typeface="Cambria Math" panose="02040503050406030204" pitchFamily="18" charset="0"/>
                  </a:rPr>
                  <a: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𝑦</m:t>
                        </m:r>
                      </m:e>
                      <m:sub>
                        <m:r>
                          <a:rPr lang="en-US" b="0" i="1" smtClean="0">
                            <a:latin typeface="Cambria Math" panose="02040503050406030204" pitchFamily="18" charset="0"/>
                            <a:ea typeface="Cambria Math" panose="02040503050406030204" pitchFamily="18" charset="0"/>
                          </a:rPr>
                          <m:t>3</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2</m:t>
                        </m:r>
                      </m:num>
                      <m:den>
                        <m:r>
                          <a:rPr lang="en-US" b="0" i="1" smtClean="0">
                            <a:latin typeface="Cambria Math" panose="02040503050406030204" pitchFamily="18" charset="0"/>
                            <a:ea typeface="Cambria Math" panose="02040503050406030204" pitchFamily="18" charset="0"/>
                          </a:rPr>
                          <m:t>9</m:t>
                        </m:r>
                      </m:den>
                    </m:f>
                    <m:r>
                      <a:rPr lang="en-US" i="1">
                        <a:latin typeface="Cambria Math" panose="02040503050406030204" pitchFamily="18" charset="0"/>
                        <a:ea typeface="Cambria Math" panose="02040503050406030204" pitchFamily="18" charset="0"/>
                      </a:rPr>
                      <m:t>,</m:t>
                    </m:r>
                  </m:oMath>
                </a14:m>
                <a:r>
                  <a:rPr lang="en-US" dirty="0">
                    <a:ea typeface="Cambria Math" panose="02040503050406030204" pitchFamily="18" charset="0"/>
                  </a:rPr>
                  <a:t> </a:t>
                </a:r>
                <a14:m>
                  <m:oMath xmlns:m="http://schemas.openxmlformats.org/officeDocument/2006/math">
                    <m:r>
                      <a:rPr lang="en-US" i="1" smtClean="0">
                        <a:latin typeface="Cambria Math" panose="02040503050406030204" pitchFamily="18" charset="0"/>
                        <a:ea typeface="Cambria Math" panose="02040503050406030204" pitchFamily="18" charset="0"/>
                      </a:rPr>
                      <m:t>𝑣</m:t>
                    </m:r>
                    <m:r>
                      <a:rPr lang="en-US" i="1">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0</m:t>
                    </m:r>
                  </m:oMath>
                </a14:m>
                <a:endParaRPr lang="en-US" dirty="0"/>
              </a:p>
            </p:txBody>
          </p:sp>
        </mc:Choice>
        <mc:Fallback xmlns="">
          <p:sp>
            <p:nvSpPr>
              <p:cNvPr id="10" name="Rectangle 9"/>
              <p:cNvSpPr>
                <a:spLocks noRot="1" noChangeAspect="1" noMove="1" noResize="1" noEditPoints="1" noAdjustHandles="1" noChangeArrowheads="1" noChangeShapeType="1" noTextEdit="1"/>
              </p:cNvSpPr>
              <p:nvPr/>
            </p:nvSpPr>
            <p:spPr>
              <a:xfrm>
                <a:off x="4955730" y="3951163"/>
                <a:ext cx="3229859" cy="485518"/>
              </a:xfrm>
              <a:prstGeom prst="rect">
                <a:avLst/>
              </a:prstGeom>
              <a:blipFill>
                <a:blip r:embed="rId7"/>
                <a:stretch>
                  <a:fillRect b="-1250"/>
                </a:stretch>
              </a:blipFill>
            </p:spPr>
            <p:txBody>
              <a:bodyPr/>
              <a:lstStyle/>
              <a:p>
                <a:r>
                  <a:rPr lang="en-US">
                    <a:noFill/>
                  </a:rPr>
                  <a:t> </a:t>
                </a:r>
              </a:p>
            </p:txBody>
          </p:sp>
        </mc:Fallback>
      </mc:AlternateContent>
    </p:spTree>
    <p:extLst>
      <p:ext uri="{BB962C8B-B14F-4D97-AF65-F5344CB8AC3E}">
        <p14:creationId xmlns:p14="http://schemas.microsoft.com/office/powerpoint/2010/main" val="3078221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Exercises</a:t>
            </a:r>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1662346069"/>
                  </p:ext>
                </p:extLst>
              </p:nvPr>
            </p:nvGraphicFramePr>
            <p:xfrm>
              <a:off x="1182422" y="2437789"/>
              <a:ext cx="1970892" cy="1044990"/>
            </p:xfrm>
            <a:graphic>
              <a:graphicData uri="http://schemas.openxmlformats.org/drawingml/2006/table">
                <a:tbl>
                  <a:tblPr>
                    <a:tableStyleId>{5C22544A-7EE6-4342-B048-85BDC9FD1C3A}</a:tableStyleId>
                  </a:tblPr>
                  <a:tblGrid>
                    <a:gridCol w="511593">
                      <a:extLst>
                        <a:ext uri="{9D8B030D-6E8A-4147-A177-3AD203B41FA5}">
                          <a16:colId xmlns:a16="http://schemas.microsoft.com/office/drawing/2014/main" val="3738874413"/>
                        </a:ext>
                      </a:extLst>
                    </a:gridCol>
                    <a:gridCol w="451187">
                      <a:extLst>
                        <a:ext uri="{9D8B030D-6E8A-4147-A177-3AD203B41FA5}">
                          <a16:colId xmlns:a16="http://schemas.microsoft.com/office/drawing/2014/main" val="2454115107"/>
                        </a:ext>
                      </a:extLst>
                    </a:gridCol>
                    <a:gridCol w="432048">
                      <a:extLst>
                        <a:ext uri="{9D8B030D-6E8A-4147-A177-3AD203B41FA5}">
                          <a16:colId xmlns:a16="http://schemas.microsoft.com/office/drawing/2014/main" val="1795178663"/>
                        </a:ext>
                      </a:extLst>
                    </a:gridCol>
                    <a:gridCol w="576064">
                      <a:extLst>
                        <a:ext uri="{9D8B030D-6E8A-4147-A177-3AD203B41FA5}">
                          <a16:colId xmlns:a16="http://schemas.microsoft.com/office/drawing/2014/main" val="1284286733"/>
                        </a:ext>
                      </a:extLst>
                    </a:gridCol>
                  </a:tblGrid>
                  <a:tr h="190500">
                    <a:tc>
                      <a:txBody>
                        <a:bodyPr/>
                        <a:lstStyle/>
                        <a:p>
                          <a:pPr algn="ctr" fontAlgn="b"/>
                          <a:r>
                            <a:rPr lang="en-US" sz="1600" u="none" strike="noStrike" dirty="0" err="1">
                              <a:effectLst/>
                            </a:rPr>
                            <a:t>Prob</a:t>
                          </a:r>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𝑦</m:t>
                                    </m:r>
                                  </m:e>
                                  <m:sub>
                                    <m:r>
                                      <a:rPr lang="en-US" sz="1600" b="0" i="1" u="none" strike="noStrike" dirty="0" smtClean="0">
                                        <a:effectLst/>
                                        <a:latin typeface="Cambria Math" panose="02040503050406030204" pitchFamily="18" charset="0"/>
                                      </a:rPr>
                                      <m:t>1</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𝑦</m:t>
                                    </m:r>
                                  </m:e>
                                  <m:sub>
                                    <m:r>
                                      <a:rPr lang="en-US" sz="1600" b="0" i="1" u="none" strike="noStrike" dirty="0" smtClean="0">
                                        <a:effectLst/>
                                        <a:latin typeface="Cambria Math" panose="02040503050406030204" pitchFamily="18" charset="0"/>
                                      </a:rPr>
                                      <m:t>2</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𝑦</m:t>
                                    </m:r>
                                  </m:e>
                                  <m:sub>
                                    <m:r>
                                      <a:rPr lang="en-US" sz="1600" b="0" i="1" u="none" strike="noStrike" dirty="0" smtClean="0">
                                        <a:effectLst/>
                                        <a:latin typeface="Cambria Math" panose="02040503050406030204" pitchFamily="18" charset="0"/>
                                      </a:rPr>
                                      <m:t>3</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extLst>
                      <a:ext uri="{0D108BD9-81ED-4DB2-BD59-A6C34878D82A}">
                        <a16:rowId xmlns:a16="http://schemas.microsoft.com/office/drawing/2014/main" val="3042800791"/>
                      </a:ext>
                    </a:extLst>
                  </a:tr>
                  <a:tr h="284895">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𝑥</m:t>
                                    </m:r>
                                  </m:e>
                                  <m:sub>
                                    <m:r>
                                      <a:rPr lang="en-US" sz="1600" b="0" i="1" u="none" strike="noStrike" dirty="0" smtClean="0">
                                        <a:effectLst/>
                                        <a:latin typeface="Cambria Math" panose="02040503050406030204" pitchFamily="18" charset="0"/>
                                      </a:rPr>
                                      <m:t>1</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-4</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59433256"/>
                      </a:ext>
                    </a:extLst>
                  </a:tr>
                  <a:tr h="190500">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𝑥</m:t>
                                    </m:r>
                                  </m:e>
                                  <m:sub>
                                    <m:r>
                                      <a:rPr lang="en-US" sz="1600" b="0" i="1" u="none" strike="noStrike" dirty="0" smtClean="0">
                                        <a:effectLst/>
                                        <a:latin typeface="Cambria Math" panose="02040503050406030204" pitchFamily="18" charset="0"/>
                                      </a:rPr>
                                      <m:t>2</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b="0" i="0" u="none" strike="noStrike" dirty="0">
                              <a:solidFill>
                                <a:schemeClr val="dk1"/>
                              </a:solidFill>
                              <a:effectLst/>
                              <a:latin typeface="+mn-l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05982770"/>
                      </a:ext>
                    </a:extLst>
                  </a:tr>
                  <a:tr h="201942">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𝑥</m:t>
                                    </m:r>
                                  </m:e>
                                  <m:sub>
                                    <m:r>
                                      <a:rPr lang="en-US" sz="1600" b="0" i="1" u="none" strike="noStrike" dirty="0" smtClean="0">
                                        <a:effectLst/>
                                        <a:latin typeface="Cambria Math" panose="02040503050406030204" pitchFamily="18" charset="0"/>
                                      </a:rPr>
                                      <m:t>3</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dirty="0">
                              <a:effectLst/>
                            </a:rPr>
                            <a:t>4</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30496318"/>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1662346069"/>
                  </p:ext>
                </p:extLst>
              </p:nvPr>
            </p:nvGraphicFramePr>
            <p:xfrm>
              <a:off x="1182422" y="2437789"/>
              <a:ext cx="1970892" cy="1044990"/>
            </p:xfrm>
            <a:graphic>
              <a:graphicData uri="http://schemas.openxmlformats.org/drawingml/2006/table">
                <a:tbl>
                  <a:tblPr>
                    <a:tableStyleId>{5C22544A-7EE6-4342-B048-85BDC9FD1C3A}</a:tableStyleId>
                  </a:tblPr>
                  <a:tblGrid>
                    <a:gridCol w="511593">
                      <a:extLst>
                        <a:ext uri="{9D8B030D-6E8A-4147-A177-3AD203B41FA5}">
                          <a16:colId xmlns:a16="http://schemas.microsoft.com/office/drawing/2014/main" val="3738874413"/>
                        </a:ext>
                      </a:extLst>
                    </a:gridCol>
                    <a:gridCol w="451187">
                      <a:extLst>
                        <a:ext uri="{9D8B030D-6E8A-4147-A177-3AD203B41FA5}">
                          <a16:colId xmlns:a16="http://schemas.microsoft.com/office/drawing/2014/main" val="2454115107"/>
                        </a:ext>
                      </a:extLst>
                    </a:gridCol>
                    <a:gridCol w="432048">
                      <a:extLst>
                        <a:ext uri="{9D8B030D-6E8A-4147-A177-3AD203B41FA5}">
                          <a16:colId xmlns:a16="http://schemas.microsoft.com/office/drawing/2014/main" val="1795178663"/>
                        </a:ext>
                      </a:extLst>
                    </a:gridCol>
                    <a:gridCol w="576064">
                      <a:extLst>
                        <a:ext uri="{9D8B030D-6E8A-4147-A177-3AD203B41FA5}">
                          <a16:colId xmlns:a16="http://schemas.microsoft.com/office/drawing/2014/main" val="1284286733"/>
                        </a:ext>
                      </a:extLst>
                    </a:gridCol>
                  </a:tblGrid>
                  <a:tr h="253365">
                    <a:tc>
                      <a:txBody>
                        <a:bodyPr/>
                        <a:lstStyle/>
                        <a:p>
                          <a:pPr algn="ctr" fontAlgn="b"/>
                          <a:r>
                            <a:rPr lang="en-US" sz="1600" u="none" strike="noStrike" dirty="0" err="1">
                              <a:effectLst/>
                            </a:rPr>
                            <a:t>Prob</a:t>
                          </a:r>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endParaRPr lang="en-US"/>
                        </a:p>
                      </a:txBody>
                      <a:tcPr marL="9525" marR="9525" marT="9525" marB="0" anchor="b">
                        <a:blipFill>
                          <a:blip r:embed="rId2"/>
                          <a:stretch>
                            <a:fillRect l="-113333" t="-16667" r="-224000" b="-361905"/>
                          </a:stretch>
                        </a:blipFill>
                      </a:tcPr>
                    </a:tc>
                    <a:tc>
                      <a:txBody>
                        <a:bodyPr/>
                        <a:lstStyle/>
                        <a:p>
                          <a:endParaRPr lang="en-US"/>
                        </a:p>
                      </a:txBody>
                      <a:tcPr marL="9525" marR="9525" marT="9525" marB="0" anchor="b">
                        <a:blipFill>
                          <a:blip r:embed="rId2"/>
                          <a:stretch>
                            <a:fillRect l="-225352" t="-16667" r="-136620" b="-361905"/>
                          </a:stretch>
                        </a:blipFill>
                      </a:tcPr>
                    </a:tc>
                    <a:tc>
                      <a:txBody>
                        <a:bodyPr/>
                        <a:lstStyle/>
                        <a:p>
                          <a:endParaRPr lang="en-US"/>
                        </a:p>
                      </a:txBody>
                      <a:tcPr marL="9525" marR="9525" marT="9525" marB="0" anchor="b">
                        <a:blipFill>
                          <a:blip r:embed="rId2"/>
                          <a:stretch>
                            <a:fillRect l="-243158" t="-16667" r="-2105" b="-361905"/>
                          </a:stretch>
                        </a:blipFill>
                      </a:tcPr>
                    </a:tc>
                    <a:extLst>
                      <a:ext uri="{0D108BD9-81ED-4DB2-BD59-A6C34878D82A}">
                        <a16:rowId xmlns:a16="http://schemas.microsoft.com/office/drawing/2014/main" val="3042800791"/>
                      </a:ext>
                    </a:extLst>
                  </a:tr>
                  <a:tr h="284895">
                    <a:tc>
                      <a:txBody>
                        <a:bodyPr/>
                        <a:lstStyle/>
                        <a:p>
                          <a:endParaRPr lang="en-US"/>
                        </a:p>
                      </a:txBody>
                      <a:tcPr marL="9525" marR="9525" marT="9525" marB="0" anchor="b">
                        <a:blipFill>
                          <a:blip r:embed="rId2"/>
                          <a:stretch>
                            <a:fillRect l="-1190" t="-104255" r="-289286" b="-223404"/>
                          </a:stretch>
                        </a:blipFill>
                      </a:tcPr>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-4</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59433256"/>
                      </a:ext>
                    </a:extLst>
                  </a:tr>
                  <a:tr h="253365">
                    <a:tc>
                      <a:txBody>
                        <a:bodyPr/>
                        <a:lstStyle/>
                        <a:p>
                          <a:endParaRPr lang="en-US"/>
                        </a:p>
                      </a:txBody>
                      <a:tcPr marL="9525" marR="9525" marT="9525" marB="0" anchor="b">
                        <a:blipFill>
                          <a:blip r:embed="rId2"/>
                          <a:stretch>
                            <a:fillRect l="-1190" t="-228571" r="-289286" b="-150000"/>
                          </a:stretch>
                        </a:blipFill>
                      </a:tcPr>
                    </a:tc>
                    <a:tc>
                      <a:txBody>
                        <a:bodyPr/>
                        <a:lstStyle/>
                        <a:p>
                          <a:pPr algn="ctr" fontAlgn="b"/>
                          <a:r>
                            <a:rPr lang="en-US" sz="1600" b="0" i="0" u="none" strike="noStrike" dirty="0">
                              <a:solidFill>
                                <a:schemeClr val="dk1"/>
                              </a:solidFill>
                              <a:effectLst/>
                              <a:latin typeface="+mn-l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05982770"/>
                      </a:ext>
                    </a:extLst>
                  </a:tr>
                  <a:tr h="253365">
                    <a:tc>
                      <a:txBody>
                        <a:bodyPr/>
                        <a:lstStyle/>
                        <a:p>
                          <a:endParaRPr lang="en-US"/>
                        </a:p>
                      </a:txBody>
                      <a:tcPr marL="9525" marR="9525" marT="9525" marB="0" anchor="b">
                        <a:blipFill>
                          <a:blip r:embed="rId2"/>
                          <a:stretch>
                            <a:fillRect l="-1190" t="-328571" r="-289286" b="-50000"/>
                          </a:stretch>
                        </a:blipFill>
                      </a:tcPr>
                    </a:tc>
                    <a:tc>
                      <a:txBody>
                        <a:bodyPr/>
                        <a:lstStyle/>
                        <a:p>
                          <a:pPr algn="ctr" fontAlgn="b"/>
                          <a:r>
                            <a:rPr lang="en-US" sz="1600" u="none" strike="noStrike" dirty="0">
                              <a:effectLst/>
                            </a:rPr>
                            <a:t>4</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30496318"/>
                      </a:ext>
                    </a:extLst>
                  </a:tr>
                </a:tbl>
              </a:graphicData>
            </a:graphic>
          </p:graphicFrame>
        </mc:Fallback>
      </mc:AlternateContent>
      <mc:AlternateContent xmlns:mc="http://schemas.openxmlformats.org/markup-compatibility/2006" xmlns:a14="http://schemas.microsoft.com/office/drawing/2010/main">
        <mc:Choice Requires="a14">
          <p:sp>
            <p:nvSpPr>
              <p:cNvPr id="5" name="Rectangle 4"/>
              <p:cNvSpPr/>
              <p:nvPr/>
            </p:nvSpPr>
            <p:spPr>
              <a:xfrm>
                <a:off x="755576" y="3539830"/>
                <a:ext cx="3224857" cy="485518"/>
              </a:xfrm>
              <a:prstGeom prst="rect">
                <a:avLst/>
              </a:prstGeom>
            </p:spPr>
            <p:txBody>
              <a:bodyPr wrap="none">
                <a:spAutoFit/>
              </a:bodyPr>
              <a:lstStyle/>
              <a:p>
                <a14:m>
                  <m:oMath xmlns:m="http://schemas.openxmlformats.org/officeDocument/2006/math">
                    <m:r>
                      <a:rPr lang="en-US"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2</m:t>
                        </m:r>
                      </m:num>
                      <m:den>
                        <m:r>
                          <a:rPr lang="en-US" b="0" i="1" smtClean="0">
                            <a:latin typeface="Cambria Math" panose="02040503050406030204" pitchFamily="18" charset="0"/>
                            <a:ea typeface="Cambria Math" panose="02040503050406030204" pitchFamily="18" charset="0"/>
                          </a:rPr>
                          <m:t>7</m:t>
                        </m:r>
                      </m:den>
                    </m:f>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4</m:t>
                        </m:r>
                      </m:num>
                      <m:den>
                        <m:r>
                          <a:rPr lang="en-US" b="0" i="1" smtClean="0">
                            <a:latin typeface="Cambria Math" panose="02040503050406030204" pitchFamily="18" charset="0"/>
                            <a:ea typeface="Cambria Math" panose="02040503050406030204" pitchFamily="18" charset="0"/>
                          </a:rPr>
                          <m:t>7</m:t>
                        </m:r>
                      </m:den>
                    </m:f>
                    <m:r>
                      <a:rPr lang="en-US" i="1">
                        <a:latin typeface="Cambria Math" panose="02040503050406030204" pitchFamily="18" charset="0"/>
                        <a:ea typeface="Cambria Math" panose="02040503050406030204" pitchFamily="18" charset="0"/>
                      </a:rPr>
                      <m:t>,</m:t>
                    </m:r>
                  </m:oMath>
                </a14:m>
                <a:r>
                  <a:rPr lang="en-US" dirty="0">
                    <a:ea typeface="Cambria Math" panose="02040503050406030204" pitchFamily="18" charset="0"/>
                  </a:rPr>
                  <a: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3</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7</m:t>
                        </m:r>
                      </m:den>
                    </m:f>
                    <m:r>
                      <a:rPr lang="en-US" i="1">
                        <a:latin typeface="Cambria Math" panose="02040503050406030204" pitchFamily="18" charset="0"/>
                        <a:ea typeface="Cambria Math" panose="02040503050406030204" pitchFamily="18" charset="0"/>
                      </a:rPr>
                      <m:t>,</m:t>
                    </m:r>
                  </m:oMath>
                </a14:m>
                <a:r>
                  <a:rPr lang="en-US" dirty="0">
                    <a:ea typeface="Cambria Math" panose="02040503050406030204" pitchFamily="18" charset="0"/>
                  </a:rPr>
                  <a:t> </a:t>
                </a:r>
                <a14:m>
                  <m:oMath xmlns:m="http://schemas.openxmlformats.org/officeDocument/2006/math">
                    <m:r>
                      <a:rPr lang="en-US" i="1" smtClean="0">
                        <a:latin typeface="Cambria Math" panose="02040503050406030204" pitchFamily="18" charset="0"/>
                        <a:ea typeface="Cambria Math" panose="02040503050406030204" pitchFamily="18" charset="0"/>
                      </a:rPr>
                      <m:t>𝑣</m:t>
                    </m:r>
                    <m:r>
                      <a:rPr lang="en-US" i="1">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0</m:t>
                    </m:r>
                  </m:oMath>
                </a14:m>
                <a:endParaRPr lang="en-US" dirty="0"/>
              </a:p>
            </p:txBody>
          </p:sp>
        </mc:Choice>
        <mc:Fallback xmlns="">
          <p:sp>
            <p:nvSpPr>
              <p:cNvPr id="5" name="Rectangle 4"/>
              <p:cNvSpPr>
                <a:spLocks noRot="1" noChangeAspect="1" noMove="1" noResize="1" noEditPoints="1" noAdjustHandles="1" noChangeArrowheads="1" noChangeShapeType="1" noTextEdit="1"/>
              </p:cNvSpPr>
              <p:nvPr/>
            </p:nvSpPr>
            <p:spPr>
              <a:xfrm>
                <a:off x="755576" y="3539830"/>
                <a:ext cx="3224857" cy="485518"/>
              </a:xfrm>
              <a:prstGeom prst="rect">
                <a:avLst/>
              </a:prstGeom>
              <a:blipFill>
                <a:blip r:embed="rId3"/>
                <a:stretch>
                  <a:fillRect b="-2532"/>
                </a:stretch>
              </a:blipFill>
            </p:spPr>
            <p:txBody>
              <a:bodyPr/>
              <a:lstStyle/>
              <a:p>
                <a:r>
                  <a:rPr lang="en-US">
                    <a:noFill/>
                  </a:rPr>
                  <a:t> </a:t>
                </a:r>
              </a:p>
            </p:txBody>
          </p:sp>
        </mc:Fallback>
      </mc:AlternateContent>
      <p:sp>
        <p:nvSpPr>
          <p:cNvPr id="6" name="TextBox 5"/>
          <p:cNvSpPr txBox="1"/>
          <p:nvPr/>
        </p:nvSpPr>
        <p:spPr>
          <a:xfrm>
            <a:off x="606358" y="2420440"/>
            <a:ext cx="576064" cy="369332"/>
          </a:xfrm>
          <a:prstGeom prst="rect">
            <a:avLst/>
          </a:prstGeom>
          <a:noFill/>
        </p:spPr>
        <p:txBody>
          <a:bodyPr wrap="square" rtlCol="0">
            <a:spAutoFit/>
          </a:bodyPr>
          <a:lstStyle/>
          <a:p>
            <a:r>
              <a:rPr lang="en-US" dirty="0"/>
              <a:t>1.</a:t>
            </a:r>
          </a:p>
        </p:txBody>
      </p:sp>
      <mc:AlternateContent xmlns:mc="http://schemas.openxmlformats.org/markup-compatibility/2006" xmlns:a14="http://schemas.microsoft.com/office/drawing/2010/main">
        <mc:Choice Requires="a14">
          <p:sp>
            <p:nvSpPr>
              <p:cNvPr id="8" name="Rectangle 7"/>
              <p:cNvSpPr/>
              <p:nvPr/>
            </p:nvSpPr>
            <p:spPr>
              <a:xfrm>
                <a:off x="4488731" y="4119519"/>
                <a:ext cx="4195004" cy="483466"/>
              </a:xfrm>
              <a:prstGeom prst="rect">
                <a:avLst/>
              </a:prstGeom>
            </p:spPr>
            <p:txBody>
              <a:bodyPr wrap="square">
                <a:spAutoFit/>
              </a:bodyPr>
              <a:lstStyle/>
              <a:p>
                <a14:m>
                  <m:oMath xmlns:m="http://schemas.openxmlformats.org/officeDocument/2006/math">
                    <m:r>
                      <a:rPr lang="en-US"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4</m:t>
                        </m:r>
                      </m:den>
                    </m:f>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0</m:t>
                    </m:r>
                    <m:r>
                      <a:rPr lang="en-US" i="1">
                        <a:latin typeface="Cambria Math" panose="02040503050406030204" pitchFamily="18" charset="0"/>
                        <a:ea typeface="Cambria Math" panose="02040503050406030204" pitchFamily="18" charset="0"/>
                      </a:rPr>
                      <m:t>,</m:t>
                    </m:r>
                  </m:oMath>
                </a14:m>
                <a:r>
                  <a:rPr lang="en-US" dirty="0">
                    <a:ea typeface="Cambria Math" panose="02040503050406030204" pitchFamily="18" charset="0"/>
                  </a:rPr>
                  <a: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3</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2</m:t>
                        </m:r>
                      </m:den>
                    </m:f>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4</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4</m:t>
                        </m:r>
                      </m:den>
                    </m:f>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𝑣</m:t>
                    </m:r>
                    <m:r>
                      <a:rPr lang="en-US" i="1">
                        <a:latin typeface="Cambria Math" panose="02040503050406030204" pitchFamily="18" charset="0"/>
                        <a:ea typeface="Cambria Math" panose="02040503050406030204" pitchFamily="18" charset="0"/>
                      </a:rPr>
                      <m:t>=0</m:t>
                    </m:r>
                  </m:oMath>
                </a14:m>
                <a:endParaRPr lang="en-US" dirty="0"/>
              </a:p>
            </p:txBody>
          </p:sp>
        </mc:Choice>
        <mc:Fallback xmlns="">
          <p:sp>
            <p:nvSpPr>
              <p:cNvPr id="8" name="Rectangle 7"/>
              <p:cNvSpPr>
                <a:spLocks noRot="1" noChangeAspect="1" noMove="1" noResize="1" noEditPoints="1" noAdjustHandles="1" noChangeArrowheads="1" noChangeShapeType="1" noTextEdit="1"/>
              </p:cNvSpPr>
              <p:nvPr/>
            </p:nvSpPr>
            <p:spPr>
              <a:xfrm>
                <a:off x="4488731" y="4119519"/>
                <a:ext cx="4195004" cy="483466"/>
              </a:xfrm>
              <a:prstGeom prst="rect">
                <a:avLst/>
              </a:prstGeom>
              <a:blipFill>
                <a:blip r:embed="rId4"/>
                <a:stretch>
                  <a:fillRect b="-2532"/>
                </a:stretch>
              </a:blipFill>
            </p:spPr>
            <p:txBody>
              <a:bodyPr/>
              <a:lstStyle/>
              <a:p>
                <a:r>
                  <a:rPr lang="en-US">
                    <a:noFill/>
                  </a:rPr>
                  <a:t> </a:t>
                </a:r>
              </a:p>
            </p:txBody>
          </p:sp>
        </mc:Fallback>
      </mc:AlternateContent>
      <p:sp>
        <p:nvSpPr>
          <p:cNvPr id="9" name="TextBox 8"/>
          <p:cNvSpPr txBox="1"/>
          <p:nvPr/>
        </p:nvSpPr>
        <p:spPr>
          <a:xfrm>
            <a:off x="3980433" y="2122019"/>
            <a:ext cx="576064" cy="369332"/>
          </a:xfrm>
          <a:prstGeom prst="rect">
            <a:avLst/>
          </a:prstGeom>
          <a:noFill/>
        </p:spPr>
        <p:txBody>
          <a:bodyPr wrap="square" rtlCol="0">
            <a:spAutoFit/>
          </a:bodyPr>
          <a:lstStyle/>
          <a:p>
            <a:r>
              <a:rPr lang="en-US" dirty="0"/>
              <a:t>2.</a:t>
            </a:r>
          </a:p>
        </p:txBody>
      </p:sp>
      <mc:AlternateContent xmlns:mc="http://schemas.openxmlformats.org/markup-compatibility/2006" xmlns:a14="http://schemas.microsoft.com/office/drawing/2010/main">
        <mc:Choice Requires="a14">
          <p:graphicFrame>
            <p:nvGraphicFramePr>
              <p:cNvPr id="12" name="Table 11"/>
              <p:cNvGraphicFramePr>
                <a:graphicFrameLocks noGrp="1"/>
              </p:cNvGraphicFramePr>
              <p:nvPr>
                <p:extLst>
                  <p:ext uri="{D42A27DB-BD31-4B8C-83A1-F6EECF244321}">
                    <p14:modId xmlns:p14="http://schemas.microsoft.com/office/powerpoint/2010/main" val="1594737665"/>
                  </p:ext>
                </p:extLst>
              </p:nvPr>
            </p:nvGraphicFramePr>
            <p:xfrm>
              <a:off x="4556497" y="2171991"/>
              <a:ext cx="2378571" cy="1828800"/>
            </p:xfrm>
            <a:graphic>
              <a:graphicData uri="http://schemas.openxmlformats.org/drawingml/2006/table">
                <a:tbl>
                  <a:tblPr firstRow="1" bandRow="1">
                    <a:tableStyleId>{5C22544A-7EE6-4342-B048-85BDC9FD1C3A}</a:tableStyleId>
                  </a:tblPr>
                  <a:tblGrid>
                    <a:gridCol w="620853">
                      <a:extLst>
                        <a:ext uri="{9D8B030D-6E8A-4147-A177-3AD203B41FA5}">
                          <a16:colId xmlns:a16="http://schemas.microsoft.com/office/drawing/2014/main" val="3258696081"/>
                        </a:ext>
                      </a:extLst>
                    </a:gridCol>
                    <a:gridCol w="417061">
                      <a:extLst>
                        <a:ext uri="{9D8B030D-6E8A-4147-A177-3AD203B41FA5}">
                          <a16:colId xmlns:a16="http://schemas.microsoft.com/office/drawing/2014/main" val="177284677"/>
                        </a:ext>
                      </a:extLst>
                    </a:gridCol>
                    <a:gridCol w="426572">
                      <a:extLst>
                        <a:ext uri="{9D8B030D-6E8A-4147-A177-3AD203B41FA5}">
                          <a16:colId xmlns:a16="http://schemas.microsoft.com/office/drawing/2014/main" val="2230713361"/>
                        </a:ext>
                      </a:extLst>
                    </a:gridCol>
                    <a:gridCol w="403668">
                      <a:extLst>
                        <a:ext uri="{9D8B030D-6E8A-4147-A177-3AD203B41FA5}">
                          <a16:colId xmlns:a16="http://schemas.microsoft.com/office/drawing/2014/main" val="188526253"/>
                        </a:ext>
                      </a:extLst>
                    </a:gridCol>
                    <a:gridCol w="510417">
                      <a:extLst>
                        <a:ext uri="{9D8B030D-6E8A-4147-A177-3AD203B41FA5}">
                          <a16:colId xmlns:a16="http://schemas.microsoft.com/office/drawing/2014/main" val="358160766"/>
                        </a:ext>
                      </a:extLst>
                    </a:gridCol>
                  </a:tblGrid>
                  <a:tr h="288032">
                    <a:tc>
                      <a:txBody>
                        <a:bodyPr/>
                        <a:lstStyle/>
                        <a:p>
                          <a:pPr algn="ctr"/>
                          <a:r>
                            <a:rPr lang="en-US" dirty="0"/>
                            <a:t>A\B</a:t>
                          </a:r>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2</m:t>
                                    </m:r>
                                  </m:sub>
                                </m:sSub>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3</m:t>
                                    </m:r>
                                  </m:sub>
                                </m:sSub>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4</m:t>
                                    </m:r>
                                  </m:sub>
                                </m:sSub>
                              </m:oMath>
                            </m:oMathPara>
                          </a14:m>
                          <a:endParaRPr lang="en-US" dirty="0"/>
                        </a:p>
                      </a:txBody>
                      <a:tcPr/>
                    </a:tc>
                    <a:extLst>
                      <a:ext uri="{0D108BD9-81ED-4DB2-BD59-A6C34878D82A}">
                        <a16:rowId xmlns:a16="http://schemas.microsoft.com/office/drawing/2014/main" val="1802598019"/>
                      </a:ext>
                    </a:extLst>
                  </a:tr>
                  <a:tr h="288032">
                    <a:tc>
                      <a:txBody>
                        <a:bodyP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US" dirty="0"/>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-2</a:t>
                          </a:r>
                        </a:p>
                      </a:txBody>
                      <a:tcPr/>
                    </a:tc>
                    <a:tc>
                      <a:txBody>
                        <a:bodyPr/>
                        <a:lstStyle/>
                        <a:p>
                          <a:pPr algn="ctr"/>
                          <a:r>
                            <a:rPr lang="en-US" dirty="0"/>
                            <a:t>3</a:t>
                          </a:r>
                        </a:p>
                      </a:txBody>
                      <a:tcPr/>
                    </a:tc>
                    <a:extLst>
                      <a:ext uri="{0D108BD9-81ED-4DB2-BD59-A6C34878D82A}">
                        <a16:rowId xmlns:a16="http://schemas.microsoft.com/office/drawing/2014/main" val="3891779256"/>
                      </a:ext>
                    </a:extLst>
                  </a:tr>
                  <a:tr h="288032">
                    <a:tc>
                      <a:txBody>
                        <a:bodyPr/>
                        <a:lstStyle/>
                        <a:p>
                          <a:pPr algn="ct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𝑎</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oMath>
                            </m:oMathPara>
                          </a14:m>
                          <a:endParaRPr lang="en-US" dirty="0"/>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4</a:t>
                          </a:r>
                        </a:p>
                      </a:txBody>
                      <a:tcPr/>
                    </a:tc>
                    <a:extLst>
                      <a:ext uri="{0D108BD9-81ED-4DB2-BD59-A6C34878D82A}">
                        <a16:rowId xmlns:a16="http://schemas.microsoft.com/office/drawing/2014/main" val="1086339649"/>
                      </a:ext>
                    </a:extLst>
                  </a:tr>
                  <a:tr h="288032">
                    <a:tc>
                      <a:txBody>
                        <a:bodyPr/>
                        <a:lstStyle/>
                        <a:p>
                          <a:pPr algn="ct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𝑎</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sub>
                                </m:sSub>
                              </m:oMath>
                            </m:oMathPara>
                          </a14:m>
                          <a:endParaRPr lang="en-US" dirty="0"/>
                        </a:p>
                      </a:txBody>
                      <a:tcPr/>
                    </a:tc>
                    <a:tc>
                      <a:txBody>
                        <a:bodyPr/>
                        <a:lstStyle/>
                        <a:p>
                          <a:pPr algn="ctr"/>
                          <a:r>
                            <a:rPr lang="en-US" dirty="0"/>
                            <a:t>2</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269740577"/>
                      </a:ext>
                    </a:extLst>
                  </a:tr>
                  <a:tr h="288032">
                    <a:tc>
                      <a:txBody>
                        <a:bodyPr/>
                        <a:lstStyle/>
                        <a:p>
                          <a:pPr algn="ct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𝑎</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4</m:t>
                                    </m:r>
                                  </m:sub>
                                </m:sSub>
                              </m:oMath>
                            </m:oMathPara>
                          </a14:m>
                          <a:endParaRPr lang="en-US" dirty="0"/>
                        </a:p>
                      </a:txBody>
                      <a:tcPr/>
                    </a:tc>
                    <a:tc>
                      <a:txBody>
                        <a:bodyPr/>
                        <a:lstStyle/>
                        <a:p>
                          <a:pPr algn="ctr"/>
                          <a:r>
                            <a:rPr lang="en-US" dirty="0"/>
                            <a:t>-3</a:t>
                          </a:r>
                        </a:p>
                      </a:txBody>
                      <a:tcPr/>
                    </a:tc>
                    <a:tc>
                      <a:txBody>
                        <a:bodyPr/>
                        <a:lstStyle/>
                        <a:p>
                          <a:pPr algn="ctr"/>
                          <a:r>
                            <a:rPr lang="en-US" dirty="0"/>
                            <a:t>-4</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1408248920"/>
                      </a:ext>
                    </a:extLst>
                  </a:tr>
                </a:tbl>
              </a:graphicData>
            </a:graphic>
          </p:graphicFrame>
        </mc:Choice>
        <mc:Fallback xmlns="">
          <p:graphicFrame>
            <p:nvGraphicFramePr>
              <p:cNvPr id="12" name="Table 11"/>
              <p:cNvGraphicFramePr>
                <a:graphicFrameLocks noGrp="1"/>
              </p:cNvGraphicFramePr>
              <p:nvPr>
                <p:extLst>
                  <p:ext uri="{D42A27DB-BD31-4B8C-83A1-F6EECF244321}">
                    <p14:modId xmlns:p14="http://schemas.microsoft.com/office/powerpoint/2010/main" val="1594737665"/>
                  </p:ext>
                </p:extLst>
              </p:nvPr>
            </p:nvGraphicFramePr>
            <p:xfrm>
              <a:off x="4556497" y="2171991"/>
              <a:ext cx="2378571" cy="1828800"/>
            </p:xfrm>
            <a:graphic>
              <a:graphicData uri="http://schemas.openxmlformats.org/drawingml/2006/table">
                <a:tbl>
                  <a:tblPr firstRow="1" bandRow="1">
                    <a:tableStyleId>{5C22544A-7EE6-4342-B048-85BDC9FD1C3A}</a:tableStyleId>
                  </a:tblPr>
                  <a:tblGrid>
                    <a:gridCol w="620853">
                      <a:extLst>
                        <a:ext uri="{9D8B030D-6E8A-4147-A177-3AD203B41FA5}">
                          <a16:colId xmlns:a16="http://schemas.microsoft.com/office/drawing/2014/main" val="3258696081"/>
                        </a:ext>
                      </a:extLst>
                    </a:gridCol>
                    <a:gridCol w="417061">
                      <a:extLst>
                        <a:ext uri="{9D8B030D-6E8A-4147-A177-3AD203B41FA5}">
                          <a16:colId xmlns:a16="http://schemas.microsoft.com/office/drawing/2014/main" val="177284677"/>
                        </a:ext>
                      </a:extLst>
                    </a:gridCol>
                    <a:gridCol w="426572">
                      <a:extLst>
                        <a:ext uri="{9D8B030D-6E8A-4147-A177-3AD203B41FA5}">
                          <a16:colId xmlns:a16="http://schemas.microsoft.com/office/drawing/2014/main" val="2230713361"/>
                        </a:ext>
                      </a:extLst>
                    </a:gridCol>
                    <a:gridCol w="403668">
                      <a:extLst>
                        <a:ext uri="{9D8B030D-6E8A-4147-A177-3AD203B41FA5}">
                          <a16:colId xmlns:a16="http://schemas.microsoft.com/office/drawing/2014/main" val="188526253"/>
                        </a:ext>
                      </a:extLst>
                    </a:gridCol>
                    <a:gridCol w="510417">
                      <a:extLst>
                        <a:ext uri="{9D8B030D-6E8A-4147-A177-3AD203B41FA5}">
                          <a16:colId xmlns:a16="http://schemas.microsoft.com/office/drawing/2014/main" val="358160766"/>
                        </a:ext>
                      </a:extLst>
                    </a:gridCol>
                  </a:tblGrid>
                  <a:tr h="365760">
                    <a:tc>
                      <a:txBody>
                        <a:bodyPr/>
                        <a:lstStyle/>
                        <a:p>
                          <a:pPr algn="ctr"/>
                          <a:r>
                            <a:rPr lang="en-US" dirty="0"/>
                            <a:t>A\B</a:t>
                          </a:r>
                        </a:p>
                      </a:txBody>
                      <a:tcPr/>
                    </a:tc>
                    <a:tc>
                      <a:txBody>
                        <a:bodyPr/>
                        <a:lstStyle/>
                        <a:p>
                          <a:endParaRPr lang="en-US"/>
                        </a:p>
                      </a:txBody>
                      <a:tcPr>
                        <a:blipFill>
                          <a:blip r:embed="rId5"/>
                          <a:stretch>
                            <a:fillRect l="-149275" t="-8333" r="-324638" b="-426667"/>
                          </a:stretch>
                        </a:blipFill>
                      </a:tcPr>
                    </a:tc>
                    <a:tc>
                      <a:txBody>
                        <a:bodyPr/>
                        <a:lstStyle/>
                        <a:p>
                          <a:endParaRPr lang="en-US"/>
                        </a:p>
                      </a:txBody>
                      <a:tcPr>
                        <a:blipFill>
                          <a:blip r:embed="rId5"/>
                          <a:stretch>
                            <a:fillRect l="-245714" t="-8333" r="-220000" b="-426667"/>
                          </a:stretch>
                        </a:blipFill>
                      </a:tcPr>
                    </a:tc>
                    <a:tc>
                      <a:txBody>
                        <a:bodyPr/>
                        <a:lstStyle/>
                        <a:p>
                          <a:endParaRPr lang="en-US"/>
                        </a:p>
                      </a:txBody>
                      <a:tcPr>
                        <a:blipFill>
                          <a:blip r:embed="rId5"/>
                          <a:stretch>
                            <a:fillRect l="-366667" t="-8333" r="-133333" b="-426667"/>
                          </a:stretch>
                        </a:blipFill>
                      </a:tcPr>
                    </a:tc>
                    <a:tc>
                      <a:txBody>
                        <a:bodyPr/>
                        <a:lstStyle/>
                        <a:p>
                          <a:endParaRPr lang="en-US"/>
                        </a:p>
                      </a:txBody>
                      <a:tcPr>
                        <a:blipFill>
                          <a:blip r:embed="rId5"/>
                          <a:stretch>
                            <a:fillRect l="-366667" t="-8333" r="-4762" b="-426667"/>
                          </a:stretch>
                        </a:blipFill>
                      </a:tcPr>
                    </a:tc>
                    <a:extLst>
                      <a:ext uri="{0D108BD9-81ED-4DB2-BD59-A6C34878D82A}">
                        <a16:rowId xmlns:a16="http://schemas.microsoft.com/office/drawing/2014/main" val="1802598019"/>
                      </a:ext>
                    </a:extLst>
                  </a:tr>
                  <a:tr h="365760">
                    <a:tc>
                      <a:txBody>
                        <a:bodyPr/>
                        <a:lstStyle/>
                        <a:p>
                          <a:endParaRPr lang="en-US"/>
                        </a:p>
                      </a:txBody>
                      <a:tcPr>
                        <a:blipFill>
                          <a:blip r:embed="rId5"/>
                          <a:stretch>
                            <a:fillRect l="-980" t="-108333" r="-287255" b="-326667"/>
                          </a:stretch>
                        </a:blipFill>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-2</a:t>
                          </a:r>
                        </a:p>
                      </a:txBody>
                      <a:tcPr/>
                    </a:tc>
                    <a:tc>
                      <a:txBody>
                        <a:bodyPr/>
                        <a:lstStyle/>
                        <a:p>
                          <a:pPr algn="ctr"/>
                          <a:r>
                            <a:rPr lang="en-US" dirty="0"/>
                            <a:t>3</a:t>
                          </a:r>
                        </a:p>
                      </a:txBody>
                      <a:tcPr/>
                    </a:tc>
                    <a:extLst>
                      <a:ext uri="{0D108BD9-81ED-4DB2-BD59-A6C34878D82A}">
                        <a16:rowId xmlns:a16="http://schemas.microsoft.com/office/drawing/2014/main" val="3891779256"/>
                      </a:ext>
                    </a:extLst>
                  </a:tr>
                  <a:tr h="365760">
                    <a:tc>
                      <a:txBody>
                        <a:bodyPr/>
                        <a:lstStyle/>
                        <a:p>
                          <a:endParaRPr lang="en-US"/>
                        </a:p>
                      </a:txBody>
                      <a:tcPr>
                        <a:blipFill>
                          <a:blip r:embed="rId5"/>
                          <a:stretch>
                            <a:fillRect l="-980" t="-204918" r="-287255" b="-221311"/>
                          </a:stretch>
                        </a:blipFill>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4</a:t>
                          </a:r>
                        </a:p>
                      </a:txBody>
                      <a:tcPr/>
                    </a:tc>
                    <a:extLst>
                      <a:ext uri="{0D108BD9-81ED-4DB2-BD59-A6C34878D82A}">
                        <a16:rowId xmlns:a16="http://schemas.microsoft.com/office/drawing/2014/main" val="1086339649"/>
                      </a:ext>
                    </a:extLst>
                  </a:tr>
                  <a:tr h="365760">
                    <a:tc>
                      <a:txBody>
                        <a:bodyPr/>
                        <a:lstStyle/>
                        <a:p>
                          <a:endParaRPr lang="en-US"/>
                        </a:p>
                      </a:txBody>
                      <a:tcPr>
                        <a:blipFill>
                          <a:blip r:embed="rId5"/>
                          <a:stretch>
                            <a:fillRect l="-980" t="-310000" r="-287255" b="-125000"/>
                          </a:stretch>
                        </a:blipFill>
                      </a:tcPr>
                    </a:tc>
                    <a:tc>
                      <a:txBody>
                        <a:bodyPr/>
                        <a:lstStyle/>
                        <a:p>
                          <a:pPr algn="ctr"/>
                          <a:r>
                            <a:rPr lang="en-US" dirty="0"/>
                            <a:t>2</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269740577"/>
                      </a:ext>
                    </a:extLst>
                  </a:tr>
                  <a:tr h="365760">
                    <a:tc>
                      <a:txBody>
                        <a:bodyPr/>
                        <a:lstStyle/>
                        <a:p>
                          <a:endParaRPr lang="en-US"/>
                        </a:p>
                      </a:txBody>
                      <a:tcPr>
                        <a:blipFill>
                          <a:blip r:embed="rId5"/>
                          <a:stretch>
                            <a:fillRect l="-980" t="-410000" r="-287255" b="-25000"/>
                          </a:stretch>
                        </a:blipFill>
                      </a:tcPr>
                    </a:tc>
                    <a:tc>
                      <a:txBody>
                        <a:bodyPr/>
                        <a:lstStyle/>
                        <a:p>
                          <a:pPr algn="ctr"/>
                          <a:r>
                            <a:rPr lang="en-US" dirty="0"/>
                            <a:t>-3</a:t>
                          </a:r>
                        </a:p>
                      </a:txBody>
                      <a:tcPr/>
                    </a:tc>
                    <a:tc>
                      <a:txBody>
                        <a:bodyPr/>
                        <a:lstStyle/>
                        <a:p>
                          <a:pPr algn="ctr"/>
                          <a:r>
                            <a:rPr lang="en-US" dirty="0"/>
                            <a:t>-4</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1408248920"/>
                      </a:ext>
                    </a:extLst>
                  </a:tr>
                </a:tbl>
              </a:graphicData>
            </a:graphic>
          </p:graphicFrame>
        </mc:Fallback>
      </mc:AlternateContent>
      <p:sp>
        <p:nvSpPr>
          <p:cNvPr id="13" name="TextBox 12"/>
          <p:cNvSpPr txBox="1"/>
          <p:nvPr/>
        </p:nvSpPr>
        <p:spPr>
          <a:xfrm>
            <a:off x="581166" y="1571665"/>
            <a:ext cx="7879266" cy="830997"/>
          </a:xfrm>
          <a:prstGeom prst="rect">
            <a:avLst/>
          </a:prstGeom>
          <a:noFill/>
        </p:spPr>
        <p:txBody>
          <a:bodyPr wrap="square" rtlCol="0">
            <a:spAutoFit/>
          </a:bodyPr>
          <a:lstStyle/>
          <a:p>
            <a:r>
              <a:rPr lang="en-US" sz="2400" dirty="0"/>
              <a:t>Find all the equilibrium pairs for these pay off matrixes and the value of the game  </a:t>
            </a:r>
          </a:p>
        </p:txBody>
      </p:sp>
      <mc:AlternateContent xmlns:mc="http://schemas.openxmlformats.org/markup-compatibility/2006" xmlns:a14="http://schemas.microsoft.com/office/drawing/2010/main">
        <mc:Choice Requires="a14">
          <p:graphicFrame>
            <p:nvGraphicFramePr>
              <p:cNvPr id="14" name="Table 13"/>
              <p:cNvGraphicFramePr>
                <a:graphicFrameLocks noGrp="1"/>
              </p:cNvGraphicFramePr>
              <p:nvPr>
                <p:extLst>
                  <p:ext uri="{D42A27DB-BD31-4B8C-83A1-F6EECF244321}">
                    <p14:modId xmlns:p14="http://schemas.microsoft.com/office/powerpoint/2010/main" val="331764020"/>
                  </p:ext>
                </p:extLst>
              </p:nvPr>
            </p:nvGraphicFramePr>
            <p:xfrm>
              <a:off x="1172816" y="4269757"/>
              <a:ext cx="1970892" cy="1044990"/>
            </p:xfrm>
            <a:graphic>
              <a:graphicData uri="http://schemas.openxmlformats.org/drawingml/2006/table">
                <a:tbl>
                  <a:tblPr>
                    <a:tableStyleId>{5C22544A-7EE6-4342-B048-85BDC9FD1C3A}</a:tableStyleId>
                  </a:tblPr>
                  <a:tblGrid>
                    <a:gridCol w="511593">
                      <a:extLst>
                        <a:ext uri="{9D8B030D-6E8A-4147-A177-3AD203B41FA5}">
                          <a16:colId xmlns:a16="http://schemas.microsoft.com/office/drawing/2014/main" val="3738874413"/>
                        </a:ext>
                      </a:extLst>
                    </a:gridCol>
                    <a:gridCol w="451187">
                      <a:extLst>
                        <a:ext uri="{9D8B030D-6E8A-4147-A177-3AD203B41FA5}">
                          <a16:colId xmlns:a16="http://schemas.microsoft.com/office/drawing/2014/main" val="2454115107"/>
                        </a:ext>
                      </a:extLst>
                    </a:gridCol>
                    <a:gridCol w="432048">
                      <a:extLst>
                        <a:ext uri="{9D8B030D-6E8A-4147-A177-3AD203B41FA5}">
                          <a16:colId xmlns:a16="http://schemas.microsoft.com/office/drawing/2014/main" val="1795178663"/>
                        </a:ext>
                      </a:extLst>
                    </a:gridCol>
                    <a:gridCol w="576064">
                      <a:extLst>
                        <a:ext uri="{9D8B030D-6E8A-4147-A177-3AD203B41FA5}">
                          <a16:colId xmlns:a16="http://schemas.microsoft.com/office/drawing/2014/main" val="1284286733"/>
                        </a:ext>
                      </a:extLst>
                    </a:gridCol>
                  </a:tblGrid>
                  <a:tr h="190500">
                    <a:tc>
                      <a:txBody>
                        <a:bodyPr/>
                        <a:lstStyle/>
                        <a:p>
                          <a:pPr algn="ctr" fontAlgn="b"/>
                          <a:r>
                            <a:rPr lang="en-US" sz="1600" u="none" strike="noStrike" dirty="0" err="1">
                              <a:effectLst/>
                            </a:rPr>
                            <a:t>Prob</a:t>
                          </a:r>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𝑦</m:t>
                                    </m:r>
                                  </m:e>
                                  <m:sub>
                                    <m:r>
                                      <a:rPr lang="en-US" sz="1600" b="0" i="1" u="none" strike="noStrike" dirty="0" smtClean="0">
                                        <a:effectLst/>
                                        <a:latin typeface="Cambria Math" panose="02040503050406030204" pitchFamily="18" charset="0"/>
                                      </a:rPr>
                                      <m:t>1</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𝑦</m:t>
                                    </m:r>
                                  </m:e>
                                  <m:sub>
                                    <m:r>
                                      <a:rPr lang="en-US" sz="1600" b="0" i="1" u="none" strike="noStrike" dirty="0" smtClean="0">
                                        <a:effectLst/>
                                        <a:latin typeface="Cambria Math" panose="02040503050406030204" pitchFamily="18" charset="0"/>
                                      </a:rPr>
                                      <m:t>2</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𝑦</m:t>
                                    </m:r>
                                  </m:e>
                                  <m:sub>
                                    <m:r>
                                      <a:rPr lang="en-US" sz="1600" b="0" i="1" u="none" strike="noStrike" dirty="0" smtClean="0">
                                        <a:effectLst/>
                                        <a:latin typeface="Cambria Math" panose="02040503050406030204" pitchFamily="18" charset="0"/>
                                      </a:rPr>
                                      <m:t>3</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extLst>
                      <a:ext uri="{0D108BD9-81ED-4DB2-BD59-A6C34878D82A}">
                        <a16:rowId xmlns:a16="http://schemas.microsoft.com/office/drawing/2014/main" val="3042800791"/>
                      </a:ext>
                    </a:extLst>
                  </a:tr>
                  <a:tr h="284895">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𝑥</m:t>
                                    </m:r>
                                  </m:e>
                                  <m:sub>
                                    <m:r>
                                      <a:rPr lang="en-US" sz="1600" b="0" i="1" u="none" strike="noStrike" dirty="0" smtClean="0">
                                        <a:effectLst/>
                                        <a:latin typeface="Cambria Math" panose="02040503050406030204" pitchFamily="18" charset="0"/>
                                      </a:rPr>
                                      <m:t>1</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59433256"/>
                      </a:ext>
                    </a:extLst>
                  </a:tr>
                  <a:tr h="190500">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𝑥</m:t>
                                    </m:r>
                                  </m:e>
                                  <m:sub>
                                    <m:r>
                                      <a:rPr lang="en-US" sz="1600" b="0" i="1" u="none" strike="noStrike" dirty="0" smtClean="0">
                                        <a:effectLst/>
                                        <a:latin typeface="Cambria Math" panose="02040503050406030204" pitchFamily="18" charset="0"/>
                                      </a:rPr>
                                      <m:t>2</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b="0" i="0" u="none" strike="noStrike" dirty="0">
                              <a:solidFill>
                                <a:schemeClr val="dk1"/>
                              </a:solidFill>
                              <a:effectLst/>
                              <a:latin typeface="+mn-lt"/>
                            </a:rPr>
                            <a:t>3</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05982770"/>
                      </a:ext>
                    </a:extLst>
                  </a:tr>
                  <a:tr h="201942">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𝑥</m:t>
                                    </m:r>
                                  </m:e>
                                  <m:sub>
                                    <m:r>
                                      <a:rPr lang="en-US" sz="1600" b="0" i="1" u="none" strike="noStrike" dirty="0" smtClean="0">
                                        <a:effectLst/>
                                        <a:latin typeface="Cambria Math" panose="02040503050406030204" pitchFamily="18" charset="0"/>
                                      </a:rPr>
                                      <m:t>3</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30496318"/>
                      </a:ext>
                    </a:extLst>
                  </a:tr>
                </a:tbl>
              </a:graphicData>
            </a:graphic>
          </p:graphicFrame>
        </mc:Choice>
        <mc:Fallback xmlns="">
          <p:graphicFrame>
            <p:nvGraphicFramePr>
              <p:cNvPr id="14" name="Table 13"/>
              <p:cNvGraphicFramePr>
                <a:graphicFrameLocks noGrp="1"/>
              </p:cNvGraphicFramePr>
              <p:nvPr>
                <p:extLst>
                  <p:ext uri="{D42A27DB-BD31-4B8C-83A1-F6EECF244321}">
                    <p14:modId xmlns:p14="http://schemas.microsoft.com/office/powerpoint/2010/main" val="331764020"/>
                  </p:ext>
                </p:extLst>
              </p:nvPr>
            </p:nvGraphicFramePr>
            <p:xfrm>
              <a:off x="1172816" y="4269757"/>
              <a:ext cx="1970892" cy="1044990"/>
            </p:xfrm>
            <a:graphic>
              <a:graphicData uri="http://schemas.openxmlformats.org/drawingml/2006/table">
                <a:tbl>
                  <a:tblPr>
                    <a:tableStyleId>{5C22544A-7EE6-4342-B048-85BDC9FD1C3A}</a:tableStyleId>
                  </a:tblPr>
                  <a:tblGrid>
                    <a:gridCol w="511593">
                      <a:extLst>
                        <a:ext uri="{9D8B030D-6E8A-4147-A177-3AD203B41FA5}">
                          <a16:colId xmlns:a16="http://schemas.microsoft.com/office/drawing/2014/main" val="3738874413"/>
                        </a:ext>
                      </a:extLst>
                    </a:gridCol>
                    <a:gridCol w="451187">
                      <a:extLst>
                        <a:ext uri="{9D8B030D-6E8A-4147-A177-3AD203B41FA5}">
                          <a16:colId xmlns:a16="http://schemas.microsoft.com/office/drawing/2014/main" val="2454115107"/>
                        </a:ext>
                      </a:extLst>
                    </a:gridCol>
                    <a:gridCol w="432048">
                      <a:extLst>
                        <a:ext uri="{9D8B030D-6E8A-4147-A177-3AD203B41FA5}">
                          <a16:colId xmlns:a16="http://schemas.microsoft.com/office/drawing/2014/main" val="1795178663"/>
                        </a:ext>
                      </a:extLst>
                    </a:gridCol>
                    <a:gridCol w="576064">
                      <a:extLst>
                        <a:ext uri="{9D8B030D-6E8A-4147-A177-3AD203B41FA5}">
                          <a16:colId xmlns:a16="http://schemas.microsoft.com/office/drawing/2014/main" val="1284286733"/>
                        </a:ext>
                      </a:extLst>
                    </a:gridCol>
                  </a:tblGrid>
                  <a:tr h="253365">
                    <a:tc>
                      <a:txBody>
                        <a:bodyPr/>
                        <a:lstStyle/>
                        <a:p>
                          <a:pPr algn="ctr" fontAlgn="b"/>
                          <a:r>
                            <a:rPr lang="en-US" sz="1600" u="none" strike="noStrike" dirty="0" err="1">
                              <a:effectLst/>
                            </a:rPr>
                            <a:t>Prob</a:t>
                          </a:r>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endParaRPr lang="en-US"/>
                        </a:p>
                      </a:txBody>
                      <a:tcPr marL="9525" marR="9525" marT="9525" marB="0" anchor="b">
                        <a:blipFill>
                          <a:blip r:embed="rId6"/>
                          <a:stretch>
                            <a:fillRect l="-114865" t="-19048" r="-227027" b="-359524"/>
                          </a:stretch>
                        </a:blipFill>
                      </a:tcPr>
                    </a:tc>
                    <a:tc>
                      <a:txBody>
                        <a:bodyPr/>
                        <a:lstStyle/>
                        <a:p>
                          <a:endParaRPr lang="en-US"/>
                        </a:p>
                      </a:txBody>
                      <a:tcPr marL="9525" marR="9525" marT="9525" marB="0" anchor="b">
                        <a:blipFill>
                          <a:blip r:embed="rId6"/>
                          <a:stretch>
                            <a:fillRect l="-223944" t="-19048" r="-136620" b="-359524"/>
                          </a:stretch>
                        </a:blipFill>
                      </a:tcPr>
                    </a:tc>
                    <a:tc>
                      <a:txBody>
                        <a:bodyPr/>
                        <a:lstStyle/>
                        <a:p>
                          <a:endParaRPr lang="en-US"/>
                        </a:p>
                      </a:txBody>
                      <a:tcPr marL="9525" marR="9525" marT="9525" marB="0" anchor="b">
                        <a:blipFill>
                          <a:blip r:embed="rId6"/>
                          <a:stretch>
                            <a:fillRect l="-242105" t="-19048" r="-2105" b="-359524"/>
                          </a:stretch>
                        </a:blipFill>
                      </a:tcPr>
                    </a:tc>
                    <a:extLst>
                      <a:ext uri="{0D108BD9-81ED-4DB2-BD59-A6C34878D82A}">
                        <a16:rowId xmlns:a16="http://schemas.microsoft.com/office/drawing/2014/main" val="3042800791"/>
                      </a:ext>
                    </a:extLst>
                  </a:tr>
                  <a:tr h="284895">
                    <a:tc>
                      <a:txBody>
                        <a:bodyPr/>
                        <a:lstStyle/>
                        <a:p>
                          <a:endParaRPr lang="en-US"/>
                        </a:p>
                      </a:txBody>
                      <a:tcPr marL="9525" marR="9525" marT="9525" marB="0" anchor="b">
                        <a:blipFill>
                          <a:blip r:embed="rId6"/>
                          <a:stretch>
                            <a:fillRect l="-1190" t="-106383" r="-288095" b="-221277"/>
                          </a:stretch>
                        </a:blipFill>
                      </a:tcPr>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59433256"/>
                      </a:ext>
                    </a:extLst>
                  </a:tr>
                  <a:tr h="253365">
                    <a:tc>
                      <a:txBody>
                        <a:bodyPr/>
                        <a:lstStyle/>
                        <a:p>
                          <a:endParaRPr lang="en-US"/>
                        </a:p>
                      </a:txBody>
                      <a:tcPr marL="9525" marR="9525" marT="9525" marB="0" anchor="b">
                        <a:blipFill>
                          <a:blip r:embed="rId6"/>
                          <a:stretch>
                            <a:fillRect l="-1190" t="-236585" r="-288095" b="-153659"/>
                          </a:stretch>
                        </a:blipFill>
                      </a:tcPr>
                    </a:tc>
                    <a:tc>
                      <a:txBody>
                        <a:bodyPr/>
                        <a:lstStyle/>
                        <a:p>
                          <a:pPr algn="ctr" fontAlgn="b"/>
                          <a:r>
                            <a:rPr lang="en-US" sz="1600" b="0" i="0" u="none" strike="noStrike" dirty="0">
                              <a:solidFill>
                                <a:schemeClr val="dk1"/>
                              </a:solidFill>
                              <a:effectLst/>
                              <a:latin typeface="+mn-lt"/>
                            </a:rPr>
                            <a:t>3</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05982770"/>
                      </a:ext>
                    </a:extLst>
                  </a:tr>
                  <a:tr h="253365">
                    <a:tc>
                      <a:txBody>
                        <a:bodyPr/>
                        <a:lstStyle/>
                        <a:p>
                          <a:endParaRPr lang="en-US"/>
                        </a:p>
                      </a:txBody>
                      <a:tcPr marL="9525" marR="9525" marT="9525" marB="0" anchor="b">
                        <a:blipFill>
                          <a:blip r:embed="rId6"/>
                          <a:stretch>
                            <a:fillRect l="-1190" t="-328571" r="-288095" b="-50000"/>
                          </a:stretch>
                        </a:blipFill>
                      </a:tcPr>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30496318"/>
                      </a:ext>
                    </a:extLst>
                  </a:tr>
                </a:tbl>
              </a:graphicData>
            </a:graphic>
          </p:graphicFrame>
        </mc:Fallback>
      </mc:AlternateContent>
      <mc:AlternateContent xmlns:mc="http://schemas.openxmlformats.org/markup-compatibility/2006" xmlns:a14="http://schemas.microsoft.com/office/drawing/2010/main">
        <mc:Choice Requires="a14">
          <p:sp>
            <p:nvSpPr>
              <p:cNvPr id="15" name="Rectangle 14"/>
              <p:cNvSpPr/>
              <p:nvPr/>
            </p:nvSpPr>
            <p:spPr>
              <a:xfrm>
                <a:off x="1142462" y="5386937"/>
                <a:ext cx="3585533" cy="484043"/>
              </a:xfrm>
              <a:prstGeom prst="rect">
                <a:avLst/>
              </a:prstGeom>
            </p:spPr>
            <p:txBody>
              <a:bodyPr wrap="none">
                <a:spAutoFit/>
              </a:bodyPr>
              <a:lstStyle/>
              <a:p>
                <a14:m>
                  <m:oMath xmlns:m="http://schemas.openxmlformats.org/officeDocument/2006/math">
                    <m:r>
                      <a:rPr lang="en-US"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6</m:t>
                        </m:r>
                      </m:num>
                      <m:den>
                        <m:r>
                          <a:rPr lang="en-US" b="0" i="1" smtClean="0">
                            <a:latin typeface="Cambria Math" panose="02040503050406030204" pitchFamily="18" charset="0"/>
                            <a:ea typeface="Cambria Math" panose="02040503050406030204" pitchFamily="18" charset="0"/>
                          </a:rPr>
                          <m:t>24</m:t>
                        </m:r>
                      </m:den>
                    </m:f>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11</m:t>
                        </m:r>
                      </m:num>
                      <m:den>
                        <m:r>
                          <a:rPr lang="en-US" b="0" i="1" smtClean="0">
                            <a:latin typeface="Cambria Math" panose="02040503050406030204" pitchFamily="18" charset="0"/>
                            <a:ea typeface="Cambria Math" panose="02040503050406030204" pitchFamily="18" charset="0"/>
                          </a:rPr>
                          <m:t>24</m:t>
                        </m:r>
                      </m:den>
                    </m:f>
                    <m:r>
                      <a:rPr lang="en-US" i="1">
                        <a:latin typeface="Cambria Math" panose="02040503050406030204" pitchFamily="18" charset="0"/>
                        <a:ea typeface="Cambria Math" panose="02040503050406030204" pitchFamily="18" charset="0"/>
                      </a:rPr>
                      <m:t>,</m:t>
                    </m:r>
                  </m:oMath>
                </a14:m>
                <a:r>
                  <a:rPr lang="en-US" dirty="0">
                    <a:ea typeface="Cambria Math" panose="02040503050406030204" pitchFamily="18" charset="0"/>
                  </a:rPr>
                  <a: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3</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7</m:t>
                        </m:r>
                      </m:num>
                      <m:den>
                        <m:r>
                          <a:rPr lang="en-US" b="0" i="1" smtClean="0">
                            <a:latin typeface="Cambria Math" panose="02040503050406030204" pitchFamily="18" charset="0"/>
                            <a:ea typeface="Cambria Math" panose="02040503050406030204" pitchFamily="18" charset="0"/>
                          </a:rPr>
                          <m:t>24</m:t>
                        </m:r>
                      </m:den>
                    </m:f>
                    <m:r>
                      <a:rPr lang="en-US" i="1">
                        <a:latin typeface="Cambria Math" panose="02040503050406030204" pitchFamily="18" charset="0"/>
                        <a:ea typeface="Cambria Math" panose="02040503050406030204" pitchFamily="18" charset="0"/>
                      </a:rPr>
                      <m:t>,</m:t>
                    </m:r>
                  </m:oMath>
                </a14:m>
                <a:r>
                  <a:rPr lang="en-US" dirty="0">
                    <a:ea typeface="Cambria Math" panose="02040503050406030204" pitchFamily="18" charset="0"/>
                  </a:rPr>
                  <a:t> </a:t>
                </a:r>
                <a14:m>
                  <m:oMath xmlns:m="http://schemas.openxmlformats.org/officeDocument/2006/math">
                    <m:r>
                      <a:rPr lang="en-US" i="1" smtClean="0">
                        <a:latin typeface="Cambria Math" panose="02040503050406030204" pitchFamily="18" charset="0"/>
                        <a:ea typeface="Cambria Math" panose="02040503050406030204" pitchFamily="18" charset="0"/>
                      </a:rPr>
                      <m:t>𝑣</m:t>
                    </m:r>
                    <m:r>
                      <a:rPr lang="en-US" i="1">
                        <a:latin typeface="Cambria Math" panose="02040503050406030204" pitchFamily="18" charset="0"/>
                        <a:ea typeface="Cambria Math" panose="02040503050406030204" pitchFamily="18" charset="0"/>
                      </a:rPr>
                      <m:t>=</m:t>
                    </m:r>
                    <m:f>
                      <m:fPr>
                        <m:ctrlPr>
                          <a:rPr lang="en-US"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19</m:t>
                        </m:r>
                      </m:num>
                      <m:den>
                        <m:r>
                          <a:rPr lang="en-US" b="0" i="1" smtClean="0">
                            <a:latin typeface="Cambria Math" panose="02040503050406030204" pitchFamily="18" charset="0"/>
                            <a:ea typeface="Cambria Math" panose="02040503050406030204" pitchFamily="18" charset="0"/>
                          </a:rPr>
                          <m:t>24</m:t>
                        </m:r>
                      </m:den>
                    </m:f>
                  </m:oMath>
                </a14:m>
                <a:endParaRPr lang="en-US" dirty="0"/>
              </a:p>
            </p:txBody>
          </p:sp>
        </mc:Choice>
        <mc:Fallback xmlns="">
          <p:sp>
            <p:nvSpPr>
              <p:cNvPr id="15" name="Rectangle 14"/>
              <p:cNvSpPr>
                <a:spLocks noRot="1" noChangeAspect="1" noMove="1" noResize="1" noEditPoints="1" noAdjustHandles="1" noChangeArrowheads="1" noChangeShapeType="1" noTextEdit="1"/>
              </p:cNvSpPr>
              <p:nvPr/>
            </p:nvSpPr>
            <p:spPr>
              <a:xfrm>
                <a:off x="1142462" y="5386937"/>
                <a:ext cx="3585533" cy="484043"/>
              </a:xfrm>
              <a:prstGeom prst="rect">
                <a:avLst/>
              </a:prstGeom>
              <a:blipFill>
                <a:blip r:embed="rId7"/>
                <a:stretch>
                  <a:fillRect b="-2532"/>
                </a:stretch>
              </a:blipFill>
            </p:spPr>
            <p:txBody>
              <a:bodyPr/>
              <a:lstStyle/>
              <a:p>
                <a:r>
                  <a:rPr lang="en-US">
                    <a:noFill/>
                  </a:rPr>
                  <a:t> </a:t>
                </a:r>
              </a:p>
            </p:txBody>
          </p:sp>
        </mc:Fallback>
      </mc:AlternateContent>
      <p:sp>
        <p:nvSpPr>
          <p:cNvPr id="16" name="TextBox 15"/>
          <p:cNvSpPr txBox="1"/>
          <p:nvPr/>
        </p:nvSpPr>
        <p:spPr>
          <a:xfrm>
            <a:off x="596752" y="4252408"/>
            <a:ext cx="576064" cy="369332"/>
          </a:xfrm>
          <a:prstGeom prst="rect">
            <a:avLst/>
          </a:prstGeom>
          <a:noFill/>
        </p:spPr>
        <p:txBody>
          <a:bodyPr wrap="square" rtlCol="0">
            <a:spAutoFit/>
          </a:bodyPr>
          <a:lstStyle/>
          <a:p>
            <a:r>
              <a:rPr lang="en-US" dirty="0"/>
              <a:t>3.</a:t>
            </a:r>
          </a:p>
        </p:txBody>
      </p:sp>
    </p:spTree>
    <p:extLst>
      <p:ext uri="{BB962C8B-B14F-4D97-AF65-F5344CB8AC3E}">
        <p14:creationId xmlns:p14="http://schemas.microsoft.com/office/powerpoint/2010/main" val="14259402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8346</TotalTime>
  <Words>1992</Words>
  <Application>Microsoft Office PowerPoint</Application>
  <PresentationFormat>On-screen Show (4:3)</PresentationFormat>
  <Paragraphs>560</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Cambria Math</vt:lpstr>
      <vt:lpstr>Times New Roman</vt:lpstr>
      <vt:lpstr>Wingdings</vt:lpstr>
      <vt:lpstr>Office Theme</vt:lpstr>
      <vt:lpstr>PowerPoint Presentation</vt:lpstr>
      <vt:lpstr>Dominance Strategy</vt:lpstr>
      <vt:lpstr>Maximin and Minimax Strategy</vt:lpstr>
      <vt:lpstr>Exercises 02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 02</vt:lpstr>
      <vt:lpstr>Symmetric Game</vt:lpstr>
      <vt:lpstr>Exercises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lab-tif3</dc:creator>
  <cp:lastModifiedBy>lab-tif3</cp:lastModifiedBy>
  <cp:revision>461</cp:revision>
  <dcterms:created xsi:type="dcterms:W3CDTF">2013-05-27T02:50:26Z</dcterms:created>
  <dcterms:modified xsi:type="dcterms:W3CDTF">2019-03-18T07:19:58Z</dcterms:modified>
</cp:coreProperties>
</file>